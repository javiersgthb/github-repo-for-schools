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custom-properties+xml" PartName="/docProps/custom.xml"/>
  <Override ContentType="application/vnd.openxmlformats-officedocument.presentationml.handoutMaster+xml" PartName="/ppt/handoutMasters/handoutMaster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Relationship Id="rId5" Target="docProps/custom.xml" Type="http://schemas.openxmlformats.org/officeDocument/2006/relationships/custom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69" r:id="rId1"/>
  </p:sldMasterIdLst>
  <p:notesMasterIdLst>
    <p:notesMasterId r:id="rId34"/>
  </p:notesMasterIdLst>
  <p:handoutMasterIdLst>
    <p:handoutMasterId r:id="rId35"/>
  </p:handoutMasterIdLst>
  <p:sldIdLst>
    <p:sldId id="256" r:id="rId2"/>
    <p:sldId id="324" r:id="rId3"/>
    <p:sldId id="325" r:id="rId4"/>
    <p:sldId id="326" r:id="rId5"/>
    <p:sldId id="327" r:id="rId6"/>
    <p:sldId id="328" r:id="rId7"/>
    <p:sldId id="329" r:id="rId8"/>
    <p:sldId id="330" r:id="rId9"/>
    <p:sldId id="331" r:id="rId10"/>
    <p:sldId id="332" r:id="rId11"/>
    <p:sldId id="333" r:id="rId12"/>
    <p:sldId id="334" r:id="rId13"/>
    <p:sldId id="335" r:id="rId14"/>
    <p:sldId id="336" r:id="rId15"/>
    <p:sldId id="337" r:id="rId16"/>
    <p:sldId id="338" r:id="rId17"/>
    <p:sldId id="339" r:id="rId18"/>
    <p:sldId id="354" r:id="rId19"/>
    <p:sldId id="340" r:id="rId20"/>
    <p:sldId id="341" r:id="rId21"/>
    <p:sldId id="342" r:id="rId22"/>
    <p:sldId id="343" r:id="rId23"/>
    <p:sldId id="344" r:id="rId24"/>
    <p:sldId id="345" r:id="rId25"/>
    <p:sldId id="346" r:id="rId26"/>
    <p:sldId id="347" r:id="rId27"/>
    <p:sldId id="348" r:id="rId28"/>
    <p:sldId id="349" r:id="rId29"/>
    <p:sldId id="350" r:id="rId30"/>
    <p:sldId id="351" r:id="rId31"/>
    <p:sldId id="352" r:id="rId32"/>
    <p:sldId id="353" r:id="rId33"/>
  </p:sldIdLst>
  <p:sldSz cx="9144000" cy="6858000" type="screen4x3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  <a:srgbClr val="20396D"/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63" autoAdjust="0"/>
    <p:restoredTop sz="86452" autoAdjust="0"/>
  </p:normalViewPr>
  <p:slideViewPr>
    <p:cSldViewPr>
      <p:cViewPr varScale="1">
        <p:scale>
          <a:sx n="111" d="100"/>
          <a:sy n="111" d="100"/>
        </p:scale>
        <p:origin x="1278" y="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9.xml" Type="http://schemas.openxmlformats.org/officeDocument/2006/relationships/slide"/><Relationship Id="rId11" Target="slides/slide10.xml" Type="http://schemas.openxmlformats.org/officeDocument/2006/relationships/slide"/><Relationship Id="rId12" Target="slides/slide11.xml" Type="http://schemas.openxmlformats.org/officeDocument/2006/relationships/slide"/><Relationship Id="rId13" Target="slides/slide12.xml" Type="http://schemas.openxmlformats.org/officeDocument/2006/relationships/slide"/><Relationship Id="rId14" Target="slides/slide13.xml" Type="http://schemas.openxmlformats.org/officeDocument/2006/relationships/slide"/><Relationship Id="rId15" Target="slides/slide14.xml" Type="http://schemas.openxmlformats.org/officeDocument/2006/relationships/slide"/><Relationship Id="rId16" Target="slides/slide15.xml" Type="http://schemas.openxmlformats.org/officeDocument/2006/relationships/slide"/><Relationship Id="rId17" Target="slides/slide16.xml" Type="http://schemas.openxmlformats.org/officeDocument/2006/relationships/slide"/><Relationship Id="rId18" Target="slides/slide17.xml" Type="http://schemas.openxmlformats.org/officeDocument/2006/relationships/slide"/><Relationship Id="rId19" Target="slides/slide18.xml" Type="http://schemas.openxmlformats.org/officeDocument/2006/relationships/slide"/><Relationship Id="rId2" Target="slides/slide1.xml" Type="http://schemas.openxmlformats.org/officeDocument/2006/relationships/slide"/><Relationship Id="rId20" Target="slides/slide19.xml" Type="http://schemas.openxmlformats.org/officeDocument/2006/relationships/slide"/><Relationship Id="rId21" Target="slides/slide20.xml" Type="http://schemas.openxmlformats.org/officeDocument/2006/relationships/slide"/><Relationship Id="rId22" Target="slides/slide21.xml" Type="http://schemas.openxmlformats.org/officeDocument/2006/relationships/slide"/><Relationship Id="rId23" Target="slides/slide22.xml" Type="http://schemas.openxmlformats.org/officeDocument/2006/relationships/slide"/><Relationship Id="rId24" Target="slides/slide23.xml" Type="http://schemas.openxmlformats.org/officeDocument/2006/relationships/slide"/><Relationship Id="rId25" Target="slides/slide24.xml" Type="http://schemas.openxmlformats.org/officeDocument/2006/relationships/slide"/><Relationship Id="rId26" Target="slides/slide25.xml" Type="http://schemas.openxmlformats.org/officeDocument/2006/relationships/slide"/><Relationship Id="rId27" Target="slides/slide26.xml" Type="http://schemas.openxmlformats.org/officeDocument/2006/relationships/slide"/><Relationship Id="rId28" Target="slides/slide27.xml" Type="http://schemas.openxmlformats.org/officeDocument/2006/relationships/slide"/><Relationship Id="rId29" Target="slides/slide28.xml" Type="http://schemas.openxmlformats.org/officeDocument/2006/relationships/slide"/><Relationship Id="rId3" Target="slides/slide2.xml" Type="http://schemas.openxmlformats.org/officeDocument/2006/relationships/slide"/><Relationship Id="rId30" Target="slides/slide29.xml" Type="http://schemas.openxmlformats.org/officeDocument/2006/relationships/slide"/><Relationship Id="rId31" Target="slides/slide30.xml" Type="http://schemas.openxmlformats.org/officeDocument/2006/relationships/slide"/><Relationship Id="rId32" Target="slides/slide31.xml" Type="http://schemas.openxmlformats.org/officeDocument/2006/relationships/slide"/><Relationship Id="rId33" Target="slides/slide32.xml" Type="http://schemas.openxmlformats.org/officeDocument/2006/relationships/slide"/><Relationship Id="rId34" Target="notesMasters/notesMaster1.xml" Type="http://schemas.openxmlformats.org/officeDocument/2006/relationships/notesMaster"/><Relationship Id="rId35" Target="handoutMasters/handoutMaster1.xml" Type="http://schemas.openxmlformats.org/officeDocument/2006/relationships/handoutMaster"/><Relationship Id="rId36" Target="presProps.xml" Type="http://schemas.openxmlformats.org/officeDocument/2006/relationships/presProps"/><Relationship Id="rId37" Target="viewProps.xml" Type="http://schemas.openxmlformats.org/officeDocument/2006/relationships/viewProps"/><Relationship Id="rId38" Target="theme/theme1.xml" Type="http://schemas.openxmlformats.org/officeDocument/2006/relationships/theme"/><Relationship Id="rId39" Target="tableStyles.xml" Type="http://schemas.openxmlformats.org/officeDocument/2006/relationships/tableStyles"/><Relationship Id="rId4" Target="slides/slide3.xml" Type="http://schemas.openxmlformats.org/officeDocument/2006/relationships/slide"/><Relationship Id="rId5" Target="slides/slide4.xml" Type="http://schemas.openxmlformats.org/officeDocument/2006/relationships/slide"/><Relationship Id="rId6" Target="slides/slide5.xml" Type="http://schemas.openxmlformats.org/officeDocument/2006/relationships/slide"/><Relationship Id="rId7" Target="slides/slide6.xml" Type="http://schemas.openxmlformats.org/officeDocument/2006/relationships/slide"/><Relationship Id="rId8" Target="slides/slide7.xml" Type="http://schemas.openxmlformats.org/officeDocument/2006/relationships/slide"/><Relationship Id="rId9" Target="slides/slide8.xml" Type="http://schemas.openxmlformats.org/officeDocument/2006/relationships/slide"/></Relationships>
</file>

<file path=ppt/handoutMasters/_rels/handoutMaster1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0938" y="0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94633A84-D730-4DB1-B585-7559B92CE5D8}" type="datetimeFigureOut">
              <a:rPr lang="en-US"/>
              <a:pPr>
                <a:defRPr/>
              </a:pPr>
              <a:t>3/18/2021</a:t>
            </a:fld>
            <a:endParaRPr lang="en-US"/>
          </a:p>
        </p:txBody>
      </p:sp>
      <p:sp>
        <p:nvSpPr>
          <p:cNvPr id="2765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9967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765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0938" y="8829967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1C669EC8-97E7-4C24-A864-1853E75085D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98575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7840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2560" y="0"/>
            <a:ext cx="3037840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53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1100" y="696913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32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4720" y="4415790"/>
            <a:ext cx="5140960" cy="41833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32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1580"/>
            <a:ext cx="3037840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32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2560" y="8831580"/>
            <a:ext cx="3037840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82C5A2EE-74B4-4329-B2EC-6DFE0575EDC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45560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number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685800" y="1143000"/>
            <a:ext cx="7772400" cy="553998"/>
          </a:xfrm>
        </p:spPr>
        <p:txBody>
          <a:bodyPr lIns="0" tIns="0" rIns="0" bIns="0" anchor="t" anchorCtr="0">
            <a:spAutoFit/>
          </a:bodyPr>
          <a:lstStyle>
            <a:lvl1pPr>
              <a:defRPr sz="3600" b="1" i="0" baseline="0">
                <a:solidFill>
                  <a:srgbClr val="000099"/>
                </a:solidFill>
              </a:defRPr>
            </a:lvl1pPr>
          </a:lstStyle>
          <a:p>
            <a:r>
              <a:rPr lang="en-US" dirty="0"/>
              <a:t>Chapter number</a:t>
            </a:r>
          </a:p>
        </p:txBody>
      </p:sp>
      <p:sp>
        <p:nvSpPr>
          <p:cNvPr id="7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905000" y="2209800"/>
            <a:ext cx="5334000" cy="2971800"/>
          </a:xfrm>
        </p:spPr>
        <p:txBody>
          <a:bodyPr/>
          <a:lstStyle>
            <a:lvl1pPr marL="0" indent="0" algn="ctr">
              <a:buNone/>
              <a:defRPr sz="4800" b="1" baseline="0"/>
            </a:lvl1pPr>
          </a:lstStyle>
          <a:p>
            <a:pPr lvl="0"/>
            <a:r>
              <a:rPr lang="en-US" dirty="0"/>
              <a:t>Chapter title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C7,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32058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_layou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838200" y="1066800"/>
            <a:ext cx="7391400" cy="4876800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C7,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1737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_layou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914400" y="1143000"/>
            <a:ext cx="7315200" cy="48006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C7,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52221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_Console_layou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838200" y="1066800"/>
            <a:ext cx="7391400" cy="27432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14"/>
          <p:cNvSpPr>
            <a:spLocks noGrp="1"/>
          </p:cNvSpPr>
          <p:nvPr>
            <p:ph type="body" sz="quarter" idx="15"/>
          </p:nvPr>
        </p:nvSpPr>
        <p:spPr>
          <a:xfrm>
            <a:off x="1295400" y="3892100"/>
            <a:ext cx="6934200" cy="2049956"/>
          </a:xfrm>
          <a:solidFill>
            <a:schemeClr val="bg1">
              <a:lumMod val="95000"/>
            </a:schemeClr>
          </a:solidFill>
          <a:ln w="31750" cmpd="thickThin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C7,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31122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_Console_Text_Console_layou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838200" y="1066800"/>
            <a:ext cx="7391400" cy="9906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14"/>
          <p:cNvSpPr>
            <a:spLocks noGrp="1"/>
          </p:cNvSpPr>
          <p:nvPr>
            <p:ph type="body" sz="quarter" idx="16"/>
          </p:nvPr>
        </p:nvSpPr>
        <p:spPr>
          <a:xfrm>
            <a:off x="1295400" y="2150899"/>
            <a:ext cx="6934200" cy="815635"/>
          </a:xfrm>
          <a:solidFill>
            <a:schemeClr val="bg1">
              <a:lumMod val="95000"/>
            </a:schemeClr>
          </a:solidFill>
          <a:ln w="31750" cmpd="thickThin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7"/>
          </p:nvPr>
        </p:nvSpPr>
        <p:spPr>
          <a:xfrm>
            <a:off x="838200" y="3347534"/>
            <a:ext cx="7391400" cy="1496734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14"/>
          <p:cNvSpPr>
            <a:spLocks noGrp="1"/>
          </p:cNvSpPr>
          <p:nvPr>
            <p:ph type="body" sz="quarter" idx="15"/>
          </p:nvPr>
        </p:nvSpPr>
        <p:spPr>
          <a:xfrm>
            <a:off x="1295400" y="4982112"/>
            <a:ext cx="6934200" cy="885288"/>
          </a:xfrm>
          <a:solidFill>
            <a:schemeClr val="bg1">
              <a:lumMod val="95000"/>
            </a:schemeClr>
          </a:solidFill>
          <a:ln w="31750" cmpd="thickThin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C7,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42912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sole_layou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14"/>
          <p:cNvSpPr>
            <a:spLocks noGrp="1"/>
          </p:cNvSpPr>
          <p:nvPr>
            <p:ph type="body" sz="quarter" idx="15"/>
          </p:nvPr>
        </p:nvSpPr>
        <p:spPr>
          <a:xfrm>
            <a:off x="1295400" y="1143000"/>
            <a:ext cx="6934200" cy="3200400"/>
          </a:xfrm>
          <a:solidFill>
            <a:schemeClr val="bg1">
              <a:lumMod val="95000"/>
            </a:schemeClr>
          </a:solidFill>
          <a:ln w="31750" cmpd="thickThin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C7,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09015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_Text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914400" y="1066800"/>
            <a:ext cx="7315200" cy="25146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5"/>
          </p:nvPr>
        </p:nvSpPr>
        <p:spPr>
          <a:xfrm>
            <a:off x="838200" y="3733800"/>
            <a:ext cx="7391400" cy="2209799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1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 sz="1800"/>
            </a:lvl1pPr>
          </a:lstStyle>
          <a:p>
            <a:pPr>
              <a:defRPr/>
            </a:pPr>
            <a:r>
              <a:rPr lang="en-US"/>
              <a:t>Murach's Python Programming (2nd Ed.)</a:t>
            </a:r>
            <a:endParaRPr lang="en-US" dirty="0"/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 algn="l">
              <a:defRPr sz="1400">
                <a:latin typeface="Times New Roman"/>
              </a:defRPr>
            </a:lvl1pPr>
          </a:lstStyle>
          <a:p>
            <a:pPr>
              <a:defRPr/>
            </a:pPr>
            <a:endParaRPr lang="en-US" dirty="0"/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itchFamily="34" charset="0"/>
              </a:rPr>
              <a:t>C7,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12028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_Image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914400" y="1066800"/>
            <a:ext cx="7315200" cy="25146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4" hasCustomPrompt="1"/>
          </p:nvPr>
        </p:nvSpPr>
        <p:spPr>
          <a:xfrm>
            <a:off x="838200" y="3730079"/>
            <a:ext cx="7391400" cy="457200"/>
          </a:xfrm>
        </p:spPr>
        <p:txBody>
          <a:bodyPr/>
          <a:lstStyle>
            <a:lvl1pPr marL="0" indent="0">
              <a:buNone/>
              <a:defRPr sz="2400" b="1">
                <a:solidFill>
                  <a:srgbClr val="000099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heading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5" hasCustomPrompt="1"/>
          </p:nvPr>
        </p:nvSpPr>
        <p:spPr>
          <a:xfrm>
            <a:off x="914400" y="4267200"/>
            <a:ext cx="7315200" cy="16764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Object</a:t>
            </a:r>
          </a:p>
        </p:txBody>
      </p:sp>
      <p:sp>
        <p:nvSpPr>
          <p:cNvPr id="3" name="Date Placeholder 1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 sz="1800"/>
            </a:lvl1pPr>
          </a:lstStyle>
          <a:p>
            <a:pPr>
              <a:defRPr/>
            </a:pPr>
            <a:r>
              <a:rPr lang="en-US"/>
              <a:t>Murach's Python Programming (2nd Ed.)</a:t>
            </a:r>
            <a:endParaRPr lang="en-US" dirty="0"/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 algn="l">
              <a:defRPr sz="1400">
                <a:latin typeface="Times New Roman"/>
              </a:defRPr>
            </a:lvl1pPr>
          </a:lstStyle>
          <a:p>
            <a:pPr>
              <a:defRPr/>
            </a:pPr>
            <a:endParaRPr lang="en-US" dirty="0"/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itchFamily="34" charset="0"/>
              </a:rPr>
              <a:t>C7,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81478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_Image_Image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914400" y="2133600"/>
            <a:ext cx="7315200" cy="14478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4" hasCustomPrompt="1"/>
          </p:nvPr>
        </p:nvSpPr>
        <p:spPr>
          <a:xfrm>
            <a:off x="838200" y="3730079"/>
            <a:ext cx="7391400" cy="457200"/>
          </a:xfrm>
        </p:spPr>
        <p:txBody>
          <a:bodyPr/>
          <a:lstStyle>
            <a:lvl1pPr marL="0" indent="0">
              <a:buNone/>
              <a:defRPr sz="2400" b="1">
                <a:solidFill>
                  <a:srgbClr val="000099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heading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5" hasCustomPrompt="1"/>
          </p:nvPr>
        </p:nvSpPr>
        <p:spPr>
          <a:xfrm>
            <a:off x="914400" y="4267200"/>
            <a:ext cx="7315200" cy="16764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Object</a:t>
            </a:r>
          </a:p>
        </p:txBody>
      </p:sp>
      <p:sp>
        <p:nvSpPr>
          <p:cNvPr id="3" name="Date Placeholder 1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 sz="1800"/>
            </a:lvl1pPr>
          </a:lstStyle>
          <a:p>
            <a:pPr>
              <a:defRPr/>
            </a:pPr>
            <a:r>
              <a:rPr lang="en-US"/>
              <a:t>Murach's Python Programming (2nd Ed.)</a:t>
            </a:r>
            <a:endParaRPr lang="en-US" dirty="0"/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 algn="l">
              <a:defRPr sz="1400">
                <a:latin typeface="Times New Roman"/>
              </a:defRPr>
            </a:lvl1pPr>
          </a:lstStyle>
          <a:p>
            <a:pPr>
              <a:defRPr/>
            </a:pPr>
            <a:endParaRPr lang="en-US" dirty="0"/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itchFamily="34" charset="0"/>
              </a:rPr>
              <a:t>C7,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4E431898-FA05-47E4-BC1F-810D3C5E7E9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14400" y="1066800"/>
            <a:ext cx="7315200" cy="918121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888662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_Image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5"/>
          </p:nvPr>
        </p:nvSpPr>
        <p:spPr>
          <a:xfrm>
            <a:off x="812800" y="1062758"/>
            <a:ext cx="7391400" cy="2213842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812800" y="3319598"/>
            <a:ext cx="7315200" cy="24384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1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 sz="1800"/>
            </a:lvl1pPr>
          </a:lstStyle>
          <a:p>
            <a:pPr>
              <a:defRPr/>
            </a:pPr>
            <a:r>
              <a:rPr lang="en-US"/>
              <a:t>Murach's Python Programming (2nd Ed.)</a:t>
            </a:r>
            <a:endParaRPr lang="en-US" dirty="0"/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 algn="l">
              <a:defRPr sz="1400">
                <a:latin typeface="Times New Roman"/>
              </a:defRPr>
            </a:lvl1pPr>
          </a:lstStyle>
          <a:p>
            <a:pPr>
              <a:defRPr/>
            </a:pPr>
            <a:endParaRPr lang="en-US" dirty="0"/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itchFamily="34" charset="0"/>
              </a:rPr>
              <a:t>C7,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40972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_Image_Text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5"/>
          </p:nvPr>
        </p:nvSpPr>
        <p:spPr>
          <a:xfrm>
            <a:off x="812800" y="1062758"/>
            <a:ext cx="7391400" cy="1756642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812800" y="2895600"/>
            <a:ext cx="7315200" cy="163340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6"/>
          </p:nvPr>
        </p:nvSpPr>
        <p:spPr>
          <a:xfrm>
            <a:off x="812800" y="4605202"/>
            <a:ext cx="7391400" cy="1414598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1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 sz="1800"/>
            </a:lvl1pPr>
          </a:lstStyle>
          <a:p>
            <a:pPr>
              <a:defRPr/>
            </a:pPr>
            <a:r>
              <a:rPr lang="en-US"/>
              <a:t>Murach's Python Programming (2nd Ed.)</a:t>
            </a:r>
            <a:endParaRPr lang="en-US" dirty="0"/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 algn="l">
              <a:defRPr sz="1400">
                <a:latin typeface="Times New Roman"/>
              </a:defRPr>
            </a:lvl1pPr>
          </a:lstStyle>
          <a:p>
            <a:pPr>
              <a:defRPr/>
            </a:pPr>
            <a:endParaRPr lang="en-US" dirty="0"/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itchFamily="34" charset="0"/>
              </a:rPr>
              <a:t>C7,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22460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igure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Date Placeholder 1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 sz="1800"/>
            </a:lvl1pPr>
          </a:lstStyle>
          <a:p>
            <a:pPr>
              <a:defRPr/>
            </a:pPr>
            <a:r>
              <a:rPr lang="en-US"/>
              <a:t>Murach's Python Programming (2nd Ed.)</a:t>
            </a:r>
            <a:endParaRPr lang="en-US" dirty="0"/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 algn="l">
              <a:defRPr sz="1400">
                <a:latin typeface="Times New Roman"/>
              </a:defRPr>
            </a:lvl1pPr>
          </a:lstStyle>
          <a:p>
            <a:pPr>
              <a:defRPr/>
            </a:pPr>
            <a:endParaRPr lang="en-US" dirty="0"/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itchFamily="34" charset="0"/>
              </a:rPr>
              <a:t>C7,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8324943"/>
      </p:ext>
    </p:extLst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slideLayouts/slideLayout12.xml" Type="http://schemas.openxmlformats.org/officeDocument/2006/relationships/slideLayout"/><Relationship Id="rId13" Target="../theme/theme1.xml" Type="http://schemas.openxmlformats.org/officeDocument/2006/relationships/theme"/><Relationship Id="rId14" Target="../media/image1.png" Type="http://schemas.openxmlformats.org/officeDocument/2006/relationships/imag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Rectangle 1"/>
          <p:cNvSpPr/>
          <p:nvPr/>
        </p:nvSpPr>
        <p:spPr bwMode="auto">
          <a:xfrm>
            <a:off x="0" y="6172200"/>
            <a:ext cx="9144000" cy="685800"/>
          </a:xfrm>
          <a:prstGeom prst="rect">
            <a:avLst/>
          </a:prstGeom>
          <a:solidFill>
            <a:srgbClr val="20396D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7" name="Date Placeholder 1"/>
          <p:cNvSpPr>
            <a:spLocks noGrp="1"/>
          </p:cNvSpPr>
          <p:nvPr>
            <p:ph type="dt" sz="half" idx="2"/>
          </p:nvPr>
        </p:nvSpPr>
        <p:spPr bwMode="auto">
          <a:xfrm>
            <a:off x="2667000" y="6248400"/>
            <a:ext cx="38862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800" b="1" i="1">
                <a:solidFill>
                  <a:schemeClr val="bg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Programming (2nd Ed.)</a:t>
            </a:r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3"/>
          </p:nvPr>
        </p:nvSpPr>
        <p:spPr bwMode="auto">
          <a:xfrm>
            <a:off x="76200" y="6248400"/>
            <a:ext cx="27432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500">
                <a:solidFill>
                  <a:schemeClr val="bg1"/>
                </a:solidFill>
                <a:latin typeface="Arial Narrow" pitchFamily="34" charset="0"/>
              </a:defRPr>
            </a:lvl1pPr>
          </a:lstStyle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9" name="Slide Number Placeholder 3"/>
          <p:cNvSpPr>
            <a:spLocks noGrp="1"/>
          </p:cNvSpPr>
          <p:nvPr>
            <p:ph type="sldNum" sz="quarter" idx="4"/>
          </p:nvPr>
        </p:nvSpPr>
        <p:spPr bwMode="auto">
          <a:xfrm>
            <a:off x="6629400" y="6248400"/>
            <a:ext cx="19050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900">
                <a:latin typeface="Arial Narrow" pitchFamily="34" charset="0"/>
              </a:defRPr>
            </a:lvl1pPr>
          </a:lstStyle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C7,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830" y="6397412"/>
            <a:ext cx="1228170" cy="23198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3" r:id="rId5"/>
    <p:sldLayoutId id="2147483681" r:id="rId6"/>
    <p:sldLayoutId id="2147483674" r:id="rId7"/>
    <p:sldLayoutId id="2147483676" r:id="rId8"/>
    <p:sldLayoutId id="2147483686" r:id="rId9"/>
    <p:sldLayoutId id="2147483675" r:id="rId10"/>
    <p:sldLayoutId id="2147483684" r:id="rId11"/>
    <p:sldLayoutId id="2147483685" r:id="rId12"/>
  </p:sldLayoutIdLst>
  <p:hf hdr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9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5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4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4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4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4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18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19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20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21.xml.rels><?xml version="1.0" encoding="UTF-8" standalone="yes"?><Relationships xmlns="http://schemas.openxmlformats.org/package/2006/relationships"><Relationship Id="rId1" Target="../slideLayouts/slideLayout4.xml" Type="http://schemas.openxmlformats.org/officeDocument/2006/relationships/slideLayout"/></Relationships>
</file>

<file path=ppt/slides/_rels/slide22.xml.rels><?xml version="1.0" encoding="UTF-8" standalone="yes"?><Relationships xmlns="http://schemas.openxmlformats.org/package/2006/relationships"><Relationship Id="rId1" Target="../slideLayouts/slideLayout4.xml" Type="http://schemas.openxmlformats.org/officeDocument/2006/relationships/slideLayout"/></Relationships>
</file>

<file path=ppt/slides/_rels/slide23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24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/Relationships>
</file>

<file path=ppt/slides/_rels/slide25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26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27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28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29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30.xml.rels><?xml version="1.0" encoding="UTF-8" standalone="yes"?><Relationships xmlns="http://schemas.openxmlformats.org/package/2006/relationships"><Relationship Id="rId1" Target="../slideLayouts/slideLayout4.xml" Type="http://schemas.openxmlformats.org/officeDocument/2006/relationships/slideLayout"/></Relationships>
</file>

<file path=ppt/slides/_rels/slide31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/Relationships>
</file>

<file path=ppt/slides/_rels/slide32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/>
              <a:t>Chapter 7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idx="13" sz="quarter" type="body"/>
          </p:nvPr>
        </p:nvSpPr>
        <p:spPr/>
        <p:txBody>
          <a:bodyPr/>
          <a:lstStyle/>
          <a:p>
            <a:pPr>
              <a:spcBef>
                <a:spcPts val="2400"/>
              </a:spcBef>
              <a:spcAft>
                <a:spcPts val="600"/>
              </a:spcAft>
              <a:tabLst>
                <a:tab algn="l" pos="1371600"/>
              </a:tabLst>
            </a:pPr>
            <a:r>
              <a:rPr dirty="0" lang="en-US">
                <a:solidFill>
                  <a:srgbClr val="000000"/>
                </a:solidFill>
                <a:latin charset="0" panose="020B0604020202020204" pitchFamily="34" typeface="Arial"/>
                <a:ea charset="0" panose="02020603050405020304" pitchFamily="18" typeface="Times New Roman"/>
                <a:cs charset="0" panose="02020603050405020304" pitchFamily="18" typeface="Times New Roman"/>
              </a:rPr>
              <a:t>How to work </a:t>
            </a:r>
            <a:br>
              <a:rPr dirty="0" lang="en-US">
                <a:solidFill>
                  <a:srgbClr val="000000"/>
                </a:solidFill>
                <a:latin charset="0" panose="020B0604020202020204" pitchFamily="34" typeface="Arial"/>
                <a:ea charset="0" panose="02020603050405020304" pitchFamily="18" typeface="Times New Roman"/>
                <a:cs charset="0" panose="02020603050405020304" pitchFamily="18" typeface="Times New Roman"/>
              </a:rPr>
            </a:br>
            <a:r>
              <a:rPr dirty="0" lang="en-US">
                <a:solidFill>
                  <a:srgbClr val="000000"/>
                </a:solidFill>
                <a:latin charset="0" panose="020B0604020202020204" pitchFamily="34" typeface="Arial"/>
                <a:ea charset="0" panose="02020603050405020304" pitchFamily="18" typeface="Times New Roman"/>
                <a:cs charset="0" panose="02020603050405020304" pitchFamily="18" typeface="Times New Roman"/>
              </a:rPr>
              <a:t>with file I/O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dirty="0" lang="en-US"/>
          </a:p>
        </p:txBody>
      </p:sp>
      <p:sp>
        <p:nvSpPr>
          <p:cNvPr id="3" name="Footer Placeholder 2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pPr>
              <a:defRPr/>
            </a:pPr>
            <a:r>
              <a:rPr lang="en-US" sz="1200"/>
              <a:t>© 2021, Mike Murach &amp; Associates, Inc.</a:t>
            </a:r>
            <a:endParaRPr dirty="0"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0C4FF9-2982-4257-8925-A6D04A6FD92B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l">
              <a:defRPr/>
            </a:pPr>
            <a:endParaRPr dirty="0" lang="en-US" sz="1400">
              <a:latin typeface="Times New Roman"/>
            </a:endParaRPr>
          </a:p>
          <a:p>
            <a:pPr>
              <a:defRPr/>
            </a:pPr>
            <a:r>
              <a:rPr dirty="0" lang="en-US">
                <a:solidFill>
                  <a:schemeClr val="bg1"/>
                </a:solidFill>
              </a:rPr>
              <a:t>C7,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1</a:t>
            </a:fld>
            <a:endParaRPr dirty="0"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226491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/>
              <a:t>Objectives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F0A66BF-5A98-420C-9652-49198F21CA22}"/>
              </a:ext>
            </a:extLst>
          </p:cNvPr>
          <p:cNvSpPr>
            <a:spLocks noGrp="1"/>
          </p:cNvSpPr>
          <p:nvPr>
            <p:ph idx="13" sz="quarter" type="body"/>
          </p:nvPr>
        </p:nvSpPr>
        <p:spPr/>
        <p:txBody>
          <a:bodyPr/>
          <a:lstStyle/>
          <a:p>
            <a:pPr>
              <a:spcBef>
                <a:spcPts val="1500"/>
              </a:spcBef>
              <a:spcAft>
                <a:spcPts val="600"/>
              </a:spcAft>
              <a:tabLst>
                <a:tab algn="l" pos="1371600"/>
              </a:tabLst>
            </a:pPr>
            <a:r>
              <a:rPr b="1" dirty="0" lang="en-US">
                <a:latin charset="0" panose="020B0604020202020204" pitchFamily="34" typeface="Arial"/>
                <a:ea charset="0" panose="02020603050405020304" pitchFamily="18" typeface="Times New Roman"/>
                <a:cs charset="0" panose="02020603050405020304" pitchFamily="18" typeface="Times New Roman"/>
              </a:rPr>
              <a:t>Applied</a:t>
            </a:r>
          </a:p>
          <a:p>
            <a:pPr indent="-342900" lvl="0" marL="342900" marR="27432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  <a:tabLst>
                <a:tab algn="l" pos="347345"/>
              </a:tabLst>
            </a:pPr>
            <a:r>
              <a:rPr dirty="0" lang="en-US" spc="-10">
                <a:latin charset="0" panose="02020603050405020304" pitchFamily="18" typeface="Times New Roman"/>
                <a:ea charset="0" panose="02020603050405020304" pitchFamily="18" typeface="Times New Roman"/>
              </a:rPr>
              <a:t>Use text, CSV, or binary files to save and retrieve the data that’s used by your programs.</a:t>
            </a:r>
          </a:p>
          <a:p>
            <a:pPr>
              <a:spcBef>
                <a:spcPts val="1500"/>
              </a:spcBef>
              <a:spcAft>
                <a:spcPts val="600"/>
              </a:spcAft>
              <a:tabLst>
                <a:tab algn="l" pos="1371600"/>
              </a:tabLst>
            </a:pPr>
            <a:r>
              <a:rPr b="1" dirty="0" lang="en-US">
                <a:latin charset="0" panose="020B0604020202020204" pitchFamily="34" typeface="Arial"/>
                <a:ea charset="0" panose="02020603050405020304" pitchFamily="18" typeface="Times New Roman"/>
                <a:cs charset="0" panose="02020603050405020304" pitchFamily="18" typeface="Times New Roman"/>
              </a:rPr>
              <a:t>Knowledge</a:t>
            </a:r>
          </a:p>
          <a:p>
            <a:pPr indent="-342900" lvl="0" marL="342900" marR="27432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  <a:tabLst>
                <a:tab algn="l" pos="347345"/>
                <a:tab algn="l" pos="347345"/>
                <a:tab algn="l" pos="365760"/>
              </a:tabLst>
            </a:pPr>
            <a:r>
              <a:rPr dirty="0" lang="en-US" spc="-10">
                <a:latin charset="0" panose="02020603050405020304" pitchFamily="18" typeface="Times New Roman"/>
                <a:ea charset="0" panose="02020603050405020304" pitchFamily="18" typeface="Times New Roman"/>
              </a:rPr>
              <a:t>Differentiate between text and binary files.</a:t>
            </a:r>
          </a:p>
          <a:p>
            <a:pPr indent="-342900" lvl="0" marL="342900" marR="27432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  <a:tabLst>
                <a:tab algn="l" pos="347345"/>
              </a:tabLst>
            </a:pPr>
            <a:r>
              <a:rPr dirty="0" lang="en-US" spc="-10">
                <a:latin charset="0" panose="02020603050405020304" pitchFamily="18" typeface="Times New Roman"/>
                <a:ea charset="0" panose="02020603050405020304" pitchFamily="18" typeface="Times New Roman"/>
              </a:rPr>
              <a:t>Describe the benefit of using a with statement for opening and closing a file.</a:t>
            </a:r>
          </a:p>
          <a:p>
            <a:pPr indent="-342900" lvl="0" marL="342900" marR="27432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  <a:tabLst>
                <a:tab algn="l" pos="347345"/>
              </a:tabLst>
            </a:pPr>
            <a:r>
              <a:rPr dirty="0" lang="en-US" spc="-10">
                <a:latin charset="0" panose="02020603050405020304" pitchFamily="18" typeface="Times New Roman"/>
                <a:ea charset="0" panose="02020603050405020304" pitchFamily="18" typeface="Times New Roman"/>
              </a:rPr>
              <a:t>Describe the use of the csv module, writer objects, and reader objects for writing a list of lists to a CSV file and reading a list of lists from a CSV file.</a:t>
            </a:r>
          </a:p>
          <a:p>
            <a:pPr indent="-342900" lvl="0" marL="342900" marR="27432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  <a:tabLst>
                <a:tab algn="l" pos="347345"/>
              </a:tabLst>
            </a:pPr>
            <a:r>
              <a:rPr dirty="0" lang="en-US" spc="-10">
                <a:latin charset="0" panose="02020603050405020304" pitchFamily="18" typeface="Times New Roman"/>
                <a:ea charset="0" panose="02020603050405020304" pitchFamily="18" typeface="Times New Roman"/>
              </a:rPr>
              <a:t>Describe the use of the pickle module and the load() and dump() methods for saving a list of lists to a binary file and reading a list of lists from a binary file.</a:t>
            </a:r>
          </a:p>
          <a:p>
            <a:endParaRPr dirty="0" lang="en-US"/>
          </a:p>
        </p:txBody>
      </p:sp>
      <p:sp>
        <p:nvSpPr>
          <p:cNvPr id="3" name="Date Placeholder 2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dirty="0" lang="en-US"/>
          </a:p>
        </p:txBody>
      </p:sp>
      <p:sp>
        <p:nvSpPr>
          <p:cNvPr id="2" name="Footer Placeholder 1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pPr>
              <a:defRPr/>
            </a:pPr>
            <a:r>
              <a:rPr lang="en-US" sz="1200"/>
              <a:t>© 2021,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charset="0" pitchFamily="34" typeface="Arial Narrow"/>
              </a:rPr>
              <a:t>C7, Slide </a:t>
            </a:r>
            <a:fld id="{5ECE9829-65B2-40C6-AEFF-7C648FF56A9C}" type="slidenum">
              <a:rPr lang="en-US" smtClean="0" sz="900">
                <a:solidFill>
                  <a:schemeClr val="bg1"/>
                </a:solidFill>
                <a:latin charset="0" pitchFamily="34" typeface="Arial Narrow"/>
              </a:rPr>
              <a:pPr algn="r">
                <a:defRPr/>
              </a:pPr>
              <a:t>2</a:t>
            </a:fld>
            <a:endParaRPr dirty="0" lang="en-US" sz="900">
              <a:solidFill>
                <a:schemeClr val="bg1"/>
              </a:solidFill>
              <a:latin charset="0" pitchFamily="34"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2253648811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/>
              <a:t>Two types of files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8C082CEF-6D6A-4480-86B9-196E57AE924B}"/>
              </a:ext>
            </a:extLst>
          </p:cNvPr>
          <p:cNvSpPr>
            <a:spLocks noGrp="1"/>
          </p:cNvSpPr>
          <p:nvPr>
            <p:ph idx="16" sz="quarter" type="body"/>
          </p:nvPr>
        </p:nvSpPr>
        <p:spPr>
          <a:xfrm>
            <a:off x="914400" y="1066800"/>
            <a:ext cx="7315200" cy="1295400"/>
          </a:xfrm>
        </p:spPr>
        <p:txBody>
          <a:bodyPr/>
          <a:lstStyle/>
          <a:p>
            <a:pPr indent="-342900" lvl="0" marL="342900" marR="274320">
              <a:spcBef>
                <a:spcPts val="0"/>
              </a:spcBef>
              <a:spcAft>
                <a:spcPts val="600"/>
              </a:spcAft>
              <a:buFont charset="2" panose="05050102010706020507" pitchFamily="18" typeface="Symbol"/>
              <a:buChar char=""/>
            </a:pPr>
            <a:r>
              <a:rPr dirty="0" lang="en-US" spc="-10" sz="1800">
                <a:latin charset="0" panose="02020603050405020304" pitchFamily="18" typeface="Times New Roman"/>
                <a:ea charset="0" panose="02020603050405020304" pitchFamily="18" typeface="Times New Roman"/>
              </a:rPr>
              <a:t>Text</a:t>
            </a:r>
          </a:p>
          <a:p>
            <a:pPr indent="-342900" lvl="0" marL="342900" marR="274320">
              <a:spcBef>
                <a:spcPts val="0"/>
              </a:spcBef>
              <a:spcAft>
                <a:spcPts val="600"/>
              </a:spcAft>
              <a:buFont charset="2" panose="05050102010706020507" pitchFamily="18" typeface="Symbol"/>
              <a:buChar char=""/>
            </a:pPr>
            <a:r>
              <a:rPr dirty="0" lang="en-US" spc="-10" sz="1800">
                <a:latin charset="0" panose="02020603050405020304" pitchFamily="18" typeface="Times New Roman"/>
                <a:ea charset="0" panose="02020603050405020304" pitchFamily="18" typeface="Times New Roman"/>
              </a:rPr>
              <a:t>Binary</a:t>
            </a:r>
          </a:p>
          <a:p>
            <a:pPr>
              <a:spcBef>
                <a:spcPts val="1500"/>
              </a:spcBef>
              <a:spcAft>
                <a:spcPts val="600"/>
              </a:spcAft>
              <a:tabLst>
                <a:tab algn="l" pos="1371600"/>
              </a:tabLst>
            </a:pPr>
            <a:r>
              <a:rPr b="1" dirty="0" lang="en-US" sz="2400">
                <a:solidFill>
                  <a:srgbClr val="000099"/>
                </a:solidFill>
                <a:latin charset="0" panose="020B0604020202020204" pitchFamily="34" typeface="Arial"/>
                <a:ea charset="0" panose="02020603050405020304" pitchFamily="18" typeface="Times New Roman"/>
                <a:cs charset="0" panose="02020603050405020304" pitchFamily="18" typeface="Times New Roman"/>
              </a:rPr>
              <a:t>A text file that’s opened by a text editor</a:t>
            </a:r>
          </a:p>
          <a:p>
            <a:endParaRPr dirty="0" lang="en-US"/>
          </a:p>
        </p:txBody>
      </p:sp>
      <p:pic>
        <p:nvPicPr>
          <p:cNvPr descr="Refer to page 203 in textbook." id="7" name="Content Placeholder 6">
            <a:extLst>
              <a:ext uri="{FF2B5EF4-FFF2-40B4-BE49-F238E27FC236}">
                <a16:creationId xmlns:a16="http://schemas.microsoft.com/office/drawing/2014/main" id="{A15531C1-E69D-4A5B-8FB7-CEDD31D3E297}"/>
              </a:ext>
            </a:extLst>
          </p:cNvPr>
          <p:cNvPicPr>
            <a:picLocks noChangeAspect="1" noGrp="1"/>
          </p:cNvPicPr>
          <p:nvPr>
            <p:ph idx="13" sz="quarter"/>
          </p:nvPr>
        </p:nvPicPr>
        <p:blipFill>
          <a:blip r:embed="rId2"/>
          <a:stretch>
            <a:fillRect/>
          </a:stretch>
        </p:blipFill>
        <p:spPr>
          <a:xfrm>
            <a:off x="1356081" y="2514600"/>
            <a:ext cx="5744047" cy="13716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C1C0112-8DF8-48E6-A7C2-D4FC6D220684}"/>
              </a:ext>
            </a:extLst>
          </p:cNvPr>
          <p:cNvSpPr>
            <a:spLocks noGrp="1"/>
          </p:cNvSpPr>
          <p:nvPr>
            <p:ph idx="14" sz="quarter" type="body"/>
          </p:nvPr>
        </p:nvSpPr>
        <p:spPr>
          <a:xfrm>
            <a:off x="838200" y="4038600"/>
            <a:ext cx="7391400" cy="457200"/>
          </a:xfrm>
        </p:spPr>
        <p:txBody>
          <a:bodyPr/>
          <a:lstStyle/>
          <a:p>
            <a:pPr>
              <a:spcBef>
                <a:spcPts val="1500"/>
              </a:spcBef>
              <a:spcAft>
                <a:spcPts val="600"/>
              </a:spcAft>
              <a:tabLst>
                <a:tab algn="l" pos="1371600"/>
              </a:tabLst>
            </a:pPr>
            <a:r>
              <a:rPr dirty="0" lang="en-US">
                <a:latin charset="0" panose="020B0604020202020204" pitchFamily="34" typeface="Arial"/>
                <a:ea charset="0" panose="02020603050405020304" pitchFamily="18" typeface="Times New Roman"/>
                <a:cs charset="0" panose="02020603050405020304" pitchFamily="18" typeface="Times New Roman"/>
              </a:rPr>
              <a:t>A binary file with the same data</a:t>
            </a:r>
          </a:p>
          <a:p>
            <a:endParaRPr dirty="0" lang="en-US"/>
          </a:p>
        </p:txBody>
      </p:sp>
      <p:pic>
        <p:nvPicPr>
          <p:cNvPr descr="Refer to page 203 in textbook." id="9" name="Content Placeholder 8">
            <a:extLst>
              <a:ext uri="{FF2B5EF4-FFF2-40B4-BE49-F238E27FC236}">
                <a16:creationId xmlns:a16="http://schemas.microsoft.com/office/drawing/2014/main" id="{F977062E-8594-441E-B713-8044585008FE}"/>
              </a:ext>
            </a:extLst>
          </p:cNvPr>
          <p:cNvPicPr>
            <a:picLocks noChangeAspect="1" noGrp="1"/>
          </p:cNvPicPr>
          <p:nvPr>
            <p:ph idx="15" sz="quarter"/>
          </p:nvPr>
        </p:nvPicPr>
        <p:blipFill>
          <a:blip r:embed="rId3"/>
          <a:stretch>
            <a:fillRect/>
          </a:stretch>
        </p:blipFill>
        <p:spPr>
          <a:xfrm>
            <a:off x="1356081" y="4602403"/>
            <a:ext cx="5730250" cy="1096156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dirty="0" lang="en-US"/>
          </a:p>
        </p:txBody>
      </p:sp>
      <p:sp>
        <p:nvSpPr>
          <p:cNvPr id="4" name="Footer Placeholder 3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pPr>
              <a:defRPr/>
            </a:pPr>
            <a:r>
              <a:rPr lang="en-US" sz="1200"/>
              <a:t>© 2021,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charset="0" pitchFamily="34" typeface="Arial Narrow"/>
              </a:rPr>
              <a:t>C7, Slide </a:t>
            </a:r>
            <a:fld id="{5ECE9829-65B2-40C6-AEFF-7C648FF56A9C}" type="slidenum">
              <a:rPr lang="en-US" smtClean="0" sz="900">
                <a:solidFill>
                  <a:schemeClr val="bg1"/>
                </a:solidFill>
                <a:latin charset="0" pitchFamily="34" typeface="Arial Narrow"/>
              </a:rPr>
              <a:pPr algn="r">
                <a:defRPr/>
              </a:pPr>
              <a:t>3</a:t>
            </a:fld>
            <a:endParaRPr dirty="0" lang="en-US" sz="900">
              <a:solidFill>
                <a:schemeClr val="bg1"/>
              </a:solidFill>
              <a:latin charset="0" pitchFamily="34"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1625379556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/>
              <a:t>The sequence of file operations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D4B5444-E64D-4BC6-BEDD-DE8A777E0737}"/>
              </a:ext>
            </a:extLst>
          </p:cNvPr>
          <p:cNvSpPr>
            <a:spLocks noGrp="1"/>
          </p:cNvSpPr>
          <p:nvPr>
            <p:ph idx="13" sz="quarter" type="body"/>
          </p:nvPr>
        </p:nvSpPr>
        <p:spPr/>
        <p:txBody>
          <a:bodyPr/>
          <a:lstStyle/>
          <a:p>
            <a:pPr indent="-342900" lvl="0" marL="342900" marR="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  <a:tabLst>
                <a:tab algn="l" pos="347345"/>
              </a:tabLst>
            </a:pPr>
            <a:r>
              <a:rPr dirty="0" i="1" lang="en-US">
                <a:latin charset="0" panose="02020603050405020304" pitchFamily="18" typeface="Times New Roman"/>
                <a:ea charset="0" panose="02020603050405020304" pitchFamily="18" typeface="Times New Roman"/>
              </a:rPr>
              <a:t>Open</a:t>
            </a:r>
            <a:r>
              <a:rPr dirty="0" lang="en-US">
                <a:latin charset="0" panose="02020603050405020304" pitchFamily="18" typeface="Times New Roman"/>
                <a:ea charset="0" panose="02020603050405020304" pitchFamily="18" typeface="Times New Roman"/>
              </a:rPr>
              <a:t> the file.</a:t>
            </a:r>
          </a:p>
          <a:p>
            <a:pPr indent="-342900" lvl="0" marL="342900" marR="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  <a:tabLst>
                <a:tab algn="l" pos="347345"/>
              </a:tabLst>
            </a:pPr>
            <a:r>
              <a:rPr dirty="0" i="1" lang="en-US">
                <a:latin charset="0" panose="02020603050405020304" pitchFamily="18" typeface="Times New Roman"/>
                <a:ea charset="0" panose="02020603050405020304" pitchFamily="18" typeface="Times New Roman"/>
              </a:rPr>
              <a:t>Write</a:t>
            </a:r>
            <a:r>
              <a:rPr dirty="0" lang="en-US">
                <a:latin charset="0" panose="02020603050405020304" pitchFamily="18" typeface="Times New Roman"/>
                <a:ea charset="0" panose="02020603050405020304" pitchFamily="18" typeface="Times New Roman"/>
              </a:rPr>
              <a:t> data to the file or </a:t>
            </a:r>
            <a:r>
              <a:rPr dirty="0" i="1" lang="en-US">
                <a:latin charset="0" panose="02020603050405020304" pitchFamily="18" typeface="Times New Roman"/>
                <a:ea charset="0" panose="02020603050405020304" pitchFamily="18" typeface="Times New Roman"/>
              </a:rPr>
              <a:t>read</a:t>
            </a:r>
            <a:r>
              <a:rPr dirty="0" lang="en-US">
                <a:latin charset="0" panose="02020603050405020304" pitchFamily="18" typeface="Times New Roman"/>
                <a:ea charset="0" panose="02020603050405020304" pitchFamily="18" typeface="Times New Roman"/>
              </a:rPr>
              <a:t> data from the file.</a:t>
            </a:r>
          </a:p>
          <a:p>
            <a:pPr indent="-342900" lvl="0" marL="342900" marR="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  <a:tabLst>
                <a:tab algn="l" pos="347345"/>
              </a:tabLst>
            </a:pPr>
            <a:r>
              <a:rPr dirty="0" i="1" lang="en-US">
                <a:latin charset="0" panose="02020603050405020304" pitchFamily="18" typeface="Times New Roman"/>
                <a:ea charset="0" panose="02020603050405020304" pitchFamily="18" typeface="Times New Roman"/>
              </a:rPr>
              <a:t>Close</a:t>
            </a:r>
            <a:r>
              <a:rPr dirty="0" lang="en-US">
                <a:latin charset="0" panose="02020603050405020304" pitchFamily="18" typeface="Times New Roman"/>
                <a:ea charset="0" panose="02020603050405020304" pitchFamily="18" typeface="Times New Roman"/>
              </a:rPr>
              <a:t> the file.</a:t>
            </a:r>
          </a:p>
          <a:p>
            <a:endParaRPr dirty="0" lang="en-US"/>
          </a:p>
        </p:txBody>
      </p:sp>
      <p:sp>
        <p:nvSpPr>
          <p:cNvPr id="3" name="Date Placeholder 2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dirty="0" lang="en-US"/>
          </a:p>
        </p:txBody>
      </p:sp>
      <p:sp>
        <p:nvSpPr>
          <p:cNvPr id="4" name="Footer Placeholder 3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pPr>
              <a:defRPr/>
            </a:pPr>
            <a:r>
              <a:rPr lang="en-US" sz="1200"/>
              <a:t>© 2021,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charset="0" pitchFamily="34" typeface="Arial Narrow"/>
              </a:rPr>
              <a:t>C7, Slide </a:t>
            </a:r>
            <a:fld id="{5ECE9829-65B2-40C6-AEFF-7C648FF56A9C}" type="slidenum">
              <a:rPr lang="en-US" smtClean="0" sz="900">
                <a:solidFill>
                  <a:schemeClr val="bg1"/>
                </a:solidFill>
                <a:latin charset="0" pitchFamily="34" typeface="Arial Narrow"/>
              </a:rPr>
              <a:pPr algn="r">
                <a:defRPr/>
              </a:pPr>
              <a:t>4</a:t>
            </a:fld>
            <a:endParaRPr dirty="0" lang="en-US" sz="900">
              <a:solidFill>
                <a:schemeClr val="bg1"/>
              </a:solidFill>
              <a:latin charset="0" pitchFamily="34"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2079169810"/>
      </p:ext>
    </p:ext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/>
              <a:t>The built-in open() function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09CE7E4-0027-4BEB-B1C4-311092B790CD}"/>
              </a:ext>
            </a:extLst>
          </p:cNvPr>
          <p:cNvSpPr>
            <a:spLocks noGrp="1"/>
          </p:cNvSpPr>
          <p:nvPr>
            <p:ph idx="13" sz="quarter" type="body"/>
          </p:nvPr>
        </p:nvSpPr>
        <p:spPr/>
        <p:txBody>
          <a:bodyPr/>
          <a:lstStyle/>
          <a:p>
            <a:pPr marL="347345" marR="274320">
              <a:spcBef>
                <a:spcPts val="0"/>
              </a:spcBef>
              <a:spcAft>
                <a:spcPts val="600"/>
              </a:spcAft>
            </a:pPr>
            <a:r>
              <a:rPr b="1" dirty="0" lang="en-US" spc="-10" sz="1600">
                <a:latin charset="0" panose="02070309020205020404" pitchFamily="49" typeface="Courier New"/>
                <a:ea charset="0" panose="02020603050405020304" pitchFamily="18" typeface="Times New Roman"/>
              </a:rPr>
              <a:t>open(</a:t>
            </a:r>
            <a:r>
              <a:rPr b="1" dirty="0" i="1" lang="en-US" spc="-10" sz="1600">
                <a:latin charset="0" panose="02070309020205020404" pitchFamily="49" typeface="Courier New"/>
                <a:ea charset="0" panose="02020603050405020304" pitchFamily="18" typeface="Times New Roman"/>
              </a:rPr>
              <a:t>file</a:t>
            </a:r>
            <a:r>
              <a:rPr b="1" dirty="0" lang="en-US" spc="-10" sz="1600">
                <a:latin charset="0" panose="02070309020205020404" pitchFamily="49" typeface="Courier New"/>
                <a:ea charset="0" panose="02020603050405020304" pitchFamily="18" typeface="Times New Roman"/>
              </a:rPr>
              <a:t>, </a:t>
            </a:r>
            <a:r>
              <a:rPr b="1" dirty="0" i="1" lang="en-US" spc="-10" sz="1600">
                <a:latin charset="0" panose="02070309020205020404" pitchFamily="49" typeface="Courier New"/>
                <a:ea charset="0" panose="02020603050405020304" pitchFamily="18" typeface="Times New Roman"/>
              </a:rPr>
              <a:t>mode</a:t>
            </a:r>
            <a:r>
              <a:rPr b="1" dirty="0" lang="en-US" spc="-10" sz="1600">
                <a:latin charset="0" panose="02070309020205020404" pitchFamily="49" typeface="Courier New"/>
                <a:ea charset="0" panose="02020603050405020304" pitchFamily="18" typeface="Times New Roman"/>
              </a:rPr>
              <a:t>)</a:t>
            </a:r>
            <a:endParaRPr dirty="0" lang="en-US" spc="-10" sz="1600">
              <a:latin charset="0" panose="02020603050405020304" pitchFamily="18" typeface="Times New Roman"/>
              <a:ea charset="0" panose="02020603050405020304" pitchFamily="18" typeface="Times New Roman"/>
            </a:endParaRPr>
          </a:p>
          <a:p>
            <a:pPr>
              <a:spcBef>
                <a:spcPts val="1500"/>
              </a:spcBef>
              <a:spcAft>
                <a:spcPts val="600"/>
              </a:spcAft>
              <a:tabLst>
                <a:tab algn="l" pos="1371600"/>
              </a:tabLst>
            </a:pPr>
            <a:r>
              <a:rPr b="1" dirty="0" lang="en-US" sz="2400">
                <a:solidFill>
                  <a:srgbClr val="000099"/>
                </a:solidFill>
                <a:latin charset="0" panose="020B0604020202020204" pitchFamily="34" typeface="Arial"/>
                <a:ea charset="0" panose="02020603050405020304" pitchFamily="18" typeface="Times New Roman"/>
                <a:cs charset="0" panose="02020603050405020304" pitchFamily="18" typeface="Times New Roman"/>
              </a:rPr>
              <a:t>A few of its modes</a:t>
            </a:r>
          </a:p>
          <a:p>
            <a:pPr marL="349250">
              <a:spcBef>
                <a:spcPts val="600"/>
              </a:spcBef>
              <a:spcAft>
                <a:spcPts val="600"/>
              </a:spcAft>
              <a:tabLst>
                <a:tab algn="l" pos="2286000"/>
                <a:tab algn="l" pos="2514600"/>
                <a:tab algn="l" pos="2514600"/>
              </a:tabLst>
            </a:pPr>
            <a:r>
              <a:rPr b="1" dirty="0" lang="en-US">
                <a:latin charset="0" panose="020B0604020202020204" pitchFamily="34" typeface="Arial"/>
                <a:ea charset="0" panose="02020603050405020304" pitchFamily="18" typeface="Times New Roman"/>
                <a:cs charset="0" panose="02020603050405020304" pitchFamily="18" typeface="Times New Roman"/>
              </a:rPr>
              <a:t>Character	Mode</a:t>
            </a:r>
          </a:p>
          <a:p>
            <a:pPr marL="349250">
              <a:spcBef>
                <a:spcPts val="600"/>
              </a:spcBef>
              <a:spcAft>
                <a:spcPts val="600"/>
              </a:spcAft>
              <a:tabLst>
                <a:tab algn="l" pos="2286000"/>
                <a:tab algn="l" pos="2514600"/>
                <a:tab algn="l" pos="2514600"/>
              </a:tabLst>
            </a:pPr>
            <a:r>
              <a:rPr b="1" dirty="0" lang="en-US" sz="16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</a:rPr>
              <a:t>r</a:t>
            </a:r>
            <a:r>
              <a:rPr dirty="0" lang="en-US">
                <a:solidFill>
                  <a:srgbClr val="000000"/>
                </a:solidFill>
                <a:latin charset="0" panose="02020603050405020304" pitchFamily="18" typeface="Times New Roman"/>
                <a:ea charset="0" panose="02020603050405020304" pitchFamily="18" typeface="Times New Roman"/>
              </a:rPr>
              <a:t>	Read</a:t>
            </a:r>
            <a:endParaRPr dirty="0" lang="en-US">
              <a:latin charset="0" panose="02020603050405020304" pitchFamily="18" typeface="Times New Roman"/>
              <a:ea charset="0" panose="02020603050405020304" pitchFamily="18" typeface="Times New Roman"/>
            </a:endParaRPr>
          </a:p>
          <a:p>
            <a:pPr marL="349250">
              <a:spcBef>
                <a:spcPts val="600"/>
              </a:spcBef>
              <a:spcAft>
                <a:spcPts val="600"/>
              </a:spcAft>
              <a:tabLst>
                <a:tab algn="l" pos="2286000"/>
                <a:tab algn="l" pos="2514600"/>
                <a:tab algn="l" pos="2514600"/>
              </a:tabLst>
            </a:pPr>
            <a:r>
              <a:rPr b="1" dirty="0" lang="en-US" sz="16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</a:rPr>
              <a:t>w</a:t>
            </a:r>
            <a:r>
              <a:rPr dirty="0" lang="en-US">
                <a:solidFill>
                  <a:srgbClr val="000000"/>
                </a:solidFill>
                <a:latin charset="0" panose="02020603050405020304" pitchFamily="18" typeface="Times New Roman"/>
                <a:ea charset="0" panose="02020603050405020304" pitchFamily="18" typeface="Times New Roman"/>
              </a:rPr>
              <a:t>	Write</a:t>
            </a:r>
            <a:endParaRPr dirty="0" lang="en-US">
              <a:latin charset="0" panose="02020603050405020304" pitchFamily="18" typeface="Times New Roman"/>
              <a:ea charset="0" panose="02020603050405020304" pitchFamily="18" typeface="Times New Roman"/>
            </a:endParaRPr>
          </a:p>
          <a:p>
            <a:pPr marL="349250">
              <a:spcBef>
                <a:spcPts val="600"/>
              </a:spcBef>
              <a:spcAft>
                <a:spcPts val="600"/>
              </a:spcAft>
              <a:tabLst>
                <a:tab algn="l" pos="2286000"/>
                <a:tab algn="l" pos="2514600"/>
                <a:tab algn="l" pos="2514600"/>
              </a:tabLst>
            </a:pPr>
            <a:r>
              <a:rPr b="1" dirty="0" lang="en-US" sz="16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</a:rPr>
              <a:t>a</a:t>
            </a:r>
            <a:r>
              <a:rPr dirty="0" lang="en-US">
                <a:solidFill>
                  <a:srgbClr val="000000"/>
                </a:solidFill>
                <a:latin charset="0" panose="02020603050405020304" pitchFamily="18" typeface="Times New Roman"/>
                <a:ea charset="0" panose="02020603050405020304" pitchFamily="18" typeface="Times New Roman"/>
              </a:rPr>
              <a:t>	Append</a:t>
            </a:r>
            <a:endParaRPr dirty="0" lang="en-US">
              <a:latin charset="0" panose="02020603050405020304" pitchFamily="18" typeface="Times New Roman"/>
              <a:ea charset="0" panose="02020603050405020304" pitchFamily="18" typeface="Times New Roman"/>
            </a:endParaRPr>
          </a:p>
          <a:p>
            <a:pPr marL="349250">
              <a:spcBef>
                <a:spcPts val="600"/>
              </a:spcBef>
              <a:spcAft>
                <a:spcPts val="600"/>
              </a:spcAft>
              <a:tabLst>
                <a:tab algn="l" pos="2286000"/>
                <a:tab algn="l" pos="2514600"/>
                <a:tab algn="l" pos="2514600"/>
              </a:tabLst>
            </a:pPr>
            <a:r>
              <a:rPr b="1" dirty="0" lang="en-US" sz="16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</a:rPr>
              <a:t>b</a:t>
            </a:r>
            <a:r>
              <a:rPr b="1" dirty="0" lang="en-US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</a:rPr>
              <a:t>	</a:t>
            </a:r>
            <a:r>
              <a:rPr dirty="0" lang="en-US">
                <a:solidFill>
                  <a:srgbClr val="000000"/>
                </a:solidFill>
                <a:latin charset="0" panose="02020603050405020304" pitchFamily="18" typeface="Times New Roman"/>
                <a:ea charset="0" panose="02020603050405020304" pitchFamily="18" typeface="Times New Roman"/>
              </a:rPr>
              <a:t>Binary</a:t>
            </a:r>
            <a:endParaRPr dirty="0" lang="en-US">
              <a:latin charset="0" panose="02020603050405020304" pitchFamily="18" typeface="Times New Roman"/>
              <a:ea charset="0" panose="02020603050405020304" pitchFamily="18" typeface="Times New Roman"/>
            </a:endParaRPr>
          </a:p>
          <a:p>
            <a:pPr>
              <a:spcBef>
                <a:spcPts val="1500"/>
              </a:spcBef>
              <a:spcAft>
                <a:spcPts val="600"/>
              </a:spcAft>
              <a:tabLst>
                <a:tab algn="l" pos="1371600"/>
              </a:tabLst>
            </a:pPr>
            <a:r>
              <a:rPr b="1" dirty="0" lang="en-US" sz="2400">
                <a:solidFill>
                  <a:srgbClr val="000099"/>
                </a:solidFill>
                <a:latin charset="0" panose="020B0604020202020204" pitchFamily="34" typeface="Arial"/>
                <a:ea charset="0" panose="02020603050405020304" pitchFamily="18" typeface="Times New Roman"/>
                <a:cs charset="0" panose="02020603050405020304" pitchFamily="18" typeface="Times New Roman"/>
              </a:rPr>
              <a:t>The close() method of a file object</a:t>
            </a:r>
          </a:p>
          <a:p>
            <a:pPr marL="347345" marR="274320">
              <a:spcBef>
                <a:spcPts val="0"/>
              </a:spcBef>
              <a:spcAft>
                <a:spcPts val="600"/>
              </a:spcAft>
            </a:pPr>
            <a:r>
              <a:rPr b="1" dirty="0" lang="en-US" spc="-10" sz="1600">
                <a:latin charset="0" panose="02070309020205020404" pitchFamily="49" typeface="Courier New"/>
                <a:ea charset="0" panose="02020603050405020304" pitchFamily="18" typeface="Times New Roman"/>
              </a:rPr>
              <a:t>close()</a:t>
            </a:r>
            <a:endParaRPr dirty="0" lang="en-US" spc="-10" sz="1600">
              <a:latin charset="0" panose="02020603050405020304" pitchFamily="18" typeface="Times New Roman"/>
              <a:ea charset="0" panose="02020603050405020304" pitchFamily="18" typeface="Times New Roman"/>
            </a:endParaRPr>
          </a:p>
          <a:p>
            <a:endParaRPr dirty="0" lang="en-US"/>
          </a:p>
        </p:txBody>
      </p:sp>
      <p:sp>
        <p:nvSpPr>
          <p:cNvPr id="3" name="Date Placeholder 2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dirty="0" lang="en-US"/>
          </a:p>
        </p:txBody>
      </p:sp>
      <p:sp>
        <p:nvSpPr>
          <p:cNvPr id="4" name="Footer Placeholder 3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pPr>
              <a:defRPr/>
            </a:pPr>
            <a:r>
              <a:rPr lang="en-US" sz="1200"/>
              <a:t>© 2021,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charset="0" pitchFamily="34" typeface="Arial Narrow"/>
              </a:rPr>
              <a:t>C7, Slide </a:t>
            </a:r>
            <a:fld id="{5ECE9829-65B2-40C6-AEFF-7C648FF56A9C}" type="slidenum">
              <a:rPr lang="en-US" smtClean="0" sz="900">
                <a:solidFill>
                  <a:schemeClr val="bg1"/>
                </a:solidFill>
                <a:latin charset="0" pitchFamily="34" typeface="Arial Narrow"/>
              </a:rPr>
              <a:pPr algn="r">
                <a:defRPr/>
              </a:pPr>
              <a:t>5</a:t>
            </a:fld>
            <a:endParaRPr dirty="0" lang="en-US" sz="900">
              <a:solidFill>
                <a:schemeClr val="bg1"/>
              </a:solidFill>
              <a:latin charset="0" pitchFamily="34"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1751592635"/>
      </p:ext>
    </p:extLst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24988"/>
            <a:ext cx="7315200" cy="746611"/>
          </a:xfrm>
        </p:spPr>
        <p:txBody>
          <a:bodyPr/>
          <a:lstStyle/>
          <a:p>
            <a:r>
              <a:rPr dirty="0" lang="en-US"/>
              <a:t>How to open a file in write mode </a:t>
            </a:r>
            <a:br>
              <a:rPr dirty="0" lang="en-US"/>
            </a:br>
            <a:r>
              <a:rPr dirty="0" lang="en-US"/>
              <a:t>and close the file manually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258ED49-98B8-40A3-B62F-CD074478EF14}"/>
              </a:ext>
            </a:extLst>
          </p:cNvPr>
          <p:cNvSpPr>
            <a:spLocks noGrp="1"/>
          </p:cNvSpPr>
          <p:nvPr>
            <p:ph idx="13" sz="quarter" type="body"/>
          </p:nvPr>
        </p:nvSpPr>
        <p:spPr>
          <a:xfrm>
            <a:off x="838200" y="1447800"/>
            <a:ext cx="7391400" cy="4495800"/>
          </a:xfrm>
        </p:spPr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outfile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= open("test.txt", "w")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outfile.write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("Test")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outfile.close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()</a:t>
            </a:r>
          </a:p>
          <a:p>
            <a:endParaRPr dirty="0" lang="en-US" sz="1600"/>
          </a:p>
        </p:txBody>
      </p:sp>
      <p:sp>
        <p:nvSpPr>
          <p:cNvPr id="3" name="Date Placeholder 2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dirty="0" lang="en-US"/>
          </a:p>
        </p:txBody>
      </p:sp>
      <p:sp>
        <p:nvSpPr>
          <p:cNvPr id="4" name="Footer Placeholder 3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pPr>
              <a:defRPr/>
            </a:pPr>
            <a:r>
              <a:rPr lang="en-US" sz="1200"/>
              <a:t>© 2021,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charset="0" pitchFamily="34" typeface="Arial Narrow"/>
              </a:rPr>
              <a:t>C7, Slide </a:t>
            </a:r>
            <a:fld id="{5ECE9829-65B2-40C6-AEFF-7C648FF56A9C}" type="slidenum">
              <a:rPr lang="en-US" smtClean="0" sz="900">
                <a:solidFill>
                  <a:schemeClr val="bg1"/>
                </a:solidFill>
                <a:latin charset="0" pitchFamily="34" typeface="Arial Narrow"/>
              </a:rPr>
              <a:pPr algn="r">
                <a:defRPr/>
              </a:pPr>
              <a:t>6</a:t>
            </a:fld>
            <a:endParaRPr dirty="0" lang="en-US" sz="900">
              <a:solidFill>
                <a:schemeClr val="bg1"/>
              </a:solidFill>
              <a:latin charset="0" pitchFamily="34"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3204918521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24988"/>
            <a:ext cx="7315200" cy="670411"/>
          </a:xfrm>
        </p:spPr>
        <p:txBody>
          <a:bodyPr/>
          <a:lstStyle/>
          <a:p>
            <a:r>
              <a:rPr dirty="0" lang="en-US"/>
              <a:t>How to use with statements to open </a:t>
            </a:r>
            <a:br>
              <a:rPr dirty="0" lang="en-US"/>
            </a:br>
            <a:r>
              <a:rPr dirty="0" lang="en-US"/>
              <a:t>and close files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2F39D41-DA39-4A64-85A3-1F104E96BF0B}"/>
              </a:ext>
            </a:extLst>
          </p:cNvPr>
          <p:cNvSpPr>
            <a:spLocks noGrp="1"/>
          </p:cNvSpPr>
          <p:nvPr>
            <p:ph idx="13" sz="quarter" type="body"/>
          </p:nvPr>
        </p:nvSpPr>
        <p:spPr>
          <a:xfrm>
            <a:off x="838200" y="1447800"/>
            <a:ext cx="7391400" cy="4495800"/>
          </a:xfrm>
        </p:spPr>
        <p:txBody>
          <a:bodyPr/>
          <a:lstStyle/>
          <a:p>
            <a:pPr marL="347345" marR="0">
              <a:spcBef>
                <a:spcPts val="900"/>
              </a:spcBef>
              <a:spcAft>
                <a:spcPts val="600"/>
              </a:spcAft>
              <a:tabLst>
                <a:tab algn="l" pos="1371600"/>
                <a:tab algn="l" pos="2743200"/>
              </a:tabLst>
            </a:pPr>
            <a:r>
              <a:rPr b="1" dirty="0" lang="en-US" spc="-10">
                <a:solidFill>
                  <a:srgbClr val="000099"/>
                </a:solidFill>
                <a:latin charset="0" panose="020B0604020202020204" pitchFamily="34" typeface="Arial"/>
                <a:ea charset="0" panose="02020603050405020304" pitchFamily="18" typeface="Times New Roman"/>
                <a:cs charset="0" panose="02020603050405020304" pitchFamily="18" typeface="Times New Roman"/>
              </a:rPr>
              <a:t>The syntax of the with statement for file I/O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with open(</a:t>
            </a:r>
            <a:r>
              <a:rPr b="1" dirty="0" i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file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, </a:t>
            </a:r>
            <a:r>
              <a:rPr b="1" dirty="0" i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mode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) as </a:t>
            </a:r>
            <a:r>
              <a:rPr b="1" dirty="0" err="1" i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file_object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statements...</a:t>
            </a:r>
          </a:p>
          <a:p>
            <a:pPr marL="347345" marR="0">
              <a:spcBef>
                <a:spcPts val="900"/>
              </a:spcBef>
              <a:spcAft>
                <a:spcPts val="600"/>
              </a:spcAft>
              <a:tabLst>
                <a:tab algn="l" pos="1371600"/>
                <a:tab algn="l" pos="2743200"/>
              </a:tabLst>
            </a:pPr>
            <a:r>
              <a:rPr b="1" dirty="0" lang="en-US" spc="-10">
                <a:solidFill>
                  <a:srgbClr val="000099"/>
                </a:solidFill>
                <a:latin charset="0" panose="020B0604020202020204" pitchFamily="34" typeface="Arial"/>
                <a:ea charset="0" panose="02020603050405020304" pitchFamily="18" typeface="Times New Roman"/>
                <a:cs charset="0" panose="02020603050405020304" pitchFamily="18" typeface="Times New Roman"/>
              </a:rPr>
              <a:t>Code that opens a text file in write mode </a:t>
            </a:r>
            <a:br>
              <a:rPr b="1" dirty="0" lang="en-US" spc="-10">
                <a:solidFill>
                  <a:srgbClr val="000099"/>
                </a:solidFill>
                <a:latin charset="0" panose="020B0604020202020204" pitchFamily="34" typeface="Arial"/>
                <a:ea charset="0" panose="02020603050405020304" pitchFamily="18" typeface="Times New Roman"/>
                <a:cs charset="0" panose="02020603050405020304" pitchFamily="18" typeface="Times New Roman"/>
              </a:rPr>
            </a:br>
            <a:r>
              <a:rPr b="1" dirty="0" lang="en-US" spc="-10">
                <a:solidFill>
                  <a:srgbClr val="000099"/>
                </a:solidFill>
                <a:latin charset="0" panose="020B0604020202020204" pitchFamily="34" typeface="Arial"/>
                <a:ea charset="0" panose="02020603050405020304" pitchFamily="18" typeface="Times New Roman"/>
                <a:cs charset="0" panose="02020603050405020304" pitchFamily="18" typeface="Times New Roman"/>
              </a:rPr>
              <a:t>and automatically closes it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with open("test.txt", "w") as </a:t>
            </a: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outfile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</a:t>
            </a: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outfile.write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("Test")</a:t>
            </a:r>
          </a:p>
          <a:p>
            <a:pPr marL="347345" marR="0">
              <a:spcBef>
                <a:spcPts val="900"/>
              </a:spcBef>
              <a:spcAft>
                <a:spcPts val="600"/>
              </a:spcAft>
              <a:tabLst>
                <a:tab algn="l" pos="1371600"/>
                <a:tab algn="l" pos="2743200"/>
              </a:tabLst>
            </a:pPr>
            <a:r>
              <a:rPr b="1" dirty="0" lang="en-US" spc="-10">
                <a:solidFill>
                  <a:srgbClr val="000099"/>
                </a:solidFill>
                <a:latin charset="0" panose="020B0604020202020204" pitchFamily="34" typeface="Arial"/>
                <a:ea charset="0" panose="02020603050405020304" pitchFamily="18" typeface="Times New Roman"/>
                <a:cs charset="0" panose="02020603050405020304" pitchFamily="18" typeface="Times New Roman"/>
              </a:rPr>
              <a:t>Code that opens a text file in read mode </a:t>
            </a:r>
            <a:br>
              <a:rPr b="1" dirty="0" lang="en-US" spc="-10">
                <a:solidFill>
                  <a:srgbClr val="000099"/>
                </a:solidFill>
                <a:latin charset="0" panose="020B0604020202020204" pitchFamily="34" typeface="Arial"/>
                <a:ea charset="0" panose="02020603050405020304" pitchFamily="18" typeface="Times New Roman"/>
                <a:cs charset="0" panose="02020603050405020304" pitchFamily="18" typeface="Times New Roman"/>
              </a:rPr>
            </a:br>
            <a:r>
              <a:rPr b="1" dirty="0" lang="en-US" spc="-10">
                <a:solidFill>
                  <a:srgbClr val="000099"/>
                </a:solidFill>
                <a:latin charset="0" panose="020B0604020202020204" pitchFamily="34" typeface="Arial"/>
                <a:ea charset="0" panose="02020603050405020304" pitchFamily="18" typeface="Times New Roman"/>
                <a:cs charset="0" panose="02020603050405020304" pitchFamily="18" typeface="Times New Roman"/>
              </a:rPr>
              <a:t>and automatically closes it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with open("test.txt", "r") as </a:t>
            </a: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infile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print(</a:t>
            </a: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infile.readline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())</a:t>
            </a:r>
          </a:p>
          <a:p>
            <a:endParaRPr dirty="0" lang="en-US"/>
          </a:p>
        </p:txBody>
      </p:sp>
      <p:sp>
        <p:nvSpPr>
          <p:cNvPr id="3" name="Date Placeholder 2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dirty="0" lang="en-US"/>
          </a:p>
        </p:txBody>
      </p:sp>
      <p:sp>
        <p:nvSpPr>
          <p:cNvPr id="4" name="Footer Placeholder 3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pPr>
              <a:defRPr/>
            </a:pPr>
            <a:r>
              <a:rPr lang="en-US" sz="1200"/>
              <a:t>© 2021,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charset="0" pitchFamily="34" typeface="Arial Narrow"/>
              </a:rPr>
              <a:t>C7, Slide </a:t>
            </a:r>
            <a:fld id="{5ECE9829-65B2-40C6-AEFF-7C648FF56A9C}" type="slidenum">
              <a:rPr lang="en-US" smtClean="0" sz="900">
                <a:solidFill>
                  <a:schemeClr val="bg1"/>
                </a:solidFill>
                <a:latin charset="0" pitchFamily="34" typeface="Arial Narrow"/>
              </a:rPr>
              <a:pPr algn="r">
                <a:defRPr/>
              </a:pPr>
              <a:t>7</a:t>
            </a:fld>
            <a:endParaRPr dirty="0" lang="en-US" sz="900">
              <a:solidFill>
                <a:schemeClr val="bg1"/>
              </a:solidFill>
              <a:latin charset="0" pitchFamily="34"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145595881"/>
      </p:ext>
    </p:extLst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/>
              <a:t>The write() method of a file object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1E08634-28B4-4132-BFDA-82719A668C65}"/>
              </a:ext>
            </a:extLst>
          </p:cNvPr>
          <p:cNvSpPr>
            <a:spLocks noGrp="1"/>
          </p:cNvSpPr>
          <p:nvPr>
            <p:ph idx="13" sz="quarter" type="body"/>
          </p:nvPr>
        </p:nvSpPr>
        <p:spPr/>
        <p:txBody>
          <a:bodyPr/>
          <a:lstStyle/>
          <a:p>
            <a:pPr marL="347345" marR="274320">
              <a:spcBef>
                <a:spcPts val="0"/>
              </a:spcBef>
              <a:spcAft>
                <a:spcPts val="600"/>
              </a:spcAft>
            </a:pPr>
            <a:r>
              <a:rPr b="1" dirty="0" lang="en-US" spc="-10" sz="1600">
                <a:latin charset="0" panose="02070309020205020404" pitchFamily="49" typeface="Courier New"/>
                <a:ea charset="0" panose="02020603050405020304" pitchFamily="18" typeface="Times New Roman"/>
              </a:rPr>
              <a:t>write(</a:t>
            </a:r>
            <a:r>
              <a:rPr b="1" dirty="0" i="1" lang="en-US" spc="-10" sz="1600">
                <a:latin charset="0" panose="02070309020205020404" pitchFamily="49" typeface="Courier New"/>
                <a:ea charset="0" panose="02020603050405020304" pitchFamily="18" typeface="Times New Roman"/>
              </a:rPr>
              <a:t>str</a:t>
            </a:r>
            <a:r>
              <a:rPr b="1" dirty="0" lang="en-US" spc="-10" sz="1600">
                <a:latin charset="0" panose="02070309020205020404" pitchFamily="49" typeface="Courier New"/>
                <a:ea charset="0" panose="02020603050405020304" pitchFamily="18" typeface="Times New Roman"/>
              </a:rPr>
              <a:t>)</a:t>
            </a:r>
            <a:endParaRPr dirty="0" lang="en-US" spc="-10" sz="1600">
              <a:latin charset="0" panose="02020603050405020304" pitchFamily="18" typeface="Times New Roman"/>
              <a:ea charset="0" panose="02020603050405020304" pitchFamily="18" typeface="Times New Roman"/>
            </a:endParaRPr>
          </a:p>
          <a:p>
            <a:pPr>
              <a:spcBef>
                <a:spcPts val="1500"/>
              </a:spcBef>
              <a:spcAft>
                <a:spcPts val="600"/>
              </a:spcAft>
              <a:tabLst>
                <a:tab algn="l" pos="1371600"/>
              </a:tabLst>
            </a:pPr>
            <a:r>
              <a:rPr b="1" dirty="0" lang="en-US" sz="2400">
                <a:solidFill>
                  <a:srgbClr val="000099"/>
                </a:solidFill>
                <a:latin charset="0" panose="020B0604020202020204" pitchFamily="34" typeface="Arial"/>
                <a:ea charset="0" panose="02020603050405020304" pitchFamily="18" typeface="Times New Roman"/>
                <a:cs charset="0" panose="02020603050405020304" pitchFamily="18" typeface="Times New Roman"/>
              </a:rPr>
              <a:t>How to write one line to a text file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with open("members.txt", "w") as file: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</a:t>
            </a: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file.write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("John Cleese\n")</a:t>
            </a:r>
          </a:p>
          <a:p>
            <a:pPr>
              <a:spcBef>
                <a:spcPts val="1500"/>
              </a:spcBef>
              <a:spcAft>
                <a:spcPts val="600"/>
              </a:spcAft>
              <a:tabLst>
                <a:tab algn="l" pos="1371600"/>
              </a:tabLst>
            </a:pPr>
            <a:r>
              <a:rPr b="1" dirty="0" lang="en-US" sz="2400">
                <a:solidFill>
                  <a:srgbClr val="000099"/>
                </a:solidFill>
                <a:latin charset="0" panose="020B0604020202020204" pitchFamily="34" typeface="Arial"/>
                <a:ea charset="0" panose="02020603050405020304" pitchFamily="18" typeface="Times New Roman"/>
                <a:cs charset="0" panose="02020603050405020304" pitchFamily="18" typeface="Times New Roman"/>
              </a:rPr>
              <a:t>How to append one line to a text file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with open("members.txt", "a") as file: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</a:t>
            </a: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file.write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("Eric Idle\n")</a:t>
            </a:r>
          </a:p>
          <a:p>
            <a:endParaRPr dirty="0" lang="en-US"/>
          </a:p>
        </p:txBody>
      </p:sp>
      <p:sp>
        <p:nvSpPr>
          <p:cNvPr id="3" name="Date Placeholder 2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dirty="0" lang="en-US"/>
          </a:p>
        </p:txBody>
      </p:sp>
      <p:sp>
        <p:nvSpPr>
          <p:cNvPr id="4" name="Footer Placeholder 3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pPr>
              <a:defRPr/>
            </a:pPr>
            <a:r>
              <a:rPr lang="en-US" sz="1200"/>
              <a:t>© 2021,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charset="0" pitchFamily="34" typeface="Arial Narrow"/>
              </a:rPr>
              <a:t>C7, Slide </a:t>
            </a:r>
            <a:fld id="{5ECE9829-65B2-40C6-AEFF-7C648FF56A9C}" type="slidenum">
              <a:rPr lang="en-US" smtClean="0" sz="900">
                <a:solidFill>
                  <a:schemeClr val="bg1"/>
                </a:solidFill>
                <a:latin charset="0" pitchFamily="34" typeface="Arial Narrow"/>
              </a:rPr>
              <a:pPr algn="r">
                <a:defRPr/>
              </a:pPr>
              <a:t>8</a:t>
            </a:fld>
            <a:endParaRPr dirty="0" lang="en-US" sz="900">
              <a:solidFill>
                <a:schemeClr val="bg1"/>
              </a:solidFill>
              <a:latin charset="0" pitchFamily="34"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2030758077"/>
      </p:ext>
    </p:extLst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755964"/>
          </a:xfrm>
        </p:spPr>
        <p:txBody>
          <a:bodyPr/>
          <a:lstStyle/>
          <a:p>
            <a:r>
              <a:rPr dirty="0" lang="en-US"/>
              <a:t>The contents of the text file after the two lines have been written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56EDF49-BF56-4F4A-9B5E-ED78C0F18823}"/>
              </a:ext>
            </a:extLst>
          </p:cNvPr>
          <p:cNvSpPr>
            <a:spLocks noGrp="1"/>
          </p:cNvSpPr>
          <p:nvPr>
            <p:ph idx="16" sz="quarter" type="body"/>
          </p:nvPr>
        </p:nvSpPr>
        <p:spPr>
          <a:xfrm>
            <a:off x="1295400" y="1486265"/>
            <a:ext cx="5105400" cy="369332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John Cleese\</a:t>
            </a:r>
            <a:r>
              <a:rPr b="1" dirty="0" err="1" lang="en-US" sz="16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nEric</a:t>
            </a:r>
            <a:r>
              <a:rPr b="1" dirty="0" lang="en-US" sz="16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Idle\n</a:t>
            </a:r>
            <a:endParaRPr b="1" dirty="0" lang="en-US" sz="16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endParaRPr dirty="0" lang="en-US" sz="160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288F415-24E6-4C06-A6A0-EF5E500F1C2E}"/>
              </a:ext>
            </a:extLst>
          </p:cNvPr>
          <p:cNvSpPr>
            <a:spLocks noGrp="1"/>
          </p:cNvSpPr>
          <p:nvPr>
            <p:ph idx="17" sz="quarter" type="body"/>
          </p:nvPr>
        </p:nvSpPr>
        <p:spPr>
          <a:xfrm>
            <a:off x="838200" y="2086512"/>
            <a:ext cx="7391400" cy="885288"/>
          </a:xfrm>
        </p:spPr>
        <p:txBody>
          <a:bodyPr/>
          <a:lstStyle/>
          <a:p>
            <a:pPr>
              <a:spcBef>
                <a:spcPts val="1500"/>
              </a:spcBef>
              <a:spcAft>
                <a:spcPts val="600"/>
              </a:spcAft>
              <a:tabLst>
                <a:tab algn="l" pos="1371600"/>
              </a:tabLst>
            </a:pPr>
            <a:r>
              <a:rPr b="1" dirty="0" lang="en-US" sz="2400">
                <a:solidFill>
                  <a:srgbClr val="000099"/>
                </a:solidFill>
                <a:latin charset="0" panose="020B0604020202020204" pitchFamily="34" typeface="Arial"/>
                <a:ea charset="0" panose="02020603050405020304" pitchFamily="18" typeface="Times New Roman"/>
                <a:cs charset="0" panose="02020603050405020304" pitchFamily="18" typeface="Times New Roman"/>
              </a:rPr>
              <a:t>The contents of the text file when viewed </a:t>
            </a:r>
            <a:br>
              <a:rPr b="1" dirty="0" lang="en-US" sz="2400">
                <a:solidFill>
                  <a:srgbClr val="000099"/>
                </a:solidFill>
                <a:latin charset="0" panose="020B0604020202020204" pitchFamily="34" typeface="Arial"/>
                <a:ea charset="0" panose="02020603050405020304" pitchFamily="18" typeface="Times New Roman"/>
                <a:cs charset="0" panose="02020603050405020304" pitchFamily="18" typeface="Times New Roman"/>
              </a:rPr>
            </a:br>
            <a:r>
              <a:rPr b="1" dirty="0" lang="en-US" sz="2400">
                <a:solidFill>
                  <a:srgbClr val="000099"/>
                </a:solidFill>
                <a:latin charset="0" panose="020B0604020202020204" pitchFamily="34" typeface="Arial"/>
                <a:ea charset="0" panose="02020603050405020304" pitchFamily="18" typeface="Times New Roman"/>
                <a:cs charset="0" panose="02020603050405020304" pitchFamily="18" typeface="Times New Roman"/>
              </a:rPr>
              <a:t>in a text editor</a:t>
            </a:r>
          </a:p>
          <a:p>
            <a:endParaRPr dirty="0"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06B6790-ACB4-4C93-A279-83F6C8C1FFDE}"/>
              </a:ext>
            </a:extLst>
          </p:cNvPr>
          <p:cNvSpPr>
            <a:spLocks noGrp="1"/>
          </p:cNvSpPr>
          <p:nvPr>
            <p:ph idx="15" sz="quarter" type="body"/>
          </p:nvPr>
        </p:nvSpPr>
        <p:spPr>
          <a:xfrm>
            <a:off x="1295400" y="2924712"/>
            <a:ext cx="5105400" cy="580488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John Cleese</a:t>
            </a:r>
            <a:endParaRPr b="1" dirty="0" lang="en-US" sz="16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Eric Idle</a:t>
            </a:r>
            <a:endParaRPr b="1" dirty="0" lang="en-US" sz="16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endParaRPr dirty="0" lang="en-US"/>
          </a:p>
        </p:txBody>
      </p:sp>
      <p:sp>
        <p:nvSpPr>
          <p:cNvPr id="3" name="Date Placeholder 2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dirty="0" lang="en-US"/>
          </a:p>
        </p:txBody>
      </p:sp>
      <p:sp>
        <p:nvSpPr>
          <p:cNvPr id="4" name="Footer Placeholder 3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pPr>
              <a:defRPr/>
            </a:pPr>
            <a:r>
              <a:rPr lang="en-US" sz="1200"/>
              <a:t>© 2021,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charset="0" pitchFamily="34" typeface="Arial Narrow"/>
              </a:rPr>
              <a:t>C7, Slide </a:t>
            </a:r>
            <a:fld id="{5ECE9829-65B2-40C6-AEFF-7C648FF56A9C}" type="slidenum">
              <a:rPr lang="en-US" smtClean="0" sz="900">
                <a:solidFill>
                  <a:schemeClr val="bg1"/>
                </a:solidFill>
                <a:latin charset="0" pitchFamily="34" typeface="Arial Narrow"/>
              </a:rPr>
              <a:pPr algn="r">
                <a:defRPr/>
              </a:pPr>
              <a:t>9</a:t>
            </a:fld>
            <a:endParaRPr dirty="0" lang="en-US" sz="900">
              <a:solidFill>
                <a:schemeClr val="bg1"/>
              </a:solidFill>
              <a:latin charset="0" pitchFamily="34"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2107267756"/>
      </p:ext>
    </p:extLst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/>
              <a:t>Three read methods of a file object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A864DCC-D055-4B01-B19E-94FD33F22BBD}"/>
              </a:ext>
            </a:extLst>
          </p:cNvPr>
          <p:cNvSpPr>
            <a:spLocks noGrp="1"/>
          </p:cNvSpPr>
          <p:nvPr>
            <p:ph idx="13" sz="quarter" type="body"/>
          </p:nvPr>
        </p:nvSpPr>
        <p:spPr/>
        <p:txBody>
          <a:bodyPr/>
          <a:lstStyle/>
          <a:p>
            <a:pPr marL="347345" marR="274320">
              <a:spcBef>
                <a:spcPts val="0"/>
              </a:spcBef>
              <a:spcAft>
                <a:spcPts val="600"/>
              </a:spcAft>
            </a:pPr>
            <a:r>
              <a:rPr b="1" dirty="0" lang="en-US" spc="-10" sz="1600">
                <a:latin charset="0" panose="02070309020205020404" pitchFamily="49" typeface="Courier New"/>
                <a:ea charset="0" panose="02020603050405020304" pitchFamily="18" typeface="Times New Roman"/>
              </a:rPr>
              <a:t>read()</a:t>
            </a:r>
            <a:endParaRPr dirty="0" lang="en-US" spc="-10" sz="1600">
              <a:latin charset="0" panose="02020603050405020304" pitchFamily="18" typeface="Times New Roman"/>
              <a:ea charset="0" panose="02020603050405020304" pitchFamily="18" typeface="Times New Roman"/>
            </a:endParaRPr>
          </a:p>
          <a:p>
            <a:pPr marL="347345" marR="274320">
              <a:spcBef>
                <a:spcPts val="0"/>
              </a:spcBef>
              <a:spcAft>
                <a:spcPts val="600"/>
              </a:spcAft>
            </a:pPr>
            <a:r>
              <a:rPr b="1" dirty="0" err="1" lang="en-US" spc="-10" sz="1600">
                <a:latin charset="0" panose="02070309020205020404" pitchFamily="49" typeface="Courier New"/>
                <a:ea charset="0" panose="02020603050405020304" pitchFamily="18" typeface="Times New Roman"/>
              </a:rPr>
              <a:t>readlines</a:t>
            </a:r>
            <a:r>
              <a:rPr b="1" dirty="0" lang="en-US" spc="-10" sz="1600">
                <a:latin charset="0" panose="02070309020205020404" pitchFamily="49" typeface="Courier New"/>
                <a:ea charset="0" panose="02020603050405020304" pitchFamily="18" typeface="Times New Roman"/>
              </a:rPr>
              <a:t>()</a:t>
            </a:r>
            <a:endParaRPr dirty="0" lang="en-US" spc="-10" sz="1600">
              <a:latin charset="0" panose="02020603050405020304" pitchFamily="18" typeface="Times New Roman"/>
              <a:ea charset="0" panose="02020603050405020304" pitchFamily="18" typeface="Times New Roman"/>
            </a:endParaRPr>
          </a:p>
          <a:p>
            <a:pPr marL="347345" marR="274320">
              <a:spcBef>
                <a:spcPts val="0"/>
              </a:spcBef>
              <a:spcAft>
                <a:spcPts val="600"/>
              </a:spcAft>
            </a:pPr>
            <a:r>
              <a:rPr b="1" dirty="0" err="1" lang="en-US" spc="-10" sz="1600">
                <a:latin charset="0" panose="02070309020205020404" pitchFamily="49" typeface="Courier New"/>
                <a:ea charset="0" panose="02020603050405020304" pitchFamily="18" typeface="Times New Roman"/>
              </a:rPr>
              <a:t>readline</a:t>
            </a:r>
            <a:r>
              <a:rPr b="1" dirty="0" lang="en-US" spc="-10" sz="1600">
                <a:latin charset="0" panose="02070309020205020404" pitchFamily="49" typeface="Courier New"/>
                <a:ea charset="0" panose="02020603050405020304" pitchFamily="18" typeface="Times New Roman"/>
              </a:rPr>
              <a:t>()</a:t>
            </a:r>
            <a:endParaRPr dirty="0" lang="en-US" spc="-10" sz="1600">
              <a:latin charset="0" panose="02020603050405020304" pitchFamily="18" typeface="Times New Roman"/>
              <a:ea charset="0" panose="02020603050405020304" pitchFamily="18" typeface="Times New Roman"/>
            </a:endParaRPr>
          </a:p>
          <a:p>
            <a:endParaRPr dirty="0" lang="en-US"/>
          </a:p>
        </p:txBody>
      </p:sp>
      <p:sp>
        <p:nvSpPr>
          <p:cNvPr id="3" name="Date Placeholder 2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dirty="0" lang="en-US"/>
          </a:p>
        </p:txBody>
      </p:sp>
      <p:sp>
        <p:nvSpPr>
          <p:cNvPr id="4" name="Footer Placeholder 3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pPr>
              <a:defRPr/>
            </a:pPr>
            <a:r>
              <a:rPr lang="en-US" sz="1200"/>
              <a:t>© 2021,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charset="0" pitchFamily="34" typeface="Arial Narrow"/>
              </a:rPr>
              <a:t>C7, Slide </a:t>
            </a:r>
            <a:fld id="{5ECE9829-65B2-40C6-AEFF-7C648FF56A9C}" type="slidenum">
              <a:rPr lang="en-US" smtClean="0" sz="900">
                <a:solidFill>
                  <a:schemeClr val="bg1"/>
                </a:solidFill>
                <a:latin charset="0" pitchFamily="34" typeface="Arial Narrow"/>
              </a:rPr>
              <a:pPr algn="r">
                <a:defRPr/>
              </a:pPr>
              <a:t>10</a:t>
            </a:fld>
            <a:endParaRPr dirty="0" lang="en-US" sz="900">
              <a:solidFill>
                <a:schemeClr val="bg1"/>
              </a:solidFill>
              <a:latin charset="0" pitchFamily="34"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398266637"/>
      </p:ext>
    </p:extLst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/>
              <a:t>How to use a loop to read each line of the file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A57B91F-792B-42D4-BED5-A182B071F233}"/>
              </a:ext>
            </a:extLst>
          </p:cNvPr>
          <p:cNvSpPr>
            <a:spLocks noGrp="1"/>
          </p:cNvSpPr>
          <p:nvPr>
            <p:ph idx="13" sz="quarter" type="body"/>
          </p:nvPr>
        </p:nvSpPr>
        <p:spPr>
          <a:xfrm>
            <a:off x="838200" y="1066800"/>
            <a:ext cx="7391400" cy="3048000"/>
          </a:xfrm>
        </p:spPr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with open("members.txt") as file: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for line in file: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print(line, end="")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print()</a:t>
            </a:r>
          </a:p>
          <a:p>
            <a:pPr>
              <a:spcBef>
                <a:spcPts val="1500"/>
              </a:spcBef>
              <a:spcAft>
                <a:spcPts val="600"/>
              </a:spcAft>
              <a:tabLst>
                <a:tab algn="l" pos="1371600"/>
              </a:tabLst>
            </a:pPr>
            <a:r>
              <a:rPr b="1" dirty="0" lang="en-US" sz="2400">
                <a:solidFill>
                  <a:srgbClr val="000099"/>
                </a:solidFill>
                <a:latin charset="0" panose="020B0604020202020204" pitchFamily="34" typeface="Arial"/>
                <a:ea charset="0" panose="02020603050405020304" pitchFamily="18" typeface="Times New Roman"/>
                <a:cs charset="0" panose="02020603050405020304" pitchFamily="18" typeface="Times New Roman"/>
              </a:rPr>
              <a:t>How to read the entire file as a string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with open("members.txt") as file: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contents = </a:t>
            </a: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file.read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print(contents)</a:t>
            </a:r>
          </a:p>
          <a:p>
            <a:pPr>
              <a:spcBef>
                <a:spcPts val="1500"/>
              </a:spcBef>
              <a:spcAft>
                <a:spcPts val="600"/>
              </a:spcAft>
              <a:tabLst>
                <a:tab algn="l" pos="1371600"/>
              </a:tabLst>
            </a:pPr>
            <a:r>
              <a:rPr b="1" dirty="0" lang="en-US" sz="2400">
                <a:solidFill>
                  <a:srgbClr val="000099"/>
                </a:solidFill>
                <a:latin charset="0" panose="020B0604020202020204" pitchFamily="34" typeface="Arial"/>
                <a:ea charset="0" panose="02020603050405020304" pitchFamily="18" typeface="Times New Roman"/>
                <a:cs charset="0" panose="02020603050405020304" pitchFamily="18" typeface="Times New Roman"/>
              </a:rPr>
              <a:t>The result that’s printed to the console</a:t>
            </a:r>
          </a:p>
          <a:p>
            <a:endParaRPr dirty="0"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B8DD76A-B5F3-4DCC-8E36-C75C77EA9A6E}"/>
              </a:ext>
            </a:extLst>
          </p:cNvPr>
          <p:cNvSpPr>
            <a:spLocks noGrp="1"/>
          </p:cNvSpPr>
          <p:nvPr>
            <p:ph idx="15" sz="quarter" type="body"/>
          </p:nvPr>
        </p:nvSpPr>
        <p:spPr>
          <a:xfrm>
            <a:off x="1295400" y="4114800"/>
            <a:ext cx="5105400" cy="533400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John Cleese</a:t>
            </a:r>
            <a:endParaRPr b="1" dirty="0" lang="en-US" sz="16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Eric Idle</a:t>
            </a:r>
            <a:endParaRPr b="1" dirty="0" lang="en-US" sz="16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endParaRPr dirty="0" lang="en-US" sz="1600"/>
          </a:p>
        </p:txBody>
      </p:sp>
      <p:sp>
        <p:nvSpPr>
          <p:cNvPr id="3" name="Date Placeholder 2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dirty="0" lang="en-US"/>
          </a:p>
        </p:txBody>
      </p:sp>
      <p:sp>
        <p:nvSpPr>
          <p:cNvPr id="4" name="Footer Placeholder 3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pPr>
              <a:defRPr/>
            </a:pPr>
            <a:r>
              <a:rPr lang="en-US" sz="1200"/>
              <a:t>© 2021,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charset="0" pitchFamily="34" typeface="Arial Narrow"/>
              </a:rPr>
              <a:t>C7, Slide </a:t>
            </a:r>
            <a:fld id="{5ECE9829-65B2-40C6-AEFF-7C648FF56A9C}" type="slidenum">
              <a:rPr lang="en-US" smtClean="0" sz="900">
                <a:solidFill>
                  <a:schemeClr val="bg1"/>
                </a:solidFill>
                <a:latin charset="0" pitchFamily="34" typeface="Arial Narrow"/>
              </a:rPr>
              <a:pPr algn="r">
                <a:defRPr/>
              </a:pPr>
              <a:t>11</a:t>
            </a:fld>
            <a:endParaRPr dirty="0" lang="en-US" sz="900">
              <a:solidFill>
                <a:schemeClr val="bg1"/>
              </a:solidFill>
              <a:latin charset="0" pitchFamily="34"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4259177218"/>
      </p:ext>
    </p:extLst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/>
              <a:t>How to read the entire file as a list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5A94B41-D72C-4AE1-A8F2-18A5F9D91574}"/>
              </a:ext>
            </a:extLst>
          </p:cNvPr>
          <p:cNvSpPr>
            <a:spLocks noGrp="1"/>
          </p:cNvSpPr>
          <p:nvPr>
            <p:ph idx="13" sz="quarter" type="body"/>
          </p:nvPr>
        </p:nvSpPr>
        <p:spPr>
          <a:xfrm>
            <a:off x="838200" y="1066800"/>
            <a:ext cx="7391400" cy="3505200"/>
          </a:xfrm>
        </p:spPr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with open("members.txt") as file: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members = </a:t>
            </a: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file.readlines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print(members[0], end="")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print(members[1])</a:t>
            </a:r>
          </a:p>
          <a:p>
            <a:pPr>
              <a:spcBef>
                <a:spcPts val="1500"/>
              </a:spcBef>
              <a:spcAft>
                <a:spcPts val="600"/>
              </a:spcAft>
              <a:tabLst>
                <a:tab algn="l" pos="1371600"/>
              </a:tabLst>
            </a:pPr>
            <a:r>
              <a:rPr b="1" dirty="0" lang="en-US" sz="2400">
                <a:solidFill>
                  <a:srgbClr val="000099"/>
                </a:solidFill>
                <a:latin charset="0" panose="020B0604020202020204" pitchFamily="34" typeface="Arial"/>
                <a:ea charset="0" panose="02020603050405020304" pitchFamily="18" typeface="Times New Roman"/>
                <a:cs charset="0" panose="02020603050405020304" pitchFamily="18" typeface="Times New Roman"/>
              </a:rPr>
              <a:t>How to read each line of the file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with open("members.txt") as file: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member1 = </a:t>
            </a: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file.readline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print(member1, end="")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member2 = </a:t>
            </a: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file.readline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print(member2)</a:t>
            </a:r>
          </a:p>
          <a:p>
            <a:pPr>
              <a:spcBef>
                <a:spcPts val="1500"/>
              </a:spcBef>
              <a:spcAft>
                <a:spcPts val="600"/>
              </a:spcAft>
              <a:tabLst>
                <a:tab algn="l" pos="1371600"/>
              </a:tabLst>
            </a:pPr>
            <a:r>
              <a:rPr b="1" dirty="0" lang="en-US" sz="2400">
                <a:solidFill>
                  <a:srgbClr val="000099"/>
                </a:solidFill>
                <a:latin charset="0" panose="020B0604020202020204" pitchFamily="34" typeface="Arial"/>
                <a:ea charset="0" panose="02020603050405020304" pitchFamily="18" typeface="Times New Roman"/>
                <a:cs charset="0" panose="02020603050405020304" pitchFamily="18" typeface="Times New Roman"/>
              </a:rPr>
              <a:t>The result that’s printed to the console</a:t>
            </a:r>
          </a:p>
          <a:p>
            <a:endParaRPr dirty="0"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CBE18A7-CF88-40CB-813D-B7D75686D1AB}"/>
              </a:ext>
            </a:extLst>
          </p:cNvPr>
          <p:cNvSpPr>
            <a:spLocks noGrp="1"/>
          </p:cNvSpPr>
          <p:nvPr>
            <p:ph idx="15" sz="quarter" type="body"/>
          </p:nvPr>
        </p:nvSpPr>
        <p:spPr>
          <a:xfrm>
            <a:off x="1295400" y="4572000"/>
            <a:ext cx="5105400" cy="613322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John Cleese</a:t>
            </a:r>
            <a:endParaRPr b="1" dirty="0" lang="en-US" sz="16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Eric Idle</a:t>
            </a:r>
            <a:endParaRPr b="1" dirty="0" lang="en-US" sz="16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endParaRPr dirty="0" lang="en-US" sz="1600"/>
          </a:p>
        </p:txBody>
      </p:sp>
      <p:sp>
        <p:nvSpPr>
          <p:cNvPr id="3" name="Date Placeholder 2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dirty="0" lang="en-US"/>
          </a:p>
        </p:txBody>
      </p:sp>
      <p:sp>
        <p:nvSpPr>
          <p:cNvPr id="4" name="Footer Placeholder 3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pPr>
              <a:defRPr/>
            </a:pPr>
            <a:r>
              <a:rPr lang="en-US" sz="1200"/>
              <a:t>© 2021,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charset="0" pitchFamily="34" typeface="Arial Narrow"/>
              </a:rPr>
              <a:t>C7, Slide </a:t>
            </a:r>
            <a:fld id="{5ECE9829-65B2-40C6-AEFF-7C648FF56A9C}" type="slidenum">
              <a:rPr lang="en-US" smtClean="0" sz="900">
                <a:solidFill>
                  <a:schemeClr val="bg1"/>
                </a:solidFill>
                <a:latin charset="0" pitchFamily="34" typeface="Arial Narrow"/>
              </a:rPr>
              <a:pPr algn="r">
                <a:defRPr/>
              </a:pPr>
              <a:t>12</a:t>
            </a:fld>
            <a:endParaRPr dirty="0" lang="en-US" sz="900">
              <a:solidFill>
                <a:schemeClr val="bg1"/>
              </a:solidFill>
              <a:latin charset="0" pitchFamily="34"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4074734798"/>
      </p:ext>
    </p:extLst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/>
              <a:t>How to write and read a list of strings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33AA1C3-6BF7-48FC-BAC2-2A5CA0AA3E60}"/>
              </a:ext>
            </a:extLst>
          </p:cNvPr>
          <p:cNvSpPr>
            <a:spLocks noGrp="1"/>
          </p:cNvSpPr>
          <p:nvPr>
            <p:ph idx="13" sz="quarter" type="body"/>
          </p:nvPr>
        </p:nvSpPr>
        <p:spPr>
          <a:xfrm>
            <a:off x="838200" y="1066800"/>
            <a:ext cx="7391400" cy="3810000"/>
          </a:xfrm>
        </p:spPr>
        <p:txBody>
          <a:bodyPr/>
          <a:lstStyle/>
          <a:p>
            <a:pPr marL="347345" marR="0">
              <a:spcBef>
                <a:spcPts val="900"/>
              </a:spcBef>
              <a:spcAft>
                <a:spcPts val="600"/>
              </a:spcAft>
              <a:tabLst>
                <a:tab algn="l" pos="1371600"/>
                <a:tab algn="l" pos="2743200"/>
              </a:tabLst>
            </a:pPr>
            <a:r>
              <a:rPr b="1" dirty="0" lang="en-US" spc="-10">
                <a:solidFill>
                  <a:srgbClr val="000099"/>
                </a:solidFill>
                <a:latin charset="0" panose="020B0604020202020204" pitchFamily="34" typeface="Arial"/>
                <a:ea charset="0" panose="02020603050405020304" pitchFamily="18" typeface="Times New Roman"/>
                <a:cs charset="0" panose="02020603050405020304" pitchFamily="18" typeface="Times New Roman"/>
              </a:rPr>
              <a:t>How to write the items in a list to a file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members = ["John Cleese", "Eric Idle"]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with open("members.txt", "w") as file: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for m in members: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</a:t>
            </a: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file.write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(f"{m}\n")          # adds new line</a:t>
            </a:r>
          </a:p>
          <a:p>
            <a:pPr marL="347345" marR="0">
              <a:spcBef>
                <a:spcPts val="900"/>
              </a:spcBef>
              <a:spcAft>
                <a:spcPts val="600"/>
              </a:spcAft>
              <a:tabLst>
                <a:tab algn="l" pos="1371600"/>
                <a:tab algn="l" pos="2743200"/>
              </a:tabLst>
            </a:pPr>
            <a:r>
              <a:rPr b="1" dirty="0" lang="en-US" spc="-10">
                <a:solidFill>
                  <a:srgbClr val="000099"/>
                </a:solidFill>
                <a:latin charset="0" panose="020B0604020202020204" pitchFamily="34" typeface="Arial"/>
                <a:ea charset="0" panose="02020603050405020304" pitchFamily="18" typeface="Times New Roman"/>
                <a:cs charset="0" panose="02020603050405020304" pitchFamily="18" typeface="Times New Roman"/>
              </a:rPr>
              <a:t>How to read the lines in a file into a list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members = []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with open("members.txt") as file: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for line in file: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line = </a:t>
            </a: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line.replace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("\n", "") # removes new line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</a:t>
            </a: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members.append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(line)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print(members)</a:t>
            </a:r>
          </a:p>
          <a:p>
            <a:pPr marL="347345" marR="0">
              <a:spcBef>
                <a:spcPts val="900"/>
              </a:spcBef>
              <a:spcAft>
                <a:spcPts val="600"/>
              </a:spcAft>
              <a:tabLst>
                <a:tab algn="l" pos="1371600"/>
                <a:tab algn="l" pos="2743200"/>
              </a:tabLst>
            </a:pPr>
            <a:r>
              <a:rPr b="1" dirty="0" lang="en-US" spc="-10">
                <a:solidFill>
                  <a:srgbClr val="000099"/>
                </a:solidFill>
                <a:latin charset="0" panose="020B0604020202020204" pitchFamily="34" typeface="Arial"/>
                <a:ea charset="0" panose="02020603050405020304" pitchFamily="18" typeface="Times New Roman"/>
                <a:cs charset="0" panose="02020603050405020304" pitchFamily="18" typeface="Times New Roman"/>
              </a:rPr>
              <a:t>The result that’s printed to the console</a:t>
            </a:r>
          </a:p>
          <a:p>
            <a:endParaRPr dirty="0"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EF3E16A-64C8-4885-A601-D1D841149006}"/>
              </a:ext>
            </a:extLst>
          </p:cNvPr>
          <p:cNvSpPr>
            <a:spLocks noGrp="1"/>
          </p:cNvSpPr>
          <p:nvPr>
            <p:ph idx="15" sz="quarter" type="body"/>
          </p:nvPr>
        </p:nvSpPr>
        <p:spPr>
          <a:xfrm>
            <a:off x="1295401" y="4881282"/>
            <a:ext cx="5105400" cy="300318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['John Cleese', 'Eric Idle']</a:t>
            </a:r>
            <a:endParaRPr b="1" dirty="0" lang="en-US" sz="16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endParaRPr dirty="0" lang="en-US" sz="1600"/>
          </a:p>
        </p:txBody>
      </p:sp>
      <p:sp>
        <p:nvSpPr>
          <p:cNvPr id="3" name="Date Placeholder 2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dirty="0" lang="en-US"/>
          </a:p>
        </p:txBody>
      </p:sp>
      <p:sp>
        <p:nvSpPr>
          <p:cNvPr id="4" name="Footer Placeholder 3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pPr>
              <a:defRPr/>
            </a:pPr>
            <a:r>
              <a:rPr lang="en-US" sz="1200"/>
              <a:t>© 2021,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charset="0" pitchFamily="34" typeface="Arial Narrow"/>
              </a:rPr>
              <a:t>C7, Slide </a:t>
            </a:r>
            <a:fld id="{5ECE9829-65B2-40C6-AEFF-7C648FF56A9C}" type="slidenum">
              <a:rPr lang="en-US" smtClean="0" sz="900">
                <a:solidFill>
                  <a:schemeClr val="bg1"/>
                </a:solidFill>
                <a:latin charset="0" pitchFamily="34" typeface="Arial Narrow"/>
              </a:rPr>
              <a:pPr algn="r">
                <a:defRPr/>
              </a:pPr>
              <a:t>13</a:t>
            </a:fld>
            <a:endParaRPr dirty="0" lang="en-US" sz="900">
              <a:solidFill>
                <a:schemeClr val="bg1"/>
              </a:solidFill>
              <a:latin charset="0" pitchFamily="34"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43607154"/>
      </p:ext>
    </p:extLst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/>
              <a:t>How to write and read a list of numbers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1CB32F5-33E6-4796-B6C5-0A2F8F71FEF4}"/>
              </a:ext>
            </a:extLst>
          </p:cNvPr>
          <p:cNvSpPr>
            <a:spLocks noGrp="1"/>
          </p:cNvSpPr>
          <p:nvPr>
            <p:ph idx="13" sz="quarter" type="body"/>
          </p:nvPr>
        </p:nvSpPr>
        <p:spPr>
          <a:xfrm>
            <a:off x="838200" y="1066800"/>
            <a:ext cx="7391400" cy="4111712"/>
          </a:xfrm>
        </p:spPr>
        <p:txBody>
          <a:bodyPr/>
          <a:lstStyle/>
          <a:p>
            <a:pPr marL="347345" marR="0">
              <a:spcBef>
                <a:spcPts val="900"/>
              </a:spcBef>
              <a:spcAft>
                <a:spcPts val="600"/>
              </a:spcAft>
              <a:tabLst>
                <a:tab algn="l" pos="1371600"/>
                <a:tab algn="l" pos="2743200"/>
              </a:tabLst>
            </a:pPr>
            <a:r>
              <a:rPr b="1" dirty="0" lang="en-US" spc="-10">
                <a:solidFill>
                  <a:srgbClr val="000099"/>
                </a:solidFill>
                <a:latin charset="0" panose="020B0604020202020204" pitchFamily="34" typeface="Arial"/>
                <a:ea charset="0" panose="02020603050405020304" pitchFamily="18" typeface="Times New Roman"/>
                <a:cs charset="0" panose="02020603050405020304" pitchFamily="18" typeface="Times New Roman"/>
              </a:rPr>
              <a:t>How to write the items in a list to a file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years = [1975, 1979, 1983]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with open("years.txt", "w") as </a:t>
            </a: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years_file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for year in years: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</a:t>
            </a: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years_file.write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(f"{year}\n")  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                           # converts int to str</a:t>
            </a:r>
          </a:p>
          <a:p>
            <a:pPr marL="347345" marR="0">
              <a:spcBef>
                <a:spcPts val="900"/>
              </a:spcBef>
              <a:spcAft>
                <a:spcPts val="600"/>
              </a:spcAft>
              <a:tabLst>
                <a:tab algn="l" pos="1371600"/>
                <a:tab algn="l" pos="2743200"/>
              </a:tabLst>
            </a:pPr>
            <a:r>
              <a:rPr b="1" dirty="0" lang="en-US" spc="-10">
                <a:solidFill>
                  <a:srgbClr val="000099"/>
                </a:solidFill>
                <a:latin charset="0" panose="020B0604020202020204" pitchFamily="34" typeface="Arial"/>
                <a:ea charset="0" panose="02020603050405020304" pitchFamily="18" typeface="Times New Roman"/>
                <a:cs charset="0" panose="02020603050405020304" pitchFamily="18" typeface="Times New Roman"/>
              </a:rPr>
              <a:t>How to read lines in a file into a list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years = []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with open("years.txt") as file: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for line in file: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line = </a:t>
            </a: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line.replace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("\n", "")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</a:t>
            </a: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years.append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(int(line))    # converts str to int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print(years)</a:t>
            </a:r>
          </a:p>
          <a:p>
            <a:pPr marL="347345" marR="0">
              <a:spcBef>
                <a:spcPts val="900"/>
              </a:spcBef>
              <a:spcAft>
                <a:spcPts val="600"/>
              </a:spcAft>
              <a:tabLst>
                <a:tab algn="l" pos="1371600"/>
                <a:tab algn="l" pos="2743200"/>
              </a:tabLst>
            </a:pPr>
            <a:r>
              <a:rPr b="1" dirty="0" lang="en-US" spc="-10">
                <a:solidFill>
                  <a:srgbClr val="000099"/>
                </a:solidFill>
                <a:latin charset="0" panose="020B0604020202020204" pitchFamily="34" typeface="Arial"/>
                <a:ea charset="0" panose="02020603050405020304" pitchFamily="18" typeface="Times New Roman"/>
                <a:cs charset="0" panose="02020603050405020304" pitchFamily="18" typeface="Times New Roman"/>
              </a:rPr>
              <a:t>The result that’s printed to the console</a:t>
            </a:r>
          </a:p>
          <a:p>
            <a:endParaRPr dirty="0"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51E73AC-BD10-467E-A312-1649487D39FA}"/>
              </a:ext>
            </a:extLst>
          </p:cNvPr>
          <p:cNvSpPr>
            <a:spLocks noGrp="1"/>
          </p:cNvSpPr>
          <p:nvPr>
            <p:ph idx="15" sz="quarter" type="body"/>
          </p:nvPr>
        </p:nvSpPr>
        <p:spPr>
          <a:xfrm>
            <a:off x="1295400" y="5204012"/>
            <a:ext cx="5105400" cy="358588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[1975, 1979, 1983]</a:t>
            </a:r>
            <a:endParaRPr b="1" dirty="0" lang="en-US" sz="16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endParaRPr dirty="0" lang="en-US" sz="1600"/>
          </a:p>
        </p:txBody>
      </p:sp>
      <p:sp>
        <p:nvSpPr>
          <p:cNvPr id="3" name="Date Placeholder 2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dirty="0" lang="en-US"/>
          </a:p>
        </p:txBody>
      </p:sp>
      <p:sp>
        <p:nvSpPr>
          <p:cNvPr id="4" name="Footer Placeholder 3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pPr>
              <a:defRPr/>
            </a:pPr>
            <a:r>
              <a:rPr lang="en-US" sz="1200"/>
              <a:t>© 2021,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charset="0" pitchFamily="34" typeface="Arial Narrow"/>
              </a:rPr>
              <a:t>C7, Slide </a:t>
            </a:r>
            <a:fld id="{5ECE9829-65B2-40C6-AEFF-7C648FF56A9C}" type="slidenum">
              <a:rPr lang="en-US" smtClean="0" sz="900">
                <a:solidFill>
                  <a:schemeClr val="bg1"/>
                </a:solidFill>
                <a:latin charset="0" pitchFamily="34" typeface="Arial Narrow"/>
              </a:rPr>
              <a:pPr algn="r">
                <a:defRPr/>
              </a:pPr>
              <a:t>14</a:t>
            </a:fld>
            <a:endParaRPr dirty="0" lang="en-US" sz="900">
              <a:solidFill>
                <a:schemeClr val="bg1"/>
              </a:solidFill>
              <a:latin charset="0" pitchFamily="34"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2755642959"/>
      </p:ext>
    </p:extLst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/>
              <a:t>The user interface for the Movie List 1.0 program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65CA284-1D8F-42F7-A24A-4E0D2900815F}"/>
              </a:ext>
            </a:extLst>
          </p:cNvPr>
          <p:cNvSpPr>
            <a:spLocks noGrp="1"/>
          </p:cNvSpPr>
          <p:nvPr>
            <p:ph idx="15" sz="quarter" type="body"/>
          </p:nvPr>
        </p:nvSpPr>
        <p:spPr>
          <a:xfrm>
            <a:off x="1295400" y="1143000"/>
            <a:ext cx="5105400" cy="4876800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2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The Movie List program</a:t>
            </a:r>
            <a:endParaRPr b="1" dirty="0" lang="en-US" sz="12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2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 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2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COMMAND MENU</a:t>
            </a:r>
            <a:endParaRPr b="1" dirty="0" lang="en-US" sz="12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2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list - List all movies</a:t>
            </a:r>
            <a:endParaRPr b="1" dirty="0" lang="en-US" sz="12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2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add -  Add a movie</a:t>
            </a:r>
            <a:endParaRPr b="1" dirty="0" lang="en-US" sz="12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s-ES" sz="12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del -  </a:t>
            </a:r>
            <a:r>
              <a:rPr b="1" dirty="0" err="1" lang="es-ES" sz="12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Delete</a:t>
            </a:r>
            <a:r>
              <a:rPr b="1" dirty="0" lang="es-ES" sz="12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a </a:t>
            </a:r>
            <a:r>
              <a:rPr b="1" dirty="0" err="1" lang="es-ES" sz="12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movie</a:t>
            </a:r>
            <a:endParaRPr b="1" dirty="0" lang="en-US" sz="12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err="1" lang="es-ES" sz="12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exit</a:t>
            </a:r>
            <a:r>
              <a:rPr b="1" dirty="0" lang="es-ES" sz="12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- </a:t>
            </a:r>
            <a:r>
              <a:rPr b="1" dirty="0" err="1" lang="es-ES" sz="12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Exit</a:t>
            </a:r>
            <a:r>
              <a:rPr b="1" dirty="0" lang="es-ES" sz="12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</a:t>
            </a:r>
            <a:r>
              <a:rPr b="1" dirty="0" err="1" lang="es-ES" sz="12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program</a:t>
            </a:r>
            <a:endParaRPr b="1" dirty="0" lang="en-US" sz="12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s-ES" sz="12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 </a:t>
            </a:r>
            <a:endParaRPr b="1" dirty="0" lang="en-US" sz="12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2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Command: </a:t>
            </a:r>
            <a:r>
              <a:rPr dirty="0" lang="en-US" sz="12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list</a:t>
            </a:r>
            <a:endParaRPr b="1" dirty="0" lang="en-US" sz="12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2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1. Monty Python and the Holy Grail</a:t>
            </a:r>
            <a:endParaRPr b="1" dirty="0" lang="en-US" sz="12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2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2. Cat on a Hot Tin Roof</a:t>
            </a:r>
            <a:endParaRPr b="1" dirty="0" lang="en-US" sz="12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2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3. On the Waterfront</a:t>
            </a:r>
            <a:endParaRPr b="1" dirty="0" lang="en-US" sz="12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2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 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2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Command: </a:t>
            </a:r>
            <a:r>
              <a:rPr dirty="0" lang="en-US" sz="12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add</a:t>
            </a:r>
            <a:endParaRPr b="1" dirty="0" lang="en-US" sz="12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2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Movie: </a:t>
            </a:r>
            <a:r>
              <a:rPr dirty="0" lang="en-US" sz="12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Casablanca</a:t>
            </a:r>
            <a:endParaRPr b="1" dirty="0" lang="en-US" sz="12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2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Casablanca was added.</a:t>
            </a:r>
            <a:endParaRPr b="1" dirty="0" lang="en-US" sz="12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2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 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2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Command: </a:t>
            </a:r>
            <a:r>
              <a:rPr dirty="0" lang="en-US" sz="12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list</a:t>
            </a:r>
            <a:endParaRPr b="1" dirty="0" lang="en-US" sz="12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2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1. Monty Python and the Holy Grail</a:t>
            </a:r>
            <a:endParaRPr b="1" dirty="0" lang="en-US" sz="12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2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2. Cat on a Hot Tin Roof</a:t>
            </a:r>
            <a:endParaRPr b="1" dirty="0" lang="en-US" sz="12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2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3. On the Waterfront</a:t>
            </a:r>
            <a:endParaRPr b="1" dirty="0" lang="en-US" sz="12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2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4. Casablanca</a:t>
            </a:r>
            <a:endParaRPr b="1" dirty="0" lang="en-US" sz="12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2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 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2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Command: </a:t>
            </a:r>
            <a:r>
              <a:rPr dirty="0" lang="en-US" sz="12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del</a:t>
            </a:r>
            <a:endParaRPr b="1" dirty="0" lang="en-US" sz="12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2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Number: </a:t>
            </a:r>
            <a:r>
              <a:rPr dirty="0" lang="en-US" sz="12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4</a:t>
            </a:r>
            <a:endParaRPr b="1" dirty="0" lang="en-US" sz="12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2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Casablanca was deleted.</a:t>
            </a:r>
            <a:endParaRPr b="1" dirty="0" lang="en-US" sz="12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endParaRPr dirty="0" lang="en-US" sz="1200"/>
          </a:p>
        </p:txBody>
      </p:sp>
      <p:sp>
        <p:nvSpPr>
          <p:cNvPr id="3" name="Date Placeholder 2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dirty="0" lang="en-US"/>
          </a:p>
        </p:txBody>
      </p:sp>
      <p:sp>
        <p:nvSpPr>
          <p:cNvPr id="4" name="Footer Placeholder 3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pPr>
              <a:defRPr/>
            </a:pPr>
            <a:r>
              <a:rPr lang="en-US" sz="1200"/>
              <a:t>© 2021,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charset="0" pitchFamily="34" typeface="Arial Narrow"/>
              </a:rPr>
              <a:t>C7, Slide </a:t>
            </a:r>
            <a:fld id="{5ECE9829-65B2-40C6-AEFF-7C648FF56A9C}" type="slidenum">
              <a:rPr lang="en-US" smtClean="0" sz="900">
                <a:solidFill>
                  <a:schemeClr val="bg1"/>
                </a:solidFill>
                <a:latin charset="0" pitchFamily="34" typeface="Arial Narrow"/>
              </a:rPr>
              <a:pPr algn="r">
                <a:defRPr/>
              </a:pPr>
              <a:t>15</a:t>
            </a:fld>
            <a:endParaRPr dirty="0" lang="en-US" sz="900">
              <a:solidFill>
                <a:schemeClr val="bg1"/>
              </a:solidFill>
              <a:latin charset="0" pitchFamily="34"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188393100"/>
      </p:ext>
    </p:extLst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/>
              <a:t>The code for the Movie List 1.0 program (part 1)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66F8C84-69B8-482B-BB3C-0289E173F7F1}"/>
              </a:ext>
            </a:extLst>
          </p:cNvPr>
          <p:cNvSpPr>
            <a:spLocks noGrp="1"/>
          </p:cNvSpPr>
          <p:nvPr>
            <p:ph idx="13" sz="quarter" type="body"/>
          </p:nvPr>
        </p:nvSpPr>
        <p:spPr>
          <a:xfrm>
            <a:off x="838200" y="1066800"/>
            <a:ext cx="7391400" cy="4953000"/>
          </a:xfrm>
        </p:spPr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FILENAME = "movies.txt"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 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def </a:t>
            </a: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write_movies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(movies):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with open(FILENAME, "w") as file: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for movie in movies: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    </a:t>
            </a: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file.write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(f"{movie}\n")    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 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def </a:t>
            </a: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read_movies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():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movies = []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with open(FILENAME) as file: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for line in file: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    line = </a:t>
            </a: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line.replace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("\n", "")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    </a:t>
            </a: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movies.append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(line)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return movies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def </a:t>
            </a: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list_movies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(movies):</a:t>
            </a:r>
          </a:p>
          <a:p>
            <a:pPr marL="344488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for </a:t>
            </a:r>
            <a:r>
              <a:rPr b="1" dirty="0" err="1" lang="en-US" sz="16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i</a:t>
            </a:r>
            <a:r>
              <a:rPr b="1" dirty="0" lang="en-US" sz="16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, movie in enumerate(movies, start=1):</a:t>
            </a:r>
          </a:p>
          <a:p>
            <a:pPr marL="344488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print(f"{</a:t>
            </a:r>
            <a:r>
              <a:rPr b="1" dirty="0" err="1" lang="en-US" sz="16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i</a:t>
            </a:r>
            <a:r>
              <a:rPr b="1" dirty="0" lang="en-US" sz="16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}. {movie}")</a:t>
            </a:r>
          </a:p>
          <a:p>
            <a:pPr marL="344488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print()</a:t>
            </a:r>
          </a:p>
          <a:p>
            <a:endParaRPr dirty="0" lang="en-US" sz="1400"/>
          </a:p>
        </p:txBody>
      </p:sp>
      <p:sp>
        <p:nvSpPr>
          <p:cNvPr id="3" name="Date Placeholder 2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dirty="0" lang="en-US"/>
          </a:p>
        </p:txBody>
      </p:sp>
      <p:sp>
        <p:nvSpPr>
          <p:cNvPr id="4" name="Footer Placeholder 3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pPr>
              <a:defRPr/>
            </a:pPr>
            <a:r>
              <a:rPr lang="en-US" sz="1200"/>
              <a:t>© 2021,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charset="0" pitchFamily="34" typeface="Arial Narrow"/>
              </a:rPr>
              <a:t>C7, Slide </a:t>
            </a:r>
            <a:fld id="{5ECE9829-65B2-40C6-AEFF-7C648FF56A9C}" type="slidenum">
              <a:rPr lang="en-US" smtClean="0" sz="900">
                <a:solidFill>
                  <a:schemeClr val="bg1"/>
                </a:solidFill>
                <a:latin charset="0" pitchFamily="34" typeface="Arial Narrow"/>
              </a:rPr>
              <a:pPr algn="r">
                <a:defRPr/>
              </a:pPr>
              <a:t>16</a:t>
            </a:fld>
            <a:endParaRPr dirty="0" lang="en-US" sz="900">
              <a:solidFill>
                <a:schemeClr val="bg1"/>
              </a:solidFill>
              <a:latin charset="0" pitchFamily="34"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255320041"/>
      </p:ext>
    </p:extLst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/>
              <a:t>The code for the Movie List 1.0 program (part 2)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1831132-AC23-4A5D-8760-4ED6AE32593A}"/>
              </a:ext>
            </a:extLst>
          </p:cNvPr>
          <p:cNvSpPr>
            <a:spLocks noGrp="1"/>
          </p:cNvSpPr>
          <p:nvPr>
            <p:ph idx="13" sz="quarter" type="body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def </a:t>
            </a: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add_movie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(movies):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movie = input("Movie: ")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</a:t>
            </a: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movies.append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(movie)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</a:t>
            </a:r>
            <a:r>
              <a:rPr b="1" dirty="0" err="1" lang="en-US" sz="1600">
                <a:highlight>
                  <a:srgbClr val="FFFF00"/>
                </a:highlight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write_movies</a:t>
            </a:r>
            <a:r>
              <a:rPr b="1" dirty="0" lang="en-US" sz="1600">
                <a:highlight>
                  <a:srgbClr val="FFFF00"/>
                </a:highlight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(movies)</a:t>
            </a:r>
            <a:endParaRPr b="1" dirty="0" lang="en-US" sz="16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print(f"{movie} was added.\n")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 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def </a:t>
            </a: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delete_movie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(movies):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index = int(input("Number: "))   </a:t>
            </a:r>
          </a:p>
          <a:p>
            <a:pPr marL="344488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if index &lt; 1 or index &gt; </a:t>
            </a:r>
            <a:r>
              <a:rPr b="1" dirty="0" err="1" lang="en-US" sz="16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len</a:t>
            </a:r>
            <a:r>
              <a:rPr b="1" dirty="0" lang="en-US" sz="16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(movies):</a:t>
            </a:r>
          </a:p>
          <a:p>
            <a:pPr marL="344488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print("Invalid movie number.\n")</a:t>
            </a:r>
          </a:p>
          <a:p>
            <a:pPr marL="344488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else:</a:t>
            </a:r>
          </a:p>
          <a:p>
            <a:pPr marL="344488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movie = </a:t>
            </a:r>
            <a:r>
              <a:rPr b="1" dirty="0" err="1" lang="en-US" sz="16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movies.pop</a:t>
            </a:r>
            <a:r>
              <a:rPr b="1" dirty="0" lang="en-US" sz="16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(index - 1)</a:t>
            </a:r>
          </a:p>
          <a:p>
            <a:pPr marL="344488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</a:t>
            </a:r>
            <a:r>
              <a:rPr b="1" dirty="0" err="1" lang="en-US" sz="1600">
                <a:effectLst/>
                <a:highlight>
                  <a:srgbClr val="FFFF00"/>
                </a:highlight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write_movies</a:t>
            </a:r>
            <a:r>
              <a:rPr b="1" dirty="0" lang="en-US" sz="1600">
                <a:effectLst/>
                <a:highlight>
                  <a:srgbClr val="FFFF00"/>
                </a:highlight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(movies)</a:t>
            </a:r>
            <a:endParaRPr b="1" dirty="0" lang="en-US" sz="1600">
              <a:effectLst/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 marL="344488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print(f"{movie} was deleted.\n")</a:t>
            </a:r>
          </a:p>
          <a:p>
            <a:pPr marL="344488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endParaRPr b="1" dirty="0" lang="en-US" sz="14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endParaRPr dirty="0" lang="en-US" sz="1400"/>
          </a:p>
        </p:txBody>
      </p:sp>
      <p:sp>
        <p:nvSpPr>
          <p:cNvPr id="3" name="Date Placeholder 2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dirty="0" lang="en-US"/>
          </a:p>
        </p:txBody>
      </p:sp>
      <p:sp>
        <p:nvSpPr>
          <p:cNvPr id="4" name="Footer Placeholder 3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pPr>
              <a:defRPr/>
            </a:pPr>
            <a:r>
              <a:rPr lang="en-US" sz="1200"/>
              <a:t>© 2021,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charset="0" pitchFamily="34" typeface="Arial Narrow"/>
              </a:rPr>
              <a:t>C7, Slide </a:t>
            </a:r>
            <a:fld id="{5ECE9829-65B2-40C6-AEFF-7C648FF56A9C}" type="slidenum">
              <a:rPr lang="en-US" smtClean="0" sz="900">
                <a:solidFill>
                  <a:schemeClr val="bg1"/>
                </a:solidFill>
                <a:latin charset="0" pitchFamily="34" typeface="Arial Narrow"/>
              </a:rPr>
              <a:pPr algn="r">
                <a:defRPr/>
              </a:pPr>
              <a:t>17</a:t>
            </a:fld>
            <a:endParaRPr dirty="0" lang="en-US" sz="900">
              <a:solidFill>
                <a:schemeClr val="bg1"/>
              </a:solidFill>
              <a:latin charset="0" pitchFamily="34"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2667409577"/>
      </p:ext>
    </p:extLst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9D1D1-55D4-459D-AFBB-8097A6D43B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/>
              <a:t>The code for the Movie List 1.0 program (part 3)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A418F5-E1CE-44DB-82DA-748EA3D8C3ED}"/>
              </a:ext>
            </a:extLst>
          </p:cNvPr>
          <p:cNvSpPr>
            <a:spLocks noGrp="1"/>
          </p:cNvSpPr>
          <p:nvPr>
            <p:ph idx="13" sz="quarter" type="body"/>
          </p:nvPr>
        </p:nvSpPr>
        <p:spPr/>
        <p:txBody>
          <a:bodyPr/>
          <a:lstStyle/>
          <a:p>
            <a:pPr algn="l" defTabSz="914400" eaLnBrk="1" fontAlgn="base" hangingPunct="1" indent="0" latinLnBrk="0" lvl="0" marL="347345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algn="l" pos="1371600"/>
              </a:tabLst>
              <a:defRPr/>
            </a:pPr>
            <a:r>
              <a:rPr b="1" baseline="0" cap="none" dirty="0" i="0" kern="0" kumimoji="0" lang="en-US" noProof="0" normalizeH="0" spc="0" strike="noStrike" sz="1600" u="none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def </a:t>
            </a:r>
            <a:r>
              <a:rPr b="1" baseline="0" cap="none" dirty="0" err="1" i="0" kern="0" kumimoji="0" lang="en-US" noProof="0" normalizeH="0" spc="0" strike="noStrike" sz="1600" u="none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display_menu</a:t>
            </a:r>
            <a:r>
              <a:rPr b="1" baseline="0" cap="none" dirty="0" i="0" kern="0" kumimoji="0" lang="en-US" noProof="0" normalizeH="0" spc="0" strike="noStrike" sz="1600" u="none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():</a:t>
            </a:r>
          </a:p>
          <a:p>
            <a:pPr algn="l" defTabSz="914400" eaLnBrk="1" fontAlgn="base" hangingPunct="1" indent="0" latinLnBrk="0" lvl="0" marL="347345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algn="l" pos="1371600"/>
              </a:tabLst>
              <a:defRPr/>
            </a:pPr>
            <a:r>
              <a:rPr b="1" baseline="0" cap="none" dirty="0" i="0" kern="0" kumimoji="0" lang="en-US" noProof="0" normalizeH="0" spc="0" strike="noStrike" sz="1600" u="none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print("The Movie List program")</a:t>
            </a:r>
          </a:p>
          <a:p>
            <a:pPr algn="l" defTabSz="914400" eaLnBrk="1" fontAlgn="base" hangingPunct="1" indent="0" latinLnBrk="0" lvl="0" marL="347345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algn="l" pos="1371600"/>
              </a:tabLst>
              <a:defRPr/>
            </a:pPr>
            <a:r>
              <a:rPr b="1" baseline="0" cap="none" dirty="0" i="0" kern="0" kumimoji="0" lang="en-US" noProof="0" normalizeH="0" spc="0" strike="noStrike" sz="1600" u="none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print()</a:t>
            </a:r>
          </a:p>
          <a:p>
            <a:pPr algn="l" defTabSz="914400" eaLnBrk="1" fontAlgn="base" hangingPunct="1" indent="0" latinLnBrk="0" lvl="0" marL="347345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algn="l" pos="1371600"/>
              </a:tabLst>
              <a:defRPr/>
            </a:pPr>
            <a:r>
              <a:rPr b="1" baseline="0" cap="none" dirty="0" i="0" kern="0" kumimoji="0" lang="en-US" noProof="0" normalizeH="0" spc="0" strike="noStrike" sz="1600" u="none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print("COMMAND MENU")</a:t>
            </a:r>
          </a:p>
          <a:p>
            <a:pPr algn="l" defTabSz="914400" eaLnBrk="1" fontAlgn="base" hangingPunct="1" indent="0" latinLnBrk="0" lvl="0" marL="347345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algn="l" pos="1371600"/>
              </a:tabLst>
              <a:defRPr/>
            </a:pPr>
            <a:r>
              <a:rPr b="1" baseline="0" cap="none" dirty="0" i="0" kern="0" kumimoji="0" lang="en-US" noProof="0" normalizeH="0" spc="0" strike="noStrike" sz="1600" u="none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print("list - List all movies")</a:t>
            </a:r>
          </a:p>
          <a:p>
            <a:pPr algn="l" defTabSz="914400" eaLnBrk="1" fontAlgn="base" hangingPunct="1" indent="0" latinLnBrk="0" lvl="0" marL="347345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algn="l" pos="1371600"/>
              </a:tabLst>
              <a:defRPr/>
            </a:pPr>
            <a:r>
              <a:rPr b="1" baseline="0" cap="none" dirty="0" i="0" kern="0" kumimoji="0" lang="en-US" noProof="0" normalizeH="0" spc="0" strike="noStrike" sz="1600" u="none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print("add -  Add a movie")</a:t>
            </a:r>
          </a:p>
          <a:p>
            <a:pPr algn="l" defTabSz="914400" eaLnBrk="1" fontAlgn="base" hangingPunct="1" indent="0" latinLnBrk="0" lvl="0" marL="347345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algn="l" pos="1371600"/>
              </a:tabLst>
              <a:defRPr/>
            </a:pPr>
            <a:r>
              <a:rPr b="1" baseline="0" cap="none" dirty="0" i="0" kern="0" kumimoji="0" lang="en-US" noProof="0" normalizeH="0" spc="0" strike="noStrike" sz="1600" u="none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</a:t>
            </a:r>
            <a:r>
              <a:rPr b="1" baseline="0" cap="none" dirty="0" err="1" i="0" kern="0" kumimoji="0" lang="es-ES" noProof="0" normalizeH="0" spc="0" strike="noStrike" sz="1600" u="none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print</a:t>
            </a:r>
            <a:r>
              <a:rPr b="1" baseline="0" cap="none" dirty="0" i="0" kern="0" kumimoji="0" lang="es-ES" noProof="0" normalizeH="0" spc="0" strike="noStrike" sz="1600" u="none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("del -  </a:t>
            </a:r>
            <a:r>
              <a:rPr b="1" baseline="0" cap="none" dirty="0" err="1" i="0" kern="0" kumimoji="0" lang="es-ES" noProof="0" normalizeH="0" spc="0" strike="noStrike" sz="1600" u="none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Delete</a:t>
            </a:r>
            <a:r>
              <a:rPr b="1" baseline="0" cap="none" dirty="0" i="0" kern="0" kumimoji="0" lang="es-ES" noProof="0" normalizeH="0" spc="0" strike="noStrike" sz="1600" u="none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a </a:t>
            </a:r>
            <a:r>
              <a:rPr b="1" baseline="0" cap="none" dirty="0" err="1" i="0" kern="0" kumimoji="0" lang="es-ES" noProof="0" normalizeH="0" spc="0" strike="noStrike" sz="1600" u="none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movie</a:t>
            </a:r>
            <a:r>
              <a:rPr b="1" baseline="0" cap="none" dirty="0" i="0" kern="0" kumimoji="0" lang="es-ES" noProof="0" normalizeH="0" spc="0" strike="noStrike" sz="1600" u="none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")</a:t>
            </a:r>
            <a:endParaRPr b="1" baseline="0" cap="none" dirty="0" i="0" kern="0" kumimoji="0" lang="en-US" noProof="0" normalizeH="0" spc="0" strike="noStrike" sz="1600" u="none">
              <a:ln>
                <a:noFill/>
              </a:ln>
              <a:solidFill>
                <a:srgbClr val="000000"/>
              </a:solidFill>
              <a:effectLst/>
              <a:uLnTx/>
              <a:uFillTx/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 algn="l" defTabSz="914400" eaLnBrk="1" fontAlgn="base" hangingPunct="1" indent="0" latinLnBrk="0" lvl="0" marL="347345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algn="l" pos="1371600"/>
              </a:tabLst>
              <a:defRPr/>
            </a:pPr>
            <a:r>
              <a:rPr b="1" baseline="0" cap="none" dirty="0" i="0" kern="0" kumimoji="0" lang="es-ES" noProof="0" normalizeH="0" spc="0" strike="noStrike" sz="1600" u="none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</a:t>
            </a:r>
            <a:r>
              <a:rPr b="1" baseline="0" cap="none" dirty="0" i="0" kern="0" kumimoji="0" lang="en-US" noProof="0" normalizeH="0" spc="0" strike="noStrike" sz="1600" u="none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print("exit - Exit program")</a:t>
            </a:r>
          </a:p>
          <a:p>
            <a:pPr algn="l" defTabSz="914400" eaLnBrk="1" fontAlgn="base" hangingPunct="1" indent="0" latinLnBrk="0" lvl="0" marL="347345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algn="l" pos="1371600"/>
              </a:tabLst>
              <a:defRPr/>
            </a:pPr>
            <a:r>
              <a:rPr b="1" baseline="0" cap="none" dirty="0" i="0" kern="0" kumimoji="0" lang="en-US" noProof="0" normalizeH="0" spc="0" strike="noStrike" sz="1600" u="none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print()</a:t>
            </a:r>
          </a:p>
          <a:p>
            <a:endParaRPr dirty="0"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1655E1-0750-4F10-9709-F5BD2007F436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dirty="0"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24BD0F-2DED-4821-B987-9AFBCF98EAA0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pPr>
              <a:defRPr/>
            </a:pPr>
            <a:r>
              <a:rPr lang="en-US" sz="1200"/>
              <a:t>© 2021, Mike Murach &amp; Associates, Inc.</a:t>
            </a:r>
            <a:endParaRPr dirty="0"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418220-0292-4666-B373-E3B8B0609386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C7,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18</a:t>
            </a:fld>
            <a:endParaRPr dirty="0"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6584837"/>
      </p:ext>
    </p:extLst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/>
              <a:t>The code for the Movie List 1.0 program (part 4)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E6A5A00-A5D3-4213-BF45-1BAF2314C243}"/>
              </a:ext>
            </a:extLst>
          </p:cNvPr>
          <p:cNvSpPr>
            <a:spLocks noGrp="1"/>
          </p:cNvSpPr>
          <p:nvPr>
            <p:ph idx="13" sz="quarter" type="body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def main():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</a:t>
            </a: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display_menu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</a:t>
            </a:r>
            <a:r>
              <a:rPr b="1" dirty="0" lang="en-US" sz="1600">
                <a:highlight>
                  <a:srgbClr val="FFFF00"/>
                </a:highlight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movies = </a:t>
            </a:r>
            <a:r>
              <a:rPr b="1" dirty="0" err="1" lang="en-US" sz="1600">
                <a:highlight>
                  <a:srgbClr val="FFFF00"/>
                </a:highlight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read_movies</a:t>
            </a:r>
            <a:r>
              <a:rPr b="1" dirty="0" lang="en-US" sz="1600">
                <a:highlight>
                  <a:srgbClr val="FFFF00"/>
                </a:highlight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()</a:t>
            </a:r>
            <a:endParaRPr b="1" dirty="0" lang="en-US" sz="16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while True: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command = input("Command: ")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if </a:t>
            </a: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command.lower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() == "list":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    </a:t>
            </a: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list_movies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(movies)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</a:t>
            </a: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elif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</a:t>
            </a: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command.lower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() == "add":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    </a:t>
            </a: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add_movie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(movies)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</a:t>
            </a: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elif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</a:t>
            </a: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command.lower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() == "del":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    </a:t>
            </a: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delete_movie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(movies)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</a:t>
            </a: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elif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</a:t>
            </a: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command.lower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() == "exit":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    print("Bye!")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    break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else: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    print("Not a valid command. ",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          "Please try again.")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 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if __name__ == "__main__":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main()</a:t>
            </a:r>
          </a:p>
          <a:p>
            <a:endParaRPr dirty="0" lang="en-US" sz="1400"/>
          </a:p>
        </p:txBody>
      </p:sp>
      <p:sp>
        <p:nvSpPr>
          <p:cNvPr id="3" name="Date Placeholder 2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dirty="0" lang="en-US"/>
          </a:p>
        </p:txBody>
      </p:sp>
      <p:sp>
        <p:nvSpPr>
          <p:cNvPr id="4" name="Footer Placeholder 3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pPr>
              <a:defRPr/>
            </a:pPr>
            <a:r>
              <a:rPr lang="en-US" sz="1200"/>
              <a:t>© 2021,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charset="0" pitchFamily="34" typeface="Arial Narrow"/>
              </a:rPr>
              <a:t>C7, Slide </a:t>
            </a:r>
            <a:fld id="{5ECE9829-65B2-40C6-AEFF-7C648FF56A9C}" type="slidenum">
              <a:rPr lang="en-US" smtClean="0" sz="900">
                <a:solidFill>
                  <a:schemeClr val="bg1"/>
                </a:solidFill>
                <a:latin charset="0" pitchFamily="34" typeface="Arial Narrow"/>
              </a:rPr>
              <a:pPr algn="r">
                <a:defRPr/>
              </a:pPr>
              <a:t>19</a:t>
            </a:fld>
            <a:endParaRPr dirty="0" lang="en-US" sz="900">
              <a:solidFill>
                <a:schemeClr val="bg1"/>
              </a:solidFill>
              <a:latin charset="0" pitchFamily="34"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842541714"/>
      </p:ext>
    </p:extLst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/>
              <a:t>The writer() function of the csv module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D20A9DE-809D-4C16-9C26-C69D0F601B7B}"/>
              </a:ext>
            </a:extLst>
          </p:cNvPr>
          <p:cNvSpPr>
            <a:spLocks noGrp="1"/>
          </p:cNvSpPr>
          <p:nvPr>
            <p:ph idx="13" sz="quarter" type="body"/>
          </p:nvPr>
        </p:nvSpPr>
        <p:spPr/>
        <p:txBody>
          <a:bodyPr/>
          <a:lstStyle/>
          <a:p>
            <a:pPr marL="347345" marR="274320">
              <a:spcBef>
                <a:spcPts val="0"/>
              </a:spcBef>
              <a:spcAft>
                <a:spcPts val="600"/>
              </a:spcAft>
            </a:pPr>
            <a:r>
              <a:rPr b="1" dirty="0" lang="en-US" spc="-10" sz="1600">
                <a:latin charset="0" panose="02070309020205020404" pitchFamily="49" typeface="Courier New"/>
                <a:ea charset="0" panose="02020603050405020304" pitchFamily="18" typeface="Times New Roman"/>
              </a:rPr>
              <a:t>writer(</a:t>
            </a:r>
            <a:r>
              <a:rPr b="1" dirty="0" i="1" lang="en-US" spc="-10" sz="1600">
                <a:latin charset="0" panose="02070309020205020404" pitchFamily="49" typeface="Courier New"/>
                <a:ea charset="0" panose="02020603050405020304" pitchFamily="18" typeface="Times New Roman"/>
              </a:rPr>
              <a:t>file</a:t>
            </a:r>
            <a:r>
              <a:rPr b="1" dirty="0" lang="en-US" spc="-10" sz="1600">
                <a:latin charset="0" panose="02070309020205020404" pitchFamily="49" typeface="Courier New"/>
                <a:ea charset="0" panose="02020603050405020304" pitchFamily="18" typeface="Times New Roman"/>
              </a:rPr>
              <a:t>)</a:t>
            </a:r>
            <a:endParaRPr dirty="0" lang="en-US" spc="-10" sz="1600">
              <a:latin charset="0" panose="02020603050405020304" pitchFamily="18" typeface="Times New Roman"/>
              <a:ea charset="0" panose="02020603050405020304" pitchFamily="18" typeface="Times New Roman"/>
            </a:endParaRPr>
          </a:p>
          <a:p>
            <a:pPr>
              <a:spcBef>
                <a:spcPts val="1500"/>
              </a:spcBef>
              <a:spcAft>
                <a:spcPts val="600"/>
              </a:spcAft>
              <a:tabLst>
                <a:tab algn="l" pos="1371600"/>
              </a:tabLst>
            </a:pPr>
            <a:r>
              <a:rPr b="1" dirty="0" lang="en-US">
                <a:solidFill>
                  <a:srgbClr val="000099"/>
                </a:solidFill>
                <a:latin charset="0" panose="020B0604020202020204" pitchFamily="34" typeface="Arial"/>
                <a:ea charset="0" panose="02020603050405020304" pitchFamily="18" typeface="Times New Roman"/>
                <a:cs charset="0" panose="02020603050405020304" pitchFamily="18" typeface="Times New Roman"/>
              </a:rPr>
              <a:t>The </a:t>
            </a:r>
            <a:r>
              <a:rPr b="1" dirty="0" err="1" lang="en-US">
                <a:solidFill>
                  <a:srgbClr val="000099"/>
                </a:solidFill>
                <a:latin charset="0" panose="020B0604020202020204" pitchFamily="34" typeface="Arial"/>
                <a:ea charset="0" panose="02020603050405020304" pitchFamily="18" typeface="Times New Roman"/>
                <a:cs charset="0" panose="02020603050405020304" pitchFamily="18" typeface="Times New Roman"/>
              </a:rPr>
              <a:t>writerows</a:t>
            </a:r>
            <a:r>
              <a:rPr b="1" dirty="0" lang="en-US">
                <a:solidFill>
                  <a:srgbClr val="000099"/>
                </a:solidFill>
                <a:latin charset="0" panose="020B0604020202020204" pitchFamily="34" typeface="Arial"/>
                <a:ea charset="0" panose="02020603050405020304" pitchFamily="18" typeface="Times New Roman"/>
                <a:cs charset="0" panose="02020603050405020304" pitchFamily="18" typeface="Times New Roman"/>
              </a:rPr>
              <a:t>() method of the CSV writer object</a:t>
            </a:r>
          </a:p>
          <a:p>
            <a:pPr marL="347345" marR="274320">
              <a:spcBef>
                <a:spcPts val="0"/>
              </a:spcBef>
              <a:spcAft>
                <a:spcPts val="600"/>
              </a:spcAft>
            </a:pPr>
            <a:r>
              <a:rPr b="1" dirty="0" err="1" lang="en-US" spc="-10" sz="1600">
                <a:latin charset="0" panose="02070309020205020404" pitchFamily="49" typeface="Courier New"/>
                <a:ea charset="0" panose="02020603050405020304" pitchFamily="18" typeface="Times New Roman"/>
              </a:rPr>
              <a:t>writerows</a:t>
            </a:r>
            <a:r>
              <a:rPr b="1" dirty="0" lang="en-US" spc="-10" sz="1600">
                <a:latin charset="0" panose="02070309020205020404" pitchFamily="49" typeface="Courier New"/>
                <a:ea charset="0" panose="02020603050405020304" pitchFamily="18" typeface="Times New Roman"/>
              </a:rPr>
              <a:t>(</a:t>
            </a:r>
            <a:r>
              <a:rPr b="1" dirty="0" i="1" lang="en-US" spc="-10" sz="1600">
                <a:latin charset="0" panose="02070309020205020404" pitchFamily="49" typeface="Courier New"/>
                <a:ea charset="0" panose="02020603050405020304" pitchFamily="18" typeface="Times New Roman"/>
              </a:rPr>
              <a:t>rows</a:t>
            </a:r>
            <a:r>
              <a:rPr b="1" dirty="0" lang="en-US" spc="-10" sz="1600">
                <a:latin charset="0" panose="02070309020205020404" pitchFamily="49" typeface="Courier New"/>
                <a:ea charset="0" panose="02020603050405020304" pitchFamily="18" typeface="Times New Roman"/>
              </a:rPr>
              <a:t>)</a:t>
            </a:r>
            <a:endParaRPr dirty="0" lang="en-US" spc="-10" sz="1600">
              <a:latin charset="0" panose="02020603050405020304" pitchFamily="18" typeface="Times New Roman"/>
              <a:ea charset="0" panose="02020603050405020304" pitchFamily="18" typeface="Times New Roman"/>
            </a:endParaRPr>
          </a:p>
          <a:p>
            <a:endParaRPr dirty="0" lang="en-US"/>
          </a:p>
        </p:txBody>
      </p:sp>
      <p:sp>
        <p:nvSpPr>
          <p:cNvPr id="3" name="Date Placeholder 2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dirty="0" lang="en-US"/>
          </a:p>
        </p:txBody>
      </p:sp>
      <p:sp>
        <p:nvSpPr>
          <p:cNvPr id="4" name="Footer Placeholder 3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pPr>
              <a:defRPr/>
            </a:pPr>
            <a:r>
              <a:rPr lang="en-US" sz="1200"/>
              <a:t>© 2021,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charset="0" pitchFamily="34" typeface="Arial Narrow"/>
              </a:rPr>
              <a:t>C7, Slide </a:t>
            </a:r>
            <a:fld id="{5ECE9829-65B2-40C6-AEFF-7C648FF56A9C}" type="slidenum">
              <a:rPr lang="en-US" smtClean="0" sz="900">
                <a:solidFill>
                  <a:schemeClr val="bg1"/>
                </a:solidFill>
                <a:latin charset="0" pitchFamily="34" typeface="Arial Narrow"/>
              </a:rPr>
              <a:pPr algn="r">
                <a:defRPr/>
              </a:pPr>
              <a:t>20</a:t>
            </a:fld>
            <a:endParaRPr dirty="0" lang="en-US" sz="900">
              <a:solidFill>
                <a:schemeClr val="bg1"/>
              </a:solidFill>
              <a:latin charset="0" pitchFamily="34"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537709541"/>
      </p:ext>
    </p:extLst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/>
              <a:t>A 2-dimensional list with 3 rows and 2 columns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C6314BB-E9A4-4FC9-85D5-098F434BC677}"/>
              </a:ext>
            </a:extLst>
          </p:cNvPr>
          <p:cNvSpPr>
            <a:spLocks noGrp="1"/>
          </p:cNvSpPr>
          <p:nvPr>
            <p:ph idx="13" sz="quarter" type="body"/>
          </p:nvPr>
        </p:nvSpPr>
        <p:spPr>
          <a:xfrm>
            <a:off x="838200" y="1066800"/>
            <a:ext cx="7391400" cy="3657600"/>
          </a:xfrm>
        </p:spPr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movies = [["Monty Python and the Holy Grail", 1975],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  ["Cat on a Hot Tin Roof", 1958],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  ["On the Waterfront", 1954]]</a:t>
            </a:r>
          </a:p>
          <a:p>
            <a:pPr>
              <a:spcBef>
                <a:spcPts val="1500"/>
              </a:spcBef>
              <a:spcAft>
                <a:spcPts val="600"/>
              </a:spcAft>
              <a:tabLst>
                <a:tab algn="l" pos="1371600"/>
              </a:tabLst>
            </a:pPr>
            <a:r>
              <a:rPr b="1" dirty="0" lang="en-US" sz="2400">
                <a:solidFill>
                  <a:srgbClr val="000099"/>
                </a:solidFill>
                <a:latin charset="0" panose="020B0604020202020204" pitchFamily="34" typeface="Arial"/>
                <a:ea charset="0" panose="02020603050405020304" pitchFamily="18" typeface="Times New Roman"/>
                <a:cs charset="0" panose="02020603050405020304" pitchFamily="18" typeface="Times New Roman"/>
              </a:rPr>
              <a:t>How to import the csv module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import csv</a:t>
            </a:r>
          </a:p>
          <a:p>
            <a:pPr>
              <a:spcBef>
                <a:spcPts val="1500"/>
              </a:spcBef>
              <a:spcAft>
                <a:spcPts val="600"/>
              </a:spcAft>
              <a:tabLst>
                <a:tab algn="l" pos="1371600"/>
              </a:tabLst>
            </a:pPr>
            <a:r>
              <a:rPr b="1" dirty="0" lang="en-US" sz="2400">
                <a:solidFill>
                  <a:srgbClr val="000099"/>
                </a:solidFill>
                <a:latin charset="0" panose="020B0604020202020204" pitchFamily="34" typeface="Arial"/>
                <a:ea charset="0" panose="02020603050405020304" pitchFamily="18" typeface="Times New Roman"/>
                <a:cs charset="0" panose="02020603050405020304" pitchFamily="18" typeface="Times New Roman"/>
              </a:rPr>
              <a:t>How to write the list to a CSV file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with open("movies.csv", "w", newline="") as file: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writer = </a:t>
            </a: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csv.writer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(file)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</a:t>
            </a: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writer.writerows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(movies)</a:t>
            </a:r>
          </a:p>
          <a:p>
            <a:pPr>
              <a:spcBef>
                <a:spcPts val="1500"/>
              </a:spcBef>
              <a:spcAft>
                <a:spcPts val="600"/>
              </a:spcAft>
              <a:tabLst>
                <a:tab algn="l" pos="1371600"/>
              </a:tabLst>
            </a:pPr>
            <a:r>
              <a:rPr b="1" dirty="0" lang="en-US" sz="2400">
                <a:solidFill>
                  <a:srgbClr val="000099"/>
                </a:solidFill>
                <a:latin charset="0" panose="020B0604020202020204" pitchFamily="34" typeface="Arial"/>
                <a:ea charset="0" panose="02020603050405020304" pitchFamily="18" typeface="Times New Roman"/>
                <a:cs charset="0" panose="02020603050405020304" pitchFamily="18" typeface="Times New Roman"/>
              </a:rPr>
              <a:t>The contents of the CSV file</a:t>
            </a:r>
          </a:p>
          <a:p>
            <a:endParaRPr dirty="0"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64715DA-FA66-4B01-B29C-FB0659B960DE}"/>
              </a:ext>
            </a:extLst>
          </p:cNvPr>
          <p:cNvSpPr>
            <a:spLocks noGrp="1"/>
          </p:cNvSpPr>
          <p:nvPr>
            <p:ph idx="15" sz="quarter" type="body"/>
          </p:nvPr>
        </p:nvSpPr>
        <p:spPr>
          <a:xfrm>
            <a:off x="1295400" y="4724400"/>
            <a:ext cx="5105400" cy="838200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Monty Python and the Holy Grail,1975</a:t>
            </a:r>
            <a:endParaRPr b="1" dirty="0" lang="en-US" sz="16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Cat on a Hot Tin Roof,1958</a:t>
            </a:r>
            <a:endParaRPr b="1" dirty="0" lang="en-US" sz="16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On the Waterfront,1954</a:t>
            </a:r>
            <a:endParaRPr b="1" dirty="0" lang="en-US" sz="16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endParaRPr dirty="0" lang="en-US" sz="1600"/>
          </a:p>
        </p:txBody>
      </p:sp>
      <p:sp>
        <p:nvSpPr>
          <p:cNvPr id="3" name="Date Placeholder 2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dirty="0" lang="en-US"/>
          </a:p>
        </p:txBody>
      </p:sp>
      <p:sp>
        <p:nvSpPr>
          <p:cNvPr id="4" name="Footer Placeholder 3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pPr>
              <a:defRPr/>
            </a:pPr>
            <a:r>
              <a:rPr lang="en-US" sz="1200"/>
              <a:t>© 2021,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charset="0" pitchFamily="34" typeface="Arial Narrow"/>
              </a:rPr>
              <a:t>C7, Slide </a:t>
            </a:r>
            <a:fld id="{5ECE9829-65B2-40C6-AEFF-7C648FF56A9C}" type="slidenum">
              <a:rPr lang="en-US" smtClean="0" sz="900">
                <a:solidFill>
                  <a:schemeClr val="bg1"/>
                </a:solidFill>
                <a:latin charset="0" pitchFamily="34" typeface="Arial Narrow"/>
              </a:rPr>
              <a:pPr algn="r">
                <a:defRPr/>
              </a:pPr>
              <a:t>21</a:t>
            </a:fld>
            <a:endParaRPr dirty="0" lang="en-US" sz="900">
              <a:solidFill>
                <a:schemeClr val="bg1"/>
              </a:solidFill>
              <a:latin charset="0" pitchFamily="34"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254518145"/>
      </p:ext>
    </p:extLst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/>
              <a:t>The reader() function of the csv module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CCAC2E2-8723-4DA5-B287-DDFBA580AD94}"/>
              </a:ext>
            </a:extLst>
          </p:cNvPr>
          <p:cNvSpPr>
            <a:spLocks noGrp="1"/>
          </p:cNvSpPr>
          <p:nvPr>
            <p:ph idx="13" sz="quarter" type="body"/>
          </p:nvPr>
        </p:nvSpPr>
        <p:spPr>
          <a:xfrm>
            <a:off x="838200" y="1066800"/>
            <a:ext cx="7391400" cy="2286000"/>
          </a:xfrm>
        </p:spPr>
        <p:txBody>
          <a:bodyPr/>
          <a:lstStyle/>
          <a:p>
            <a:pPr marL="347345" marR="274320">
              <a:spcBef>
                <a:spcPts val="0"/>
              </a:spcBef>
              <a:spcAft>
                <a:spcPts val="600"/>
              </a:spcAft>
            </a:pPr>
            <a:r>
              <a:rPr b="1" dirty="0" lang="en-US" spc="-10" sz="1600">
                <a:latin charset="0" panose="02070309020205020404" pitchFamily="49" typeface="Courier New"/>
                <a:ea charset="0" panose="02020603050405020304" pitchFamily="18" typeface="Times New Roman"/>
              </a:rPr>
              <a:t>reader(</a:t>
            </a:r>
            <a:r>
              <a:rPr b="1" dirty="0" i="1" lang="en-US" spc="-10" sz="1600">
                <a:latin charset="0" panose="02070309020205020404" pitchFamily="49" typeface="Courier New"/>
                <a:ea charset="0" panose="02020603050405020304" pitchFamily="18" typeface="Times New Roman"/>
              </a:rPr>
              <a:t>file</a:t>
            </a:r>
            <a:r>
              <a:rPr b="1" dirty="0" lang="en-US" spc="-10" sz="1600">
                <a:latin charset="0" panose="02070309020205020404" pitchFamily="49" typeface="Courier New"/>
                <a:ea charset="0" panose="02020603050405020304" pitchFamily="18" typeface="Times New Roman"/>
              </a:rPr>
              <a:t>)</a:t>
            </a:r>
            <a:endParaRPr dirty="0" lang="en-US" spc="-10" sz="1600">
              <a:latin charset="0" panose="02020603050405020304" pitchFamily="18" typeface="Times New Roman"/>
              <a:ea charset="0" panose="02020603050405020304" pitchFamily="18" typeface="Times New Roman"/>
            </a:endParaRPr>
          </a:p>
          <a:p>
            <a:pPr marL="347345" marR="0">
              <a:spcBef>
                <a:spcPts val="900"/>
              </a:spcBef>
              <a:spcAft>
                <a:spcPts val="600"/>
              </a:spcAft>
              <a:tabLst>
                <a:tab algn="l" pos="1371600"/>
                <a:tab algn="l" pos="2743200"/>
              </a:tabLst>
            </a:pPr>
            <a:r>
              <a:rPr b="1" dirty="0" lang="en-US" spc="-10">
                <a:solidFill>
                  <a:srgbClr val="000099"/>
                </a:solidFill>
                <a:latin charset="0" panose="020B0604020202020204" pitchFamily="34" typeface="Arial"/>
                <a:ea charset="0" panose="02020603050405020304" pitchFamily="18" typeface="Times New Roman"/>
                <a:cs charset="0" panose="02020603050405020304" pitchFamily="18" typeface="Times New Roman"/>
              </a:rPr>
              <a:t>How to read data from a CSV file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with open("movies.csv", newline="") as file: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reader = </a:t>
            </a: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csv.reader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(file)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for row in reader: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print(f"{row[0]} ({row[1]})")</a:t>
            </a:r>
            <a:endParaRPr b="1" dirty="0" lang="en-US" sz="16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 marL="347345" marR="0">
              <a:spcBef>
                <a:spcPts val="900"/>
              </a:spcBef>
              <a:spcAft>
                <a:spcPts val="600"/>
              </a:spcAft>
              <a:tabLst>
                <a:tab algn="l" pos="1371600"/>
                <a:tab algn="l" pos="2743200"/>
              </a:tabLst>
            </a:pPr>
            <a:r>
              <a:rPr b="1" dirty="0" lang="en-US" spc="-10">
                <a:solidFill>
                  <a:srgbClr val="000099"/>
                </a:solidFill>
                <a:latin charset="0" panose="020B0604020202020204" pitchFamily="34" typeface="Arial"/>
                <a:ea charset="0" panose="02020603050405020304" pitchFamily="18" typeface="Times New Roman"/>
                <a:cs charset="0" panose="02020603050405020304" pitchFamily="18" typeface="Times New Roman"/>
              </a:rPr>
              <a:t>The console</a:t>
            </a:r>
          </a:p>
          <a:p>
            <a:endParaRPr dirty="0"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16C9243-3B8E-466C-8F20-29B96389E65C}"/>
              </a:ext>
            </a:extLst>
          </p:cNvPr>
          <p:cNvSpPr>
            <a:spLocks noGrp="1"/>
          </p:cNvSpPr>
          <p:nvPr>
            <p:ph idx="15" sz="quarter" type="body"/>
          </p:nvPr>
        </p:nvSpPr>
        <p:spPr>
          <a:xfrm>
            <a:off x="1295400" y="3429000"/>
            <a:ext cx="5105400" cy="832300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Monty Python and the Holy Grail (1975)</a:t>
            </a:r>
            <a:endParaRPr b="1" dirty="0" lang="en-US" sz="16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Cat on a Hot Tin Roof (1958)</a:t>
            </a:r>
            <a:endParaRPr b="1" dirty="0" lang="en-US" sz="16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On the Waterfront (1954)</a:t>
            </a:r>
            <a:endParaRPr b="1" dirty="0" lang="en-US" sz="16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endParaRPr dirty="0" lang="en-US" sz="1600"/>
          </a:p>
        </p:txBody>
      </p:sp>
      <p:sp>
        <p:nvSpPr>
          <p:cNvPr id="3" name="Date Placeholder 2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dirty="0" lang="en-US"/>
          </a:p>
        </p:txBody>
      </p:sp>
      <p:sp>
        <p:nvSpPr>
          <p:cNvPr id="4" name="Footer Placeholder 3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pPr>
              <a:defRPr/>
            </a:pPr>
            <a:r>
              <a:rPr lang="en-US" sz="1200"/>
              <a:t>© 2021,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charset="0" pitchFamily="34" typeface="Arial Narrow"/>
              </a:rPr>
              <a:t>C7, Slide </a:t>
            </a:r>
            <a:fld id="{5ECE9829-65B2-40C6-AEFF-7C648FF56A9C}" type="slidenum">
              <a:rPr lang="en-US" smtClean="0" sz="900">
                <a:solidFill>
                  <a:schemeClr val="bg1"/>
                </a:solidFill>
                <a:latin charset="0" pitchFamily="34" typeface="Arial Narrow"/>
              </a:rPr>
              <a:pPr algn="r">
                <a:defRPr/>
              </a:pPr>
              <a:t>22</a:t>
            </a:fld>
            <a:endParaRPr dirty="0" lang="en-US" sz="900">
              <a:solidFill>
                <a:schemeClr val="bg1"/>
              </a:solidFill>
              <a:latin charset="0" pitchFamily="34"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2734196460"/>
      </p:ext>
    </p:extLst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24988"/>
            <a:ext cx="7315200" cy="746611"/>
          </a:xfrm>
        </p:spPr>
        <p:txBody>
          <a:bodyPr/>
          <a:lstStyle/>
          <a:p>
            <a:r>
              <a:rPr dirty="0" lang="en-US"/>
              <a:t>Some optional arguments that can be used </a:t>
            </a:r>
            <a:br>
              <a:rPr dirty="0" lang="en-US"/>
            </a:br>
            <a:r>
              <a:rPr dirty="0" lang="en-US"/>
              <a:t>to change the CSV format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4080E10-9499-4674-9C83-39A5E63C43D5}"/>
              </a:ext>
            </a:extLst>
          </p:cNvPr>
          <p:cNvSpPr>
            <a:spLocks noGrp="1"/>
          </p:cNvSpPr>
          <p:nvPr>
            <p:ph idx="13" sz="quarter" type="body"/>
          </p:nvPr>
        </p:nvSpPr>
        <p:spPr>
          <a:xfrm>
            <a:off x="838200" y="1447800"/>
            <a:ext cx="7391400" cy="4419600"/>
          </a:xfrm>
        </p:spPr>
        <p:txBody>
          <a:bodyPr/>
          <a:lstStyle/>
          <a:p>
            <a:pPr marL="347345" marR="274320">
              <a:spcBef>
                <a:spcPts val="0"/>
              </a:spcBef>
              <a:spcAft>
                <a:spcPts val="600"/>
              </a:spcAft>
            </a:pPr>
            <a:r>
              <a:rPr b="1" dirty="0" lang="en-US" spc="-10" sz="1600">
                <a:latin charset="0" panose="02070309020205020404" pitchFamily="49" typeface="Courier New"/>
                <a:ea charset="0" panose="02020603050405020304" pitchFamily="18" typeface="Times New Roman"/>
              </a:rPr>
              <a:t>quoting=</a:t>
            </a:r>
            <a:r>
              <a:rPr b="1" dirty="0" err="1" lang="en-US" spc="-10" sz="1600">
                <a:latin charset="0" panose="02070309020205020404" pitchFamily="49" typeface="Courier New"/>
                <a:ea charset="0" panose="02020603050405020304" pitchFamily="18" typeface="Times New Roman"/>
              </a:rPr>
              <a:t>csv.QUOTE_MINIMAL</a:t>
            </a:r>
            <a:endParaRPr dirty="0" lang="en-US" spc="-10" sz="1600">
              <a:latin charset="0" panose="02020603050405020304" pitchFamily="18" typeface="Times New Roman"/>
              <a:ea charset="0" panose="02020603050405020304" pitchFamily="18" typeface="Times New Roman"/>
            </a:endParaRPr>
          </a:p>
          <a:p>
            <a:pPr marL="347345" marR="274320">
              <a:spcBef>
                <a:spcPts val="0"/>
              </a:spcBef>
              <a:spcAft>
                <a:spcPts val="600"/>
              </a:spcAft>
            </a:pPr>
            <a:r>
              <a:rPr b="1" dirty="0" err="1" lang="en-US" spc="-10" sz="1600">
                <a:latin charset="0" panose="02070309020205020404" pitchFamily="49" typeface="Courier New"/>
                <a:ea charset="0" panose="02020603050405020304" pitchFamily="18" typeface="Times New Roman"/>
              </a:rPr>
              <a:t>quotechar</a:t>
            </a:r>
            <a:r>
              <a:rPr b="1" dirty="0" lang="en-US" spc="-10" sz="1600">
                <a:latin charset="0" panose="02070309020205020404" pitchFamily="49" typeface="Courier New"/>
                <a:ea charset="0" panose="02020603050405020304" pitchFamily="18" typeface="Times New Roman"/>
              </a:rPr>
              <a:t>='"'</a:t>
            </a:r>
            <a:endParaRPr dirty="0" lang="en-US" spc="-10" sz="1600">
              <a:latin charset="0" panose="02020603050405020304" pitchFamily="18" typeface="Times New Roman"/>
              <a:ea charset="0" panose="02020603050405020304" pitchFamily="18" typeface="Times New Roman"/>
            </a:endParaRPr>
          </a:p>
          <a:p>
            <a:pPr marL="347345" marR="274320">
              <a:spcBef>
                <a:spcPts val="0"/>
              </a:spcBef>
              <a:spcAft>
                <a:spcPts val="600"/>
              </a:spcAft>
            </a:pPr>
            <a:r>
              <a:rPr b="1" dirty="0" lang="en-US" spc="-10" sz="1600">
                <a:latin charset="0" panose="02070309020205020404" pitchFamily="49" typeface="Courier New"/>
                <a:ea charset="0" panose="02020603050405020304" pitchFamily="18" typeface="Times New Roman"/>
              </a:rPr>
              <a:t>delimiter=","</a:t>
            </a:r>
            <a:endParaRPr dirty="0" lang="en-US" spc="-10" sz="1600">
              <a:latin charset="0" panose="02020603050405020304" pitchFamily="18" typeface="Times New Roman"/>
              <a:ea charset="0" panose="02020603050405020304" pitchFamily="18" typeface="Times New Roman"/>
            </a:endParaRPr>
          </a:p>
          <a:p>
            <a:pPr marL="347345" marR="0">
              <a:spcBef>
                <a:spcPts val="900"/>
              </a:spcBef>
              <a:spcAft>
                <a:spcPts val="600"/>
              </a:spcAft>
              <a:tabLst>
                <a:tab algn="l" pos="1371600"/>
                <a:tab algn="l" pos="2743200"/>
              </a:tabLst>
            </a:pPr>
            <a:r>
              <a:rPr b="1" dirty="0" lang="en-US" spc="-10">
                <a:solidFill>
                  <a:srgbClr val="000099"/>
                </a:solidFill>
                <a:latin charset="0" panose="020B0604020202020204" pitchFamily="34" typeface="Arial"/>
                <a:ea charset="0" panose="02020603050405020304" pitchFamily="18" typeface="Times New Roman"/>
                <a:cs charset="0" panose="02020603050405020304" pitchFamily="18" typeface="Times New Roman"/>
              </a:rPr>
              <a:t>Code that changes the delimiter for the writer object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writer = </a:t>
            </a: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csv.writer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(file, delimiter="\t")</a:t>
            </a:r>
          </a:p>
          <a:p>
            <a:pPr marL="347345" marR="0">
              <a:spcBef>
                <a:spcPts val="900"/>
              </a:spcBef>
              <a:spcAft>
                <a:spcPts val="600"/>
              </a:spcAft>
              <a:tabLst>
                <a:tab algn="l" pos="1371600"/>
                <a:tab algn="l" pos="2743200"/>
              </a:tabLst>
            </a:pPr>
            <a:r>
              <a:rPr b="1" dirty="0" lang="en-US" spc="-10">
                <a:solidFill>
                  <a:srgbClr val="000099"/>
                </a:solidFill>
                <a:latin charset="0" panose="020B0604020202020204" pitchFamily="34" typeface="Arial"/>
                <a:ea charset="0" panose="02020603050405020304" pitchFamily="18" typeface="Times New Roman"/>
                <a:cs charset="0" panose="02020603050405020304" pitchFamily="18" typeface="Times New Roman"/>
              </a:rPr>
              <a:t>Code that changes the delimiter for the reader object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reader = </a:t>
            </a: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csv.reader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(file, delimiter="\t")</a:t>
            </a:r>
          </a:p>
          <a:p>
            <a:endParaRPr dirty="0" lang="en-US"/>
          </a:p>
        </p:txBody>
      </p:sp>
      <p:sp>
        <p:nvSpPr>
          <p:cNvPr id="3" name="Date Placeholder 2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dirty="0" lang="en-US"/>
          </a:p>
        </p:txBody>
      </p:sp>
      <p:sp>
        <p:nvSpPr>
          <p:cNvPr id="4" name="Footer Placeholder 3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pPr>
              <a:defRPr/>
            </a:pPr>
            <a:r>
              <a:rPr lang="en-US" sz="1200"/>
              <a:t>© 2021,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charset="0" pitchFamily="34" typeface="Arial Narrow"/>
              </a:rPr>
              <a:t>C7, Slide </a:t>
            </a:r>
            <a:fld id="{5ECE9829-65B2-40C6-AEFF-7C648FF56A9C}" type="slidenum">
              <a:rPr lang="en-US" smtClean="0" sz="900">
                <a:solidFill>
                  <a:schemeClr val="bg1"/>
                </a:solidFill>
                <a:latin charset="0" pitchFamily="34" typeface="Arial Narrow"/>
              </a:rPr>
              <a:pPr algn="r">
                <a:defRPr/>
              </a:pPr>
              <a:t>23</a:t>
            </a:fld>
            <a:endParaRPr dirty="0" lang="en-US" sz="900">
              <a:solidFill>
                <a:schemeClr val="bg1"/>
              </a:solidFill>
              <a:latin charset="0" pitchFamily="34"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2400107720"/>
      </p:ext>
    </p:extLst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/>
              <a:t>The user interface for the Movie List 2.0 program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DEE02F9-43D3-4240-A0DD-6F2AA6740879}"/>
              </a:ext>
            </a:extLst>
          </p:cNvPr>
          <p:cNvSpPr>
            <a:spLocks noGrp="1"/>
          </p:cNvSpPr>
          <p:nvPr>
            <p:ph idx="15" sz="quarter" type="body"/>
          </p:nvPr>
        </p:nvSpPr>
        <p:spPr>
          <a:xfrm>
            <a:off x="1295400" y="1066800"/>
            <a:ext cx="5105400" cy="5029200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2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The Movie List program</a:t>
            </a:r>
            <a:endParaRPr b="1" dirty="0" lang="en-US" sz="12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2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 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2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COMMAND MENU</a:t>
            </a:r>
            <a:endParaRPr b="1" dirty="0" lang="en-US" sz="12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2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list - List all movies</a:t>
            </a:r>
            <a:endParaRPr b="1" dirty="0" lang="en-US" sz="12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2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add -  Add a movie</a:t>
            </a:r>
            <a:endParaRPr b="1" dirty="0" lang="en-US" sz="12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s-ES" sz="12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del -  </a:t>
            </a:r>
            <a:r>
              <a:rPr b="1" dirty="0" err="1" lang="es-ES" sz="12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Delete</a:t>
            </a:r>
            <a:r>
              <a:rPr b="1" dirty="0" lang="es-ES" sz="12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a </a:t>
            </a:r>
            <a:r>
              <a:rPr b="1" dirty="0" err="1" lang="es-ES" sz="12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movie</a:t>
            </a:r>
            <a:endParaRPr b="1" dirty="0" lang="en-US" sz="12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err="1" lang="es-ES" sz="12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exit</a:t>
            </a:r>
            <a:r>
              <a:rPr b="1" dirty="0" lang="es-ES" sz="12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- </a:t>
            </a:r>
            <a:r>
              <a:rPr b="1" dirty="0" err="1" lang="es-ES" sz="12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Exit</a:t>
            </a:r>
            <a:r>
              <a:rPr b="1" dirty="0" lang="es-ES" sz="12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</a:t>
            </a:r>
            <a:r>
              <a:rPr b="1" dirty="0" err="1" lang="es-ES" sz="12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program</a:t>
            </a:r>
            <a:endParaRPr b="1" dirty="0" lang="en-US" sz="12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s-ES" sz="12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 </a:t>
            </a:r>
            <a:endParaRPr b="1" dirty="0" lang="en-US" sz="12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2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Command: </a:t>
            </a:r>
            <a:r>
              <a:rPr dirty="0" lang="en-US" sz="12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list</a:t>
            </a:r>
            <a:endParaRPr b="1" dirty="0" lang="en-US" sz="12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2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1. Monty Python and the Holy Grail (1975)</a:t>
            </a:r>
            <a:endParaRPr b="1" dirty="0" lang="en-US" sz="12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2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2. Cat on a Hot Tin Roof (1958)</a:t>
            </a:r>
            <a:endParaRPr b="1" dirty="0" lang="en-US" sz="12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2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3. On the Waterfront (1954)</a:t>
            </a:r>
            <a:endParaRPr b="1" dirty="0" lang="en-US" sz="12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2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 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2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Command: </a:t>
            </a:r>
            <a:r>
              <a:rPr dirty="0" lang="en-US" sz="12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add</a:t>
            </a:r>
            <a:endParaRPr b="1" dirty="0" lang="en-US" sz="12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2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Name: </a:t>
            </a:r>
            <a:r>
              <a:rPr dirty="0" lang="en-US" sz="12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Gone with the Wind</a:t>
            </a:r>
            <a:endParaRPr b="1" dirty="0" lang="en-US" sz="12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2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Year: </a:t>
            </a:r>
            <a:r>
              <a:rPr dirty="0" lang="en-US" sz="12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1939</a:t>
            </a:r>
            <a:endParaRPr b="1" dirty="0" lang="en-US" sz="12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2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Gone with the Wind was added.</a:t>
            </a:r>
            <a:endParaRPr b="1" dirty="0" lang="en-US" sz="12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2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 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2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Command: </a:t>
            </a:r>
            <a:r>
              <a:rPr dirty="0" lang="en-US" sz="12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list</a:t>
            </a:r>
            <a:endParaRPr b="1" dirty="0" lang="en-US" sz="12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2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1. Monty Python and the Holy Grail (1975)</a:t>
            </a:r>
            <a:endParaRPr b="1" dirty="0" lang="en-US" sz="12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2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2. Cat on a Hot Tin Roof (1958)</a:t>
            </a:r>
            <a:endParaRPr b="1" dirty="0" lang="en-US" sz="12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2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3. On the Waterfront (1954)</a:t>
            </a:r>
            <a:endParaRPr b="1" dirty="0" lang="en-US" sz="12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2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4. Gone with the Wind (1939)</a:t>
            </a:r>
            <a:endParaRPr b="1" dirty="0" lang="en-US" sz="12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2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 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2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Command: </a:t>
            </a:r>
            <a:r>
              <a:rPr dirty="0" lang="en-US" sz="12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del</a:t>
            </a:r>
            <a:endParaRPr b="1" dirty="0" lang="en-US" sz="12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2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Number: </a:t>
            </a:r>
            <a:r>
              <a:rPr dirty="0" lang="en-US" sz="12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4</a:t>
            </a:r>
            <a:endParaRPr b="1" dirty="0" lang="en-US" sz="12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2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Gone with the Wind was deleted.</a:t>
            </a:r>
            <a:endParaRPr b="1" dirty="0" lang="en-US" sz="12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endParaRPr dirty="0" lang="en-US" sz="1200"/>
          </a:p>
        </p:txBody>
      </p:sp>
      <p:sp>
        <p:nvSpPr>
          <p:cNvPr id="3" name="Date Placeholder 2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dirty="0" lang="en-US"/>
          </a:p>
        </p:txBody>
      </p:sp>
      <p:sp>
        <p:nvSpPr>
          <p:cNvPr id="4" name="Footer Placeholder 3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pPr>
              <a:defRPr/>
            </a:pPr>
            <a:r>
              <a:rPr lang="en-US" sz="1200"/>
              <a:t>© 2021,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charset="0" pitchFamily="34" typeface="Arial Narrow"/>
              </a:rPr>
              <a:t>C7, Slide </a:t>
            </a:r>
            <a:fld id="{5ECE9829-65B2-40C6-AEFF-7C648FF56A9C}" type="slidenum">
              <a:rPr lang="en-US" smtClean="0" sz="900">
                <a:solidFill>
                  <a:schemeClr val="bg1"/>
                </a:solidFill>
                <a:latin charset="0" pitchFamily="34" typeface="Arial Narrow"/>
              </a:rPr>
              <a:pPr algn="r">
                <a:defRPr/>
              </a:pPr>
              <a:t>24</a:t>
            </a:fld>
            <a:endParaRPr dirty="0" lang="en-US" sz="900">
              <a:solidFill>
                <a:schemeClr val="bg1"/>
              </a:solidFill>
              <a:latin charset="0" pitchFamily="34"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2529107619"/>
      </p:ext>
    </p:extLst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/>
              <a:t>The code for the Movie List 2.0 program (part 1)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0CDA476-8007-4CA4-9DE5-46153B435A46}"/>
              </a:ext>
            </a:extLst>
          </p:cNvPr>
          <p:cNvSpPr>
            <a:spLocks noGrp="1"/>
          </p:cNvSpPr>
          <p:nvPr>
            <p:ph idx="13" sz="quarter" type="body"/>
          </p:nvPr>
        </p:nvSpPr>
        <p:spPr>
          <a:xfrm>
            <a:off x="838200" y="1066800"/>
            <a:ext cx="7467600" cy="4953000"/>
          </a:xfrm>
        </p:spPr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3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import csv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3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 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3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# a file in the current directory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3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FILENAME = "movies.csv"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3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 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3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def </a:t>
            </a:r>
            <a:r>
              <a:rPr b="1" dirty="0" err="1" lang="en-US" sz="13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write_movies</a:t>
            </a:r>
            <a:r>
              <a:rPr b="1" dirty="0" lang="en-US" sz="13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(movies):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3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with open(FILENAME, "w", newline="") as file: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3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writer = </a:t>
            </a:r>
            <a:r>
              <a:rPr b="1" dirty="0" err="1" lang="en-US" sz="13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csv.writer</a:t>
            </a:r>
            <a:r>
              <a:rPr b="1" dirty="0" lang="en-US" sz="13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(file)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3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</a:t>
            </a:r>
            <a:r>
              <a:rPr b="1" dirty="0" err="1" lang="en-US" sz="13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writer.writerows</a:t>
            </a:r>
            <a:r>
              <a:rPr b="1" dirty="0" lang="en-US" sz="13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(movies)   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3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 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3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def </a:t>
            </a:r>
            <a:r>
              <a:rPr b="1" dirty="0" err="1" lang="en-US" sz="13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read_movies</a:t>
            </a:r>
            <a:r>
              <a:rPr b="1" dirty="0" lang="en-US" sz="13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():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3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movies = []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3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with open(FILENAME, newline="") as file: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3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reader = </a:t>
            </a:r>
            <a:r>
              <a:rPr b="1" dirty="0" err="1" lang="en-US" sz="13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csv.reader</a:t>
            </a:r>
            <a:r>
              <a:rPr b="1" dirty="0" lang="en-US" sz="13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(file)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3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for row in reader: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3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    </a:t>
            </a:r>
            <a:r>
              <a:rPr b="1" dirty="0" err="1" lang="en-US" sz="13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movies.append</a:t>
            </a:r>
            <a:r>
              <a:rPr b="1" dirty="0" lang="en-US" sz="13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(row)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3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return movies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3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 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3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def </a:t>
            </a:r>
            <a:r>
              <a:rPr b="1" dirty="0" err="1" lang="en-US" sz="13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list_movies</a:t>
            </a:r>
            <a:r>
              <a:rPr b="1" dirty="0" lang="en-US" sz="13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(movies):</a:t>
            </a:r>
          </a:p>
          <a:p>
            <a:pPr marL="344488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3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70309020205020404" pitchFamily="49" typeface="Courier New"/>
              </a:rPr>
              <a:t>    for </a:t>
            </a:r>
            <a:r>
              <a:rPr b="1" dirty="0" err="1" lang="en-US" sz="13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70309020205020404" pitchFamily="49" typeface="Courier New"/>
              </a:rPr>
              <a:t>i</a:t>
            </a:r>
            <a:r>
              <a:rPr b="1" dirty="0" lang="en-US" sz="13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70309020205020404" pitchFamily="49" typeface="Courier New"/>
              </a:rPr>
              <a:t>, movie in enumerate(movies, start=1):</a:t>
            </a:r>
          </a:p>
          <a:p>
            <a:pPr marL="344488"/>
            <a:r>
              <a:rPr b="1" dirty="0" lang="en-US" sz="13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70309020205020404" pitchFamily="49" typeface="Courier New"/>
              </a:rPr>
              <a:t>        print(f"{</a:t>
            </a:r>
            <a:r>
              <a:rPr b="1" dirty="0" err="1" lang="en-US" sz="13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70309020205020404" pitchFamily="49" typeface="Courier New"/>
              </a:rPr>
              <a:t>i</a:t>
            </a:r>
            <a:r>
              <a:rPr b="1" dirty="0" lang="en-US" sz="13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70309020205020404" pitchFamily="49" typeface="Courier New"/>
              </a:rPr>
              <a:t>}. {movie[0]} ({movie[1]})")</a:t>
            </a:r>
            <a:endParaRPr b="1" dirty="0" lang="en-US" sz="1300">
              <a:latin charset="0" panose="02070309020205020404" pitchFamily="49" typeface="Courier New"/>
              <a:ea charset="0" panose="02020603050405020304" pitchFamily="18" typeface="Times New Roman"/>
              <a:cs charset="0" panose="02070309020205020404" pitchFamily="49" typeface="Courier New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3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print()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3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 </a:t>
            </a:r>
          </a:p>
          <a:p>
            <a:endParaRPr dirty="0" lang="en-US" sz="1300"/>
          </a:p>
        </p:txBody>
      </p:sp>
      <p:sp>
        <p:nvSpPr>
          <p:cNvPr id="3" name="Date Placeholder 2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dirty="0" lang="en-US"/>
          </a:p>
        </p:txBody>
      </p:sp>
      <p:sp>
        <p:nvSpPr>
          <p:cNvPr id="4" name="Footer Placeholder 3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pPr>
              <a:defRPr/>
            </a:pPr>
            <a:r>
              <a:rPr lang="en-US" sz="1200"/>
              <a:t>© 2021,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charset="0" pitchFamily="34" typeface="Arial Narrow"/>
              </a:rPr>
              <a:t>C7, Slide </a:t>
            </a:r>
            <a:fld id="{5ECE9829-65B2-40C6-AEFF-7C648FF56A9C}" type="slidenum">
              <a:rPr lang="en-US" smtClean="0" sz="900">
                <a:solidFill>
                  <a:schemeClr val="bg1"/>
                </a:solidFill>
                <a:latin charset="0" pitchFamily="34" typeface="Arial Narrow"/>
              </a:rPr>
              <a:pPr algn="r">
                <a:defRPr/>
              </a:pPr>
              <a:t>25</a:t>
            </a:fld>
            <a:endParaRPr dirty="0" lang="en-US" sz="900">
              <a:solidFill>
                <a:schemeClr val="bg1"/>
              </a:solidFill>
              <a:latin charset="0" pitchFamily="34"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131528190"/>
      </p:ext>
    </p:extLst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/>
              <a:t>The code for the Movie List 2.0 program (part 2)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5B57E0D-A57D-4D54-B031-3C510A4E99F8}"/>
              </a:ext>
            </a:extLst>
          </p:cNvPr>
          <p:cNvSpPr>
            <a:spLocks noGrp="1"/>
          </p:cNvSpPr>
          <p:nvPr>
            <p:ph idx="13" sz="quarter" type="body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3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def </a:t>
            </a:r>
            <a:r>
              <a:rPr b="1" dirty="0" err="1" lang="en-US" sz="13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add_movie</a:t>
            </a:r>
            <a:r>
              <a:rPr b="1" dirty="0" lang="en-US" sz="13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(movies):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3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name = input("Name: ")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3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year = input("Year: ")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3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movie = [name, year]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3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</a:t>
            </a:r>
            <a:r>
              <a:rPr b="1" dirty="0" err="1" lang="en-US" sz="13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movies.append</a:t>
            </a:r>
            <a:r>
              <a:rPr b="1" dirty="0" lang="en-US" sz="13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(movie)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3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</a:t>
            </a:r>
            <a:r>
              <a:rPr b="1" dirty="0" err="1" lang="en-US" sz="1300">
                <a:highlight>
                  <a:srgbClr val="FFFF00"/>
                </a:highlight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write_movies</a:t>
            </a:r>
            <a:r>
              <a:rPr b="1" dirty="0" lang="en-US" sz="1300">
                <a:highlight>
                  <a:srgbClr val="FFFF00"/>
                </a:highlight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(movies)</a:t>
            </a:r>
            <a:endParaRPr b="1" dirty="0" lang="en-US" sz="13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3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print(f"{name} was added.\n")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3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 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3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def </a:t>
            </a:r>
            <a:r>
              <a:rPr b="1" dirty="0" err="1" lang="en-US" sz="13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delete_movie</a:t>
            </a:r>
            <a:r>
              <a:rPr b="1" dirty="0" lang="en-US" sz="13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(movies):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3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index = int(input("Number: "))   </a:t>
            </a:r>
          </a:p>
          <a:p>
            <a:pPr marL="344488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3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</a:t>
            </a:r>
            <a:r>
              <a:rPr b="1" dirty="0" lang="en-US" sz="13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if index &lt; 1 or index &gt; </a:t>
            </a:r>
            <a:r>
              <a:rPr b="1" dirty="0" err="1" lang="en-US" sz="13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len</a:t>
            </a:r>
            <a:r>
              <a:rPr b="1" dirty="0" lang="en-US" sz="13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(movies):</a:t>
            </a:r>
          </a:p>
          <a:p>
            <a:pPr marL="344488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3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print("Invalid movie number.\n")</a:t>
            </a:r>
          </a:p>
          <a:p>
            <a:pPr marL="344488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3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else:</a:t>
            </a:r>
          </a:p>
          <a:p>
            <a:pPr marL="344488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3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movie = </a:t>
            </a:r>
            <a:r>
              <a:rPr b="1" dirty="0" err="1" lang="en-US" sz="13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movies.pop</a:t>
            </a:r>
            <a:r>
              <a:rPr b="1" dirty="0" lang="en-US" sz="13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(index - 1)</a:t>
            </a:r>
          </a:p>
          <a:p>
            <a:pPr marL="344488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3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</a:t>
            </a:r>
            <a:r>
              <a:rPr b="1" dirty="0" err="1" lang="en-US" sz="1300">
                <a:effectLst/>
                <a:highlight>
                  <a:srgbClr val="FFFF00"/>
                </a:highlight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write_movies</a:t>
            </a:r>
            <a:r>
              <a:rPr b="1" dirty="0" lang="en-US" sz="1300">
                <a:effectLst/>
                <a:highlight>
                  <a:srgbClr val="FFFF00"/>
                </a:highlight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(movies)</a:t>
            </a:r>
            <a:endParaRPr b="1" dirty="0" lang="en-US" sz="1300">
              <a:effectLst/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 marL="344488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3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print(f"{movie[0]} was deleted.\n")</a:t>
            </a:r>
          </a:p>
          <a:p>
            <a:pPr marL="344488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endParaRPr b="1" dirty="0" lang="en-US" sz="1300">
              <a:effectLst/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3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def </a:t>
            </a:r>
            <a:r>
              <a:rPr b="1" dirty="0" err="1" lang="en-US" sz="13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display_menu</a:t>
            </a:r>
            <a:r>
              <a:rPr b="1" dirty="0" lang="en-US" sz="13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():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3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print("The Movie List program")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3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print()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3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print("COMMAND MENU")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3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print("list - List all movies")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3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print("add -  Add a movie")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3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</a:t>
            </a:r>
            <a:r>
              <a:rPr b="1" dirty="0" err="1" lang="es-ES" sz="13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print</a:t>
            </a:r>
            <a:r>
              <a:rPr b="1" dirty="0" lang="es-ES" sz="13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("del -  </a:t>
            </a:r>
            <a:r>
              <a:rPr b="1" dirty="0" err="1" lang="es-ES" sz="13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Delete</a:t>
            </a:r>
            <a:r>
              <a:rPr b="1" dirty="0" lang="es-ES" sz="13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a </a:t>
            </a:r>
            <a:r>
              <a:rPr b="1" dirty="0" err="1" lang="es-ES" sz="13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movie</a:t>
            </a:r>
            <a:r>
              <a:rPr b="1" dirty="0" lang="es-ES" sz="13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")</a:t>
            </a:r>
            <a:endParaRPr b="1" dirty="0" lang="en-US" sz="13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s-ES" sz="13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</a:t>
            </a:r>
            <a:r>
              <a:rPr b="1" dirty="0" lang="en-US" sz="13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print("exit - Exit program\n")</a:t>
            </a:r>
          </a:p>
          <a:p>
            <a:endParaRPr dirty="0" lang="en-US" sz="1300"/>
          </a:p>
        </p:txBody>
      </p:sp>
      <p:sp>
        <p:nvSpPr>
          <p:cNvPr id="3" name="Date Placeholder 2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dirty="0" lang="en-US"/>
          </a:p>
        </p:txBody>
      </p:sp>
      <p:sp>
        <p:nvSpPr>
          <p:cNvPr id="4" name="Footer Placeholder 3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pPr>
              <a:defRPr/>
            </a:pPr>
            <a:r>
              <a:rPr lang="en-US" sz="1200"/>
              <a:t>© 2021,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charset="0" pitchFamily="34" typeface="Arial Narrow"/>
              </a:rPr>
              <a:t>C7, Slide </a:t>
            </a:r>
            <a:fld id="{5ECE9829-65B2-40C6-AEFF-7C648FF56A9C}" type="slidenum">
              <a:rPr lang="en-US" smtClean="0" sz="900">
                <a:solidFill>
                  <a:schemeClr val="bg1"/>
                </a:solidFill>
                <a:latin charset="0" pitchFamily="34" typeface="Arial Narrow"/>
              </a:rPr>
              <a:pPr algn="r">
                <a:defRPr/>
              </a:pPr>
              <a:t>26</a:t>
            </a:fld>
            <a:endParaRPr dirty="0" lang="en-US" sz="900">
              <a:solidFill>
                <a:schemeClr val="bg1"/>
              </a:solidFill>
              <a:latin charset="0" pitchFamily="34"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357354672"/>
      </p:ext>
    </p:extLst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/>
              <a:t>The code for the Movie List 2.0 program (part 3)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CD43267-7EF5-4177-B53D-C16C5F2422B4}"/>
              </a:ext>
            </a:extLst>
          </p:cNvPr>
          <p:cNvSpPr>
            <a:spLocks noGrp="1"/>
          </p:cNvSpPr>
          <p:nvPr>
            <p:ph idx="13" sz="quarter" type="body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3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def main():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3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</a:t>
            </a:r>
            <a:r>
              <a:rPr b="1" dirty="0" err="1" lang="en-US" sz="13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display_menu</a:t>
            </a:r>
            <a:r>
              <a:rPr b="1" dirty="0" lang="en-US" sz="13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3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</a:t>
            </a:r>
            <a:r>
              <a:rPr b="1" dirty="0" lang="en-US" sz="1300">
                <a:highlight>
                  <a:srgbClr val="FFFF00"/>
                </a:highlight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movies = </a:t>
            </a:r>
            <a:r>
              <a:rPr b="1" dirty="0" err="1" lang="en-US" sz="1300">
                <a:highlight>
                  <a:srgbClr val="FFFF00"/>
                </a:highlight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read_movies</a:t>
            </a:r>
            <a:r>
              <a:rPr b="1" dirty="0" lang="en-US" sz="1300">
                <a:highlight>
                  <a:srgbClr val="FFFF00"/>
                </a:highlight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()</a:t>
            </a:r>
            <a:endParaRPr b="1" dirty="0" lang="en-US" sz="13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3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while True:        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3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command = input("Command: ")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3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if </a:t>
            </a:r>
            <a:r>
              <a:rPr b="1" dirty="0" err="1" lang="en-US" sz="13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command.lower</a:t>
            </a:r>
            <a:r>
              <a:rPr b="1" dirty="0" lang="en-US" sz="13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() == "list":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3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    </a:t>
            </a:r>
            <a:r>
              <a:rPr b="1" dirty="0" err="1" lang="en-US" sz="13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list_movies</a:t>
            </a:r>
            <a:r>
              <a:rPr b="1" dirty="0" lang="en-US" sz="13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(movies)     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3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</a:t>
            </a:r>
            <a:r>
              <a:rPr b="1" dirty="0" err="1" lang="en-US" sz="13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elif</a:t>
            </a:r>
            <a:r>
              <a:rPr b="1" dirty="0" lang="en-US" sz="13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</a:t>
            </a:r>
            <a:r>
              <a:rPr b="1" dirty="0" err="1" lang="en-US" sz="13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command.lower</a:t>
            </a:r>
            <a:r>
              <a:rPr b="1" dirty="0" lang="en-US" sz="13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() == "add":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3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    </a:t>
            </a:r>
            <a:r>
              <a:rPr b="1" dirty="0" err="1" lang="en-US" sz="13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add_movie</a:t>
            </a:r>
            <a:r>
              <a:rPr b="1" dirty="0" lang="en-US" sz="13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(movies)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3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</a:t>
            </a:r>
            <a:r>
              <a:rPr b="1" dirty="0" err="1" lang="en-US" sz="13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elif</a:t>
            </a:r>
            <a:r>
              <a:rPr b="1" dirty="0" lang="en-US" sz="13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</a:t>
            </a:r>
            <a:r>
              <a:rPr b="1" dirty="0" err="1" lang="en-US" sz="13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command.lower</a:t>
            </a:r>
            <a:r>
              <a:rPr b="1" dirty="0" lang="en-US" sz="13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() == "del":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3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    </a:t>
            </a:r>
            <a:r>
              <a:rPr b="1" dirty="0" err="1" lang="en-US" sz="13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delete_movie</a:t>
            </a:r>
            <a:r>
              <a:rPr b="1" dirty="0" lang="en-US" sz="13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(movies)       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3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</a:t>
            </a:r>
            <a:r>
              <a:rPr b="1" dirty="0" err="1" lang="en-US" sz="13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elif</a:t>
            </a:r>
            <a:r>
              <a:rPr b="1" dirty="0" lang="en-US" sz="13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</a:t>
            </a:r>
            <a:r>
              <a:rPr b="1" dirty="0" err="1" lang="en-US" sz="13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command.lower</a:t>
            </a:r>
            <a:r>
              <a:rPr b="1" dirty="0" lang="en-US" sz="13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() == "exit":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3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    break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3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else: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3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    print("Not a valid command. Please try again.\n")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3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print("Bye!")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3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 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3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if __name__ == "__main__":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3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main()</a:t>
            </a:r>
          </a:p>
          <a:p>
            <a:endParaRPr dirty="0" lang="en-US" sz="1300"/>
          </a:p>
        </p:txBody>
      </p:sp>
      <p:sp>
        <p:nvSpPr>
          <p:cNvPr id="3" name="Date Placeholder 2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dirty="0" lang="en-US"/>
          </a:p>
        </p:txBody>
      </p:sp>
      <p:sp>
        <p:nvSpPr>
          <p:cNvPr id="4" name="Footer Placeholder 3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pPr>
              <a:defRPr/>
            </a:pPr>
            <a:r>
              <a:rPr lang="en-US" sz="1200"/>
              <a:t>© 2021,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charset="0" pitchFamily="34" typeface="Arial Narrow"/>
              </a:rPr>
              <a:t>C7, Slide </a:t>
            </a:r>
            <a:fld id="{5ECE9829-65B2-40C6-AEFF-7C648FF56A9C}" type="slidenum">
              <a:rPr lang="en-US" smtClean="0" sz="900">
                <a:solidFill>
                  <a:schemeClr val="bg1"/>
                </a:solidFill>
                <a:latin charset="0" pitchFamily="34" typeface="Arial Narrow"/>
              </a:rPr>
              <a:pPr algn="r">
                <a:defRPr/>
              </a:pPr>
              <a:t>27</a:t>
            </a:fld>
            <a:endParaRPr dirty="0" lang="en-US" sz="900">
              <a:solidFill>
                <a:schemeClr val="bg1"/>
              </a:solidFill>
              <a:latin charset="0" pitchFamily="34"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311728"/>
      </p:ext>
    </p:extLst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/>
              <a:t>Two methods of the pickle module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52D4C35-01CC-4E13-944E-7E196F66D2F2}"/>
              </a:ext>
            </a:extLst>
          </p:cNvPr>
          <p:cNvSpPr>
            <a:spLocks noGrp="1"/>
          </p:cNvSpPr>
          <p:nvPr>
            <p:ph idx="13" sz="quarter" type="body"/>
          </p:nvPr>
        </p:nvSpPr>
        <p:spPr/>
        <p:txBody>
          <a:bodyPr/>
          <a:lstStyle/>
          <a:p>
            <a:pPr marL="347345" marR="274320">
              <a:spcBef>
                <a:spcPts val="0"/>
              </a:spcBef>
              <a:spcAft>
                <a:spcPts val="600"/>
              </a:spcAft>
            </a:pPr>
            <a:r>
              <a:rPr b="1" dirty="0" lang="en-US" spc="-10" sz="1600">
                <a:latin charset="0" panose="02070309020205020404" pitchFamily="49" typeface="Courier New"/>
                <a:ea charset="0" panose="02020603050405020304" pitchFamily="18" typeface="Times New Roman"/>
              </a:rPr>
              <a:t>dump(</a:t>
            </a:r>
            <a:r>
              <a:rPr b="1" dirty="0" i="1" lang="en-US" spc="-10" sz="1600">
                <a:latin charset="0" panose="02070309020205020404" pitchFamily="49" typeface="Courier New"/>
                <a:ea charset="0" panose="02020603050405020304" pitchFamily="18" typeface="Times New Roman"/>
              </a:rPr>
              <a:t>object</a:t>
            </a:r>
            <a:r>
              <a:rPr b="1" dirty="0" lang="en-US" spc="-10" sz="1600">
                <a:latin charset="0" panose="02070309020205020404" pitchFamily="49" typeface="Courier New"/>
                <a:ea charset="0" panose="02020603050405020304" pitchFamily="18" typeface="Times New Roman"/>
              </a:rPr>
              <a:t>, </a:t>
            </a:r>
            <a:r>
              <a:rPr b="1" dirty="0" err="1" i="1" lang="en-US" spc="-10" sz="1600">
                <a:latin charset="0" panose="02070309020205020404" pitchFamily="49" typeface="Courier New"/>
                <a:ea charset="0" panose="02020603050405020304" pitchFamily="18" typeface="Times New Roman"/>
              </a:rPr>
              <a:t>bfile</a:t>
            </a:r>
            <a:r>
              <a:rPr b="1" dirty="0" lang="en-US" spc="-10" sz="1600">
                <a:latin charset="0" panose="02070309020205020404" pitchFamily="49" typeface="Courier New"/>
                <a:ea charset="0" panose="02020603050405020304" pitchFamily="18" typeface="Times New Roman"/>
              </a:rPr>
              <a:t>)</a:t>
            </a:r>
            <a:endParaRPr dirty="0" lang="en-US" spc="-10" sz="1600">
              <a:latin charset="0" panose="02020603050405020304" pitchFamily="18" typeface="Times New Roman"/>
              <a:ea charset="0" panose="02020603050405020304" pitchFamily="18" typeface="Times New Roman"/>
            </a:endParaRPr>
          </a:p>
          <a:p>
            <a:pPr marL="347345" marR="274320">
              <a:spcBef>
                <a:spcPts val="0"/>
              </a:spcBef>
              <a:spcAft>
                <a:spcPts val="600"/>
              </a:spcAft>
            </a:pPr>
            <a:r>
              <a:rPr b="1" dirty="0" lang="en-US" spc="-10" sz="1600">
                <a:latin charset="0" panose="02070309020205020404" pitchFamily="49" typeface="Courier New"/>
                <a:ea charset="0" panose="02020603050405020304" pitchFamily="18" typeface="Times New Roman"/>
              </a:rPr>
              <a:t>load(</a:t>
            </a:r>
            <a:r>
              <a:rPr b="1" dirty="0" err="1" i="1" lang="en-US" spc="-10" sz="1600">
                <a:latin charset="0" panose="02070309020205020404" pitchFamily="49" typeface="Courier New"/>
                <a:ea charset="0" panose="02020603050405020304" pitchFamily="18" typeface="Times New Roman"/>
              </a:rPr>
              <a:t>bfile</a:t>
            </a:r>
            <a:r>
              <a:rPr b="1" dirty="0" lang="en-US" spc="-10" sz="1600">
                <a:latin charset="0" panose="02070309020205020404" pitchFamily="49" typeface="Courier New"/>
                <a:ea charset="0" panose="02020603050405020304" pitchFamily="18" typeface="Times New Roman"/>
              </a:rPr>
              <a:t>)</a:t>
            </a:r>
            <a:endParaRPr dirty="0" lang="en-US" spc="-10" sz="1600">
              <a:latin charset="0" panose="02020603050405020304" pitchFamily="18" typeface="Times New Roman"/>
              <a:ea charset="0" panose="02020603050405020304" pitchFamily="18" typeface="Times New Roman"/>
            </a:endParaRPr>
          </a:p>
          <a:p>
            <a:endParaRPr dirty="0" lang="en-US"/>
          </a:p>
        </p:txBody>
      </p:sp>
      <p:sp>
        <p:nvSpPr>
          <p:cNvPr id="3" name="Date Placeholder 2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dirty="0" lang="en-US"/>
          </a:p>
        </p:txBody>
      </p:sp>
      <p:sp>
        <p:nvSpPr>
          <p:cNvPr id="4" name="Footer Placeholder 3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pPr>
              <a:defRPr/>
            </a:pPr>
            <a:r>
              <a:rPr lang="en-US" sz="1200"/>
              <a:t>© 2021,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charset="0" pitchFamily="34" typeface="Arial Narrow"/>
              </a:rPr>
              <a:t>C7, Slide </a:t>
            </a:r>
            <a:fld id="{5ECE9829-65B2-40C6-AEFF-7C648FF56A9C}" type="slidenum">
              <a:rPr lang="en-US" smtClean="0" sz="900">
                <a:solidFill>
                  <a:schemeClr val="bg1"/>
                </a:solidFill>
                <a:latin charset="0" pitchFamily="34" typeface="Arial Narrow"/>
              </a:rPr>
              <a:pPr algn="r">
                <a:defRPr/>
              </a:pPr>
              <a:t>28</a:t>
            </a:fld>
            <a:endParaRPr dirty="0" lang="en-US" sz="900">
              <a:solidFill>
                <a:schemeClr val="bg1"/>
              </a:solidFill>
              <a:latin charset="0" pitchFamily="34"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980779320"/>
      </p:ext>
    </p:extLst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/>
              <a:t>A two-dimensional list of movies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4E515C8-4505-4C1F-B021-80C682099E2A}"/>
              </a:ext>
            </a:extLst>
          </p:cNvPr>
          <p:cNvSpPr>
            <a:spLocks noGrp="1"/>
          </p:cNvSpPr>
          <p:nvPr>
            <p:ph idx="13" sz="quarter" type="body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movies = [["Monty Python and the Holy Grail", 1975],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  ["Cat on a Hot Tin Roof", 1958],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  ["On the Waterfront", 1954]]</a:t>
            </a:r>
          </a:p>
          <a:p>
            <a:pPr>
              <a:spcBef>
                <a:spcPts val="1500"/>
              </a:spcBef>
              <a:spcAft>
                <a:spcPts val="600"/>
              </a:spcAft>
              <a:tabLst>
                <a:tab algn="l" pos="1371600"/>
              </a:tabLst>
            </a:pPr>
            <a:r>
              <a:rPr b="1" dirty="0" lang="en-US" sz="2400">
                <a:solidFill>
                  <a:srgbClr val="000099"/>
                </a:solidFill>
                <a:latin charset="0" panose="020B0604020202020204" pitchFamily="34" typeface="Arial"/>
                <a:ea charset="0" panose="02020603050405020304" pitchFamily="18" typeface="Times New Roman"/>
                <a:cs charset="0" panose="02020603050405020304" pitchFamily="18" typeface="Times New Roman"/>
              </a:rPr>
              <a:t>How to import the pickle module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import pickle</a:t>
            </a:r>
          </a:p>
          <a:p>
            <a:pPr>
              <a:spcBef>
                <a:spcPts val="1500"/>
              </a:spcBef>
              <a:spcAft>
                <a:spcPts val="600"/>
              </a:spcAft>
              <a:tabLst>
                <a:tab algn="l" pos="1371600"/>
              </a:tabLst>
            </a:pPr>
            <a:r>
              <a:rPr b="1" dirty="0" lang="en-US" sz="2400">
                <a:solidFill>
                  <a:srgbClr val="000099"/>
                </a:solidFill>
                <a:latin charset="0" panose="020B0604020202020204" pitchFamily="34" typeface="Arial"/>
                <a:ea charset="0" panose="02020603050405020304" pitchFamily="18" typeface="Times New Roman"/>
                <a:cs charset="0" panose="02020603050405020304" pitchFamily="18" typeface="Times New Roman"/>
              </a:rPr>
              <a:t>How to write an object to a binary file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with open("</a:t>
            </a: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movies.bin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", "</a:t>
            </a: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wb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") as file:  # write binary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</a:t>
            </a: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pickle.dump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(movies, file)</a:t>
            </a:r>
          </a:p>
          <a:p>
            <a:endParaRPr dirty="0" lang="en-US"/>
          </a:p>
        </p:txBody>
      </p:sp>
      <p:sp>
        <p:nvSpPr>
          <p:cNvPr id="3" name="Date Placeholder 2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dirty="0" lang="en-US"/>
          </a:p>
        </p:txBody>
      </p:sp>
      <p:sp>
        <p:nvSpPr>
          <p:cNvPr id="4" name="Footer Placeholder 3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pPr>
              <a:defRPr/>
            </a:pPr>
            <a:r>
              <a:rPr lang="en-US" sz="1200"/>
              <a:t>© 2021,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charset="0" pitchFamily="34" typeface="Arial Narrow"/>
              </a:rPr>
              <a:t>C7, Slide </a:t>
            </a:r>
            <a:fld id="{5ECE9829-65B2-40C6-AEFF-7C648FF56A9C}" type="slidenum">
              <a:rPr lang="en-US" smtClean="0" sz="900">
                <a:solidFill>
                  <a:schemeClr val="bg1"/>
                </a:solidFill>
                <a:latin charset="0" pitchFamily="34" typeface="Arial Narrow"/>
              </a:rPr>
              <a:pPr algn="r">
                <a:defRPr/>
              </a:pPr>
              <a:t>29</a:t>
            </a:fld>
            <a:endParaRPr dirty="0" lang="en-US" sz="900">
              <a:solidFill>
                <a:schemeClr val="bg1"/>
              </a:solidFill>
              <a:latin charset="0" pitchFamily="34"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886308279"/>
      </p:ext>
    </p:extLst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/>
              <a:t>How to read an object from a binary file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0645154-0A99-47BB-B3E0-46D474C2C72C}"/>
              </a:ext>
            </a:extLst>
          </p:cNvPr>
          <p:cNvSpPr>
            <a:spLocks noGrp="1"/>
          </p:cNvSpPr>
          <p:nvPr>
            <p:ph idx="13" sz="quarter" type="body"/>
          </p:nvPr>
        </p:nvSpPr>
        <p:spPr>
          <a:xfrm>
            <a:off x="838200" y="1066800"/>
            <a:ext cx="7391400" cy="1371600"/>
          </a:xfrm>
        </p:spPr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with open("</a:t>
            </a: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movies.bin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", "</a:t>
            </a: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rb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") as file: # read binary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</a:t>
            </a: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movie_list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= </a:t>
            </a: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pickle.load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(file)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print(</a:t>
            </a: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movie_list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)</a:t>
            </a:r>
          </a:p>
          <a:p>
            <a:pPr>
              <a:spcBef>
                <a:spcPts val="1500"/>
              </a:spcBef>
              <a:spcAft>
                <a:spcPts val="600"/>
              </a:spcAft>
              <a:tabLst>
                <a:tab algn="l" pos="1371600"/>
              </a:tabLst>
            </a:pPr>
            <a:r>
              <a:rPr b="1" dirty="0" lang="en-US" sz="2400">
                <a:solidFill>
                  <a:srgbClr val="000099"/>
                </a:solidFill>
                <a:latin charset="0" panose="020B0604020202020204" pitchFamily="34" typeface="Arial"/>
                <a:ea charset="0" panose="02020603050405020304" pitchFamily="18" typeface="Times New Roman"/>
                <a:cs charset="0" panose="02020603050405020304" pitchFamily="18" typeface="Times New Roman"/>
              </a:rPr>
              <a:t>The console</a:t>
            </a:r>
          </a:p>
          <a:p>
            <a:endParaRPr dirty="0"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0E69E8B-7D63-42C8-BBDC-681299A7DF12}"/>
              </a:ext>
            </a:extLst>
          </p:cNvPr>
          <p:cNvSpPr>
            <a:spLocks noGrp="1"/>
          </p:cNvSpPr>
          <p:nvPr>
            <p:ph idx="15" sz="quarter" type="body"/>
          </p:nvPr>
        </p:nvSpPr>
        <p:spPr>
          <a:xfrm>
            <a:off x="1295400" y="2514600"/>
            <a:ext cx="6477000" cy="838200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[['Monty Python and the Holy Grail', 1975], ['Cat on a Hot Tin Roof', 1958], ['On the Waterfront', 1954]]</a:t>
            </a:r>
            <a:endParaRPr b="1" dirty="0" lang="en-US" sz="16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endParaRPr dirty="0" lang="en-US" sz="1600"/>
          </a:p>
        </p:txBody>
      </p:sp>
      <p:sp>
        <p:nvSpPr>
          <p:cNvPr id="3" name="Date Placeholder 2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dirty="0" lang="en-US"/>
          </a:p>
        </p:txBody>
      </p:sp>
      <p:sp>
        <p:nvSpPr>
          <p:cNvPr id="4" name="Footer Placeholder 3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pPr>
              <a:defRPr/>
            </a:pPr>
            <a:r>
              <a:rPr lang="en-US" sz="1200"/>
              <a:t>© 2021,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charset="0" pitchFamily="34" typeface="Arial Narrow"/>
              </a:rPr>
              <a:t>C7, Slide </a:t>
            </a:r>
            <a:fld id="{5ECE9829-65B2-40C6-AEFF-7C648FF56A9C}" type="slidenum">
              <a:rPr lang="en-US" smtClean="0" sz="900">
                <a:solidFill>
                  <a:schemeClr val="bg1"/>
                </a:solidFill>
                <a:latin charset="0" pitchFamily="34" typeface="Arial Narrow"/>
              </a:rPr>
              <a:pPr algn="r">
                <a:defRPr/>
              </a:pPr>
              <a:t>30</a:t>
            </a:fld>
            <a:endParaRPr dirty="0" lang="en-US" sz="900">
              <a:solidFill>
                <a:schemeClr val="bg1"/>
              </a:solidFill>
              <a:latin charset="0" pitchFamily="34"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1698566399"/>
      </p:ext>
    </p:extLst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/>
              <a:t>The user interface for the Movie List 3.0 program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87A6147-FFF6-4209-AE2F-DFBBBB3EE290}"/>
              </a:ext>
            </a:extLst>
          </p:cNvPr>
          <p:cNvSpPr>
            <a:spLocks noGrp="1"/>
          </p:cNvSpPr>
          <p:nvPr>
            <p:ph idx="15" sz="quarter" type="body"/>
          </p:nvPr>
        </p:nvSpPr>
        <p:spPr>
          <a:xfrm>
            <a:off x="1295400" y="1143000"/>
            <a:ext cx="6019800" cy="4267200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The Movie List program</a:t>
            </a:r>
            <a:endParaRPr b="1" dirty="0" lang="en-US" sz="16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 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COMMAND MENU</a:t>
            </a:r>
            <a:endParaRPr b="1" dirty="0" lang="en-US" sz="16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list - List all movies</a:t>
            </a:r>
            <a:endParaRPr b="1" dirty="0" lang="en-US" sz="16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add -  Add a movie</a:t>
            </a:r>
            <a:endParaRPr b="1" dirty="0" lang="en-US" sz="16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s-ES" sz="16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del -  </a:t>
            </a:r>
            <a:r>
              <a:rPr b="1" dirty="0" err="1" lang="es-ES" sz="16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Delete</a:t>
            </a:r>
            <a:r>
              <a:rPr b="1" dirty="0" lang="es-ES" sz="16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a </a:t>
            </a:r>
            <a:r>
              <a:rPr b="1" dirty="0" err="1" lang="es-ES" sz="16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movie</a:t>
            </a:r>
            <a:endParaRPr b="1" dirty="0" lang="en-US" sz="16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err="1" lang="es-ES" sz="16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exit</a:t>
            </a:r>
            <a:r>
              <a:rPr b="1" dirty="0" lang="es-ES" sz="16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- </a:t>
            </a:r>
            <a:r>
              <a:rPr b="1" dirty="0" err="1" lang="es-ES" sz="16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Exit</a:t>
            </a:r>
            <a:r>
              <a:rPr b="1" dirty="0" lang="es-ES" sz="16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</a:t>
            </a:r>
            <a:r>
              <a:rPr b="1" dirty="0" err="1" lang="es-ES" sz="16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program</a:t>
            </a:r>
            <a:endParaRPr b="1" dirty="0" lang="en-US" sz="16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s-E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 </a:t>
            </a:r>
            <a:endParaRPr b="1" dirty="0" lang="en-US" sz="16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Command: </a:t>
            </a:r>
            <a:r>
              <a:rPr dirty="0" lang="en-US" sz="16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list</a:t>
            </a:r>
            <a:endParaRPr b="1" dirty="0" lang="en-US" sz="16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1. Monty Python and the Holy Grail (1975)</a:t>
            </a:r>
            <a:endParaRPr b="1" dirty="0" lang="en-US" sz="16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2. Cat on a Hot Tin Roof (1958)</a:t>
            </a:r>
            <a:endParaRPr b="1" dirty="0" lang="en-US" sz="16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3. On the Waterfront (1954)</a:t>
            </a:r>
            <a:endParaRPr b="1" dirty="0" lang="en-US" sz="16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 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Command: </a:t>
            </a:r>
            <a:r>
              <a:rPr dirty="0" lang="en-US" sz="16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add</a:t>
            </a:r>
            <a:endParaRPr b="1" dirty="0" lang="en-US" sz="16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Name: </a:t>
            </a:r>
            <a:r>
              <a:rPr dirty="0" lang="en-US" sz="16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Gone with the Wind</a:t>
            </a:r>
            <a:endParaRPr b="1" dirty="0" lang="en-US" sz="16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Year: </a:t>
            </a:r>
            <a:r>
              <a:rPr dirty="0" lang="en-US" sz="16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1939</a:t>
            </a:r>
            <a:endParaRPr b="1" dirty="0" lang="en-US" sz="16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Gone with the Wind was added.</a:t>
            </a:r>
            <a:endParaRPr b="1" dirty="0" lang="en-US" sz="16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endParaRPr dirty="0" lang="en-US" sz="1600"/>
          </a:p>
        </p:txBody>
      </p:sp>
      <p:sp>
        <p:nvSpPr>
          <p:cNvPr id="3" name="Date Placeholder 2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dirty="0" lang="en-US"/>
          </a:p>
        </p:txBody>
      </p:sp>
      <p:sp>
        <p:nvSpPr>
          <p:cNvPr id="4" name="Footer Placeholder 3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pPr>
              <a:defRPr/>
            </a:pPr>
            <a:r>
              <a:rPr lang="en-US" sz="1200"/>
              <a:t>© 2021,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charset="0" pitchFamily="34" typeface="Arial Narrow"/>
              </a:rPr>
              <a:t>C7, Slide </a:t>
            </a:r>
            <a:fld id="{5ECE9829-65B2-40C6-AEFF-7C648FF56A9C}" type="slidenum">
              <a:rPr lang="en-US" smtClean="0" sz="900">
                <a:solidFill>
                  <a:schemeClr val="bg1"/>
                </a:solidFill>
                <a:latin charset="0" pitchFamily="34" typeface="Arial Narrow"/>
              </a:rPr>
              <a:pPr algn="r">
                <a:defRPr/>
              </a:pPr>
              <a:t>31</a:t>
            </a:fld>
            <a:endParaRPr dirty="0" lang="en-US" sz="900">
              <a:solidFill>
                <a:schemeClr val="bg1"/>
              </a:solidFill>
              <a:latin charset="0" pitchFamily="34"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4289137210"/>
      </p:ext>
    </p:extLst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/>
              <a:t>The code for the two file I/O functions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5A6A3B8-EB64-46E4-9C35-6E0A3DF85F3F}"/>
              </a:ext>
            </a:extLst>
          </p:cNvPr>
          <p:cNvSpPr>
            <a:spLocks noGrp="1"/>
          </p:cNvSpPr>
          <p:nvPr>
            <p:ph idx="13" sz="quarter" type="body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import pickle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 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FILENAME = "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movies.bin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"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 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def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write_movies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(movies):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with open(FILENAME, "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wb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") as file: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pickle.dump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(movies, file)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 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def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read_movies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():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movies = []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with open(FILENAME, "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rb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") as file: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movies =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pickle.load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(file)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return movies</a:t>
            </a:r>
          </a:p>
          <a:p>
            <a:pPr>
              <a:spcBef>
                <a:spcPts val="1500"/>
              </a:spcBef>
              <a:spcAft>
                <a:spcPts val="600"/>
              </a:spcAft>
              <a:tabLst>
                <a:tab algn="l" pos="1371600"/>
              </a:tabLst>
            </a:pPr>
            <a:r>
              <a:rPr b="1" dirty="0" lang="en-US" sz="2400">
                <a:solidFill>
                  <a:srgbClr val="000099"/>
                </a:solidFill>
                <a:latin charset="0" panose="020B0604020202020204" pitchFamily="34" typeface="Arial"/>
                <a:ea charset="0" panose="02020603050405020304" pitchFamily="18" typeface="Times New Roman"/>
                <a:cs charset="0" panose="02020603050405020304" pitchFamily="18" typeface="Times New Roman"/>
              </a:rPr>
              <a:t>The code for the </a:t>
            </a:r>
            <a:r>
              <a:rPr b="1" dirty="0" err="1" lang="en-US" sz="2400">
                <a:solidFill>
                  <a:srgbClr val="000099"/>
                </a:solidFill>
                <a:latin charset="0" panose="020B0604020202020204" pitchFamily="34" typeface="Arial"/>
                <a:ea charset="0" panose="02020603050405020304" pitchFamily="18" typeface="Times New Roman"/>
                <a:cs charset="0" panose="02020603050405020304" pitchFamily="18" typeface="Times New Roman"/>
              </a:rPr>
              <a:t>list_movies</a:t>
            </a:r>
            <a:r>
              <a:rPr b="1" dirty="0" lang="en-US" sz="2400">
                <a:solidFill>
                  <a:srgbClr val="000099"/>
                </a:solidFill>
                <a:latin charset="0" panose="020B0604020202020204" pitchFamily="34" typeface="Arial"/>
                <a:ea charset="0" panose="02020603050405020304" pitchFamily="18" typeface="Times New Roman"/>
                <a:cs charset="0" panose="02020603050405020304" pitchFamily="18" typeface="Times New Roman"/>
              </a:rPr>
              <a:t>() function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def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list_movies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(movies):</a:t>
            </a:r>
          </a:p>
          <a:p>
            <a:pPr marL="344488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for </a:t>
            </a:r>
            <a:r>
              <a:rPr b="1" dirty="0" err="1" lang="en-US" sz="14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i</a:t>
            </a:r>
            <a:r>
              <a:rPr b="1" dirty="0" lang="en-US" sz="14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, movie in enumerate(movies, start=1):</a:t>
            </a:r>
          </a:p>
          <a:p>
            <a:pPr marL="344488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print(f"{</a:t>
            </a:r>
            <a:r>
              <a:rPr b="1" dirty="0" err="1" lang="en-US" sz="14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i</a:t>
            </a:r>
            <a:r>
              <a:rPr b="1" dirty="0" lang="en-US" sz="14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}. {movie[0]} ({movie[1]})")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</a:t>
            </a:r>
          </a:p>
          <a:p>
            <a:pPr marL="344488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print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()</a:t>
            </a:r>
          </a:p>
          <a:p>
            <a:endParaRPr dirty="0" lang="en-US"/>
          </a:p>
        </p:txBody>
      </p:sp>
      <p:sp>
        <p:nvSpPr>
          <p:cNvPr id="3" name="Date Placeholder 2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dirty="0" lang="en-US"/>
          </a:p>
        </p:txBody>
      </p:sp>
      <p:sp>
        <p:nvSpPr>
          <p:cNvPr id="4" name="Footer Placeholder 3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pPr>
              <a:defRPr/>
            </a:pPr>
            <a:r>
              <a:rPr lang="en-US" sz="1200"/>
              <a:t>© 2021,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charset="0" pitchFamily="34" typeface="Arial Narrow"/>
              </a:rPr>
              <a:t>C7, Slide </a:t>
            </a:r>
            <a:fld id="{5ECE9829-65B2-40C6-AEFF-7C648FF56A9C}" type="slidenum">
              <a:rPr lang="en-US" smtClean="0" sz="900">
                <a:solidFill>
                  <a:schemeClr val="bg1"/>
                </a:solidFill>
                <a:latin charset="0" pitchFamily="34" typeface="Arial Narrow"/>
              </a:rPr>
              <a:pPr algn="r">
                <a:defRPr/>
              </a:pPr>
              <a:t>32</a:t>
            </a:fld>
            <a:endParaRPr dirty="0" lang="en-US" sz="900">
              <a:solidFill>
                <a:schemeClr val="bg1"/>
              </a:solidFill>
              <a:latin charset="0" pitchFamily="34"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2305365215"/>
      </p:ext>
    </p:extLst>
  </p:cSld>
  <p:clrMapOvr>
    <a:masterClrMapping/>
  </p:clrMapOvr>
</p:sld>
</file>

<file path=ppt/theme/theme1.xml><?xml version="1.0" encoding="utf-8"?>
<a:theme xmlns:a="http://schemas.openxmlformats.org/drawingml/2006/main" name="Master slides_with_titles_logo">
  <a:themeElements>
    <a:clrScheme name="Master slides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Master slid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ster slides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aster slides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ster slides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ster slides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ster slides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ster slides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MMA accessible slides.potx" id="{50B7D1D4-3F7E-4579-B166-09A2FAC5C745}" vid="{7C365D12-5A37-45DA-A43C-A906C0D97DDF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MMA accessible slides</Template>
  <TotalTime>571</TotalTime>
  <Words>3502</Words>
  <Application>Microsoft Office PowerPoint</Application>
  <PresentationFormat>On-screen Show (4:3)</PresentationFormat>
  <Paragraphs>528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8" baseType="lpstr">
      <vt:lpstr>Arial</vt:lpstr>
      <vt:lpstr>Arial Narrow</vt:lpstr>
      <vt:lpstr>Courier New</vt:lpstr>
      <vt:lpstr>Symbol</vt:lpstr>
      <vt:lpstr>Times New Roman</vt:lpstr>
      <vt:lpstr>Master slides_with_titles_logo</vt:lpstr>
      <vt:lpstr>Chapter 7</vt:lpstr>
      <vt:lpstr>Objectives</vt:lpstr>
      <vt:lpstr>Two types of files</vt:lpstr>
      <vt:lpstr>The sequence of file operations</vt:lpstr>
      <vt:lpstr>The built-in open() function</vt:lpstr>
      <vt:lpstr>How to open a file in write mode  and close the file manually</vt:lpstr>
      <vt:lpstr>How to use with statements to open  and close files</vt:lpstr>
      <vt:lpstr>The write() method of a file object</vt:lpstr>
      <vt:lpstr>The contents of the text file after the two lines have been written</vt:lpstr>
      <vt:lpstr>Three read methods of a file object</vt:lpstr>
      <vt:lpstr>How to use a loop to read each line of the file</vt:lpstr>
      <vt:lpstr>How to read the entire file as a list</vt:lpstr>
      <vt:lpstr>How to write and read a list of strings</vt:lpstr>
      <vt:lpstr>How to write and read a list of numbers</vt:lpstr>
      <vt:lpstr>The user interface for the Movie List 1.0 program</vt:lpstr>
      <vt:lpstr>The code for the Movie List 1.0 program (part 1)</vt:lpstr>
      <vt:lpstr>The code for the Movie List 1.0 program (part 2)</vt:lpstr>
      <vt:lpstr>The code for the Movie List 1.0 program (part 3)</vt:lpstr>
      <vt:lpstr>The code for the Movie List 1.0 program (part 4)</vt:lpstr>
      <vt:lpstr>The writer() function of the csv module</vt:lpstr>
      <vt:lpstr>A 2-dimensional list with 3 rows and 2 columns</vt:lpstr>
      <vt:lpstr>The reader() function of the csv module</vt:lpstr>
      <vt:lpstr>Some optional arguments that can be used  to change the CSV format</vt:lpstr>
      <vt:lpstr>The user interface for the Movie List 2.0 program</vt:lpstr>
      <vt:lpstr>The code for the Movie List 2.0 program (part 1)</vt:lpstr>
      <vt:lpstr>The code for the Movie List 2.0 program (part 2)</vt:lpstr>
      <vt:lpstr>The code for the Movie List 2.0 program (part 3)</vt:lpstr>
      <vt:lpstr>Two methods of the pickle module</vt:lpstr>
      <vt:lpstr>A two-dimensional list of movies</vt:lpstr>
      <vt:lpstr>How to read an object from a binary file</vt:lpstr>
      <vt:lpstr>The user interface for the Movie List 3.0 program</vt:lpstr>
      <vt:lpstr>The code for the two file I/O functions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2019-07-24T17:35:33Z</dcterms:created>
  <dc:creator>Judy Taylor</dc:creator>
  <cp:lastModifiedBy>Anne Boehm</cp:lastModifiedBy>
  <cp:lastPrinted>2016-01-14T23:03:16Z</cp:lastPrinted>
  <dcterms:modified xsi:type="dcterms:W3CDTF">2021-03-18T16:06:34Z</dcterms:modified>
  <cp:revision>22</cp:revision>
  <dc:title>Chapter 7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pid="2" fmtid="{D5CDD505-2E9C-101B-9397-08002B2CF9AE}" name="ReadingOrderVerifiedPages">
    <vt:lpwstr>2,3,4,5,6,7,8,9,10,11,12,13,14,15,16,17,18,19,20,21,22,23,24,25,26,27,28,29,30,31,32</vt:lpwstr>
  </property>
</Properties>
</file>