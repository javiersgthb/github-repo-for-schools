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50"/>
  </p:notesMasterIdLst>
  <p:handoutMasterIdLst>
    <p:handoutMasterId r:id="rId51"/>
  </p:handoutMasterIdLst>
  <p:sldIdLst>
    <p:sldId id="256" r:id="rId2"/>
    <p:sldId id="324" r:id="rId3"/>
    <p:sldId id="368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69" r:id="rId21"/>
    <p:sldId id="341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70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  <p:sldId id="365" r:id="rId47"/>
    <p:sldId id="366" r:id="rId48"/>
    <p:sldId id="367" r:id="rId4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82" autoAdjust="0"/>
    <p:restoredTop sz="86433" autoAdjust="0"/>
  </p:normalViewPr>
  <p:slideViewPr>
    <p:cSldViewPr>
      <p:cViewPr varScale="1">
        <p:scale>
          <a:sx n="95" d="100"/>
          <a:sy n="95" d="100"/>
        </p:scale>
        <p:origin x="158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slides/slide28.xml" Type="http://schemas.openxmlformats.org/officeDocument/2006/relationships/slide"/><Relationship Id="rId3" Target="slides/slide2.xml" Type="http://schemas.openxmlformats.org/officeDocument/2006/relationships/slide"/><Relationship Id="rId30" Target="slides/slide29.xml" Type="http://schemas.openxmlformats.org/officeDocument/2006/relationships/slide"/><Relationship Id="rId31" Target="slides/slide30.xml" Type="http://schemas.openxmlformats.org/officeDocument/2006/relationships/slide"/><Relationship Id="rId32" Target="slides/slide31.xml" Type="http://schemas.openxmlformats.org/officeDocument/2006/relationships/slide"/><Relationship Id="rId33" Target="slides/slide32.xml" Type="http://schemas.openxmlformats.org/officeDocument/2006/relationships/slide"/><Relationship Id="rId34" Target="slides/slide33.xml" Type="http://schemas.openxmlformats.org/officeDocument/2006/relationships/slide"/><Relationship Id="rId35" Target="slides/slide34.xml" Type="http://schemas.openxmlformats.org/officeDocument/2006/relationships/slide"/><Relationship Id="rId36" Target="slides/slide35.xml" Type="http://schemas.openxmlformats.org/officeDocument/2006/relationships/slide"/><Relationship Id="rId37" Target="slides/slide36.xml" Type="http://schemas.openxmlformats.org/officeDocument/2006/relationships/slide"/><Relationship Id="rId38" Target="slides/slide37.xml" Type="http://schemas.openxmlformats.org/officeDocument/2006/relationships/slide"/><Relationship Id="rId39" Target="slides/slide38.xml" Type="http://schemas.openxmlformats.org/officeDocument/2006/relationships/slide"/><Relationship Id="rId4" Target="slides/slide3.xml" Type="http://schemas.openxmlformats.org/officeDocument/2006/relationships/slide"/><Relationship Id="rId40" Target="slides/slide39.xml" Type="http://schemas.openxmlformats.org/officeDocument/2006/relationships/slide"/><Relationship Id="rId41" Target="slides/slide40.xml" Type="http://schemas.openxmlformats.org/officeDocument/2006/relationships/slide"/><Relationship Id="rId42" Target="slides/slide41.xml" Type="http://schemas.openxmlformats.org/officeDocument/2006/relationships/slide"/><Relationship Id="rId43" Target="slides/slide42.xml" Type="http://schemas.openxmlformats.org/officeDocument/2006/relationships/slide"/><Relationship Id="rId44" Target="slides/slide43.xml" Type="http://schemas.openxmlformats.org/officeDocument/2006/relationships/slide"/><Relationship Id="rId45" Target="slides/slide44.xml" Type="http://schemas.openxmlformats.org/officeDocument/2006/relationships/slide"/><Relationship Id="rId46" Target="slides/slide45.xml" Type="http://schemas.openxmlformats.org/officeDocument/2006/relationships/slide"/><Relationship Id="rId47" Target="slides/slide46.xml" Type="http://schemas.openxmlformats.org/officeDocument/2006/relationships/slide"/><Relationship Id="rId48" Target="slides/slide47.xml" Type="http://schemas.openxmlformats.org/officeDocument/2006/relationships/slide"/><Relationship Id="rId49" Target="slides/slide48.xml" Type="http://schemas.openxmlformats.org/officeDocument/2006/relationships/slide"/><Relationship Id="rId5" Target="slides/slide4.xml" Type="http://schemas.openxmlformats.org/officeDocument/2006/relationships/slide"/><Relationship Id="rId50" Target="notesMasters/notesMaster1.xml" Type="http://schemas.openxmlformats.org/officeDocument/2006/relationships/notesMaster"/><Relationship Id="rId51" Target="handoutMasters/handoutMaster1.xml" Type="http://schemas.openxmlformats.org/officeDocument/2006/relationships/handoutMaster"/><Relationship Id="rId52" Target="presProps.xml" Type="http://schemas.openxmlformats.org/officeDocument/2006/relationships/presProps"/><Relationship Id="rId53" Target="viewProps.xml" Type="http://schemas.openxmlformats.org/officeDocument/2006/relationships/viewProps"/><Relationship Id="rId54" Target="theme/theme1.xml" Type="http://schemas.openxmlformats.org/officeDocument/2006/relationships/theme"/><Relationship Id="rId55" Target="tableStyles.xml" Type="http://schemas.openxmlformats.org/officeDocument/2006/relationships/tableStyles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3/18/2021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C10,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C10,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C10,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C10,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C10,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C10,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C10,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C10,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C10,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C10,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gur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C10,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73161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667000" y="6248400"/>
            <a:ext cx="3886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C10,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3" r:id="rId5"/>
    <p:sldLayoutId id="2147483681" r:id="rId6"/>
    <p:sldLayoutId id="2147483674" r:id="rId7"/>
    <p:sldLayoutId id="2147483676" r:id="rId8"/>
    <p:sldLayoutId id="2147483675" r:id="rId9"/>
    <p:sldLayoutId id="2147483684" r:id="rId10"/>
    <p:sldLayoutId id="2147483685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Chapter 10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r>
              <a:rPr dirty="0" lang="en-US"/>
              <a:t>How to work </a:t>
            </a:r>
            <a:br>
              <a:rPr dirty="0" lang="en-US"/>
            </a:br>
            <a:r>
              <a:rPr dirty="0" lang="en-US"/>
              <a:t>with strings</a:t>
            </a:r>
          </a:p>
          <a:p>
            <a:endParaRPr dirty="0" lang="en-US"/>
          </a:p>
        </p:txBody>
      </p:sp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  <a:endParaRPr dirty="0"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7D774-474F-4567-A743-16B61063D7AF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l">
              <a:defRPr/>
            </a:pPr>
            <a:endParaRPr dirty="0" lang="en-US" sz="1400">
              <a:latin typeface="Times New Roman"/>
            </a:endParaRPr>
          </a:p>
          <a:p>
            <a:pPr>
              <a:defRPr/>
            </a:pPr>
            <a:r>
              <a:rPr dirty="0" lang="en-US">
                <a:solidFill>
                  <a:schemeClr val="bg1"/>
                </a:solidFill>
              </a:rPr>
              <a:t>C10,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dirty="0"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Applied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1CAC77-0EBC-4194-99B6-AF4326F9B5E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Code, test, and debug programs that work with strings. That includes: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slicing a string</a:t>
            </a:r>
            <a:b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</a:b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finding and replacing parts of a string </a:t>
            </a:r>
            <a:b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</a:b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splitting a string into a list of strings</a:t>
            </a:r>
            <a:b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</a:b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joining the items in a list into a string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2" name="Footer Placeholder 1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25364881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Knowledge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27E9BF-9F63-4F00-928A-78102DF3D822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In general terms, describe the coding that’s used for Unicode characters.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these built-in functions : the </a:t>
            </a:r>
            <a:r>
              <a:rPr dirty="0" err="1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ord</a:t>
            </a: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() function for working with characters and the </a:t>
            </a:r>
            <a:r>
              <a:rPr dirty="0" err="1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len</a:t>
            </a: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() function for working with strings.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these string methods: </a:t>
            </a:r>
            <a:r>
              <a:rPr dirty="0" err="1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islower</a:t>
            </a: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(), </a:t>
            </a:r>
            <a:r>
              <a:rPr dirty="0" err="1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isdigit</a:t>
            </a: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(), </a:t>
            </a:r>
            <a:r>
              <a:rPr dirty="0" err="1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startswith</a:t>
            </a: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(), lower(), strip(), </a:t>
            </a:r>
            <a:r>
              <a:rPr dirty="0" err="1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rjust</a:t>
            </a: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(), find(), replace(), split(), and join().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Explain how delimiters work with the split() method and the join() method.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2" name="Footer Placeholder 1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20310627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Two built-in functions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C3997-18FA-45A2-AFC0-FF2761759E3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ord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char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len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str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410808330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ordinal value of a Unicode character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95D34A-D085-4234-B883-A89F5CD92F02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print("5 =",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("5"))     # 5 = 53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print("A =",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("A"))     # A = 65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print("a =",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("a"))     # a = 97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8691417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access a character in a string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63FEC1D-8E18-4004-85F9-69A19BA3F09C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 = "Hello out there!"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message[0]       # "H"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message[1]       # "e"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message[-1]      # "!"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message[16]      #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IndexError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 string index out of range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message[0] = "J" #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TypeError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 string is immutable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18736863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slice a string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54CE6B-B8A7-4543-9237-410E1294BA1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string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start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end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step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Examples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 = "Hello out there!"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message[:5]         # "Hello"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message[6:9]        # "out"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message[10:]        # "there!"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message[:-1]        # "Hello out there"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990950041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use the repetition operator (*)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B93CA8-81CA-494E-8294-B144D54B9FD0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print("=" * 20)             # 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print("A horse! " * 2)      # "A horse! A horse!"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9056867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use triple quotes </a:t>
            </a:r>
            <a:br>
              <a:rPr dirty="0" lang="en-US"/>
            </a:br>
            <a:r>
              <a:rPr dirty="0" lang="en-US"/>
              <a:t>to create a multiline string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A49560-C25C-4F39-8D50-46D5282353E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220435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query = '''SELECT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categoryID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name AS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categoryName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FROM Category WHERE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categoryID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?'''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24880302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use the in keyword to search a string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E15855-010A-4C71-B271-D0EEFAC5806F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712033" y="994321"/>
            <a:ext cx="8506918" cy="48768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Syntax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i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term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in </a:t>
            </a:r>
            <a:r>
              <a:rPr b="1" dirty="0" i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string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Examples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spam = "Congratulations. You've won a million dollars."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"million" in spam      # True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"Million" in spam      # False - search is case-sensitive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"on" in spam           # True – doesn't need to be whole word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 million " in spam    # True – uses spaces to find a whole word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 dollars " in spam    # False - ends with a period, not a space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690362087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uses an if statement to check a search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A709E0-BFBA-45CB-BB93-43316AC574FC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search_term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input("Enter search term: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search_term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in spam: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print("Term found!")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935358-F2D9-4A91-97F5-F72AC3B61208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371600" y="2380938"/>
            <a:ext cx="5029200" cy="59086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search term: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dollar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Term found!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577993148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5421"/>
            <a:ext cx="7315200" cy="738664"/>
          </a:xfrm>
        </p:spPr>
        <p:txBody>
          <a:bodyPr/>
          <a:lstStyle/>
          <a:p>
            <a:r>
              <a:rPr dirty="0" lang="en-US"/>
              <a:t>The syntax for looping through each character </a:t>
            </a:r>
            <a:br>
              <a:rPr dirty="0" lang="en-US"/>
            </a:br>
            <a:r>
              <a:rPr dirty="0" lang="en-US"/>
              <a:t>in a string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597D870-63F1-4EB8-AEF7-57C0B7695DF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121689"/>
            <a:ext cx="7391400" cy="9906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for</a:t>
            </a:r>
            <a:r>
              <a:rPr b="1" dirty="0" i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character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in</a:t>
            </a:r>
            <a:r>
              <a:rPr b="1" dirty="0" i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string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i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statements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prints each character in a string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 = "Hi!"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for char in message: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print(char)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D3568-EFFB-4CCC-914B-D055DC2FA095}"/>
              </a:ext>
            </a:extLst>
          </p:cNvPr>
          <p:cNvSpPr>
            <a:spLocks noGrp="1"/>
          </p:cNvSpPr>
          <p:nvPr>
            <p:ph idx="16" sz="quarter" type="body"/>
          </p:nvPr>
        </p:nvSpPr>
        <p:spPr>
          <a:xfrm>
            <a:off x="1371600" y="3182398"/>
            <a:ext cx="5029200" cy="81563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!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C2E889-AC55-4DA1-81F7-E6A67CB1546A}"/>
              </a:ext>
            </a:extLst>
          </p:cNvPr>
          <p:cNvSpPr>
            <a:spLocks noGrp="1"/>
          </p:cNvSpPr>
          <p:nvPr>
            <p:ph idx="17" sz="quarter" type="body"/>
          </p:nvPr>
        </p:nvSpPr>
        <p:spPr>
          <a:xfrm>
            <a:off x="876300" y="4112333"/>
            <a:ext cx="7391400" cy="1496734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prints the ordinal value for each character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message = "0123 ABCD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abcd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for char in message: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(char), end=" 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D4B556-8B48-42AD-95CE-BD942BB8A124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8275" y="5658257"/>
            <a:ext cx="5102525" cy="29643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48 49 50 51 32 65 66 67 68 32 97 98 99 100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13949792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Basic string methods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89AA8D-1B1A-40A7-91A6-CE771D91293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isalpha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()			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title()</a:t>
            </a:r>
            <a:endParaRPr dirty="0" lang="en-US" spc="-1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islower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()			</a:t>
            </a:r>
            <a:r>
              <a:rPr b="1" dirty="0" err="1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lstrip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()</a:t>
            </a:r>
            <a:endParaRPr dirty="0" lang="en-US" spc="-10" sz="18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isupper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()			</a:t>
            </a:r>
            <a:r>
              <a:rPr b="1" dirty="0" err="1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rstrip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()</a:t>
            </a:r>
            <a:endParaRPr dirty="0" lang="en-US" spc="-10" sz="18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isdigit</a:t>
            </a:r>
            <a:r>
              <a:rPr b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()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			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strip()</a:t>
            </a:r>
            <a:r>
              <a:rPr b="1" dirty="0" err="1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ljust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i="1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width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8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startswith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str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		</a:t>
            </a:r>
            <a:r>
              <a:rPr b="1" dirty="0" err="1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rjust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i="1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width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8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endswith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str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		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center(</a:t>
            </a:r>
            <a:r>
              <a:rPr b="1" dirty="0" i="1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width</a:t>
            </a:r>
            <a:r>
              <a:rPr b="1" dirty="0" lang="en-US" spc="-10" sz="18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8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lower()</a:t>
            </a:r>
            <a:endParaRPr dirty="0" lang="en-US" spc="-10" sz="18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upper()  </a:t>
            </a:r>
            <a:endParaRPr dirty="0" lang="en-US" spc="-10" sz="18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 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br>
              <a:rPr b="1" dirty="0" lang="en-US" sz="16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dirty="0" lang="en-US" sz="1600">
                <a:latin charset="0" panose="02020603050405020304" pitchFamily="18" typeface="Times New Roman"/>
                <a:ea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br>
              <a:rPr b="1" dirty="0" lang="en-US" sz="16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dirty="0" lang="en-US" sz="1600">
                <a:latin charset="0" panose="02020603050405020304" pitchFamily="18" typeface="Times New Roman"/>
                <a:ea charset="0" panose="02020603050405020304" pitchFamily="18" typeface="Times New Roman"/>
              </a:rPr>
              <a:t> 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112263020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check if a string contains all digits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A9DDC7-90C5-485C-8A0A-F9CF9341F441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entry = "12345"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is_integer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entry.isdigit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               # True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check if a string starts with a substring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title = "The Meaning of Life"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starts_with_the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title.startswith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("The")   # True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06602313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change a string to title case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A4FE303-50F6-4A7E-96C8-327D5806979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 = "the meaning of life"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movie.title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          # "The Meaning Of Life"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strip whitespace from a string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ssn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   392 55 7722  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ssn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ssn.strip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              # "392 55 7722"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49498784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align strings by using justification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94CF15-3288-4ECA-89D5-F7004A0AC4AA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74108"/>
            <a:ext cx="7391400" cy="2743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print("Hammer".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ljust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(14), "$9.99".rjust(10))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print("Nails".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ljust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(14), "$14.50".rjust(10))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CE6058-3162-423C-8898-C661DF80A5BF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2133600"/>
            <a:ext cx="5105400" cy="5334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Hammer             $9.99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Nails             $14.50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681880990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Four more methods of a string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EE1B6A-15EC-4319-BEE8-C51DC02E4717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  <a:tabLst>
                <a:tab algn="l" pos="5200650"/>
              </a:tabLs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find(str[, 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start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][, 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end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])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replace(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old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new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[, 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num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])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removeprefix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str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removesuffix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str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0288567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Find examples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A99A48-D1F9-4088-BF7B-5B880174B4CE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search for specific characters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email = "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joel.murach@com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at_index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email.find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("@")                    #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at_index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11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dot_index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email.find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(".",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at_index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         #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dot_index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-1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at_index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== -1 or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dot_index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== -1:         # True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print("Invalid email address:", email)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get the first word in a string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title = "The Meaning of Life"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title.find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 ")                           #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== -1: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first_word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"This title doesn't contain a space."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first_word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title[0:i]                   # "The"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495452430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Replace examples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DE4D3A-C1E8-407D-9669-F0EAEF411963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replace dashes with spaces </a:t>
            </a:r>
            <a:b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in a credit card number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cc_number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"4012-881022-88810"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cc_number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cc_number.replace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("-", " ")      # 4012 881022 88810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remove dashes from a phone number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phone_number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"555-555-1234"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phone_number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phone_number.replace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("-", "") # 5555551234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664338121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CE684-C58C-4923-A97B-51E77CB0E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Remove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23E93-1093-4EC1-817A-F5E0F3C2B87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email = "joel@murach.com"</a:t>
            </a:r>
          </a:p>
          <a:p>
            <a:pPr marL="341313" marR="0">
              <a:spcBef>
                <a:spcPts val="600"/>
              </a:spcBef>
              <a:spcAft>
                <a:spcPts val="3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effectLst/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remove a substring from the start of a string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email = 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email.removeprefix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joel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        # @murach.com</a:t>
            </a:r>
          </a:p>
          <a:p>
            <a:pPr marL="341313" marR="0">
              <a:spcBef>
                <a:spcPts val="600"/>
              </a:spcBef>
              <a:spcAft>
                <a:spcPts val="3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effectLst/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remove a substring from the end of a string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email = 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email.removesuffix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(".com")        # @murach</a:t>
            </a:r>
          </a:p>
          <a:p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4ABE2-F08D-448A-A087-2AFC768406CD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E97B7-A7B4-42FC-B778-46767A95846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  <a:endParaRPr dirty="0"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F42CD-2B26-4693-9E79-F487E2D2E5A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C10,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dirty="0"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776836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749808"/>
          </a:xfrm>
        </p:spPr>
        <p:txBody>
          <a:bodyPr/>
          <a:lstStyle/>
          <a:p>
            <a:r>
              <a:rPr dirty="0" lang="en-US"/>
              <a:t>The user interface </a:t>
            </a:r>
            <a:br>
              <a:rPr dirty="0" lang="en-US"/>
            </a:br>
            <a:r>
              <a:rPr dirty="0" lang="en-US"/>
              <a:t>for the Create Account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BAE649-1A53-4DA8-ADE6-BAE2B589E4BB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524000"/>
            <a:ext cx="6477000" cy="2514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full name:      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Eric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You must enter your full name.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full name:      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Eric Idle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password:       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sesame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Password must be 8 characters or more 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at least one digit and one uppercase letter.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password:       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sesaMe123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Hi Eric, thanks for creating an account.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46636492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Create Account program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E6FFA8-22E9-45D3-B68B-662BA919E52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get_full_name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password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get_password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first_name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get_first_name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f"Hi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{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first_name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}, thanks for creating an account.")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get_full_name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name = input("Enter full name:       ")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.strip()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" " in name: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return name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print("You must enter your full name.")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87441707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Create Account program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90E478-2A10-4C7F-B435-C60D5759D0B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get_password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password = input("Enter password:        ")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.strip()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digit = False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cap_letter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False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for char in password: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if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char.isdigit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digit = True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char.isupper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cap_letter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True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digit == False or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cap_letter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== False or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len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(password) &lt; 8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f"Password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must be 8 characters or more \n"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f"with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at least one digit and one uppercase 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f"letter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return password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400404960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Create Account program (part 3)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B91161-5288-4023-95C0-A6F49179235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get_first_name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index1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.find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 ")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first_name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[:index1]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first_name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__name__ == "__main__":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main()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28958338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split() method of a string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2A0E7A-EA8D-4B40-911D-A120A7D56EBE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>
                <a:latin charset="0" panose="02070309020205020404" pitchFamily="49" typeface="Courier New"/>
                <a:ea charset="0" panose="02020603050405020304" pitchFamily="18" typeface="Times New Roman"/>
              </a:rPr>
              <a:t>split([</a:t>
            </a:r>
            <a:r>
              <a:rPr b="1" dirty="0" i="1" lang="en-US" spc="-10">
                <a:latin charset="0" panose="02070309020205020404" pitchFamily="49" typeface="Courier New"/>
                <a:ea charset="0" panose="02020603050405020304" pitchFamily="18" typeface="Times New Roman"/>
              </a:rPr>
              <a:t>delimiter</a:t>
            </a:r>
            <a:r>
              <a:rPr b="1" dirty="0" lang="en-US" spc="-10">
                <a:latin charset="0" panose="02070309020205020404" pitchFamily="49" typeface="Courier New"/>
                <a:ea charset="0" panose="02020603050405020304" pitchFamily="18" typeface="Times New Roman"/>
              </a:rPr>
              <a:t>][, </a:t>
            </a:r>
            <a:r>
              <a:rPr b="1" dirty="0" i="1" lang="en-US" spc="-10">
                <a:latin charset="0" panose="02070309020205020404" pitchFamily="49" typeface="Courier New"/>
                <a:ea charset="0" panose="02020603050405020304" pitchFamily="18" typeface="Times New Roman"/>
              </a:rPr>
              <a:t>num</a:t>
            </a:r>
            <a:r>
              <a:rPr b="1" dirty="0" lang="en-US" spc="-10">
                <a:latin charset="0" panose="02070309020205020404" pitchFamily="49" typeface="Courier New"/>
                <a:ea charset="0" panose="02020603050405020304" pitchFamily="18" typeface="Times New Roman"/>
              </a:rPr>
              <a:t>])</a:t>
            </a:r>
            <a:endParaRPr dirty="0" lang="en-US" spc="-1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1113693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split a string on whitespace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10A548-953C-4445-B58E-677912DAF3CC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6962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quotation = "These are the times that try men's souls."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words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quotation.split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print(words[0])     # 'These'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print(words[3])     # 'times'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print(words[7])     # 'souls.'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print(words[-1])    # 'souls.'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print(words[8])     #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IndexError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 list index out of range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400157187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split a date on a delimiter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8AA5E1-13DC-48BE-9046-1ECFE409D569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543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 = "11/9/1972"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date.split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("/")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 = int(date[0])     # 11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 =   int(date[1])     # 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 =  int(date[2])     # 1972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 =  int(date[3])     #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IndexError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 index out of range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33071157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split a row of data on a delimiter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D42185-5F2F-4CC7-A0F4-4A694ED0327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address = "John Doe|1500 Any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Street|New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York|NY|10001"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address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address.split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("|")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print(address[0])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print(address[1])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print(f"{address[2]}, {address[3]} {address[4]}")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403AE4-28CA-45C5-A9A3-A0CE52CF7472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1" y="2819400"/>
            <a:ext cx="5105399" cy="868539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John Doe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1500 Any Street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New York, NY 10001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85919945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0A20-F55C-4D1D-8E21-0119C479F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split a name into two parts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5AF93-066A-464F-927D-B4A256459C6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"Guido von Rossum"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name_parts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full_name.split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 ", 1)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name_parts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[0])    # Guido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name_parts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[1])    # von Rossum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C10E5-F8A1-4E05-8350-E3C49D70F478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BDF95-D5FF-404C-B870-FD3989363F70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  <a:endParaRPr dirty="0"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4A9F4-07C4-4186-9896-E338D8A04D2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C10,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29</a:t>
            </a:fld>
            <a:endParaRPr dirty="0"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768002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join strings with the + and += operators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E3C953-606A-4E21-A0CA-83CDBE72581A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199" y="1066800"/>
            <a:ext cx="7696201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first_name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"Eric"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last_name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"Idle"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With the + operator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last_name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 ", " +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first_name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# Idle, Eric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With the += operator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last_name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+= ", 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first_name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# Idle, Eric</a:t>
            </a:r>
          </a:p>
          <a:p>
            <a:pPr indent="-3175" marL="341313" marR="0">
              <a:spcBef>
                <a:spcPts val="600"/>
              </a:spcBef>
              <a:spcAft>
                <a:spcPts val="3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effectLst/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With an f-string</a:t>
            </a:r>
          </a:p>
          <a:p>
            <a:pPr indent="-3175"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full_name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f"{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last_name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}, {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first_name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   # Idle, Eric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202714309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join() method of a string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F1CF63-E572-4BEF-AD1F-E43AE5224FF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>
                <a:latin charset="0" panose="02070309020205020404" pitchFamily="49" typeface="Courier New"/>
                <a:ea charset="0" panose="02020603050405020304" pitchFamily="18" typeface="Times New Roman"/>
              </a:rPr>
              <a:t>join(</a:t>
            </a:r>
            <a:r>
              <a:rPr b="1" dirty="0" i="1" lang="en-US" spc="-10">
                <a:latin charset="0" panose="02070309020205020404" pitchFamily="49" typeface="Courier New"/>
                <a:ea charset="0" panose="02020603050405020304" pitchFamily="18" typeface="Times New Roman"/>
              </a:rPr>
              <a:t>sequence</a:t>
            </a:r>
            <a:r>
              <a:rPr b="1" dirty="0" lang="en-US" spc="-1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806690757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join the items of a list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73400A-DF91-43D5-8E1C-A6E1B117CE07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address = ["John Doe","1500 Any Street",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"New York","NY","10001"]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address = "|".join(address)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print(address)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8ECDBA-FCF5-4AA1-8505-3A231E17BD97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2590800"/>
            <a:ext cx="6019800" cy="304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John Doe|1500 Any </a:t>
            </a:r>
            <a:r>
              <a:rPr b="1" dirty="0" err="1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Street|New</a:t>
            </a: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York|NY|10001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2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8326280"/>
      </p:ext>
    </p:extLst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join the characters in a string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DD511D-6494-4F1E-8131-93419BBBA2E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391400" cy="1219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letters = "HORSE"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letters_spaced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 ".join(letters)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letters_spaced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19E888-B856-4766-B964-C7426A77CC18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2400924"/>
            <a:ext cx="5102352" cy="34227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 O R S 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131145162"/>
      </p:ext>
    </p:extLst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 common error when using the join() method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A46E76-D100-490E-A170-4C72820A092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 = "John"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address = "15 E St"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full_address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name.join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(address)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full_address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   # 1John5John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JohnEJohn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JohnSJohnt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847859372"/>
      </p:ext>
    </p:extLst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console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9DE8FD-9725-43E3-9D1F-257F63A8D8E7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143000"/>
            <a:ext cx="6019800" cy="3733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 MENU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 - List all movies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 -  Add a movie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 -  Delete a movie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 - Exit program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1. Monty Python and the Holy Grail (1975)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2. On the Waterfront (1954)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3. Cat on a Hot Tin Roof (1958)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Gone with the Wind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1939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Gone with the Wind was added.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134472736"/>
      </p:ext>
    </p:extLst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740664"/>
          </a:xfrm>
        </p:spPr>
        <p:txBody>
          <a:bodyPr/>
          <a:lstStyle/>
          <a:p>
            <a:r>
              <a:rPr dirty="0" lang="en-US"/>
              <a:t>The data in the text file </a:t>
            </a:r>
            <a:br>
              <a:rPr dirty="0" lang="en-US"/>
            </a:br>
            <a:r>
              <a:rPr dirty="0" lang="en-US"/>
              <a:t>after one record has been added to it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  <p:pic>
        <p:nvPicPr>
          <p:cNvPr descr="Refer to page 291 in textbook." id="7" name="Content Placeholder 6">
            <a:extLst>
              <a:ext uri="{FF2B5EF4-FFF2-40B4-BE49-F238E27FC236}">
                <a16:creationId xmlns:a16="http://schemas.microsoft.com/office/drawing/2014/main" id="{E3BA5FEA-91E0-45BA-872C-7931E734D663}"/>
              </a:ext>
            </a:extLst>
          </p:cNvPr>
          <p:cNvPicPr>
            <a:picLocks noChangeAspect="1" noGrp="1"/>
          </p:cNvPicPr>
          <p:nvPr>
            <p:ph idx="13" sz="quarter"/>
          </p:nvPr>
        </p:nvPicPr>
        <p:blipFill>
          <a:blip r:embed="rId2"/>
          <a:stretch>
            <a:fillRect/>
          </a:stretch>
        </p:blipFill>
        <p:spPr>
          <a:xfrm>
            <a:off x="1295400" y="1524000"/>
            <a:ext cx="6553200" cy="196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52735"/>
      </p:ext>
    </p:extLst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1792"/>
            <a:ext cx="7315200" cy="738664"/>
          </a:xfrm>
        </p:spPr>
        <p:txBody>
          <a:bodyPr/>
          <a:lstStyle/>
          <a:p>
            <a:r>
              <a:rPr dirty="0" lang="en-US"/>
              <a:t>The code for the </a:t>
            </a:r>
            <a:r>
              <a:rPr dirty="0" err="1" lang="en-US"/>
              <a:t>write_movies</a:t>
            </a:r>
            <a:r>
              <a:rPr dirty="0" lang="en-US"/>
              <a:t> </a:t>
            </a:r>
            <a:br>
              <a:rPr dirty="0" lang="en-US"/>
            </a:br>
            <a:r>
              <a:rPr dirty="0" lang="en-US"/>
              <a:t>and </a:t>
            </a:r>
            <a:r>
              <a:rPr dirty="0" err="1" lang="en-US"/>
              <a:t>read_movies</a:t>
            </a:r>
            <a:r>
              <a:rPr dirty="0" lang="en-US"/>
              <a:t> functions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705337-53ED-4CC2-84B2-3CF2A1F6E313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371600"/>
            <a:ext cx="7391400" cy="43434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a file in the current directory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FILENAME = "movies.txt"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write_movies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open(FILENAME, "w")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for movie in movies: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line = "|".join(movie)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file.write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(f"{line}\n")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read_movies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for line in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line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line.replace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("\n", "")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 = </a:t>
            </a:r>
            <a:r>
              <a:rPr b="1" dirty="0" err="1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line.split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("|")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return movies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4632552"/>
      </p:ext>
    </p:extLst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user interface for the Word Counter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9EB45A-4A5C-480C-AA92-FD90DE627911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143000"/>
            <a:ext cx="5105400" cy="2286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The Word Counter program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Number of words = 260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Number of unique words =  142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 occurrences: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a = 7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above = 1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add = 1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...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674979037"/>
      </p:ext>
    </p:extLst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Word Counter program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34836A-3882-4893-B4FA-8A8D863428FC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get_words_from_file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(filename):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text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file.read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   # read str from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text =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text.replace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("\n", "")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text =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text.replace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(",", "")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text =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text.replace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(".", "")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text =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text.lower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words =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text.split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 ")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# convert str to list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words.sort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words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get_unique_words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(words):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unique_words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unique_words.append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(words[0])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for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in range(1,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(words)):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words[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 == words[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- 1]: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continue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unique_words.append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(words[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])    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unique_words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832713815"/>
      </p:ext>
    </p:extLst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Word Counter program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64EF4B-B904-49CD-849B-DB3784F1D0AA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filename = "gettysburg_address.txt"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print("The Word Counter program\n")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get words and unique words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words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get_words_from_file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(filename) # get list of words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unique_words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get_unique_words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(words)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display number of words and unique words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f"Number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of words = {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(words)}")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f"Number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of unique words = {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unique_words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)}")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display unique words and their word counts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print("Unique word occurrences:")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for word in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unique_words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print(f"    {word} = {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words.count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(word)}")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__name__ == "__main__":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main()   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94565956"/>
      </p:ext>
    </p:extLst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user interface for the Hangman game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3E9DA5-4001-40CE-9C7C-B72E294196DE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143000"/>
            <a:ext cx="6553200" cy="4495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Play the H A N G M A N game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------------------------------------------------------------------------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Word: _ _ _ _ _ _ _ _    Guesses: 0   Wrong: 0   Tried: 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 letter: </a:t>
            </a:r>
            <a:r>
              <a:rPr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------------------------------------------------------------------------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Word: _ _ _ _ _ A _ _    Guesses: 1   Wrong: 0   Tried: A 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 letter: </a:t>
            </a:r>
            <a:r>
              <a:rPr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------------------------------------------------------------------------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Word: _ _ _ _ _ A _ _    Guesses: 2   Wrong: 1   Tried: A E 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 letter: </a:t>
            </a:r>
            <a:r>
              <a:rPr dirty="0" err="1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------------------------------------------------------------------------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Word: _ _ _ _ _ A _ _    Guesses: 3   Wrong: 2   Tried: A E I 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 letter: </a:t>
            </a:r>
            <a:r>
              <a:rPr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------------------------------------------------------------------------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(The game continues)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------------------------------------------------------------------------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Word: B O U N _ A R Y    Guesses: 13   Wrong: 6   Tried: A E I O U S N C L M R Y B 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 letter: </a:t>
            </a:r>
            <a:r>
              <a:rPr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------------------------------------------------------------------------Word: B O U N D A R Y    Guesses: 14   Wrong: 6   Tried: A E I O U S N C L M R Y B D 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------------------------------------------------------------------------Congratulations! You got it in  14 guesses.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1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Do you want to play again (y/n)?:</a:t>
            </a:r>
            <a:endParaRPr b="1" dirty="0" lang="en-US" sz="11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1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60519606"/>
      </p:ext>
    </p:extLst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hierarchy chart for the Hangman game</a:t>
            </a:r>
          </a:p>
        </p:txBody>
      </p:sp>
      <p:pic>
        <p:nvPicPr>
          <p:cNvPr descr="Refer to page 295 in textbook " id="8" name="Content Placeholder 7">
            <a:extLst>
              <a:ext uri="{FF2B5EF4-FFF2-40B4-BE49-F238E27FC236}">
                <a16:creationId xmlns:a16="http://schemas.microsoft.com/office/drawing/2014/main" id="{EB2ADE4D-D722-4B65-A04D-199BE7D0CEE4}"/>
              </a:ext>
            </a:extLst>
          </p:cNvPr>
          <p:cNvPicPr>
            <a:picLocks noChangeAspect="1" noGrp="1"/>
          </p:cNvPicPr>
          <p:nvPr>
            <p:ph idx="13" sz="quarter"/>
          </p:nvPr>
        </p:nvPicPr>
        <p:blipFill>
          <a:blip r:embed="rId2"/>
          <a:stretch>
            <a:fillRect/>
          </a:stretch>
        </p:blipFill>
        <p:spPr>
          <a:xfrm>
            <a:off x="2552700" y="1371600"/>
            <a:ext cx="4038600" cy="375058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43163341"/>
      </p:ext>
    </p:extLst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wordlist module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DFAC07-844F-4290-AF6F-B9E22A48A37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random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List of words from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http://www.free-teacher-worksheets.com/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words = [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"aardvark",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"air",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"zipper",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"zoo"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get_random_word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word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random.choice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(words)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word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219196689"/>
      </p:ext>
    </p:extLst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hangman module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23D25C-428E-4B65-ADDF-D3603D99BB8C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wordlist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Get a random word from the word list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word =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wordlist.get_random_word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word.upper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Add spaces between letters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add_spaces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(word):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word_with_spaces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 ".join(word)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word_with_spaces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Draw the display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draw_screen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num_wrong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num_guesses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guessed_letters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displayed_word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print("-" * 79)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print("Word:",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add_spaces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displayed_word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"  Guesses:",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num_guesses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"  Wrong:",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num_wrong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"  Tried:",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add_spaces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guessed_letters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856511768"/>
      </p:ext>
    </p:extLst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hangman module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CA2EF6-08CD-44DD-8E19-B4967FAF4577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Get next letter from user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get_letter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guessed_letters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guess = input("Enter a letter: ").strip().upper()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# Make sure the user enters a letter and only one letter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guess == "" or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(guess) &gt; 1: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print("Invalid entry. 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"Please enter one and only one letter.")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continue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# Don't let the user try the same letter more than once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guess in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guessed_letters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print("You already tried that letter.")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continue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return guess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01387193"/>
      </p:ext>
    </p:extLst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hangman module (part 3)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46D135-DC17-4A78-8FCB-E2AC6CF5A5F7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The input/process/draw technique is common in game programming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play_game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 =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get_word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word_length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(word)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remaining_letters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word_length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displayed_word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"_" *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word_length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num_wrong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0       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num_guesses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guessed_letters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draw_screen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num_wrong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num_guesses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guessed_letters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displayed_word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876781231"/>
      </p:ext>
    </p:extLst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hangman module (part 4)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DA2D96-7529-4C7A-8E7A-AD71A1F1D09D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num_wrong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&lt; 10 and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remaining_letters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&gt; 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guess =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get_letter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guessed_letters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guessed_letters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+= guess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pos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word.find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(guess, 0)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pos != -1: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displayed_word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remaining_letters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word_length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for char in word: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if char in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guessed_letters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displayed_word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+= char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remaining_letters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-=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displayed_word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+= "_"      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num_wrong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+=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num_guesses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+=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draw_screen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num_wrong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num_guesses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guessed_letters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displayed_word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816307364"/>
      </p:ext>
    </p:extLst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hangman module (part 5)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8C3584-1EC4-4E05-A2C7-CB4E865FFF7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print("-" * 79)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if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remaining_letters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== 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f"Congratulations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! You got it in" {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num_guesses</a:t>
            </a:r>
            <a:r>
              <a:rPr b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 "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f"guesses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.")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else: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print("Sorry, you lost.")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f"The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word was: {word}")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print("Play the H A N G M A N game")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again = "y"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again.lower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"y":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play_game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print()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again = input("Do you want to play again (y/n)?: ")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print("Bye!")</a:t>
            </a:r>
          </a:p>
          <a:p>
            <a:pPr marL="341313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__name__ == "__main__":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main()</a:t>
            </a:r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C10,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660907507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50B7D1D4-3F7E-4579-B166-09A2FAC5C745}" vid="{7C365D12-5A37-45DA-A43C-A906C0D97DD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1336</TotalTime>
  <Words>4546</Words>
  <Application>Microsoft Office PowerPoint</Application>
  <PresentationFormat>On-screen Show (4:3)</PresentationFormat>
  <Paragraphs>674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Arial Narrow</vt:lpstr>
      <vt:lpstr>Courier New</vt:lpstr>
      <vt:lpstr>Times New Roman</vt:lpstr>
      <vt:lpstr>Master slides_with_titles_logo</vt:lpstr>
      <vt:lpstr>Chapter 10</vt:lpstr>
      <vt:lpstr>Applied objectives</vt:lpstr>
      <vt:lpstr>Knowledge objectives</vt:lpstr>
      <vt:lpstr>Two built-in functions</vt:lpstr>
      <vt:lpstr>The ordinal value of a Unicode character</vt:lpstr>
      <vt:lpstr>How to access a character in a string</vt:lpstr>
      <vt:lpstr>How to slice a string</vt:lpstr>
      <vt:lpstr>How to use the repetition operator (*)</vt:lpstr>
      <vt:lpstr>How to use triple quotes  to create a multiline string</vt:lpstr>
      <vt:lpstr>How to use the in keyword to search a string</vt:lpstr>
      <vt:lpstr>Code that uses an if statement to check a search</vt:lpstr>
      <vt:lpstr>The syntax for looping through each character  in a string</vt:lpstr>
      <vt:lpstr>Basic string methods</vt:lpstr>
      <vt:lpstr>How to check if a string contains all digits</vt:lpstr>
      <vt:lpstr>How to change a string to title case</vt:lpstr>
      <vt:lpstr>How to align strings by using justification</vt:lpstr>
      <vt:lpstr>Four more methods of a string</vt:lpstr>
      <vt:lpstr>Find examples</vt:lpstr>
      <vt:lpstr>Replace examples</vt:lpstr>
      <vt:lpstr>Remove examples</vt:lpstr>
      <vt:lpstr>The user interface  for the Create Account program</vt:lpstr>
      <vt:lpstr>The code for the Create Account program (part 1)</vt:lpstr>
      <vt:lpstr>The code for the Create Account program (part 2)</vt:lpstr>
      <vt:lpstr>The code for the Create Account program (part 3)</vt:lpstr>
      <vt:lpstr>The split() method of a string</vt:lpstr>
      <vt:lpstr>How to split a string on whitespace</vt:lpstr>
      <vt:lpstr>How to split a date on a delimiter</vt:lpstr>
      <vt:lpstr>How to split a row of data on a delimiter</vt:lpstr>
      <vt:lpstr>How to split a name into two parts</vt:lpstr>
      <vt:lpstr>How to join strings with the + and += operators</vt:lpstr>
      <vt:lpstr>The join() method of a string</vt:lpstr>
      <vt:lpstr>How to join the items of a list</vt:lpstr>
      <vt:lpstr>How to join the characters in a string</vt:lpstr>
      <vt:lpstr>A common error when using the join() method</vt:lpstr>
      <vt:lpstr>The console</vt:lpstr>
      <vt:lpstr>The data in the text file  after one record has been added to it</vt:lpstr>
      <vt:lpstr>The code for the write_movies  and read_movies functions</vt:lpstr>
      <vt:lpstr>The user interface for the Word Counter program</vt:lpstr>
      <vt:lpstr>The code for Word Counter program (part 1)</vt:lpstr>
      <vt:lpstr>The code for Word Counter program (part 2)</vt:lpstr>
      <vt:lpstr>The user interface for the Hangman game</vt:lpstr>
      <vt:lpstr>The hierarchy chart for the Hangman game</vt:lpstr>
      <vt:lpstr>The wordlist module</vt:lpstr>
      <vt:lpstr>The hangman module (part 1)</vt:lpstr>
      <vt:lpstr>The hangman module (part 2)</vt:lpstr>
      <vt:lpstr>The hangman module (part 3)</vt:lpstr>
      <vt:lpstr>The hangman module (part 4)</vt:lpstr>
      <vt:lpstr>The hangman module (part 5)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2019-07-24T21:44:02Z</dcterms:created>
  <dc:creator>Bethany Cabrera</dc:creator>
  <cp:lastModifiedBy>Anne Boehm</cp:lastModifiedBy>
  <cp:lastPrinted>2016-01-14T23:03:16Z</cp:lastPrinted>
  <dcterms:modified xsi:type="dcterms:W3CDTF">2021-03-18T16:11:05Z</dcterms:modified>
  <cp:revision>36</cp:revision>
  <dc:title>Chapter 10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ReadingOrderVerifiedPages">
    <vt:lpwstr>2,3,4,5,6,7,8,9,10,11,12,13,14,15,16,17,18,19,20,21,22,23,24,25,26,27,28,29,30,31,32,33,34,35,36,37,38,39,40,41,43,44,45,46,47,48</vt:lpwstr>
  </property>
</Properties>
</file>