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2"/>
  </p:notesMasterIdLst>
  <p:handoutMasterIdLst>
    <p:handoutMasterId r:id="rId33"/>
  </p:handoutMasterIdLst>
  <p:sldIdLst>
    <p:sldId id="256" r:id="rId2"/>
    <p:sldId id="324" r:id="rId3"/>
    <p:sldId id="353" r:id="rId4"/>
    <p:sldId id="325" r:id="rId5"/>
    <p:sldId id="326" r:id="rId6"/>
    <p:sldId id="327" r:id="rId7"/>
    <p:sldId id="328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15" autoAdjust="0"/>
    <p:restoredTop sz="86452" autoAdjust="0"/>
  </p:normalViewPr>
  <p:slideViewPr>
    <p:cSldViewPr>
      <p:cViewPr varScale="1">
        <p:scale>
          <a:sx n="111" d="100"/>
          <a:sy n="111" d="100"/>
        </p:scale>
        <p:origin x="11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notesMasters/notesMaster1.xml" Type="http://schemas.openxmlformats.org/officeDocument/2006/relationships/notesMaster"/><Relationship Id="rId33" Target="handoutMasters/handoutMaster1.xml" Type="http://schemas.openxmlformats.org/officeDocument/2006/relationships/handoutMaster"/><Relationship Id="rId34" Target="presProps.xml" Type="http://schemas.openxmlformats.org/officeDocument/2006/relationships/presProps"/><Relationship Id="rId35" Target="viewProps.xml" Type="http://schemas.openxmlformats.org/officeDocument/2006/relationships/viewProps"/><Relationship Id="rId36" Target="theme/theme1.xml" Type="http://schemas.openxmlformats.org/officeDocument/2006/relationships/theme"/><Relationship Id="rId37" Target="tableStyles.xml" Type="http://schemas.openxmlformats.org/officeDocument/2006/relationships/tableStyles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3/18/2021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Console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457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9029" y="4047587"/>
            <a:ext cx="6934200" cy="4572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42471F-F368-4C09-B277-1AA4669265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571" y="4633947"/>
            <a:ext cx="7391400" cy="457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59A4449-EAA7-40FC-98DA-A1CEDC63F0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95400" y="5334000"/>
            <a:ext cx="6934200" cy="4572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724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C8,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08787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6" r:id="rId6"/>
    <p:sldLayoutId id="2147483681" r:id="rId7"/>
    <p:sldLayoutId id="2147483674" r:id="rId8"/>
    <p:sldLayoutId id="2147483676" r:id="rId9"/>
    <p:sldLayoutId id="2147483675" r:id="rId10"/>
    <p:sldLayoutId id="2147483684" r:id="rId11"/>
    <p:sldLayoutId id="2147483685" r:id="rId1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Chapter 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24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handle </a:t>
            </a:r>
            <a:b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exceptions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56CE0-B3A8-4EA4-A352-F061843E350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dirty="0" lang="en-US" sz="1400">
              <a:latin typeface="Times New Roman"/>
            </a:endParaRPr>
          </a:p>
          <a:p>
            <a:pPr>
              <a:defRPr/>
            </a:pPr>
            <a:r>
              <a:rPr dirty="0" lang="en-US">
                <a:solidFill>
                  <a:schemeClr val="bg1"/>
                </a:solidFill>
              </a:rPr>
              <a:t>C8,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Applied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F4075E-BDD8-4561-A136-8B9B61EFA28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Add the proper level of exception handling to your programs.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Use raise statements to test the exception handling in your programs.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536488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Knowledge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FDAA48-1D56-4CAA-A536-89A69FF7138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  <a:tab algn="l" pos="347345"/>
                <a:tab algn="l" pos="365760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types of exceptions that need to be handled by a program.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operation of a try statement with one or more except clauses.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use of an exception object in your exception handling routines.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use of the exit() function in the sys module.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startAt="5" type="arabicPeriod"/>
              <a:tabLst>
                <a:tab algn="l" pos="347345"/>
                <a:tab algn="l" pos="365760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use of a finally clause in a try statement. 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startAt="5" type="arabicPeriod"/>
              <a:tabLst>
                <a:tab algn="l" pos="347345"/>
                <a:tab algn="l" pos="365760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Explain why you may need to raise exceptions when testing your exception handling routines. 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74122564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can cause a </a:t>
            </a:r>
            <a:r>
              <a:rPr dirty="0" err="1" lang="en-US"/>
              <a:t>ValueError</a:t>
            </a:r>
            <a:r>
              <a:rPr dirty="0" lang="en-US"/>
              <a:t> exception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80D423-CDC5-4730-96DA-F9465B125AF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799"/>
            <a:ext cx="7696200" cy="149673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 = int(input("Enter an integer: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f"You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entered a valid integer of {number}.")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print("Thanks!")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for a valid integer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45CF9-7C4E-47BE-AF7C-4C0225F7AAF5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295400" y="2285999"/>
            <a:ext cx="6934200" cy="60960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an integer: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5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You entered a valid integer of 5.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Thanks!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4D3092-CA9A-4B29-9411-06BC8E855AB6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38200" y="3048000"/>
            <a:ext cx="7391400" cy="515249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for an invalid integer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C6536C4-DBF0-425E-9697-092224084DD6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3505201"/>
            <a:ext cx="6934200" cy="106679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an integer: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five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Traceback (most recent call last):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File "C:\murach\python\book_figs\ch07\fig1.py", line 1, in &lt;module&gt;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number = int(input("Enter a valid integer: "))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invalid literal for int() with base 10: 'five'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3654048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Two functions that can cause a </a:t>
            </a:r>
            <a:r>
              <a:rPr dirty="0" err="1" lang="en-US"/>
              <a:t>ValueError</a:t>
            </a:r>
            <a:r>
              <a:rPr dirty="0" lang="en-US"/>
              <a:t> exception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78D689-6F99-47F3-999D-31DB671D46B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524000"/>
            <a:ext cx="7391400" cy="4419600"/>
          </a:xfrm>
        </p:spPr>
        <p:txBody>
          <a:bodyPr/>
          <a:lstStyle/>
          <a:p>
            <a:pPr indent="-2060575" marL="2060575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9718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Function	Reason for exception</a:t>
            </a:r>
          </a:p>
          <a:p>
            <a:pPr indent="-2060575" marL="2060575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9718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int(</a:t>
            </a:r>
            <a:r>
              <a:rPr b="1" dirty="0" i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data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Can’t convert the data argument to an int value.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2060575" marL="2060575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9718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float(</a:t>
            </a:r>
            <a:r>
              <a:rPr b="1" dirty="0" i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data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Can’t convert the data argument to a float value.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76448048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9808"/>
          </a:xfrm>
        </p:spPr>
        <p:txBody>
          <a:bodyPr/>
          <a:lstStyle/>
          <a:p>
            <a:r>
              <a:rPr dirty="0" lang="en-US"/>
              <a:t>The syntax for a try statement </a:t>
            </a:r>
            <a:br>
              <a:rPr dirty="0" lang="en-US"/>
            </a:br>
            <a:r>
              <a:rPr dirty="0" lang="en-US"/>
              <a:t>that catches an exception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945286-261C-42BC-AB10-374506E273A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6100987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handle a </a:t>
            </a:r>
            <a:r>
              <a:rPr dirty="0" err="1" lang="en-US"/>
              <a:t>ValueError</a:t>
            </a:r>
            <a:r>
              <a:rPr dirty="0" lang="en-US"/>
              <a:t> exception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5B8C4F-921B-43F9-A22F-CC8EB5D748E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1"/>
            <a:ext cx="7391400" cy="1778886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number = int(input("Enter an integer: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f"You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entered a valid integer of {number}.")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print("You entered an invalid integer. 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print("Thanks!")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for a valid integer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E2F28E-859C-4817-9821-DED6545AE338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302657" y="2895600"/>
            <a:ext cx="6012543" cy="762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an integer: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5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You entered a valid integer of 5.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Thanks!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1D54CD-8D62-471B-A8AE-EDAE4C739787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38200" y="3762913"/>
            <a:ext cx="7391400" cy="3810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for an invalid integer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5CE233-77D2-4DD7-89C0-04651A1F3700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191001"/>
            <a:ext cx="6019800" cy="76199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an integer: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five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You entered an invalid integer. Please try again.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Thanks!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3336921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handle all exceptions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EE50FA-DCB6-426A-9701-2A7974DE05A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6962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number = int(input("Enter an integer: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f"You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entered a valid integer of {number}.")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print("You entered an invalid integer. 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print("Thanks!")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9320709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1792"/>
            <a:ext cx="7391400" cy="365760"/>
          </a:xfrm>
        </p:spPr>
        <p:txBody>
          <a:bodyPr/>
          <a:lstStyle/>
          <a:p>
            <a:r>
              <a:rPr dirty="0" lang="en-US"/>
              <a:t>The user interface for the Total Calculator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A78F99-CE28-41B5-948F-909AA2E0B8A4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6019800" cy="3048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Total Calculator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price: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ten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Invalid decimal number. Please try again.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price: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9.99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quantity: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Invalid integer. Please try again.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quantity: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PRICE:    9.99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QUANTITY: 3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TOTAL:    29.97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9320376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Total Calculator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715068-1F22-4536-B606-4272C2C976C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get_price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price = float(input("Enter price: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price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decimal number. 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get_quantity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quantity = int(input("Enter quantity: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quantity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integer. Please try again.")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9889593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Total Calculator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7D18B8-4527-49CA-A52F-AB63E0435FC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Total Calculator program\n")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get the price and quantity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price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get_price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quantity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get_quantity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calculate the total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total = price * quantity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display the results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("PRICE:    ", </a:t>
            </a:r>
            <a:r>
              <a:rPr b="1" dirty="0" err="1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price</a:t>
            </a: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("QUANTITY: ", </a:t>
            </a:r>
            <a:r>
              <a:rPr b="1" dirty="0" err="1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quantity</a:t>
            </a: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fr-FR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print("TOTAL:    ", total)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0532627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hierarchy for five common exceptions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7285A8-A88A-44F8-A386-DD7B40A1FF6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FileExistsError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0547734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The syntax for a try statement </a:t>
            </a:r>
            <a:br>
              <a:rPr dirty="0" lang="en-US"/>
            </a:br>
            <a:r>
              <a:rPr dirty="0" lang="en-US"/>
              <a:t>with multiple except clauses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FA2207-D9CB-44CF-9125-D2DB8BB58CD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524000"/>
            <a:ext cx="7391400" cy="4419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[except 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 ...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9095634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handles multiple exceptions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CA97E2-919D-4580-8DD0-C938D578904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990601"/>
            <a:ext cx="7391400" cy="3048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input("Enter filename: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line =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(line)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f"Could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not find the file named {filename}")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print("File found - error reading file")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print("An unexpected error occurred")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when a </a:t>
            </a:r>
            <a:r>
              <a:rPr b="1" dirty="0" err="1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 occurs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C51607-A64D-4122-BF07-E32CE281E6A3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295400" y="4069080"/>
            <a:ext cx="5105400" cy="2743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Could not find the file named films.txt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487504-63A4-4FB8-AA45-9D1EAC443A89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38200" y="4419600"/>
            <a:ext cx="7391400" cy="457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when an </a:t>
            </a:r>
            <a:r>
              <a:rPr b="1" dirty="0" err="1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 occurs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353265-997F-4C85-A294-16EE554580F4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9029" y="4831080"/>
            <a:ext cx="5101771" cy="2743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 found – error reading file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8E6359-9B37-4BC6-8588-0A45CC986848}"/>
              </a:ext>
            </a:extLst>
          </p:cNvPr>
          <p:cNvSpPr>
            <a:spLocks noGrp="1"/>
          </p:cNvSpPr>
          <p:nvPr>
            <p:ph idx="18" sz="quarter" type="body"/>
          </p:nvPr>
        </p:nvSpPr>
        <p:spPr>
          <a:xfrm>
            <a:off x="834571" y="5181600"/>
            <a:ext cx="7391400" cy="40424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when any other Exception occurs</a:t>
            </a:r>
          </a:p>
          <a:p>
            <a:endParaRPr dirty="0"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0B76F0-62A5-4BC3-9EBD-74EC0330F23B}"/>
              </a:ext>
            </a:extLst>
          </p:cNvPr>
          <p:cNvSpPr>
            <a:spLocks noGrp="1"/>
          </p:cNvSpPr>
          <p:nvPr>
            <p:ph idx="19" sz="quarter" type="body"/>
          </p:nvPr>
        </p:nvSpPr>
        <p:spPr>
          <a:xfrm>
            <a:off x="1295400" y="5572778"/>
            <a:ext cx="5105400" cy="2743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An unexpected error occurred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153188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built-in type()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AFA600-BA72-46A1-83D0-7921287DC5D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type(</a:t>
            </a:r>
            <a:r>
              <a:rPr b="1" dirty="0" i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object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exit() function of the sys module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exit()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57587193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complete syntax for the except clause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2F03CC-0CDF-419A-AEFB-83D4224693D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4953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[</a:t>
            </a:r>
            <a:r>
              <a:rPr b="1" dirty="0" err="1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 [as </a:t>
            </a: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statements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handles multiple exceptions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sys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input("Enter filename: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line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(line)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as 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:",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sys.exit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as 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:",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sys.exit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Exception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as 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en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type</a:t>
            </a:r>
            <a:r>
              <a:rPr b="1" dirty="0" lang="en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(e)</a:t>
            </a:r>
            <a:r>
              <a:rPr b="1" dirty="0" lang="en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lang="en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</a:t>
            </a:r>
            <a:r>
              <a:rPr b="1" dirty="0" lang="en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sys.exit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11273160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console when a </a:t>
            </a:r>
            <a:r>
              <a:rPr dirty="0" err="1" lang="en-US"/>
              <a:t>FileNotFoundError</a:t>
            </a:r>
            <a:r>
              <a:rPr dirty="0" lang="en-US"/>
              <a:t> occurs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9AC043-898E-4B7F-B30E-1534A37A3CF7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295400" y="1143000"/>
            <a:ext cx="6934200" cy="59230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[</a:t>
            </a: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Errno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2] No such file or directory: 'films'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0A2948-BE9D-4D1E-8568-0C4A558C3F7D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38200" y="1975935"/>
            <a:ext cx="73914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 when an </a:t>
            </a:r>
            <a:r>
              <a:rPr b="1" dirty="0" err="1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 occurs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0CB248-E71A-45A4-AE78-CA2961F480B0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514600"/>
            <a:ext cx="6934200" cy="35188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[</a:t>
            </a: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Errno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13] Permission denied: 'movies.csv'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65267373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9808"/>
          </a:xfrm>
        </p:spPr>
        <p:txBody>
          <a:bodyPr/>
          <a:lstStyle/>
          <a:p>
            <a:r>
              <a:rPr dirty="0" lang="en-US"/>
              <a:t>The user interface for the Movie List 2.0 program </a:t>
            </a:r>
            <a:br>
              <a:rPr dirty="0" lang="en-US"/>
            </a:br>
            <a:r>
              <a:rPr dirty="0" lang="en-US"/>
              <a:t>with exception handling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5EEC58-A54A-4837-A13D-BF57878B4CF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447800"/>
            <a:ext cx="6477000" cy="4419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Delete a movie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 - Exit program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 (1975)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 (1958)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 (1954)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4. Gone with the Wind (1939)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5. Wizard of Oz (1939)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x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Invalid integer. Please try again.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6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There is no movie with that number. Please try again.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Number: </a:t>
            </a:r>
            <a:r>
              <a:rPr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 was deleted.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29724556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 console that handles a file I/O exception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66BA49-72A3-4883-9E92-F9B0A719CA10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6019800" cy="2133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Delete a 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 - Exit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Could not find movies.csv file.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Terminating program.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31408387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CDEE75-C96A-449F-A209-75059B5B99E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csv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sys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"movies.csv"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reader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f"Could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not find {FILENAME} file.")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exit_program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Exception as e: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print(type(e), 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exit_program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5758545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BD70F7-B25A-40F9-BB04-6F26F598860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with open(FILENAME, "w",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writer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csv.writer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writer.writerows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Exception as e: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print(type(e), 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exit_program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exit_program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print("Terminating program.")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sys.exit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01154172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A5D0BE-173F-41F9-B6A1-A71ED7DC991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index = int(input("Number: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integer. 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index &lt; 1 or index &gt;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print("There is no movie with that number. " +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"Please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break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movies.pop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(index - 1)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print(f"{movie[0]} was deleted.\n")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2504396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4)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745AAB-ABA4-4735-8401-B0AF67299F9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display_menu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command = input("Command: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"list":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"add":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add_movie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"del":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"exit":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break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print("Not a valid command. Please try again.\n")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print("Bye!")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82032160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complete syntax for a try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81398F-2943-4EF8-81AE-14CF4094243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 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 [as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[except 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 [as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[finally: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55672308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A function that uses a with statement </a:t>
            </a:r>
            <a:br>
              <a:rPr dirty="0" lang="en-US"/>
            </a:br>
            <a:r>
              <a:rPr dirty="0" lang="en-US"/>
              <a:t>to clean up resources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461E0F-3AB0-47A7-B872-CA983B4BBC9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572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except Exception as 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print(e)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664628814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A function that uses a finally clause </a:t>
            </a:r>
            <a:br>
              <a:rPr dirty="0" lang="en-US"/>
            </a:br>
            <a:r>
              <a:rPr dirty="0" lang="en-US"/>
              <a:t>to clean up resources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B4A36-F69B-444D-AAE5-97E326354AE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19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file = open(filename, newline="")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except Exception as 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print(type(e), 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finally: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file.close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except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FileNotFoundError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as 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print(e)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95905488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syntax for the raise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D60B62-56C2-45CD-92E4-A1496174F9B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raise 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ExceptionName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Error message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Raising a </a:t>
            </a:r>
            <a:r>
              <a:rPr b="1" dirty="0" err="1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 exception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raise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("Invalid value")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5736976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9808"/>
          </a:xfrm>
        </p:spPr>
        <p:txBody>
          <a:bodyPr/>
          <a:lstStyle/>
          <a:p>
            <a:r>
              <a:rPr dirty="0" lang="en-US"/>
              <a:t>Raising an exception </a:t>
            </a:r>
            <a:br>
              <a:rPr dirty="0" lang="en-US"/>
            </a:br>
            <a:r>
              <a:rPr dirty="0" lang="en-US"/>
              <a:t>for testing an exception handler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AE1C3D-E680-4196-9161-A52C5F48F7B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raise </a:t>
            </a:r>
            <a:r>
              <a:rPr b="1" dirty="0" err="1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</a:t>
            </a:r>
            <a:r>
              <a:rPr b="1" dirty="0" err="1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OSError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   # for testing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except Exception as 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en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type</a:t>
            </a:r>
            <a:r>
              <a:rPr b="1" dirty="0" lang="en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(e), e)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6479394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9808"/>
          </a:xfrm>
        </p:spPr>
        <p:txBody>
          <a:bodyPr/>
          <a:lstStyle/>
          <a:p>
            <a:r>
              <a:rPr dirty="0" lang="en-US"/>
              <a:t>Raising an exception that should be handled </a:t>
            </a:r>
            <a:br>
              <a:rPr dirty="0" lang="en-US"/>
            </a:br>
            <a:r>
              <a:rPr dirty="0" lang="en-US"/>
              <a:t>by the calling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80B911-7106-43C2-8B6C-C1396A67B87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524000"/>
            <a:ext cx="7391400" cy="4419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 == 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raise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("The filename argument is required.")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reader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movies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06187533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9808"/>
          </a:xfrm>
        </p:spPr>
        <p:txBody>
          <a:bodyPr/>
          <a:lstStyle/>
          <a:p>
            <a:r>
              <a:rPr dirty="0" lang="en-US"/>
              <a:t>Logging an exception and raising </a:t>
            </a:r>
            <a:br>
              <a:rPr dirty="0" lang="en-US"/>
            </a:br>
            <a:r>
              <a:rPr dirty="0" lang="en-US"/>
              <a:t>it for the calling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E5F21-A653-4E1E-B186-A1989DB449DF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try: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except Exception as 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log_exception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raise 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C8,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118627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92</TotalTime>
  <Words>2775</Words>
  <Application>Microsoft Office PowerPoint</Application>
  <PresentationFormat>On-screen Show (4:3)</PresentationFormat>
  <Paragraphs>460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Arial Narrow</vt:lpstr>
      <vt:lpstr>Courier New</vt:lpstr>
      <vt:lpstr>Times New Roman</vt:lpstr>
      <vt:lpstr>Master slides_with_titles_logo</vt:lpstr>
      <vt:lpstr>Chapter 8</vt:lpstr>
      <vt:lpstr>Applied objectives</vt:lpstr>
      <vt:lpstr>Knowledge objectives</vt:lpstr>
      <vt:lpstr>Code that can cause a ValueError exception</vt:lpstr>
      <vt:lpstr>Two functions that can cause a ValueError exception</vt:lpstr>
      <vt:lpstr>The syntax for a try statement  that catches an exception</vt:lpstr>
      <vt:lpstr>How to handle a ValueError exception</vt:lpstr>
      <vt:lpstr>How to handle all exceptions</vt:lpstr>
      <vt:lpstr>The user interface for the Total Calculator program</vt:lpstr>
      <vt:lpstr>The code for the Total Calculator program (part 1)</vt:lpstr>
      <vt:lpstr>The code for the Total Calculator program (part 2)</vt:lpstr>
      <vt:lpstr>The hierarchy for five common exceptions</vt:lpstr>
      <vt:lpstr>The syntax for a try statement  with multiple except clauses</vt:lpstr>
      <vt:lpstr>Code that handles multiple exceptions</vt:lpstr>
      <vt:lpstr>The built-in type() function</vt:lpstr>
      <vt:lpstr>The complete syntax for the except clause</vt:lpstr>
      <vt:lpstr>The console when a FileNotFoundError occurs</vt:lpstr>
      <vt:lpstr>The user interface for the Movie List 2.0 program  with exception handling</vt:lpstr>
      <vt:lpstr>A console that handles a file I/O exception</vt:lpstr>
      <vt:lpstr>The code for the Movie List 2.0 program (part 1)</vt:lpstr>
      <vt:lpstr>The code for the Movie List 2.0 program (part 2)</vt:lpstr>
      <vt:lpstr>The code for the Movie List 2.0 program (part 3)</vt:lpstr>
      <vt:lpstr>The code for the Movie List 2.0 program (part 4)</vt:lpstr>
      <vt:lpstr>The complete syntax for a try statement</vt:lpstr>
      <vt:lpstr>A function that uses a with statement  to clean up resources</vt:lpstr>
      <vt:lpstr>A function that uses a finally clause  to clean up resources</vt:lpstr>
      <vt:lpstr>The syntax for the raise statement</vt:lpstr>
      <vt:lpstr>Raising an exception  for testing an exception handler</vt:lpstr>
      <vt:lpstr>Raising an exception that should be handled  by the calling function</vt:lpstr>
      <vt:lpstr>Logging an exception and raising  it for the calling function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2019-07-24T21:23:45Z</dcterms:created>
  <dc:creator>Judy Taylor</dc:creator>
  <cp:lastModifiedBy>Anne Boehm</cp:lastModifiedBy>
  <cp:lastPrinted>2016-01-14T23:03:16Z</cp:lastPrinted>
  <dcterms:modified xsi:type="dcterms:W3CDTF">2021-03-18T16:08:29Z</dcterms:modified>
  <cp:revision>16</cp:revision>
  <dc:title>Chapter 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2,3,4,5,6,7,8,9,10,11,12,13,14,15,16,17,18,19,20,21,22,23,24,25,26,27,28,29,30</vt:lpwstr>
  </property>
</Properties>
</file>