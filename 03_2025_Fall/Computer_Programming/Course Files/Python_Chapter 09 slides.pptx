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29"/>
  </p:notesMasterIdLst>
  <p:handoutMasterIdLst>
    <p:handoutMasterId r:id="rId30"/>
  </p:handoutMasterIdLst>
  <p:sldIdLst>
    <p:sldId id="256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34" autoAdjust="0"/>
    <p:restoredTop sz="86452" autoAdjust="0"/>
  </p:normalViewPr>
  <p:slideViewPr>
    <p:cSldViewPr>
      <p:cViewPr varScale="1">
        <p:scale>
          <a:sx n="111" d="100"/>
          <a:sy n="111" d="100"/>
        </p:scale>
        <p:origin x="11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notesMasters/notesMaster1.xml" Type="http://schemas.openxmlformats.org/officeDocument/2006/relationships/notesMaster"/><Relationship Id="rId3" Target="slides/slide2.xml" Type="http://schemas.openxmlformats.org/officeDocument/2006/relationships/slide"/><Relationship Id="rId30" Target="handoutMasters/handoutMaster1.xml" Type="http://schemas.openxmlformats.org/officeDocument/2006/relationships/handoutMaster"/><Relationship Id="rId31" Target="presProps.xml" Type="http://schemas.openxmlformats.org/officeDocument/2006/relationships/presProps"/><Relationship Id="rId32" Target="viewProps.xml" Type="http://schemas.openxmlformats.org/officeDocument/2006/relationships/viewProps"/><Relationship Id="rId33" Target="theme/theme1.xml" Type="http://schemas.openxmlformats.org/officeDocument/2006/relationships/theme"/><Relationship Id="rId34" Target="tableStyles.xml" Type="http://schemas.openxmlformats.org/officeDocument/2006/relationships/tableStyles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3/22/2021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gur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Programming (2nd Ed.)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C9,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05913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Programming (2nd Ed.)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3" r:id="rId5"/>
    <p:sldLayoutId id="2147483681" r:id="rId6"/>
    <p:sldLayoutId id="2147483674" r:id="rId7"/>
    <p:sldLayoutId id="2147483676" r:id="rId8"/>
    <p:sldLayoutId id="2147483675" r:id="rId9"/>
    <p:sldLayoutId id="2147483684" r:id="rId10"/>
    <p:sldLayoutId id="2147483685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Chapter 9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24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work </a:t>
            </a:r>
            <a:b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dirty="0" lang="en-US">
                <a:solidFill>
                  <a:srgbClr val="000000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with numbers</a:t>
            </a:r>
          </a:p>
          <a:p>
            <a:endParaRPr dirty="0" lang="en-US"/>
          </a:p>
        </p:txBody>
      </p:sp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  <a:endParaRPr dirty="0"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5269A-1870-426E-BC40-BB78962BCF95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l">
              <a:defRPr/>
            </a:pPr>
            <a:endParaRPr dirty="0" lang="en-US" sz="1400">
              <a:latin typeface="Times New Roman"/>
            </a:endParaRPr>
          </a:p>
          <a:p>
            <a:pPr>
              <a:defRPr/>
            </a:pPr>
            <a:r>
              <a:rPr dirty="0" lang="en-US">
                <a:solidFill>
                  <a:schemeClr val="bg1"/>
                </a:solidFill>
              </a:rPr>
              <a:t>C9,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dirty="0"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DC7C71-E839-49CC-933A-9A88ADBF0FD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Applied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Code, test, and debug programs that work with numbers. That includes the use of: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the math module 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f-strings for formatting numbers 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the locale module for formatting currency values for specific countries</a:t>
            </a:r>
            <a:b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</a:b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the decimal module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Knowledge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  <a:tab algn="l" pos="347345"/>
                <a:tab algn="l" pos="365760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how the use of floating-point numbers can lead to inaccurate results.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the purposes of the math, locale, and decimal modules.</a:t>
            </a:r>
          </a:p>
          <a:p>
            <a:pPr indent="-342900" lvl="0" marL="342900" marR="27432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tabLst>
                <a:tab algn="l" pos="347345"/>
              </a:tabLst>
            </a:pPr>
            <a:r>
              <a:rPr dirty="0" lang="en-US" spc="-10">
                <a:latin charset="0" panose="02020603050405020304" pitchFamily="18" typeface="Times New Roman"/>
                <a:ea charset="0" panose="02020603050405020304" pitchFamily="18" typeface="Times New Roman"/>
              </a:rPr>
              <a:t>Describe two ways to eliminate the types of errors that can occur when using floating-point numbers.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dirty="0" lang="en-US" sz="1100">
                <a:latin charset="0" panose="02020603050405020304" pitchFamily="18" typeface="Times New Roman"/>
                <a:ea charset="0" panose="02020603050405020304" pitchFamily="18" typeface="Times New Roman"/>
              </a:rPr>
              <a:t> 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2" name="Footer Placeholder 1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25364881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Two numeric data types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B9D1D3-9311-4D03-8E66-D48ECB02640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199" y="1066800"/>
            <a:ext cx="7405255" cy="4876800"/>
          </a:xfrm>
        </p:spPr>
        <p:txBody>
          <a:bodyPr/>
          <a:lstStyle/>
          <a:p>
            <a:pPr indent="-2119313" marL="2119313" marR="0">
              <a:spcBef>
                <a:spcPts val="600"/>
              </a:spcBef>
              <a:spcAft>
                <a:spcPts val="600"/>
              </a:spcAft>
              <a:tabLst>
                <a:tab algn="l" pos="1025525"/>
                <a:tab algn="l" pos="2514600"/>
                <a:tab algn="l" pos="2514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Type	Bytes	Use</a:t>
            </a:r>
          </a:p>
          <a:p>
            <a:pPr indent="-2119313" marL="2119313" marR="0">
              <a:spcBef>
                <a:spcPts val="600"/>
              </a:spcBef>
              <a:spcAft>
                <a:spcPts val="600"/>
              </a:spcAft>
              <a:tabLst>
                <a:tab algn="l" pos="1025525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int	4</a:t>
            </a:r>
            <a:r>
              <a:rPr b="1" dirty="0" lang="en-US" sz="28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	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Integers from -2,147,483,648 to 2,147,483,647.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2119313" marL="2119313" marR="0">
              <a:spcBef>
                <a:spcPts val="600"/>
              </a:spcBef>
              <a:spcAft>
                <a:spcPts val="600"/>
              </a:spcAft>
              <a:tabLst>
                <a:tab algn="l" pos="1025525"/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float</a:t>
            </a:r>
            <a:r>
              <a:rPr dirty="0" lang="en-US" sz="28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</a:t>
            </a: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</a:rPr>
              <a:t>8</a:t>
            </a:r>
            <a:r>
              <a:rPr dirty="0" lang="en-US" sz="28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Floating-point numbers from -1.7E308 to +1.7E308 with up to 16 significant digits.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Examples of float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21.5      # a positive float value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-124.82   # a negative float value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-3.7e-9   # floating-point notation for -0.0000000037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Variables that are assigned values </a:t>
            </a:r>
            <a:b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using scientific notation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value1 = 2.382E+5     # 2.382 * 10</a:t>
            </a:r>
            <a:r>
              <a:rPr b="1" baseline="30000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5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(or 238,200)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value2 = 3.25E-8      # 3.25 * 10</a:t>
            </a:r>
            <a:r>
              <a:rPr b="1" baseline="30000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-8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(or .0000000325)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7313966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An example of a floating-point error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8EE23B-0116-4257-9CAE-FAF76582920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799"/>
            <a:ext cx="7391400" cy="1491917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= 100.10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+= 100.10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+= 100.10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print("Balance =", balance)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</a:t>
            </a:r>
          </a:p>
          <a:p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02568-5FC2-4066-8D10-74AAD398C075}"/>
              </a:ext>
            </a:extLst>
          </p:cNvPr>
          <p:cNvSpPr>
            <a:spLocks noGrp="1"/>
          </p:cNvSpPr>
          <p:nvPr>
            <p:ph idx="16" sz="quarter" type="body"/>
          </p:nvPr>
        </p:nvSpPr>
        <p:spPr>
          <a:xfrm>
            <a:off x="1305339" y="2558716"/>
            <a:ext cx="5095461" cy="33688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= 300.29999999999995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CD408C-E0DC-4D22-B92A-3BD4E56CC212}"/>
              </a:ext>
            </a:extLst>
          </p:cNvPr>
          <p:cNvSpPr>
            <a:spLocks noGrp="1"/>
          </p:cNvSpPr>
          <p:nvPr>
            <p:ph idx="17" sz="quarter" type="body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 that fixes the floating-point error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= round(balance, 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print("Balance =", balance)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result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DB67E4-0EA8-4154-8944-553796FCC7FC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843562"/>
            <a:ext cx="5105400" cy="33803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Balance = 300.3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4007150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Some common functions of the math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60DBD2-AE20-4C03-A6BA-FCB19AF3038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pow(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pow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sqrt(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ceil(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floor(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A constant of the math module</a:t>
            </a: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pi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03737454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import the math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F7CF1C-2CF7-4E1A-9427-66922434FA3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543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math as m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pow() and sqrt() functions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(2, 3)      # 8.0 (the cube of 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m.sqrt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(16)       # 4.0 (square root)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(125, 1/3)  # 4.999999999999999 (cube root)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pi constant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radius = 12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circumference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m.pi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radius * 2    # 75.39822368615503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area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m.pi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m.pow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(radius, 2)       # 452.3893421169302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area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m.pi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radius**2              # 452.3893421169302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564129309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floor() and ceil() functions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88F86F-9359-4C19-AF2A-98FC85F87AA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m.floor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(12.545)     # 12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m.ceil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(12.545)      # 13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m.floor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(-3.432)     # -4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result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m.ceil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(-3.432)      # -3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ceil() function with decimal places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m.ceil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(2.0083)                    # 3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m.ceil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 * 10) / 10          # 2.1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m.ceil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 * 100) / 100        # 2.01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floor() function with decimal places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m.floor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(2.0083)                   # 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m.floor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 * 10) / 10         # 2.0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m.floor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(2.0083 * 1000) / 1000     # 2.008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181273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315200" cy="738664"/>
          </a:xfrm>
        </p:spPr>
        <p:txBody>
          <a:bodyPr/>
          <a:lstStyle/>
          <a:p>
            <a:r>
              <a:rPr dirty="0" lang="en-US"/>
              <a:t>The syntax of an f-string </a:t>
            </a:r>
            <a:br>
              <a:rPr dirty="0" lang="en-US"/>
            </a:br>
            <a:r>
              <a:rPr dirty="0" lang="en-US"/>
              <a:t>with a format specification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8ABC9E-64C0-46B8-ADB2-53640BB1F03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524000"/>
            <a:ext cx="7391400" cy="44196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"f{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value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format_specification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syntax of the format specification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field_width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comma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][.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decimal_places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][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type_code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5277921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Common type codes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8EDF9C-396E-4D39-8AD3-3A617E6DC28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indent="-1427163" marL="1427163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514600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Code	Meaning</a:t>
            </a:r>
          </a:p>
          <a:p>
            <a:pPr indent="-1427163" marL="1427163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Integer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427163" marL="1427163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Floating-point number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427163" marL="1427163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%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Percent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indent="-1427163" marL="1427163" marR="0">
              <a:spcBef>
                <a:spcPts val="600"/>
              </a:spcBef>
              <a:spcAft>
                <a:spcPts val="600"/>
              </a:spcAft>
              <a:tabLst>
                <a:tab algn="l" pos="2514600"/>
                <a:tab algn="l" pos="2514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</a:t>
            </a:r>
            <a:r>
              <a:rPr dirty="0" lang="en-US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Scientific notation</a:t>
            </a:r>
            <a:endParaRPr dirty="0" lang="en-US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tabLst>
                <a:tab algn="l" pos="2514600"/>
                <a:tab algn="l" pos="2514600"/>
              </a:tabLst>
            </a:pPr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854358086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F-strings with format specifications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92051C-2F10-4599-9741-C1E92291250A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fp_number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12345.6789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:.2f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# 12345.68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:,.2f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# 12,345.68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:15,.2f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#       12,345.68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:.2e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# 1.23e+04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fp_number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.12345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:.0%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# 12%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print(f"{fp_number</a:t>
            </a:r>
            <a:r>
              <a:rPr b="1" dirty="0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:.1%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# 12.3%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int_number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12345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int_number</a:t>
            </a:r>
            <a:r>
              <a:rPr b="1" dirty="0" err="1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:d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 # 12345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err="1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int_number</a:t>
            </a:r>
            <a:r>
              <a:rPr b="1" dirty="0" err="1" lang="en-US" sz="18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:,d</a:t>
            </a:r>
            <a:r>
              <a:rPr b="1" dirty="0" lang="en-US" sz="18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        # 12,345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92698485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How to format a string literal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0369B5-44F0-478F-994E-5DF1BB5A515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22385" y="1066800"/>
            <a:ext cx="7391400" cy="3733800"/>
          </a:xfrm>
        </p:spPr>
        <p:txBody>
          <a:bodyPr/>
          <a:lstStyle/>
          <a:p>
            <a:pPr marL="344488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enclose the literal in single quotes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'Description'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:15}")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b="1" dirty="0" lang="en-US" sz="240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use a variable in a format specification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spec = 15</a:t>
            </a:r>
          </a:p>
          <a:p>
            <a:pPr marL="344488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enclose the variable in brackets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print(f"{'Description':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{spec}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</a:t>
            </a:r>
          </a:p>
          <a:p>
            <a:pPr marL="0" marR="0">
              <a:spcBef>
                <a:spcPts val="1200"/>
              </a:spcBef>
              <a:spcAft>
                <a:spcPts val="300"/>
              </a:spcAft>
            </a:pPr>
            <a:r>
              <a:rPr b="1" dirty="0" lang="en-US" sz="2400">
                <a:solidFill>
                  <a:srgbClr val="000099"/>
                </a:solidFill>
                <a:effectLst/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use field widths to align results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print(f"{'Description'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:15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{'Price'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:&gt;10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{'Qty'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:&gt;5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print(f"{'Hammer'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:15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{9.99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:10.2f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 {3</a:t>
            </a:r>
            <a:r>
              <a:rPr b="1" dirty="0" lang="en-US" sz="16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:5d</a:t>
            </a: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}")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algn="l" pos="1371600"/>
                <a:tab algn="l" pos="2743200"/>
              </a:tabLst>
            </a:pPr>
            <a:r>
              <a:rPr b="1" dirty="0" lang="en-US" spc="-1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console</a:t>
            </a:r>
          </a:p>
          <a:p>
            <a:endParaRPr dirty="0"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5455FF-778E-481D-9B5D-26F08826759E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4452119"/>
            <a:ext cx="5105400" cy="65328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Description         Price  Qty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Hammer               9.99    3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6560972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Commonly used functions of the locale module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247B49-D2BE-4775-91BC-65883DDCC556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err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setlocale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category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locale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currency(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[,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grouping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 marL="347345" marR="274320">
              <a:spcBef>
                <a:spcPts val="0"/>
              </a:spcBef>
              <a:spcAft>
                <a:spcPts val="600"/>
              </a:spcAft>
            </a:pP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format(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format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num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[, </a:t>
            </a:r>
            <a:r>
              <a:rPr b="1" dirty="0" i="1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grouping</a:t>
            </a:r>
            <a:r>
              <a:rPr b="1" dirty="0" lang="en-US" spc="-10" sz="1600">
                <a:latin charset="0" panose="02070309020205020404" pitchFamily="49" typeface="Courier New"/>
                <a:ea charset="0" panose="02020603050405020304" pitchFamily="18" typeface="Times New Roman"/>
              </a:rPr>
              <a:t>])</a:t>
            </a:r>
            <a:endParaRPr dirty="0" lang="en-US" spc="-10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92680206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Codes for working with locales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CF77C7-B23C-46D6-B1F5-AB361359420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924800" cy="4876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2914650"/>
                <a:tab algn="l" pos="4225925"/>
                <a:tab algn="l" pos="5888038"/>
              </a:tabLst>
            </a:pP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					Currency</a:t>
            </a:r>
            <a:b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</a:br>
            <a:r>
              <a:rPr b="1" dirty="0" lang="en-US"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Locale	Short code	Long code	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2914650"/>
                <a:tab algn="l" pos="4225925"/>
                <a:tab algn="l" pos="5888038"/>
              </a:tabLst>
            </a:pP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English/United States	us		</a:t>
            </a:r>
            <a:r>
              <a:rPr dirty="0" err="1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en_US</a:t>
            </a: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$12,345.15</a:t>
            </a:r>
            <a:endParaRPr dirty="0" lang="en-US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2914650"/>
                <a:tab algn="l" pos="4225925"/>
                <a:tab algn="l" pos="5888038"/>
              </a:tabLst>
            </a:pP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English/United Kingdom	</a:t>
            </a:r>
            <a:r>
              <a:rPr dirty="0" err="1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uk</a:t>
            </a: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	</a:t>
            </a:r>
            <a:r>
              <a:rPr dirty="0" err="1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en_UK</a:t>
            </a: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£12,345.15</a:t>
            </a:r>
            <a:endParaRPr dirty="0" lang="en-US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algn="l" pos="800100"/>
                <a:tab algn="l" pos="2514600"/>
                <a:tab algn="l" pos="2914650"/>
                <a:tab algn="l" pos="4225925"/>
                <a:tab algn="l" pos="5888038"/>
              </a:tabLst>
            </a:pP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German/Germany	de		</a:t>
            </a:r>
            <a:r>
              <a:rPr dirty="0" err="1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de_DE</a:t>
            </a:r>
            <a:r>
              <a:rPr dirty="0" lang="en-US" sz="1600">
                <a:solidFill>
                  <a:srgbClr val="000000"/>
                </a:solidFill>
                <a:latin charset="0" panose="02020603050405020304" pitchFamily="18" typeface="Times New Roman"/>
                <a:ea charset="0" panose="02020603050405020304" pitchFamily="18" typeface="Times New Roman"/>
              </a:rPr>
              <a:t>	+12.345,15 €</a:t>
            </a:r>
            <a:endParaRPr dirty="0" lang="en-US" sz="1600">
              <a:latin charset="0" panose="02020603050405020304" pitchFamily="18" typeface="Times New Roman"/>
              <a:ea charset="0" panose="02020603050405020304" pitchFamily="18" typeface="Times New Roman"/>
            </a:endParaRPr>
          </a:p>
          <a:p>
            <a:pPr>
              <a:tabLst>
                <a:tab algn="l" pos="800100"/>
                <a:tab algn="l" pos="2514600"/>
                <a:tab algn="l" pos="2914650"/>
                <a:tab algn="l" pos="4225925"/>
                <a:tab algn="l" pos="5888038"/>
              </a:tabLst>
            </a:pPr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6463140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24988"/>
            <a:ext cx="7315200" cy="749808"/>
          </a:xfrm>
        </p:spPr>
        <p:txBody>
          <a:bodyPr/>
          <a:lstStyle/>
          <a:p>
            <a:r>
              <a:rPr dirty="0" lang="en-US"/>
              <a:t>How to import the locale module </a:t>
            </a:r>
            <a:br>
              <a:rPr dirty="0" lang="en-US"/>
            </a:br>
            <a:r>
              <a:rPr dirty="0" lang="en-US"/>
              <a:t>into the </a:t>
            </a:r>
            <a:r>
              <a:rPr dirty="0" err="1" lang="en-US"/>
              <a:t>lc</a:t>
            </a:r>
            <a:r>
              <a:rPr dirty="0" lang="en-US"/>
              <a:t> namespace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A6E5EF5-83A1-40C1-962E-F1BD308DB39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609600" y="1389244"/>
            <a:ext cx="83820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locale as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set the locale to English/United States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lc.setlocale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lc.LC_ALL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"us")        # Windows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lc.setlocale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lc.LC_ALL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en_US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     # macOS and Windows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set the locale on most Windows systems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lc.setlocale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lc.LC_ALL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"")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42254680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currency() function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CEBE9B-13AC-4D25-A73C-DDC9BF65084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8153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lc.currency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(12345.15, grouping=True))  # $12,345.15 (US)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The format() function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lc.format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("%d", 12345, grouping=True)) # 12,345    (US)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lc.format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("%.2f", 12345.15, grouping=True))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          # 12,345.15 (US)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71336867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7"/>
            <a:ext cx="7315200" cy="740664"/>
          </a:xfrm>
        </p:spPr>
        <p:txBody>
          <a:bodyPr/>
          <a:lstStyle/>
          <a:p>
            <a:r>
              <a:rPr dirty="0" lang="en-US"/>
              <a:t>The user interface for the Invoice program</a:t>
            </a:r>
            <a:br>
              <a:rPr dirty="0" lang="en-US"/>
            </a:br>
            <a:r>
              <a:rPr dirty="0" lang="en-US"/>
              <a:t>with incorrect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0216C3-7FC8-4668-84DA-3F96FA2EF961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524000"/>
            <a:ext cx="5105400" cy="22860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order total: </a:t>
            </a:r>
            <a:r>
              <a:rPr b="0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100.05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 total:            100.05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amount:         10.01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Subtotal:                90.05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 tax:                4.50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 total:           94.55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</a:t>
            </a:r>
            <a:endParaRPr b="1" dirty="0" lang="en-US" sz="16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3487674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that yields incorrect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F1E3E8-FF63-4150-8C5A-290F05C888BB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914400" y="959685"/>
            <a:ext cx="79248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float(input("Enter order total: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print() 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determine the discount percent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 0 and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100: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&gt;= 100 and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250: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.1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&gt;= 250: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.2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calculate the results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subtotal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discount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* .05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display the results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f"Order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total:      {order_total:10,.2f}")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f"Discount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amount:  {discount:10,.2f}")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f"Subtotal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        {subtotal:10,.2f}")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f"Sales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tax:        {sales_tax:10,.2f}")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f"Invoice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total:    {invoice_total:10,.2f}")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print()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77151329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that fixes this problem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4F6C1-7280-43E8-A333-45AF4D798B0E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# calculate the results with rounding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subtotal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discount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(subtotal * .05, 2)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invoice_total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+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18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648139606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7"/>
            <a:ext cx="7315200" cy="749808"/>
          </a:xfrm>
        </p:spPr>
        <p:txBody>
          <a:bodyPr/>
          <a:lstStyle/>
          <a:p>
            <a:r>
              <a:rPr dirty="0" lang="en-US"/>
              <a:t>The user interface for the Invoice program</a:t>
            </a:r>
            <a:br>
              <a:rPr dirty="0" lang="en-US"/>
            </a:br>
            <a:r>
              <a:rPr dirty="0" lang="en-US"/>
              <a:t>with correct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70681-5199-4A4B-8855-0418286ED112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524000"/>
            <a:ext cx="5105400" cy="2286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order total: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100.05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 total:            100.05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amount:         10.01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Subtotal:                90.04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 tax:                4.50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 total:           94.54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 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19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322869034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749808"/>
          </a:xfrm>
        </p:spPr>
        <p:txBody>
          <a:bodyPr/>
          <a:lstStyle/>
          <a:p>
            <a:r>
              <a:rPr dirty="0" lang="en-US"/>
              <a:t>How to create Decimal objects </a:t>
            </a:r>
            <a:br>
              <a:rPr dirty="0" lang="en-US"/>
            </a:br>
            <a:r>
              <a:rPr dirty="0" lang="en-US"/>
              <a:t>and use them in calculations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4167762-F24F-48B0-9C2A-A28D9306286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447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decimal import Decimal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Decimal("100.05")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Decimal(".1")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# 10.005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subtotal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discount          # 90.045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tax_percent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Decimal(".05")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tax_percent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#  4.50225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# 94.54725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test1 = subtotal * 2     # Legal. You can mix Decimal and int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test2 = subtotal * 3.5   # Error! You can't mix Decimal and float</a:t>
            </a: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20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856825082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syntax of the quantize() method </a:t>
            </a:r>
            <a:br>
              <a:rPr dirty="0" lang="en-US"/>
            </a:br>
            <a:r>
              <a:rPr dirty="0" lang="en-US"/>
              <a:t>of a Decimal object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B296CC-C4E1-4FBD-89FC-A0570BBD8BD2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914400" y="1182960"/>
            <a:ext cx="7848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object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.quantize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positions_code</a:t>
            </a:r>
            <a:r>
              <a:rPr b="1" dirty="0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)[,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i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rounding_constant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])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Three of the rounding constants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ROUND_HALF_UP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ROUND_HALF_DOWN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ROUND_HALF_EVEN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specify the number of decimal places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Decimal("10.005")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discount.quantize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</a:t>
            </a:r>
            <a:r>
              <a:rPr b="1" dirty="0" lang="en-US" sz="16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1.00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"))   # 10.00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algn="l" pos="1371600"/>
              </a:tabLst>
            </a:pPr>
            <a:r>
              <a:rPr b="1" dirty="0" lang="en-US" sz="2400">
                <a:solidFill>
                  <a:srgbClr val="000099"/>
                </a:solidFill>
                <a:latin charset="0" panose="020B0604020202020204" pitchFamily="34" typeface="Arial"/>
                <a:ea charset="0" panose="02020603050405020304" pitchFamily="18" typeface="Times New Roman"/>
                <a:cs charset="0" panose="02020603050405020304" pitchFamily="18" typeface="Times New Roman"/>
              </a:rPr>
              <a:t>How to override the default rounding mode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decimal import ROUND_HALF_UP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Decimal("10.005")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 = </a:t>
            </a:r>
            <a:r>
              <a:rPr b="1" dirty="0" err="1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discount.quantize</a:t>
            </a: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(Decimal("1.00"),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ROUND_HALF_UP)     # 10.01</a:t>
            </a:r>
          </a:p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21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18235519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Invoice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75872C-7DDB-4D71-AFB7-67169E17CB63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7724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decimal import Decimal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decimal import ROUND_HALF_UP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choice = "y"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while choice == "y":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get the user entry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(input("Enter order total:    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.quantize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(Decimal("1.00"), 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ROUND_HALF_UP)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              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determine the discount percent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if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 0 and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100: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Decimal("0")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&gt;= 100 and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&lt; 250: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Decimal(".1")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elif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&gt;= 250: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Decimal(".2")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22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183471314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Invoice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F215DC-8FA1-477A-8161-EBF6800784C4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80772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calculate the results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discount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discount_percent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discount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discount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.quantize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(Decimal("1.00"), ROUND_HALF_UP)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subtotal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order_total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- discount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tax_percent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Decimal(".05")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tax_percent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sales_tax.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quantize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(Decimal("1.00"), 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ROUND_HALF_UP)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invoice_total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subtotal +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sales_tax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# display the results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f"Order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total:      {order_total:10,}")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f"Discount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amount:  {discount:10,}")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f"Subtotal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         {subtotal:10,}")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f"Sales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tax:        {sales_tax:10,}")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err="1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f"Invoice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total:    {invoice_total:10,}")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choice = input("Continue? (y/n):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print("Bye!")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23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58731119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user interface for the Future Value program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D609D-6BDB-446C-893C-88F4ECBF33B3}"/>
              </a:ext>
            </a:extLst>
          </p:cNvPr>
          <p:cNvSpPr>
            <a:spLocks noGrp="1"/>
          </p:cNvSpPr>
          <p:nvPr>
            <p:ph idx="15" sz="quarter" type="body"/>
          </p:nvPr>
        </p:nvSpPr>
        <p:spPr>
          <a:xfrm>
            <a:off x="1295400" y="1143000"/>
            <a:ext cx="5105400" cy="2514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monthly investment: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100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yearly interest rate: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12.5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Enter number of years:      </a:t>
            </a:r>
            <a:r>
              <a:rPr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10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 investment:     $100.00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Interest rate:             12.5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Years:                       10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 value:        $23,938.13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600">
                <a:solidFill>
                  <a:srgbClr val="000000"/>
                </a:solidFill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Continue? (y/n): </a:t>
            </a:r>
            <a:endParaRPr b="1" dirty="0" lang="en-US" sz="16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6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24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57418441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Future Value program (part 1)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8945D5-065B-4CCF-9AA4-98B987D60191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from decimal import Decimal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import locale as 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yearly_interest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years):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monthly_interest_rate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yearly_interest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/ 12 / 100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months = years * 12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Decimal("0.00")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for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in range(months):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monthly_interest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*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monthly_interest_rate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+=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monthly_interest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err="1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.quantize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(Decimal("1.00"))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return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endParaRPr b="1" dirty="0" lang="en-US" sz="1400"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25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74787675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Future Value program (part 2)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8FDB7C-AA54-475D-8FA1-5F3CE474E700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def main():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choice = "y"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while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choice.lower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() == "y":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# convert user input to Decimal and int values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input("Enter monthly investment:  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yearly_interest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lang="en-US" sz="1400"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Decimal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input("Enter yearly interest rate: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years = int(input("Enter number of years:      "))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get_future_value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</a:t>
            </a:r>
            <a:r>
              <a:rPr b="1" dirty="0" err="1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yearly_interest</a:t>
            </a: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years)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print()</a:t>
            </a:r>
          </a:p>
          <a:p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26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99603963"/>
      </p:ext>
    </p:extLst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The code for the Future Value program (part 3)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25AFE4-4E94-408A-BB07-2230BDFD7A95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838200" y="1066800"/>
            <a:ext cx="7924800" cy="4876800"/>
          </a:xfrm>
        </p:spPr>
        <p:txBody>
          <a:bodyPr/>
          <a:lstStyle/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lc.setlocale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lc.LC_ALL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"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en_US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")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lc.currency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                              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grouping=True)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= 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lc.currency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(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, grouping=True)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    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s1 = 20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s2 = "&gt;10"</a:t>
            </a:r>
            <a:endParaRPr b="1" dirty="0" lang="en-US" sz="1400">
              <a:effectLst/>
              <a:latin charset="0" panose="02070309020205020404" pitchFamily="49" typeface="Courier New"/>
              <a:ea charset="0" panose="02020603050405020304" pitchFamily="18" typeface="Times New Roman"/>
              <a:cs charset="0" panose="02020603050405020304" pitchFamily="18" typeface="Times New Roman"/>
            </a:endParaRP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f"{'Monthly investment:':{s1}} {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monthly_investment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:{s2}}"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f"{'Interest rate:':{s1}} {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yearly_interest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:{s2}}"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f"{'Years:':{s1}} {years:{s2}}"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f"{'Future value:':{s1}} {</a:t>
            </a:r>
            <a:r>
              <a:rPr b="1" dirty="0" err="1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future_value</a:t>
            </a:r>
            <a:r>
              <a:rPr b="1" dirty="0" lang="en-US" sz="1400">
                <a:effectLst/>
                <a:highlight>
                  <a:srgbClr val="FFFF00"/>
                </a:highlight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:{s2}}"</a:t>
            </a: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)</a:t>
            </a:r>
          </a:p>
          <a:p>
            <a:pPr marL="344488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effectLst/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228600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choice = input("Continue? (y/n): ")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print()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 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if __name__ == "__main__":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algn="l" pos="1371600"/>
              </a:tabLst>
            </a:pPr>
            <a:r>
              <a:rPr b="1" dirty="0" lang="en-US" sz="1400">
                <a:latin charset="0" panose="02070309020205020404" pitchFamily="49" typeface="Courier New"/>
                <a:ea charset="0" panose="02020603050405020304" pitchFamily="18" typeface="Times New Roman"/>
                <a:cs charset="0" panose="02020603050405020304" pitchFamily="18" typeface="Times New Roman"/>
              </a:rPr>
              <a:t>    main()</a:t>
            </a:r>
            <a:endParaRPr dirty="0" lang="en-US" sz="1400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Programming (2nd Ed.)</a:t>
            </a:r>
            <a:endParaRPr dirty="0"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pPr>
              <a:defRPr/>
            </a:pPr>
            <a:r>
              <a:rPr lang="en-US" sz="1200"/>
              <a:t>© 2021,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charset="0" pitchFamily="34" typeface="Arial Narrow"/>
              </a:rPr>
              <a:t>C9, Slide </a:t>
            </a:r>
            <a:fld id="{5ECE9829-65B2-40C6-AEFF-7C648FF56A9C}" type="slidenum">
              <a:rPr lang="en-US" smtClean="0" sz="900">
                <a:solidFill>
                  <a:schemeClr val="bg1"/>
                </a:solidFill>
                <a:latin charset="0" pitchFamily="34" typeface="Arial Narrow"/>
              </a:rPr>
              <a:pPr algn="r">
                <a:defRPr/>
              </a:pPr>
              <a:t>27</a:t>
            </a:fld>
            <a:endParaRPr dirty="0" lang="en-US" sz="900">
              <a:solidFill>
                <a:schemeClr val="bg1"/>
              </a:solidFill>
              <a:latin charset="0" pitchFamily="34"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969067289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50B7D1D4-3F7E-4579-B166-09A2FAC5C745}" vid="{7C365D12-5A37-45DA-A43C-A906C0D97D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495</TotalTime>
  <Words>2969</Words>
  <Application>Microsoft Office PowerPoint</Application>
  <PresentationFormat>On-screen Show (4:3)</PresentationFormat>
  <Paragraphs>414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Narrow</vt:lpstr>
      <vt:lpstr>Courier New</vt:lpstr>
      <vt:lpstr>Times New Roman</vt:lpstr>
      <vt:lpstr>Master slides_with_titles_logo</vt:lpstr>
      <vt:lpstr>Chapter 9</vt:lpstr>
      <vt:lpstr>Objectives</vt:lpstr>
      <vt:lpstr>Two numeric data types</vt:lpstr>
      <vt:lpstr>An example of a floating-point error</vt:lpstr>
      <vt:lpstr>Some common functions of the math module</vt:lpstr>
      <vt:lpstr>How to import the math module</vt:lpstr>
      <vt:lpstr>The floor() and ceil() functions</vt:lpstr>
      <vt:lpstr>The syntax of an f-string  with a format specification</vt:lpstr>
      <vt:lpstr>Common type codes</vt:lpstr>
      <vt:lpstr>F-strings with format specifications</vt:lpstr>
      <vt:lpstr>How to format a string literal</vt:lpstr>
      <vt:lpstr>Commonly used functions of the locale module</vt:lpstr>
      <vt:lpstr>Codes for working with locales</vt:lpstr>
      <vt:lpstr>How to import the locale module  into the lc namespace</vt:lpstr>
      <vt:lpstr>The currency() function</vt:lpstr>
      <vt:lpstr>The user interface for the Invoice program with incorrect results</vt:lpstr>
      <vt:lpstr>The code that yields incorrect results</vt:lpstr>
      <vt:lpstr>The code that fixes this problem</vt:lpstr>
      <vt:lpstr>The user interface for the Invoice program with correct results</vt:lpstr>
      <vt:lpstr>How to create Decimal objects  and use them in calculations</vt:lpstr>
      <vt:lpstr>The syntax of the quantize() method  of a Decimal object</vt:lpstr>
      <vt:lpstr>The code for the Invoice program (part 1)</vt:lpstr>
      <vt:lpstr>The code for the Invoice program (part 2)</vt:lpstr>
      <vt:lpstr>The user interface for the Future Value program</vt:lpstr>
      <vt:lpstr>The code for the Future Value program (part 1)</vt:lpstr>
      <vt:lpstr>The code for the Future Value program (part 2)</vt:lpstr>
      <vt:lpstr>The code for the Future Value program (part 3)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2019-07-24T17:59:02Z</dcterms:created>
  <dc:creator>Bethany Cabrera</dc:creator>
  <cp:lastModifiedBy>Anne Boehm</cp:lastModifiedBy>
  <cp:lastPrinted>2016-01-14T23:03:16Z</cp:lastPrinted>
  <dcterms:modified xsi:type="dcterms:W3CDTF">2021-03-22T19:55:31Z</dcterms:modified>
  <cp:revision>28</cp:revision>
  <dc:title>Chapter 9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2,3,4,5,6,7,8,9,10,11,12,13,14,15,16,17,18,19,20,21,22,23,24,25,26,27</vt:lpwstr>
  </property>
</Properties>
</file>