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9" r:id="rId1"/>
  </p:sldMasterIdLst>
  <p:notesMasterIdLst>
    <p:notesMasterId r:id="rId36"/>
  </p:notesMasterIdLst>
  <p:handoutMasterIdLst>
    <p:handoutMasterId r:id="rId37"/>
  </p:handoutMasterIdLst>
  <p:sldIdLst>
    <p:sldId id="256" r:id="rId2"/>
    <p:sldId id="324" r:id="rId3"/>
    <p:sldId id="357" r:id="rId4"/>
    <p:sldId id="325" r:id="rId5"/>
    <p:sldId id="326" r:id="rId6"/>
    <p:sldId id="327" r:id="rId7"/>
    <p:sldId id="328" r:id="rId8"/>
    <p:sldId id="329" r:id="rId9"/>
    <p:sldId id="330" r:id="rId10"/>
    <p:sldId id="332" r:id="rId11"/>
    <p:sldId id="333" r:id="rId12"/>
    <p:sldId id="334" r:id="rId13"/>
    <p:sldId id="335" r:id="rId14"/>
    <p:sldId id="336" r:id="rId15"/>
    <p:sldId id="337" r:id="rId16"/>
    <p:sldId id="338" r:id="rId17"/>
    <p:sldId id="339" r:id="rId18"/>
    <p:sldId id="340" r:id="rId19"/>
    <p:sldId id="341" r:id="rId20"/>
    <p:sldId id="342" r:id="rId21"/>
    <p:sldId id="343" r:id="rId22"/>
    <p:sldId id="344" r:id="rId23"/>
    <p:sldId id="345" r:id="rId24"/>
    <p:sldId id="346" r:id="rId25"/>
    <p:sldId id="347" r:id="rId26"/>
    <p:sldId id="348" r:id="rId27"/>
    <p:sldId id="349" r:id="rId28"/>
    <p:sldId id="350" r:id="rId29"/>
    <p:sldId id="351" r:id="rId30"/>
    <p:sldId id="352" r:id="rId31"/>
    <p:sldId id="353" r:id="rId32"/>
    <p:sldId id="354" r:id="rId33"/>
    <p:sldId id="355" r:id="rId34"/>
    <p:sldId id="356" r:id="rId35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20396D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832" autoAdjust="0"/>
    <p:restoredTop sz="86452" autoAdjust="0"/>
  </p:normalViewPr>
  <p:slideViewPr>
    <p:cSldViewPr>
      <p:cViewPr varScale="1">
        <p:scale>
          <a:sx n="111" d="100"/>
          <a:sy n="111" d="100"/>
        </p:scale>
        <p:origin x="113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9.xml" Type="http://schemas.openxmlformats.org/officeDocument/2006/relationships/slide"/><Relationship Id="rId11" Target="slides/slide10.xml" Type="http://schemas.openxmlformats.org/officeDocument/2006/relationships/slide"/><Relationship Id="rId12" Target="slides/slide11.xml" Type="http://schemas.openxmlformats.org/officeDocument/2006/relationships/slide"/><Relationship Id="rId13" Target="slides/slide12.xml" Type="http://schemas.openxmlformats.org/officeDocument/2006/relationships/slide"/><Relationship Id="rId14" Target="slides/slide13.xml" Type="http://schemas.openxmlformats.org/officeDocument/2006/relationships/slide"/><Relationship Id="rId15" Target="slides/slide14.xml" Type="http://schemas.openxmlformats.org/officeDocument/2006/relationships/slide"/><Relationship Id="rId16" Target="slides/slide15.xml" Type="http://schemas.openxmlformats.org/officeDocument/2006/relationships/slide"/><Relationship Id="rId17" Target="slides/slide16.xml" Type="http://schemas.openxmlformats.org/officeDocument/2006/relationships/slide"/><Relationship Id="rId18" Target="slides/slide17.xml" Type="http://schemas.openxmlformats.org/officeDocument/2006/relationships/slide"/><Relationship Id="rId19" Target="slides/slide18.xml" Type="http://schemas.openxmlformats.org/officeDocument/2006/relationships/slide"/><Relationship Id="rId2" Target="slides/slide1.xml" Type="http://schemas.openxmlformats.org/officeDocument/2006/relationships/slide"/><Relationship Id="rId20" Target="slides/slide19.xml" Type="http://schemas.openxmlformats.org/officeDocument/2006/relationships/slide"/><Relationship Id="rId21" Target="slides/slide20.xml" Type="http://schemas.openxmlformats.org/officeDocument/2006/relationships/slide"/><Relationship Id="rId22" Target="slides/slide21.xml" Type="http://schemas.openxmlformats.org/officeDocument/2006/relationships/slide"/><Relationship Id="rId23" Target="slides/slide22.xml" Type="http://schemas.openxmlformats.org/officeDocument/2006/relationships/slide"/><Relationship Id="rId24" Target="slides/slide23.xml" Type="http://schemas.openxmlformats.org/officeDocument/2006/relationships/slide"/><Relationship Id="rId25" Target="slides/slide24.xml" Type="http://schemas.openxmlformats.org/officeDocument/2006/relationships/slide"/><Relationship Id="rId26" Target="slides/slide25.xml" Type="http://schemas.openxmlformats.org/officeDocument/2006/relationships/slide"/><Relationship Id="rId27" Target="slides/slide26.xml" Type="http://schemas.openxmlformats.org/officeDocument/2006/relationships/slide"/><Relationship Id="rId28" Target="slides/slide27.xml" Type="http://schemas.openxmlformats.org/officeDocument/2006/relationships/slide"/><Relationship Id="rId29" Target="slides/slide28.xml" Type="http://schemas.openxmlformats.org/officeDocument/2006/relationships/slide"/><Relationship Id="rId3" Target="slides/slide2.xml" Type="http://schemas.openxmlformats.org/officeDocument/2006/relationships/slide"/><Relationship Id="rId30" Target="slides/slide29.xml" Type="http://schemas.openxmlformats.org/officeDocument/2006/relationships/slide"/><Relationship Id="rId31" Target="slides/slide30.xml" Type="http://schemas.openxmlformats.org/officeDocument/2006/relationships/slide"/><Relationship Id="rId32" Target="slides/slide31.xml" Type="http://schemas.openxmlformats.org/officeDocument/2006/relationships/slide"/><Relationship Id="rId33" Target="slides/slide32.xml" Type="http://schemas.openxmlformats.org/officeDocument/2006/relationships/slide"/><Relationship Id="rId34" Target="slides/slide33.xml" Type="http://schemas.openxmlformats.org/officeDocument/2006/relationships/slide"/><Relationship Id="rId35" Target="slides/slide34.xml" Type="http://schemas.openxmlformats.org/officeDocument/2006/relationships/slide"/><Relationship Id="rId36" Target="notesMasters/notesMaster1.xml" Type="http://schemas.openxmlformats.org/officeDocument/2006/relationships/notesMaster"/><Relationship Id="rId37" Target="handoutMasters/handoutMaster1.xml" Type="http://schemas.openxmlformats.org/officeDocument/2006/relationships/handoutMaster"/><Relationship Id="rId38" Target="presProps.xml" Type="http://schemas.openxmlformats.org/officeDocument/2006/relationships/presProps"/><Relationship Id="rId39" Target="viewProps.xml" Type="http://schemas.openxmlformats.org/officeDocument/2006/relationships/viewProps"/><Relationship Id="rId4" Target="slides/slide3.xml" Type="http://schemas.openxmlformats.org/officeDocument/2006/relationships/slide"/><Relationship Id="rId40" Target="theme/theme1.xml" Type="http://schemas.openxmlformats.org/officeDocument/2006/relationships/theme"/><Relationship Id="rId41" Target="tableStyles.xml" Type="http://schemas.openxmlformats.org/officeDocument/2006/relationships/tableStyles"/><Relationship Id="rId5" Target="slides/slide4.xml" Type="http://schemas.openxmlformats.org/officeDocument/2006/relationships/slide"/><Relationship Id="rId6" Target="slides/slide5.xml" Type="http://schemas.openxmlformats.org/officeDocument/2006/relationships/slide"/><Relationship Id="rId7" Target="slides/slide6.xml" Type="http://schemas.openxmlformats.org/officeDocument/2006/relationships/slide"/><Relationship Id="rId8" Target="slides/slide7.xml" Type="http://schemas.openxmlformats.org/officeDocument/2006/relationships/slide"/><Relationship Id="rId9" Target="slides/slide8.xml" Type="http://schemas.openxmlformats.org/officeDocument/2006/relationships/slide"/></Relationships>
</file>

<file path=ppt/handoutMasters/_rels/handoutMaster1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633A84-D730-4DB1-B585-7559B92CE5D8}" type="datetimeFigureOut">
              <a:rPr lang="en-US"/>
              <a:pPr>
                <a:defRPr/>
              </a:pPr>
              <a:t>3/22/2021</a:t>
            </a:fld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C669EC8-97E7-4C24-A864-1853E7508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857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0" y="4415790"/>
            <a:ext cx="514096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2C5A2EE-74B4-4329-B2EC-6DFE0575E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55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numb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143000"/>
            <a:ext cx="7772400" cy="553998"/>
          </a:xfrm>
        </p:spPr>
        <p:txBody>
          <a:bodyPr lIns="0" tIns="0" rIns="0" bIns="0" anchor="t" anchorCtr="0">
            <a:spAutoFit/>
          </a:bodyPr>
          <a:lstStyle>
            <a:lvl1pPr>
              <a:defRPr sz="3600" b="1" i="0" baseline="0">
                <a:solidFill>
                  <a:srgbClr val="000099"/>
                </a:solidFill>
              </a:defRPr>
            </a:lvl1pPr>
          </a:lstStyle>
          <a:p>
            <a:r>
              <a:rPr lang="en-US" dirty="0"/>
              <a:t>Chapter number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05000" y="2209800"/>
            <a:ext cx="5334000" cy="2971800"/>
          </a:xfrm>
        </p:spPr>
        <p:txBody>
          <a:bodyPr/>
          <a:lstStyle>
            <a:lvl1pPr marL="0" indent="0" algn="ctr">
              <a:buNone/>
              <a:defRPr sz="4800" b="1" baseline="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20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4876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73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143000"/>
            <a:ext cx="7315200" cy="4800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222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27432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3892100"/>
            <a:ext cx="6934200" cy="2049956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11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Text_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9906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1295400" y="2150899"/>
            <a:ext cx="6934200" cy="815635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838200" y="3347534"/>
            <a:ext cx="7391400" cy="149673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4982112"/>
            <a:ext cx="6934200" cy="885288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291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1143000"/>
            <a:ext cx="6934200" cy="3200400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90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7338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C11,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02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730079"/>
            <a:ext cx="7391400" cy="457200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0099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heading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914400" y="4267200"/>
            <a:ext cx="7315200" cy="1676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Object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C11,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147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22138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12800" y="3319598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C11,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097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17566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12800" y="2895600"/>
            <a:ext cx="7315200" cy="16334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812800" y="4605202"/>
            <a:ext cx="7391400" cy="1414598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C11,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24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gur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C11,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755861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1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rgbClr val="20396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2667000" y="6248400"/>
            <a:ext cx="3886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Programming (2nd Ed.)</a:t>
            </a: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76200" y="6248400"/>
            <a:ext cx="2743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500">
                <a:solidFill>
                  <a:schemeClr val="bg1"/>
                </a:solidFill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900">
                <a:latin typeface="Arial Narrow" pitchFamily="34" charset="0"/>
              </a:defRPr>
            </a:lvl1pPr>
          </a:lstStyle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" y="6397412"/>
            <a:ext cx="1228170" cy="2319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3" r:id="rId5"/>
    <p:sldLayoutId id="2147483681" r:id="rId6"/>
    <p:sldLayoutId id="2147483674" r:id="rId7"/>
    <p:sldLayoutId id="2147483676" r:id="rId8"/>
    <p:sldLayoutId id="2147483675" r:id="rId9"/>
    <p:sldLayoutId id="2147483684" r:id="rId10"/>
    <p:sldLayoutId id="2147483685" r:id="rId11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Chapter 11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r>
              <a:rPr dirty="0" lang="en-US"/>
              <a:t>How to work with </a:t>
            </a:r>
            <a:br>
              <a:rPr dirty="0" lang="en-US"/>
            </a:br>
            <a:r>
              <a:rPr dirty="0" lang="en-US"/>
              <a:t>dates and times</a:t>
            </a:r>
          </a:p>
          <a:p>
            <a:endParaRPr dirty="0" lang="en-US"/>
          </a:p>
        </p:txBody>
      </p:sp>
      <p:sp>
        <p:nvSpPr>
          <p:cNvPr id="2" name="Date Placeholder 1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  <a:endParaRPr dirty="0"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F7F539-8016-4FE3-BAB7-5A31C1C86539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l">
              <a:defRPr/>
            </a:pPr>
            <a:endParaRPr dirty="0" lang="en-US" sz="1400">
              <a:latin typeface="Times New Roman"/>
            </a:endParaRPr>
          </a:p>
          <a:p>
            <a:pPr>
              <a:defRPr/>
            </a:pPr>
            <a:r>
              <a:rPr dirty="0" lang="en-US">
                <a:solidFill>
                  <a:schemeClr val="bg1"/>
                </a:solidFill>
              </a:rPr>
              <a:t>C11,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</a:t>
            </a:fld>
            <a:endParaRPr dirty="0"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2649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Applied objectives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BEB09FB-1DA8-4F77-ADC4-FFB3CC755D0D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indent="-342900" lvl="0" marL="342900" marR="27432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algn="l" pos="347345"/>
              </a:tabLst>
            </a:pP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Code, test, and debug programs that work with dates and times. That includes:</a:t>
            </a:r>
          </a:p>
          <a:p>
            <a:pPr marL="347345" marR="274320">
              <a:spcBef>
                <a:spcPts val="0"/>
              </a:spcBef>
              <a:spcAft>
                <a:spcPts val="600"/>
              </a:spcAft>
              <a:tabLst>
                <a:tab algn="l" pos="347345"/>
              </a:tabLst>
            </a:pP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creating date, time, and datetime objects</a:t>
            </a:r>
            <a:b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</a:b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formatting dates and times</a:t>
            </a:r>
            <a:b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</a:b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working with spans of time </a:t>
            </a:r>
            <a:b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</a:b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comparing datetime objects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2" name="Footer Placeholder 1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253648811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Knowledge objectives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24CE546-872E-4B95-9AD6-33CE57012FD8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indent="-342900" lvl="0" marL="342900" marR="27432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algn="l" pos="347345"/>
              </a:tabLst>
            </a:pP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Describe the three ways to create date, time, and datetime objects: with methods, with constructors, and by parsing.</a:t>
            </a:r>
          </a:p>
          <a:p>
            <a:pPr indent="-342900" lvl="0" marL="342900" marR="27432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algn="l" pos="347345"/>
              </a:tabLst>
            </a:pP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Distinguish between aware and </a:t>
            </a:r>
            <a:r>
              <a:rPr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naïve time </a:t>
            </a: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and datetime objects.</a:t>
            </a:r>
          </a:p>
          <a:p>
            <a:pPr indent="-342900" lvl="0" marL="342900" marR="27432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algn="l" pos="347345"/>
              </a:tabLst>
            </a:pP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Describe the way spans of times are used when working with dates and times.</a:t>
            </a:r>
          </a:p>
          <a:p>
            <a:pPr indent="-342900" lvl="0" marL="342900" marR="27432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algn="l" pos="347345"/>
              </a:tabLst>
            </a:pP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Describe the way you compare date and time objects.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2" name="Footer Placeholder 1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3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83246490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Two methods of the date and </a:t>
            </a:r>
            <a:r>
              <a:rPr dirty="0" err="1" lang="en-US"/>
              <a:t>datetime</a:t>
            </a:r>
            <a:r>
              <a:rPr dirty="0" lang="en-US"/>
              <a:t> classes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B7E7CC-8479-4E0A-AC7A-B7E5CC9CC2D9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800"/>
            <a:ext cx="8305800" cy="4876800"/>
          </a:xfrm>
        </p:spPr>
        <p:txBody>
          <a:bodyPr/>
          <a:lstStyle/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err="1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date.today</a:t>
            </a:r>
            <a:r>
              <a:rPr b="1" dirty="0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()</a:t>
            </a:r>
            <a:endParaRPr dirty="0" lang="en-US" spc="-10" sz="14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err="1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datetime.now</a:t>
            </a:r>
            <a:r>
              <a:rPr b="1" dirty="0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()</a:t>
            </a:r>
            <a:endParaRPr dirty="0" lang="en-US" spc="-10" sz="14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constructors for creating date/time objects</a:t>
            </a: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date(</a:t>
            </a:r>
            <a:r>
              <a:rPr b="1" dirty="0" i="1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year</a:t>
            </a:r>
            <a:r>
              <a:rPr b="1" dirty="0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, </a:t>
            </a:r>
            <a:r>
              <a:rPr b="1" dirty="0" i="1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month</a:t>
            </a:r>
            <a:r>
              <a:rPr b="1" dirty="0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, </a:t>
            </a:r>
            <a:r>
              <a:rPr b="1" dirty="0" i="1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day</a:t>
            </a:r>
            <a:r>
              <a:rPr b="1" dirty="0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)</a:t>
            </a:r>
            <a:endParaRPr dirty="0" lang="en-US" spc="-10" sz="14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time([</a:t>
            </a:r>
            <a:r>
              <a:rPr b="1" dirty="0" i="1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hour</a:t>
            </a:r>
            <a:r>
              <a:rPr b="1" dirty="0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][, </a:t>
            </a:r>
            <a:r>
              <a:rPr b="1" dirty="0" i="1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min</a:t>
            </a:r>
            <a:r>
              <a:rPr b="1" dirty="0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][, </a:t>
            </a:r>
            <a:r>
              <a:rPr b="1" dirty="0" i="1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sec</a:t>
            </a:r>
            <a:r>
              <a:rPr b="1" dirty="0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][, </a:t>
            </a:r>
            <a:r>
              <a:rPr b="1" dirty="0" i="1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microsec</a:t>
            </a:r>
            <a:r>
              <a:rPr b="1" dirty="0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])</a:t>
            </a:r>
            <a:endParaRPr dirty="0" lang="en-US" spc="-10" sz="14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datetime(</a:t>
            </a:r>
            <a:r>
              <a:rPr b="1" dirty="0" i="1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year</a:t>
            </a:r>
            <a:r>
              <a:rPr b="1" dirty="0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, </a:t>
            </a:r>
            <a:r>
              <a:rPr b="1" dirty="0" i="1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month</a:t>
            </a:r>
            <a:r>
              <a:rPr b="1" dirty="0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, </a:t>
            </a:r>
            <a:r>
              <a:rPr b="1" dirty="0" i="1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day</a:t>
            </a:r>
            <a:r>
              <a:rPr b="1" dirty="0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 [, </a:t>
            </a:r>
            <a:r>
              <a:rPr b="1" dirty="0" i="1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hour</a:t>
            </a:r>
            <a:r>
              <a:rPr b="1" dirty="0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][, </a:t>
            </a:r>
            <a:r>
              <a:rPr b="1" dirty="0" i="1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min</a:t>
            </a:r>
            <a:r>
              <a:rPr b="1" dirty="0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][, </a:t>
            </a:r>
            <a:r>
              <a:rPr b="1" dirty="0" i="1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sec</a:t>
            </a:r>
            <a:r>
              <a:rPr b="1" dirty="0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][, </a:t>
            </a:r>
            <a:r>
              <a:rPr b="1" dirty="0" i="1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microsec</a:t>
            </a:r>
            <a:r>
              <a:rPr b="1" dirty="0" lang="en-US" spc="-10" sz="1400">
                <a:latin charset="0" panose="02070309020205020404" pitchFamily="49" typeface="Courier New"/>
                <a:ea charset="0" panose="02020603050405020304" pitchFamily="18" typeface="Times New Roman"/>
              </a:rPr>
              <a:t>])</a:t>
            </a:r>
            <a:endParaRPr dirty="0" lang="en-US" spc="-10" sz="14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4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422592896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Code that imports </a:t>
            </a:r>
            <a:br>
              <a:rPr dirty="0" lang="en-US"/>
            </a:br>
            <a:r>
              <a:rPr dirty="0" lang="en-US"/>
              <a:t>the date, time, and </a:t>
            </a:r>
            <a:r>
              <a:rPr dirty="0" err="1" lang="en-US"/>
              <a:t>datetime</a:t>
            </a:r>
            <a:r>
              <a:rPr dirty="0" lang="en-US"/>
              <a:t> classes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AC94664-4E35-4E15-ABB8-3C8213480FE7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53440" y="1182960"/>
            <a:ext cx="73914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from datetime import date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from datetime import time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from datetime import datetime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Another way to import </a:t>
            </a:r>
            <a:b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</a:b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date, time, and datetime classes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from datetime import date, time, datetime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5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213359159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Code that uses methods </a:t>
            </a:r>
            <a:br>
              <a:rPr dirty="0" lang="en-US"/>
            </a:br>
            <a:r>
              <a:rPr dirty="0" lang="en-US"/>
              <a:t>to create date and </a:t>
            </a:r>
            <a:r>
              <a:rPr dirty="0" err="1" lang="en-US"/>
              <a:t>datetime</a:t>
            </a:r>
            <a:r>
              <a:rPr dirty="0" lang="en-US"/>
              <a:t> objects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23D6D9B-E28E-4427-9983-C20F8D47BEED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914400" y="1213440"/>
            <a:ext cx="74676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invoice_date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date.today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       # Current date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invoice_date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datetime.now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     # Current date and time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Code that uses constructors </a:t>
            </a:r>
            <a:b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</a:b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to create naïve date/time objects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date(1988, 10, 31)    # 10/31/1988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meeting = time(14, 30)            # 2:30 PM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appointment = datetime(2021, 10, 28, 14, 30)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                  # 10/28/2021 2:30 PM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entry_time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datetime(2021, 10, 28, 14, 32, 48)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                  # 10/28/2021 2:32:48 PM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6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58921529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</a:t>
            </a:r>
            <a:r>
              <a:rPr dirty="0" err="1" lang="en-US"/>
              <a:t>strptime</a:t>
            </a:r>
            <a:r>
              <a:rPr dirty="0" lang="en-US"/>
              <a:t>() method of the </a:t>
            </a:r>
            <a:r>
              <a:rPr dirty="0" err="1" lang="en-US"/>
              <a:t>datetime</a:t>
            </a:r>
            <a:r>
              <a:rPr dirty="0" lang="en-US"/>
              <a:t> class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1BD545D-45E5-4B90-930C-B2BCFB03B4E3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err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datetime.strptime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(</a:t>
            </a:r>
            <a:r>
              <a:rPr b="1" dirty="0" err="1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datetime_str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, </a:t>
            </a:r>
            <a:r>
              <a:rPr b="1" dirty="0" err="1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format_str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)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Common format string codes</a:t>
            </a:r>
          </a:p>
          <a:p>
            <a:endParaRPr dirty="0"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68CDD3-F735-4431-BC20-87F0B22C5A64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920151" y="2091779"/>
            <a:ext cx="5486400" cy="3581400"/>
          </a:xfrm>
        </p:spPr>
        <p:txBody>
          <a:bodyPr/>
          <a:lstStyle/>
          <a:p>
            <a:pPr indent="-1147763" marL="1147763" marR="0">
              <a:spcBef>
                <a:spcPts val="600"/>
              </a:spcBef>
              <a:spcAft>
                <a:spcPts val="600"/>
              </a:spcAft>
              <a:tabLst>
                <a:tab algn="l" pos="1828800"/>
                <a:tab algn="l" pos="2514600"/>
                <a:tab algn="l" pos="2514600"/>
              </a:tabLst>
            </a:pPr>
            <a:r>
              <a:rPr b="1" dirty="0" lang="en-US"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Code	Description</a:t>
            </a:r>
          </a:p>
          <a:p>
            <a:pPr indent="-1147763" marL="1147763" marR="0">
              <a:spcBef>
                <a:spcPts val="600"/>
              </a:spcBef>
              <a:spcAft>
                <a:spcPts val="600"/>
              </a:spcAft>
              <a:tabLst>
                <a:tab algn="l" pos="1828800"/>
                <a:tab algn="l" pos="2514600"/>
                <a:tab algn="l" pos="2514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%d</a:t>
            </a:r>
            <a:r>
              <a:rPr b="1" dirty="0" lang="en-US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  <a:cs charset="0" panose="02020603050405020304" pitchFamily="18" typeface="Times New Roman"/>
              </a:rPr>
              <a:t>	</a:t>
            </a:r>
            <a:r>
              <a:rPr dirty="0" lang="en-US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Day of month as a number</a:t>
            </a:r>
            <a:endParaRPr dirty="0" lang="en-US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defTabSz="927100" indent="-1147763" marL="1147763" marR="0">
              <a:spcBef>
                <a:spcPts val="600"/>
              </a:spcBef>
              <a:spcAft>
                <a:spcPts val="600"/>
              </a:spcAft>
              <a:tabLst>
                <a:tab algn="l" pos="1828800"/>
                <a:tab algn="l" pos="2514600"/>
                <a:tab algn="l" pos="2514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%m</a:t>
            </a:r>
            <a:r>
              <a:rPr dirty="0" lang="en-US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Month as a number</a:t>
            </a:r>
            <a:endParaRPr dirty="0" lang="en-US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indent="-1147763" marL="1147763" marR="0">
              <a:spcBef>
                <a:spcPts val="600"/>
              </a:spcBef>
              <a:spcAft>
                <a:spcPts val="600"/>
              </a:spcAft>
              <a:tabLst>
                <a:tab algn="l" pos="1828800"/>
                <a:tab algn="l" pos="2514600"/>
                <a:tab algn="l" pos="2514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%y</a:t>
            </a:r>
            <a:r>
              <a:rPr dirty="0" lang="en-US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2-digit year</a:t>
            </a:r>
            <a:endParaRPr dirty="0" lang="en-US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indent="-1147763" marL="1147763" marR="0">
              <a:spcBef>
                <a:spcPts val="600"/>
              </a:spcBef>
              <a:spcAft>
                <a:spcPts val="600"/>
              </a:spcAft>
              <a:tabLst>
                <a:tab algn="l" pos="1828800"/>
                <a:tab algn="l" pos="2514600"/>
                <a:tab algn="l" pos="2514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%Y</a:t>
            </a:r>
            <a:r>
              <a:rPr dirty="0" lang="en-US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4-digit year</a:t>
            </a:r>
            <a:endParaRPr dirty="0" lang="en-US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indent="-1147763" marL="1147763" marR="0">
              <a:spcBef>
                <a:spcPts val="600"/>
              </a:spcBef>
              <a:spcAft>
                <a:spcPts val="600"/>
              </a:spcAft>
              <a:tabLst>
                <a:tab algn="l" pos="1828800"/>
                <a:tab algn="l" pos="2514600"/>
                <a:tab algn="l" pos="2514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%H</a:t>
            </a:r>
            <a:r>
              <a:rPr dirty="0" lang="en-US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Hour of day in 24-hour format</a:t>
            </a:r>
            <a:endParaRPr dirty="0" lang="en-US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indent="-1147763" marL="1147763" marR="0">
              <a:spcBef>
                <a:spcPts val="600"/>
              </a:spcBef>
              <a:spcAft>
                <a:spcPts val="600"/>
              </a:spcAft>
              <a:tabLst>
                <a:tab algn="l" pos="1828800"/>
                <a:tab algn="l" pos="2514600"/>
                <a:tab algn="l" pos="2514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%M</a:t>
            </a:r>
            <a:r>
              <a:rPr dirty="0" lang="en-US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Minute as number</a:t>
            </a:r>
            <a:endParaRPr dirty="0" lang="en-US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indent="-1147763" marL="1147763" marR="0">
              <a:spcBef>
                <a:spcPts val="600"/>
              </a:spcBef>
              <a:spcAft>
                <a:spcPts val="600"/>
              </a:spcAft>
              <a:tabLst>
                <a:tab algn="l" pos="1828800"/>
                <a:tab algn="l" pos="2514600"/>
                <a:tab algn="l" pos="2514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%S</a:t>
            </a:r>
            <a:r>
              <a:rPr dirty="0" lang="en-US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Second as number</a:t>
            </a:r>
            <a:endParaRPr dirty="0" lang="en-US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7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507690796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Code that creates </a:t>
            </a:r>
            <a:r>
              <a:rPr dirty="0" err="1" lang="en-US"/>
              <a:t>datetime</a:t>
            </a:r>
            <a:r>
              <a:rPr dirty="0" lang="en-US"/>
              <a:t> objects</a:t>
            </a:r>
            <a:br>
              <a:rPr dirty="0" lang="en-US"/>
            </a:br>
            <a:r>
              <a:rPr dirty="0" lang="en-US"/>
              <a:t>using format strings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E8DDA4-9012-4470-A812-221F2FC5AF1A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182960"/>
            <a:ext cx="73914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datetime.strptime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("10/31/1988", "%m/%d/%Y")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datetime.strptime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("31-10-1988", "%d-%m-%Y")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datetime.strptime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("1988-10-31", "%Y-%m-%d")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datetime.strptime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("10/31/1988 22:30",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              "%m/%d/%Y %H:%M")</a:t>
            </a: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8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987708989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Code that gets a date from the user </a:t>
            </a:r>
            <a:br>
              <a:rPr dirty="0" lang="en-US"/>
            </a:br>
            <a:r>
              <a:rPr dirty="0" lang="en-US"/>
              <a:t>and prints it to the console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31EC0B7-6D98-4107-B9C5-BEE89EC0334C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148900"/>
            <a:ext cx="7391400" cy="27432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date_str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input("Enter date of birth (MM/DD/YYYY): 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birth_date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datetime.strptime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date_str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"%m/%d/%Y")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print("Date of birth:",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birth_date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console</a:t>
            </a:r>
          </a:p>
          <a:p>
            <a:endParaRPr dirty="0"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48AC3D-621E-455A-BF7E-F6BCCE184598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2550980"/>
            <a:ext cx="6019800" cy="6037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Enter date of birth (MM/DD/YYYY): </a:t>
            </a:r>
            <a:r>
              <a:rPr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2/4/1968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 of birth: 1968-02-04 00:00:00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9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210612431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Some commonly used formatting codes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624B94-A7B2-414C-A189-ECCB26172564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1024800"/>
            <a:ext cx="6019800" cy="5071199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tabLst>
                <a:tab algn="l" pos="808038"/>
                <a:tab algn="l" pos="914400"/>
                <a:tab algn="l" pos="4114800"/>
              </a:tabLst>
            </a:pPr>
            <a:r>
              <a:rPr b="1" dirty="0" lang="en-US" sz="1400"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Code	Description	Example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algn="l" pos="800100"/>
                <a:tab algn="l" pos="2514600"/>
                <a:tab algn="l" pos="914400"/>
                <a:tab algn="l" pos="4114800"/>
              </a:tabLst>
            </a:pPr>
            <a:r>
              <a:rPr b="1" dirty="0" lang="en-US" sz="125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%a</a:t>
            </a:r>
            <a:r>
              <a:rPr dirty="0" lang="en-US" sz="1250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Abbreviated weekday name	</a:t>
            </a:r>
            <a:r>
              <a:rPr b="1" dirty="0" lang="en-US" sz="125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</a:rPr>
              <a:t>Sat</a:t>
            </a:r>
            <a:endParaRPr dirty="0" lang="en-US" sz="125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algn="l" pos="800100"/>
                <a:tab algn="l" pos="2514600"/>
                <a:tab algn="l" pos="914400"/>
                <a:tab algn="l" pos="4114800"/>
              </a:tabLst>
            </a:pPr>
            <a:r>
              <a:rPr b="1" dirty="0" lang="en-US" sz="125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%A</a:t>
            </a:r>
            <a:r>
              <a:rPr dirty="0" lang="en-US" sz="1250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Full weekday name			</a:t>
            </a:r>
            <a:r>
              <a:rPr b="1" dirty="0" lang="en-US" sz="125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</a:rPr>
              <a:t>Saturday</a:t>
            </a:r>
            <a:endParaRPr dirty="0" lang="en-US" sz="125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algn="l" pos="800100"/>
                <a:tab algn="l" pos="2514600"/>
                <a:tab algn="l" pos="914400"/>
                <a:tab algn="l" pos="4114800"/>
              </a:tabLst>
            </a:pPr>
            <a:r>
              <a:rPr b="1" dirty="0" lang="en-US" sz="125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%b</a:t>
            </a:r>
            <a:r>
              <a:rPr dirty="0" lang="en-US" sz="1250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Abbreviated month name			</a:t>
            </a:r>
            <a:r>
              <a:rPr b="1" dirty="0" lang="en-US" sz="125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</a:rPr>
              <a:t>Oct</a:t>
            </a:r>
            <a:endParaRPr dirty="0" lang="en-US" sz="125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algn="l" pos="800100"/>
                <a:tab algn="l" pos="2514600"/>
                <a:tab algn="l" pos="914400"/>
                <a:tab algn="l" pos="4114800"/>
              </a:tabLst>
            </a:pPr>
            <a:r>
              <a:rPr b="1" dirty="0" lang="en-US" sz="125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%B</a:t>
            </a:r>
            <a:r>
              <a:rPr dirty="0" lang="en-US" sz="1250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Full month name			</a:t>
            </a:r>
            <a:r>
              <a:rPr b="1" dirty="0" lang="en-US" sz="125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</a:rPr>
              <a:t>October</a:t>
            </a:r>
            <a:endParaRPr dirty="0" lang="en-US" sz="125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algn="l" pos="800100"/>
                <a:tab algn="l" pos="2514600"/>
                <a:tab algn="l" pos="914400"/>
                <a:tab algn="l" pos="4114800"/>
              </a:tabLst>
            </a:pPr>
            <a:r>
              <a:rPr b="1" dirty="0" lang="en-US" sz="125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%d</a:t>
            </a:r>
            <a:r>
              <a:rPr dirty="0" lang="en-US" sz="1250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Zero-padded day of month as a number	</a:t>
            </a:r>
            <a:r>
              <a:rPr b="1" dirty="0" lang="en-US" sz="125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</a:rPr>
              <a:t>01</a:t>
            </a:r>
            <a:endParaRPr dirty="0" lang="en-US" sz="125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algn="l" pos="800100"/>
                <a:tab algn="l" pos="2514600"/>
                <a:tab algn="l" pos="914400"/>
                <a:tab algn="l" pos="4114800"/>
              </a:tabLst>
            </a:pPr>
            <a:r>
              <a:rPr b="1" dirty="0" lang="en-US" sz="125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%m</a:t>
            </a:r>
            <a:r>
              <a:rPr dirty="0" lang="en-US" sz="1250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Zero-padded month as a number	</a:t>
            </a:r>
            <a:r>
              <a:rPr b="1" dirty="0" lang="en-US" sz="125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</a:rPr>
              <a:t>01</a:t>
            </a:r>
            <a:endParaRPr dirty="0" lang="en-US" sz="125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algn="l" pos="800100"/>
                <a:tab algn="l" pos="2514600"/>
                <a:tab algn="l" pos="914400"/>
                <a:tab algn="l" pos="4114800"/>
              </a:tabLst>
            </a:pPr>
            <a:r>
              <a:rPr b="1" dirty="0" lang="en-US" sz="125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%Y</a:t>
            </a:r>
            <a:r>
              <a:rPr dirty="0" lang="en-US" sz="1250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4-digit year			</a:t>
            </a:r>
            <a:r>
              <a:rPr b="1" dirty="0" lang="en-US" sz="125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</a:rPr>
              <a:t>1977</a:t>
            </a:r>
            <a:endParaRPr dirty="0" lang="en-US" sz="125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algn="l" pos="800100"/>
                <a:tab algn="l" pos="2514600"/>
                <a:tab algn="l" pos="914400"/>
                <a:tab algn="l" pos="4114800"/>
              </a:tabLst>
            </a:pPr>
            <a:r>
              <a:rPr b="1" dirty="0" lang="en-US" sz="125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%y</a:t>
            </a:r>
            <a:r>
              <a:rPr dirty="0" lang="en-US" sz="1250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2-digit year			</a:t>
            </a:r>
            <a:r>
              <a:rPr b="1" dirty="0" lang="en-US" sz="125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</a:rPr>
              <a:t>77</a:t>
            </a:r>
            <a:endParaRPr dirty="0" lang="en-US" sz="125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algn="l" pos="800100"/>
                <a:tab algn="l" pos="2514600"/>
                <a:tab algn="l" pos="914400"/>
                <a:tab algn="l" pos="4114800"/>
              </a:tabLst>
            </a:pPr>
            <a:r>
              <a:rPr b="1" dirty="0" lang="en-US" sz="125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%H</a:t>
            </a:r>
            <a:r>
              <a:rPr dirty="0" lang="en-US" sz="1250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Hour of day in 24-hour format	</a:t>
            </a:r>
            <a:r>
              <a:rPr b="1" dirty="0" lang="en-US" sz="125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</a:rPr>
              <a:t>13</a:t>
            </a:r>
            <a:endParaRPr dirty="0" lang="en-US" sz="125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algn="l" pos="800100"/>
                <a:tab algn="l" pos="2514600"/>
                <a:tab algn="l" pos="914400"/>
                <a:tab algn="l" pos="4114800"/>
              </a:tabLst>
            </a:pPr>
            <a:r>
              <a:rPr b="1" dirty="0" lang="en-US" sz="125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%I</a:t>
            </a:r>
            <a:r>
              <a:rPr dirty="0" lang="en-US" sz="1250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Hour of day in 12-hour format	</a:t>
            </a:r>
            <a:r>
              <a:rPr b="1" dirty="0" lang="en-US" sz="125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</a:rPr>
              <a:t>01</a:t>
            </a:r>
            <a:endParaRPr dirty="0" lang="en-US" sz="125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algn="l" pos="800100"/>
                <a:tab algn="l" pos="2514600"/>
                <a:tab algn="l" pos="914400"/>
                <a:tab algn="l" pos="4114800"/>
              </a:tabLst>
            </a:pPr>
            <a:r>
              <a:rPr b="1" dirty="0" lang="en-US" sz="125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%M</a:t>
            </a:r>
            <a:r>
              <a:rPr dirty="0" lang="en-US" sz="1250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Minute as number			</a:t>
            </a:r>
            <a:r>
              <a:rPr b="1" dirty="0" lang="en-US" sz="125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</a:rPr>
              <a:t>59</a:t>
            </a:r>
            <a:endParaRPr dirty="0" lang="en-US" sz="125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algn="l" pos="800100"/>
                <a:tab algn="l" pos="2514600"/>
                <a:tab algn="l" pos="914400"/>
                <a:tab algn="l" pos="4114800"/>
              </a:tabLst>
            </a:pPr>
            <a:r>
              <a:rPr b="1" dirty="0" lang="en-US" sz="125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%S</a:t>
            </a:r>
            <a:r>
              <a:rPr dirty="0" lang="en-US" sz="1250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Second as number			</a:t>
            </a:r>
            <a:r>
              <a:rPr b="1" dirty="0" lang="en-US" sz="125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</a:rPr>
              <a:t>59</a:t>
            </a:r>
            <a:endParaRPr dirty="0" lang="en-US" sz="125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algn="l" pos="800100"/>
                <a:tab algn="l" pos="2514600"/>
                <a:tab algn="l" pos="914400"/>
                <a:tab algn="l" pos="4114800"/>
              </a:tabLst>
            </a:pPr>
            <a:r>
              <a:rPr b="1" dirty="0" lang="en-US" sz="125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%p</a:t>
            </a:r>
            <a:r>
              <a:rPr dirty="0" lang="en-US" sz="1250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AM/PM specifier			</a:t>
            </a:r>
            <a:r>
              <a:rPr b="1" dirty="0" lang="en-US" sz="125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</a:rPr>
              <a:t>AM</a:t>
            </a:r>
            <a:endParaRPr dirty="0" lang="en-US" sz="125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algn="l" pos="800100"/>
                <a:tab algn="l" pos="2514600"/>
                <a:tab algn="l" pos="914400"/>
                <a:tab algn="l" pos="4114800"/>
              </a:tabLst>
            </a:pPr>
            <a:r>
              <a:rPr b="1" dirty="0" lang="en-US" sz="125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%f</a:t>
            </a:r>
            <a:r>
              <a:rPr dirty="0" lang="en-US" sz="1250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Microsecond			</a:t>
            </a:r>
            <a:r>
              <a:rPr b="1" dirty="0" lang="en-US" sz="125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</a:rPr>
              <a:t>0153219</a:t>
            </a:r>
            <a:endParaRPr dirty="0" lang="en-US" sz="125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10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726722463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Code that creates a </a:t>
            </a:r>
            <a:r>
              <a:rPr dirty="0" err="1" lang="en-US"/>
              <a:t>datetime</a:t>
            </a:r>
            <a:r>
              <a:rPr dirty="0" lang="en-US"/>
              <a:t> object </a:t>
            </a:r>
            <a:br>
              <a:rPr dirty="0" lang="en-US"/>
            </a:br>
            <a:r>
              <a:rPr dirty="0" lang="en-US"/>
              <a:t>that has a date and time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F3599B-A664-4CE0-B9E7-6DF8ABB7C47B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83920" y="1213440"/>
            <a:ext cx="75438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datetime(1988, 10, 31, 22, 48)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Code that uses format codes to specify the format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print(f"{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:%Y-%m-%d}")        # 1988-10-31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print(f"{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:%m/%d/%Y}")        # 10/31/1988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print(f"{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:%m/%d/%y}")        # 10/31/88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print(f"{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:%B %d, %Y (%A)}")  # October 31, 1988 (Monday)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print(f"{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:%B %d, %H:%M}")    # October 31, 22:48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print(f"{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:%B %d, %I:%M %p}") # October 31, 10:48 PM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Code that formats for locale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print(f"{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:%c}")              # Mon Oct 31 22:48:00 1988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print(f"{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:%x}")              # 10/31/88</a:t>
            </a:r>
          </a:p>
          <a:p>
            <a:pPr marL="0" marR="0">
              <a:spcBef>
                <a:spcPts val="600"/>
              </a:spcBef>
              <a:spcAft>
                <a:spcPts val="300"/>
              </a:spcAft>
            </a:pPr>
            <a:r>
              <a:rPr b="1" dirty="0" lang="en-US" sz="2400">
                <a:solidFill>
                  <a:srgbClr val="000099"/>
                </a:solidFill>
                <a:effectLst/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Code that uses a variable to format a date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date_format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"%Y-%m-%d"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print(f"{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:{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date_format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}}")   # 1988-10-31</a:t>
            </a: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11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487627381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constructor for a </a:t>
            </a:r>
            <a:r>
              <a:rPr dirty="0" err="1" lang="en-US"/>
              <a:t>timedelta</a:t>
            </a:r>
            <a:r>
              <a:rPr dirty="0" lang="en-US"/>
              <a:t> object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B72E22E-FC12-4A6A-B01D-194700D28DBB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800"/>
            <a:ext cx="79248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timedelta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([</a:t>
            </a:r>
            <a:r>
              <a:rPr b="1" dirty="0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days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][</a:t>
            </a:r>
            <a:r>
              <a:rPr b="1" dirty="0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seconds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][</a:t>
            </a:r>
            <a:r>
              <a:rPr b="1" dirty="0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microseconds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][</a:t>
            </a:r>
            <a:r>
              <a:rPr b="1" dirty="0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milliseconds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]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[</a:t>
            </a:r>
            <a:r>
              <a:rPr b="1" dirty="0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minutes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][</a:t>
            </a:r>
            <a:r>
              <a:rPr b="1" dirty="0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hours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][</a:t>
            </a:r>
            <a:r>
              <a:rPr b="1" dirty="0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weeks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])</a:t>
            </a:r>
          </a:p>
          <a:p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12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101049197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Code that imports the </a:t>
            </a:r>
            <a:r>
              <a:rPr dirty="0" err="1" lang="en-US"/>
              <a:t>timedelta</a:t>
            </a:r>
            <a:r>
              <a:rPr dirty="0" lang="en-US"/>
              <a:t> class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11AA14-0425-4477-AAD6-8CC30DBC0AD0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800"/>
            <a:ext cx="79248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from datetime import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timedelta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Code that creates time spans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three_weeks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timedelta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(weeks=3)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two_hours_thirty_minues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timedelta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(hours=2, minutes=30)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time_span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timedelta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(weeks=2, days=3, hours=8, minutes=14)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Code that adds and subtracts a span of time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three_weeks_from_today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date.today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 +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timedelta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(weeks=3)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three_weeks_ago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date.today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 -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timedelta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(weeks=3)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three_hours_from_now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datetime.now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 +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timedelta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(hours=3)</a:t>
            </a: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13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135697253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Three attributes and a method </a:t>
            </a:r>
            <a:br>
              <a:rPr dirty="0" lang="en-US"/>
            </a:br>
            <a:r>
              <a:rPr dirty="0" lang="en-US"/>
              <a:t>of a </a:t>
            </a:r>
            <a:r>
              <a:rPr dirty="0" err="1" lang="en-US"/>
              <a:t>timedelta</a:t>
            </a:r>
            <a:r>
              <a:rPr dirty="0" lang="en-US"/>
              <a:t> object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29DEA9-68B4-40F6-AC61-8A636F7A6681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198200"/>
            <a:ext cx="7391400" cy="4876800"/>
          </a:xfrm>
        </p:spPr>
        <p:txBody>
          <a:bodyPr/>
          <a:lstStyle/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days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seconds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microseconds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err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total_seconds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()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14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069889488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dirty="0" lang="en-US"/>
              <a:t>Code that gets the time span between two dates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D4BFB24-553A-4315-A544-1EE84ABDE07D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datetime(2021, 10, 31)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time_span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-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datetime.now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    # Span between dates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days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time_span.days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     # Days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seconds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time_span.seconds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# Seconds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microseconds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time_span.microseconds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# Microseconds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total_seconds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time_span.total_seconds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 #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Seconds.microseconds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print(f"{days} days {seconds} seconds and {microseconds} "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microseconds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.")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print(f"{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total_seconds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 seconds and microseconds.")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console</a:t>
            </a:r>
          </a:p>
          <a:p>
            <a:endParaRPr dirty="0"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F93F42-76A0-4007-9212-E643E584E9EC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3962400"/>
            <a:ext cx="6019800" cy="533400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solidFill>
                  <a:srgbClr val="000000"/>
                </a:solidFill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268 days 30764 seconds and 241157 microseconds.</a:t>
            </a:r>
            <a:endParaRPr b="1" dirty="0" lang="en-US" sz="1400">
              <a:effectLst/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solidFill>
                  <a:srgbClr val="000000"/>
                </a:solidFill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23185964.241157 seconds and microseconds.</a:t>
            </a:r>
            <a:endParaRPr b="1" dirty="0" lang="en-US" sz="1400">
              <a:effectLst/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F21EF31-1C2B-4334-89A9-172CC1C2DE1C}"/>
              </a:ext>
            </a:extLst>
          </p:cNvPr>
          <p:cNvSpPr>
            <a:spLocks noGrp="1"/>
          </p:cNvSpPr>
          <p:nvPr>
            <p:ph idx="4294967295" sz="quarter" type="body"/>
          </p:nvPr>
        </p:nvSpPr>
        <p:spPr>
          <a:xfrm>
            <a:off x="920007" y="4648200"/>
            <a:ext cx="7391400" cy="1497013"/>
          </a:xfrm>
        </p:spPr>
        <p:txBody>
          <a:bodyPr/>
          <a:lstStyle/>
          <a:p>
            <a:pPr indent="0" marL="0" marR="0">
              <a:spcBef>
                <a:spcPts val="1500"/>
              </a:spcBef>
              <a:spcAft>
                <a:spcPts val="600"/>
              </a:spcAft>
              <a:buNone/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Another way to get the span between two dates</a:t>
            </a:r>
          </a:p>
          <a:p>
            <a:pPr indent="0" marL="344488" marR="0">
              <a:spcBef>
                <a:spcPts val="0"/>
              </a:spcBef>
              <a:spcAft>
                <a:spcPts val="0"/>
              </a:spcAft>
              <a:buNone/>
              <a:tabLst>
                <a:tab algn="l" pos="517525"/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days = (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-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datetime.now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()).days  # Number of days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15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934202482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user interface </a:t>
            </a:r>
            <a:br>
              <a:rPr dirty="0" lang="en-US"/>
            </a:br>
            <a:r>
              <a:rPr dirty="0" lang="en-US"/>
              <a:t>for the Invoice Due Date program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0A8ED70-7EA1-4DE1-9B1B-E2AD11F49227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1295400"/>
            <a:ext cx="6019800" cy="28194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The Invoice Due Date program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Enter the invoice date (MM/DD/YY): </a:t>
            </a:r>
            <a:r>
              <a:rPr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1/14/21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Invoice Date: January 14, 2021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Due Date:     February 13, 2021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Current Date: March 15, 2021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This invoice is 30 day(s) overdue.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Continue? (y/n): 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16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844445744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code: Invoice Due Date program (part 1)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FF280FE-AA5A-49AB-B49C-F9996007D271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from datetime import datetime,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timedelta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get_invoice_date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invoice_date_str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input(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"Enter the invoice date (MM/DD/YY): ") 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invoice_date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datetime.strptime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invoice_date_str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                     "%m/%d/%y")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return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invoice_date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main():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print("The Invoice Due Date program")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again = "y"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while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again.lower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 == "y":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invoice_date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get_invoice_date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print()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# calculate due date and days overdue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due_date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invoice_date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+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timedelta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(days=30)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current_date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datetime.now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days_overdue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(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current_date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-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due_date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).days</a:t>
            </a:r>
          </a:p>
          <a:p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17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292810046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code: Invoice Due Date program (part 2)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872FE17-D369-457C-810E-A28B2B2C885A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# display results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date_format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"%B %d, %Y"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print(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f"Invoice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Date: {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invoice_date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:{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date_format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}}")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print(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f"Due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Date:     {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due_date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:{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date_format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}}")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print(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f"Current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Date: {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current_date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:{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date_format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}}")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if 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days_overdue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&gt; 0: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print(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f"This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invoice is {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days_overdue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 day(s) "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 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f"overdue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.")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else: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days_due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days_overdue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* -1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print(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f"This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invoice is due in {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days_due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 day(s).")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print()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# ask if user wants to continue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again = input("Continue? (y/n): 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print()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endParaRPr b="1" dirty="0" lang="en-US" sz="135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print("Bye!")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endParaRPr b="1" dirty="0" lang="en-US" sz="135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if __name__ == "__main__":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main()</a:t>
            </a:r>
            <a:endParaRPr dirty="0" lang="en-US" sz="135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18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978541540"/>
      </p:ext>
    </p:extLst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user interface for the Timer program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2E8743-400F-4B0A-A035-C2CEC9C4B06A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1143000"/>
            <a:ext cx="5562600" cy="25146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The Timer program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Press Enter to start...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Start time: 2021-03-16 15:24:08.633025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Press Enter to stop...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Stop time:  2021-03-16 15:24:25.320605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ELAPSED TIME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Time: 00:00:16.687580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19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798769760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 for the Timer program (part 1)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F86867-67BE-4FFD-AF01-70E1808A6EF6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from datetime import datetime, time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main():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print("The Timer program")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# start timer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input("Press Enter to start...")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start_time</a:t>
            </a: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datetime.now</a:t>
            </a: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print("Start time:", </a:t>
            </a:r>
            <a:r>
              <a:rPr b="1" dirty="0" err="1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start_time</a:t>
            </a: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# stop timer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input("Press Enter to stop...") 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stop_time</a:t>
            </a: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datetime.now</a:t>
            </a: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print("Stop time: ", </a:t>
            </a:r>
            <a:r>
              <a:rPr b="1" dirty="0" err="1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stop_time</a:t>
            </a: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# calculate elapsed time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elapsed_time</a:t>
            </a: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stop_time</a:t>
            </a: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- </a:t>
            </a:r>
            <a:r>
              <a:rPr b="1" dirty="0" err="1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start_time</a:t>
            </a:r>
            <a:endParaRPr b="1" dirty="0" lang="en-US" sz="135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days = </a:t>
            </a:r>
            <a:r>
              <a:rPr b="1" dirty="0" err="1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elapsed_time.days</a:t>
            </a:r>
            <a:endParaRPr b="1" dirty="0" lang="en-US" sz="135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minutes = </a:t>
            </a:r>
            <a:r>
              <a:rPr b="1" dirty="0" err="1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elapsed_time.seconds</a:t>
            </a: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// 60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seconds = </a:t>
            </a:r>
            <a:r>
              <a:rPr b="1" dirty="0" err="1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elapsed_time.seconds</a:t>
            </a: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% 60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microseconds = </a:t>
            </a:r>
            <a:r>
              <a:rPr b="1" dirty="0" err="1" lang="en-US" sz="135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elapsed_time.microseconds</a:t>
            </a:r>
            <a:endParaRPr b="1" dirty="0" lang="en-US" sz="135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35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20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089413949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 for the Timer program (part 2)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3C7F17-B292-42A3-A5D7-992618AD6626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800"/>
            <a:ext cx="80772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# calculate hours and minutes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hours = minutes // 60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minutes = minutes % 60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# create time object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time_object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time(hours, minutes, seconds, microseconds)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# display results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print("ELAPSED TIME")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if days &gt; 0: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print("Days:", days)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print("Time:",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time_object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if __name__ == "__main__":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main()</a:t>
            </a:r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21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3914922"/>
      </p:ext>
    </p:extLst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r>
              <a:rPr dirty="0" lang="en-US"/>
              <a:t>Attributes that return the parts </a:t>
            </a:r>
            <a:br>
              <a:rPr dirty="0" lang="en-US"/>
            </a:br>
            <a:r>
              <a:rPr dirty="0" lang="en-US"/>
              <a:t>of a date/time object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C7C9C78-FEA4-497F-AE98-1502FF63FA0E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356211"/>
            <a:ext cx="7391400" cy="4876800"/>
          </a:xfrm>
        </p:spPr>
        <p:txBody>
          <a:bodyPr/>
          <a:lstStyle/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year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month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day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hour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minute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second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microsecond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22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975241135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Code that gets the parts of a </a:t>
            </a:r>
            <a:r>
              <a:rPr dirty="0" err="1" lang="en-US"/>
              <a:t>datetime</a:t>
            </a:r>
            <a:r>
              <a:rPr dirty="0" lang="en-US"/>
              <a:t> object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16C7599-56AF-4E4A-A143-7EC7E240DA7C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800"/>
            <a:ext cx="80010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datetime(1988, 10, 31, 14, 32, 30)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year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halloween.year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			# 1988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month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halloween.month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			# 10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day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halloween.day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				# 31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hour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halloween.hour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			# 14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minute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halloween.minute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			# 32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second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halloween.second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			# 30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microsecond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halloween.microsecond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	# 0</a:t>
            </a:r>
          </a:p>
          <a:p>
            <a:endParaRPr dirty="0" lang="en-US" sz="11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23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516338490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Code that checks parts of a date object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1C9DD89-2138-47BF-BE69-9C092F7E1F68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today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date.today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if (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today.month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== 10 and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today.day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== 31):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print("Happy Halloween!")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else: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print("Dang, it's not Halloween today.")</a:t>
            </a: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24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899659237"/>
      </p:ext>
    </p:extLst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740664"/>
          </a:xfrm>
        </p:spPr>
        <p:txBody>
          <a:bodyPr/>
          <a:lstStyle/>
          <a:p>
            <a:r>
              <a:rPr dirty="0" lang="en-US"/>
              <a:t>Code that creates a new date </a:t>
            </a:r>
            <a:br>
              <a:rPr dirty="0" lang="en-US"/>
            </a:br>
            <a:r>
              <a:rPr dirty="0" lang="en-US"/>
              <a:t>based on the current date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8C262F-667D-40D3-A378-F39A75603937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447800"/>
            <a:ext cx="7391400" cy="36576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today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date.today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last_year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today.year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– 1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one_year_ago_today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date(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last_year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today.month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      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today.day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Code that creates a new date and time </a:t>
            </a:r>
            <a:b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</a:b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based on the current date and time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now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datetime.now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this_time_next_year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datetime(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now.year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+ 1,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now.month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           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now.day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now.hour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           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now.minute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25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415739581"/>
      </p:ext>
    </p:extLst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Code that compares two date objects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94BF82-5102-413F-87AF-AD9CD5F0E84E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today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date.today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date(2021, 10, 31)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if today &gt;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print("Halloween 2021 has come and gone.")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elif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today &lt;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print("Halloween 2021 is coming soon.")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elif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today ==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print("Happy Halloween 2021!")</a:t>
            </a: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26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974367209"/>
      </p:ext>
    </p:extLst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Code that prints the number </a:t>
            </a:r>
            <a:br>
              <a:rPr dirty="0" lang="en-US"/>
            </a:br>
            <a:r>
              <a:rPr dirty="0" lang="en-US"/>
              <a:t>of days until Halloween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EB3D40-95B0-4EA6-B4B2-B3F65A03BFF4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182960"/>
            <a:ext cx="73914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today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date.today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date(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today.year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10, 31)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if today &gt;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next_year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today.year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+ 1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date(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next_year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10, 31)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days_until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(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halloween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- today).days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print(f"{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days_until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 day(s) until Halloween.")</a:t>
            </a: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27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564130900"/>
      </p:ext>
    </p:extLst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Code that compares two </a:t>
            </a:r>
            <a:r>
              <a:rPr dirty="0" err="1" lang="en-US"/>
              <a:t>datetime</a:t>
            </a:r>
            <a:r>
              <a:rPr dirty="0" lang="en-US"/>
              <a:t> objects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BD2824-6184-415F-BC90-994C679740A1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meeting_start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datetime(2021, 4, 5, 9, 30)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meeting_end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meeting_start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+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timedelta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(hours=1)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now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datetime.now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if now &gt;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meeting_start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and now &lt;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meeting_end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print("This meeting is happening now.")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elif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now &lt;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meeting_start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print("This meeting is coming up.")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elif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now &gt;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meeting_end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print("This meeting already took place.")</a:t>
            </a: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28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861104574"/>
      </p:ext>
    </p:extLst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740664"/>
          </a:xfrm>
        </p:spPr>
        <p:txBody>
          <a:bodyPr/>
          <a:lstStyle/>
          <a:p>
            <a:r>
              <a:rPr dirty="0" lang="en-US"/>
              <a:t>Code that automatically adjusts a two-digit year </a:t>
            </a:r>
            <a:br>
              <a:rPr dirty="0" lang="en-US"/>
            </a:br>
            <a:r>
              <a:rPr dirty="0" lang="en-US"/>
              <a:t>to be correct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F5906AB-E56A-4AD6-B43F-D986F668778D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374550"/>
            <a:ext cx="7391400" cy="350225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# get input and convert to a datetime object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birth_date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input("Enter birth date (MM/DD/YY): ") 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birth_date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datetime.strptime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birth_date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"%m/%d/%y")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# if necessary, subtract 100 to fix birth year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if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birth_date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&gt;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datetime.now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fixed_birth_year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birth_date.year-100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birth_date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datetime(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fixed_birth_year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      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birth_date.month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         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birth_date.day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f"Birth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date: {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birth_date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:%m/%d/%Y}")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console</a:t>
            </a:r>
          </a:p>
          <a:p>
            <a:endParaRPr dirty="0"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129D89-6310-42DE-AA69-83F78F886F87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5035100"/>
            <a:ext cx="5562600" cy="6037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Enter date of birth (MM/DD/YY): </a:t>
            </a:r>
            <a:r>
              <a:rPr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2/4/68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 of birth: 02/04/1968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29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12194573"/>
      </p:ext>
    </p:extLst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Hotel Reservation program (user interface)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26481A-373B-4F6A-A7F7-47EA65D66C50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1143000"/>
            <a:ext cx="5105400" cy="49530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8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The Hotel Reservation program</a:t>
            </a:r>
            <a:endParaRPr b="1" dirty="0" lang="en-US" sz="128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8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8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Enter arrival date (YYYY-MM-DD): </a:t>
            </a:r>
            <a:r>
              <a:rPr dirty="0" lang="en-US" sz="128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2021-8-15</a:t>
            </a:r>
            <a:endParaRPr b="1" dirty="0" lang="en-US" sz="128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8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Enter departure date (YYYY-MM-DD): </a:t>
            </a:r>
            <a:r>
              <a:rPr dirty="0" lang="en-US" sz="128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2021-8-19</a:t>
            </a:r>
            <a:endParaRPr b="1" dirty="0" lang="en-US" sz="128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8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8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Arrival Date:   August 15, 2021</a:t>
            </a:r>
            <a:endParaRPr b="1" dirty="0" lang="en-US" sz="128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8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Departure Date: August 19, 2021</a:t>
            </a:r>
            <a:endParaRPr b="1" dirty="0" lang="en-US" sz="128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8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Nightly rate:   $105.00 (High season)</a:t>
            </a:r>
            <a:endParaRPr b="1" dirty="0" lang="en-US" sz="128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8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Total nights:   4</a:t>
            </a:r>
            <a:endParaRPr b="1" dirty="0" lang="en-US" sz="128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8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Total price:    $420.00</a:t>
            </a:r>
            <a:endParaRPr b="1" dirty="0" lang="en-US" sz="128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8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8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Continue? (y/n): </a:t>
            </a:r>
            <a:r>
              <a:rPr dirty="0" lang="en-US" sz="128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y</a:t>
            </a:r>
            <a:endParaRPr b="1" dirty="0" lang="en-US" sz="128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8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8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Enter arrival date (YYYY-MM-DD): </a:t>
            </a:r>
            <a:r>
              <a:rPr dirty="0" lang="en-US" sz="128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2021-9-15</a:t>
            </a:r>
            <a:endParaRPr b="1" dirty="0" lang="en-US" sz="128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8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Enter departure date (YYYY-MM-DD): </a:t>
            </a:r>
            <a:r>
              <a:rPr dirty="0" lang="en-US" sz="128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2021-9-19</a:t>
            </a:r>
            <a:endParaRPr b="1" dirty="0" lang="en-US" sz="128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8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8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Arrival Date:   September 15, 2021</a:t>
            </a:r>
            <a:endParaRPr b="1" dirty="0" lang="en-US" sz="128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8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Departure Date: September 19, 2021</a:t>
            </a:r>
            <a:endParaRPr b="1" dirty="0" lang="en-US" sz="128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8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Nightly rate:   $85.00</a:t>
            </a:r>
            <a:endParaRPr b="1" dirty="0" lang="en-US" sz="128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8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Total nights:   4</a:t>
            </a:r>
            <a:endParaRPr b="1" dirty="0" lang="en-US" sz="128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8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Total price:    $340.00</a:t>
            </a:r>
            <a:endParaRPr b="1" dirty="0" lang="en-US" sz="128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8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8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Continue? (y/n): </a:t>
            </a:r>
            <a:r>
              <a:rPr dirty="0" lang="en-US" sz="128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</a:t>
            </a:r>
            <a:endParaRPr b="1" dirty="0" lang="en-US" sz="128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8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28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Bye!</a:t>
            </a:r>
            <a:endParaRPr b="1" dirty="0" lang="en-US" sz="128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28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30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353506282"/>
      </p:ext>
    </p:extLst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r>
              <a:rPr dirty="0" lang="en-US"/>
              <a:t>The code: Hotel Reservation program (part 1)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97AA48D-8C1A-4C57-B7B2-0AECB739804C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800"/>
            <a:ext cx="7543800" cy="48768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from datetime import datetime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import locale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get_arrival_date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():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while True: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date_str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input("Enter arrival date (YYYY-MM-DD): ")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try: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arrival_date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datetime.strptime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date_str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"%Y-%m-%d")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except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ValueError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print("Invalid date format. Try again.")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print()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continue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# strip non-zero time values from datetime object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now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datetime.now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today = datetime(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now.year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now.month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now.day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        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if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arrival_date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&lt; today: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print("Arrival date must be today or later. Try again.")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print()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else: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return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arrival_date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31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881071927"/>
      </p:ext>
    </p:extLst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code: Hotel Reservation program (part 2)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ABB997-574B-4F31-A735-053A04BF4CA0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800"/>
            <a:ext cx="7437120" cy="48768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get_departure_date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arrival_date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):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while True: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date_str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input("Enter departure date (YYYY-MM-DD): ")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try: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departure_date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datetime.strptime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date_str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"%Y-%m-%d")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except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ValueError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print("Invalid date format. Try again.")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print()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continue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if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departure_date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&lt;=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arrival_date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print("Departure date must be after arrival date. ", 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  "Try again.")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print()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else: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return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departure_date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32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119845733"/>
      </p:ext>
    </p:extLst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code: Hotel Reservation program (part 3)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633206-42B8-4AAC-83A7-5AE7A97D162B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800"/>
            <a:ext cx="7848600" cy="48768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main():    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print("The Hotel Reservation program\n")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again = "y"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while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again.lower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 == "y":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# get datetime objects from user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arrival_date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get_arrival_date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departure_date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get_departure_date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arrival_date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print()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# calculate nights and cost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rate = 85.0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rate_message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""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if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arrival_date.month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== 8:    # August is high season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rate = 105.0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rate_message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"(High season)"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total_nights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(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departure_date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-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arrival_date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).days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total_cost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rate *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total_nights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33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592670758"/>
      </p:ext>
    </p:extLst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code: Hotel Reservation program (part 4)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F7A986-3D74-40CF-9B6B-AC723EC5B4CD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# format results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date_format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"%B %d, %Y"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locale.setlocale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locale.LC_ALL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"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en_US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")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print(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f"Arrival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Date:    {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arrival_date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:{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date_format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}}")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print(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f"Departure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Date:  {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departure_date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:{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date_format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}}")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print(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f"Nightly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rate:    {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locale.currency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(rate)}"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f"{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rate_message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}")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print(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f"Total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nights:    {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total_nights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}")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print(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f"Total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price:     {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locale.currency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total_cost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)}")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print()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# ask if user wants to continue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again = input("Continue? (y/n): ")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</a:t>
            </a:r>
            <a:r>
              <a:rPr b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endParaRPr b="1" dirty="0" lang="en-US" sz="1400">
              <a:effectLst/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print("Bye!")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if __name__ == "__main__":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65151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main()</a:t>
            </a:r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C11,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34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371858063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slides_with_titles_logo">
  <a:themeElements>
    <a:clrScheme name="Master slid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aster slid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 slide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MA accessible slides.potx" id="{50B7D1D4-3F7E-4579-B166-09A2FAC5C745}" vid="{7C365D12-5A37-45DA-A43C-A906C0D97DDF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MMA accessible slides</Template>
  <TotalTime>267</TotalTime>
  <Words>4044</Words>
  <Application>Microsoft Office PowerPoint</Application>
  <PresentationFormat>On-screen Show (4:3)</PresentationFormat>
  <Paragraphs>553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Arial Narrow</vt:lpstr>
      <vt:lpstr>Courier New</vt:lpstr>
      <vt:lpstr>Times New Roman</vt:lpstr>
      <vt:lpstr>Master slides_with_titles_logo</vt:lpstr>
      <vt:lpstr>Chapter 11</vt:lpstr>
      <vt:lpstr>Applied objectives</vt:lpstr>
      <vt:lpstr>Knowledge objectives</vt:lpstr>
      <vt:lpstr>Two methods of the date and datetime classes</vt:lpstr>
      <vt:lpstr>Code that imports  the date, time, and datetime classes</vt:lpstr>
      <vt:lpstr>Code that uses methods  to create date and datetime objects</vt:lpstr>
      <vt:lpstr>The strptime() method of the datetime class</vt:lpstr>
      <vt:lpstr>Code that creates datetime objects using format strings</vt:lpstr>
      <vt:lpstr>Code that gets a date from the user  and prints it to the console</vt:lpstr>
      <vt:lpstr>Some commonly used formatting codes</vt:lpstr>
      <vt:lpstr>Code that creates a datetime object  that has a date and time</vt:lpstr>
      <vt:lpstr>The constructor for a timedelta object</vt:lpstr>
      <vt:lpstr>Code that imports the timedelta class</vt:lpstr>
      <vt:lpstr>Three attributes and a method  of a timedelta object</vt:lpstr>
      <vt:lpstr>Code that gets the time span between two dates</vt:lpstr>
      <vt:lpstr>The user interface  for the Invoice Due Date program</vt:lpstr>
      <vt:lpstr>The code: Invoice Due Date program (part 1) </vt:lpstr>
      <vt:lpstr>The code: Invoice Due Date program (part 2) </vt:lpstr>
      <vt:lpstr>The user interface for the Timer program</vt:lpstr>
      <vt:lpstr>The code for the Timer program (part 1) </vt:lpstr>
      <vt:lpstr>The code for the Timer program (part 2) </vt:lpstr>
      <vt:lpstr>Attributes that return the parts  of a date/time object</vt:lpstr>
      <vt:lpstr>Code that gets the parts of a datetime object</vt:lpstr>
      <vt:lpstr>Code that checks parts of a date object</vt:lpstr>
      <vt:lpstr>Code that creates a new date  based on the current date</vt:lpstr>
      <vt:lpstr>Code that compares two date objects</vt:lpstr>
      <vt:lpstr>Code that prints the number  of days until Halloween</vt:lpstr>
      <vt:lpstr>Code that compares two datetime objects</vt:lpstr>
      <vt:lpstr>Code that automatically adjusts a two-digit year  to be correct</vt:lpstr>
      <vt:lpstr>The Hotel Reservation program (user interface)</vt:lpstr>
      <vt:lpstr>The code: Hotel Reservation program (part 1)</vt:lpstr>
      <vt:lpstr>The code: Hotel Reservation program (part 2)</vt:lpstr>
      <vt:lpstr>The code: Hotel Reservation program (part 3)</vt:lpstr>
      <vt:lpstr>The code: Hotel Reservation program (part 4)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2019-07-25T18:39:47Z</dcterms:created>
  <dc:creator>Bethany Cabrera</dc:creator>
  <cp:lastModifiedBy>Anne Boehm</cp:lastModifiedBy>
  <cp:lastPrinted>2016-01-14T23:03:16Z</cp:lastPrinted>
  <dcterms:modified xsi:type="dcterms:W3CDTF">2021-03-22T21:20:41Z</dcterms:modified>
  <cp:revision>27</cp:revision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pid="2" fmtid="{D5CDD505-2E9C-101B-9397-08002B2CF9AE}" name="ReadingOrderVerifiedPages">
    <vt:lpwstr>2,3,4,5,6,7,8,9,10,11,12,13,14,15,16,17,18,19,20,21,22,23,24,25,26,27,28,29,30,31,32,33,34</vt:lpwstr>
  </property>
</Properties>
</file>