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9" r:id="rId1"/>
  </p:sldMasterIdLst>
  <p:notesMasterIdLst>
    <p:notesMasterId r:id="rId40"/>
  </p:notesMasterIdLst>
  <p:sldIdLst>
    <p:sldId id="256" r:id="rId2"/>
    <p:sldId id="312" r:id="rId3"/>
    <p:sldId id="313" r:id="rId4"/>
    <p:sldId id="314" r:id="rId5"/>
    <p:sldId id="315" r:id="rId6"/>
    <p:sldId id="316" r:id="rId7"/>
    <p:sldId id="318" r:id="rId8"/>
    <p:sldId id="319" r:id="rId9"/>
    <p:sldId id="317" r:id="rId10"/>
    <p:sldId id="321" r:id="rId11"/>
    <p:sldId id="322" r:id="rId12"/>
    <p:sldId id="323" r:id="rId13"/>
    <p:sldId id="333" r:id="rId14"/>
    <p:sldId id="332" r:id="rId15"/>
    <p:sldId id="331" r:id="rId16"/>
    <p:sldId id="330" r:id="rId17"/>
    <p:sldId id="329" r:id="rId18"/>
    <p:sldId id="328" r:id="rId19"/>
    <p:sldId id="327" r:id="rId20"/>
    <p:sldId id="326" r:id="rId21"/>
    <p:sldId id="325" r:id="rId22"/>
    <p:sldId id="324" r:id="rId23"/>
    <p:sldId id="337" r:id="rId24"/>
    <p:sldId id="336" r:id="rId25"/>
    <p:sldId id="320" r:id="rId26"/>
    <p:sldId id="335" r:id="rId27"/>
    <p:sldId id="334" r:id="rId28"/>
    <p:sldId id="341" r:id="rId29"/>
    <p:sldId id="340" r:id="rId30"/>
    <p:sldId id="339" r:id="rId31"/>
    <p:sldId id="338" r:id="rId32"/>
    <p:sldId id="345" r:id="rId33"/>
    <p:sldId id="344" r:id="rId34"/>
    <p:sldId id="343" r:id="rId35"/>
    <p:sldId id="342" r:id="rId36"/>
    <p:sldId id="347" r:id="rId37"/>
    <p:sldId id="346" r:id="rId38"/>
    <p:sldId id="311" r:id="rId39"/>
  </p:sldIdLst>
  <p:sldSz cx="9144000" cy="6858000" type="screen4x3"/>
  <p:notesSz cx="7315200" cy="9601200"/>
  <p:custDataLst>
    <p:tags r:id="rId41"/>
  </p:custDataLst>
  <p:defaultTextStyle>
    <a:defPPr>
      <a:defRPr lang="en-US"/>
    </a:defPPr>
    <a:lvl1pPr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1pPr>
    <a:lvl2pPr marL="4572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2pPr>
    <a:lvl3pPr marL="9144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3pPr>
    <a:lvl4pPr marL="13716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4pPr>
    <a:lvl5pPr marL="18288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5pPr>
    <a:lvl6pPr marL="2286000" algn="l" defTabSz="457200" rtl="0" eaLnBrk="1" latinLnBrk="0" hangingPunct="1">
      <a:defRPr kern="1200">
        <a:solidFill>
          <a:schemeClr val="tx1"/>
        </a:solidFill>
        <a:latin typeface="Verdana" charset="0"/>
        <a:ea typeface="ヒラギノ角ゴ Pro W3" charset="0"/>
        <a:cs typeface="ヒラギノ角ゴ Pro W3" charset="0"/>
      </a:defRPr>
    </a:lvl6pPr>
    <a:lvl7pPr marL="2743200" algn="l" defTabSz="457200" rtl="0" eaLnBrk="1" latinLnBrk="0" hangingPunct="1">
      <a:defRPr kern="1200">
        <a:solidFill>
          <a:schemeClr val="tx1"/>
        </a:solidFill>
        <a:latin typeface="Verdana" charset="0"/>
        <a:ea typeface="ヒラギノ角ゴ Pro W3" charset="0"/>
        <a:cs typeface="ヒラギノ角ゴ Pro W3" charset="0"/>
      </a:defRPr>
    </a:lvl7pPr>
    <a:lvl8pPr marL="3200400" algn="l" defTabSz="457200" rtl="0" eaLnBrk="1" latinLnBrk="0" hangingPunct="1">
      <a:defRPr kern="1200">
        <a:solidFill>
          <a:schemeClr val="tx1"/>
        </a:solidFill>
        <a:latin typeface="Verdana" charset="0"/>
        <a:ea typeface="ヒラギノ角ゴ Pro W3" charset="0"/>
        <a:cs typeface="ヒラギノ角ゴ Pro W3" charset="0"/>
      </a:defRPr>
    </a:lvl8pPr>
    <a:lvl9pPr marL="3657600" algn="l" defTabSz="457200" rtl="0" eaLnBrk="1" latinLnBrk="0" hangingPunct="1">
      <a:defRPr kern="1200">
        <a:solidFill>
          <a:schemeClr val="tx1"/>
        </a:solidFill>
        <a:latin typeface="Verdana" charset="0"/>
        <a:ea typeface="ヒラギノ角ゴ Pro W3" charset="0"/>
        <a:cs typeface="ヒラギノ角ゴ Pro W3" charset="0"/>
      </a:defRPr>
    </a:lvl9pPr>
  </p:defaultTextStyle>
  <p:extLst>
    <p:ext uri="{EFAFB233-063F-42B5-8137-9DF3F51BA10A}">
      <p15:sldGuideLst xmlns:p15="http://schemas.microsoft.com/office/powerpoint/2012/main">
        <p15:guide id="1" orient="horz" pos="934">
          <p15:clr>
            <a:srgbClr val="A4A3A4"/>
          </p15:clr>
        </p15:guide>
        <p15:guide id="2" pos="3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6EBA"/>
    <a:srgbClr val="5B96FA"/>
    <a:srgbClr val="72B0FC"/>
    <a:srgbClr val="207AFC"/>
    <a:srgbClr val="76B5FC"/>
    <a:srgbClr val="750400"/>
    <a:srgbClr val="A5002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1315" y="58"/>
      </p:cViewPr>
      <p:guideLst>
        <p:guide orient="horz" pos="934"/>
        <p:guide pos="3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algn="l" defTabSz="966788">
              <a:defRPr sz="1300">
                <a:latin typeface="Verdana" pitchFamily="34" charset="0"/>
                <a:ea typeface="+mn-ea"/>
                <a:cs typeface="+mn-cs"/>
              </a:defRPr>
            </a:lvl1pPr>
          </a:lstStyle>
          <a:p>
            <a:pPr>
              <a:defRPr/>
            </a:pPr>
            <a:endParaRPr lang="en-US"/>
          </a:p>
        </p:txBody>
      </p:sp>
      <p:sp>
        <p:nvSpPr>
          <p:cNvPr id="3" name="Date Placeholder 2"/>
          <p:cNvSpPr>
            <a:spLocks noGrp="1"/>
          </p:cNvSpPr>
          <p:nvPr>
            <p:ph type="dt" idx="1"/>
          </p:nvPr>
        </p:nvSpPr>
        <p:spPr bwMode="auto">
          <a:xfrm>
            <a:off x="4143375"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defTabSz="966788">
              <a:defRPr sz="1300"/>
            </a:lvl1pPr>
          </a:lstStyle>
          <a:p>
            <a:fld id="{FEF5AE24-08F2-5D40-832C-1BDBAD460A83}" type="datetime1">
              <a:rPr lang="en-US"/>
              <a:pPr/>
              <a:t>7/17/2017</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bwMode="auto">
          <a:xfrm>
            <a:off x="731838" y="4560888"/>
            <a:ext cx="5851525" cy="4319587"/>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bwMode="auto">
          <a:xfrm>
            <a:off x="0"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algn="l" defTabSz="966788">
              <a:defRPr sz="1300">
                <a:latin typeface="Verdana"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bwMode="auto">
          <a:xfrm>
            <a:off x="4143375"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defTabSz="966788">
              <a:defRPr sz="1300"/>
            </a:lvl1pPr>
          </a:lstStyle>
          <a:p>
            <a:fld id="{74251E3E-1F01-5E47-B35B-00445B403F1E}" type="slidenum">
              <a:rPr lang="en-US"/>
              <a:pPr/>
              <a:t>‹#›</a:t>
            </a:fld>
            <a:endParaRPr lang="en-US"/>
          </a:p>
        </p:txBody>
      </p:sp>
    </p:spTree>
    <p:extLst>
      <p:ext uri="{BB962C8B-B14F-4D97-AF65-F5344CB8AC3E}">
        <p14:creationId xmlns:p14="http://schemas.microsoft.com/office/powerpoint/2010/main" val="2178477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ヒラギノ角ゴ Pro W3" charset="0"/>
        <a:cs typeface="Geneva" pitchFamily="-110" charset="-128"/>
      </a:defRPr>
    </a:lvl1pPr>
    <a:lvl2pPr marL="4572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2pPr>
    <a:lvl3pPr marL="9144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3pPr>
    <a:lvl4pPr marL="13716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4pPr>
    <a:lvl5pPr marL="18288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cs typeface="Geneva"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charset="0"/>
                <a:ea typeface="ヒラギノ角ゴ Pro W3" charset="0"/>
                <a:cs typeface="ヒラギノ角ゴ Pro W3" charset="0"/>
              </a:defRPr>
            </a:lvl1pPr>
            <a:lvl2pPr marL="742950" indent="-285750" defTabSz="966788">
              <a:defRPr>
                <a:solidFill>
                  <a:schemeClr val="tx1"/>
                </a:solidFill>
                <a:latin typeface="Verdana" charset="0"/>
                <a:ea typeface="ヒラギノ角ゴ Pro W3" charset="0"/>
              </a:defRPr>
            </a:lvl2pPr>
            <a:lvl3pPr marL="1143000" indent="-228600" defTabSz="966788">
              <a:defRPr>
                <a:solidFill>
                  <a:schemeClr val="tx1"/>
                </a:solidFill>
                <a:latin typeface="Verdana" charset="0"/>
                <a:ea typeface="ヒラギノ角ゴ Pro W3" charset="0"/>
              </a:defRPr>
            </a:lvl3pPr>
            <a:lvl4pPr marL="1600200" indent="-228600" defTabSz="966788">
              <a:defRPr>
                <a:solidFill>
                  <a:schemeClr val="tx1"/>
                </a:solidFill>
                <a:latin typeface="Verdana" charset="0"/>
                <a:ea typeface="ヒラギノ角ゴ Pro W3" charset="0"/>
              </a:defRPr>
            </a:lvl4pPr>
            <a:lvl5pPr marL="2057400" indent="-228600" defTabSz="966788">
              <a:defRPr>
                <a:solidFill>
                  <a:schemeClr val="tx1"/>
                </a:solidFill>
                <a:latin typeface="Verdana" charset="0"/>
                <a:ea typeface="ヒラギノ角ゴ Pro W3" charset="0"/>
              </a:defRPr>
            </a:lvl5pPr>
            <a:lvl6pPr marL="2514600" indent="-228600" algn="r" defTabSz="966788" eaLnBrk="0" fontAlgn="base" hangingPunct="0">
              <a:spcBef>
                <a:spcPct val="0"/>
              </a:spcBef>
              <a:spcAft>
                <a:spcPct val="0"/>
              </a:spcAft>
              <a:defRPr>
                <a:solidFill>
                  <a:schemeClr val="tx1"/>
                </a:solidFill>
                <a:latin typeface="Verdana" charset="0"/>
                <a:ea typeface="ヒラギノ角ゴ Pro W3" charset="0"/>
              </a:defRPr>
            </a:lvl6pPr>
            <a:lvl7pPr marL="2971800" indent="-228600" algn="r" defTabSz="966788" eaLnBrk="0" fontAlgn="base" hangingPunct="0">
              <a:spcBef>
                <a:spcPct val="0"/>
              </a:spcBef>
              <a:spcAft>
                <a:spcPct val="0"/>
              </a:spcAft>
              <a:defRPr>
                <a:solidFill>
                  <a:schemeClr val="tx1"/>
                </a:solidFill>
                <a:latin typeface="Verdana" charset="0"/>
                <a:ea typeface="ヒラギノ角ゴ Pro W3" charset="0"/>
              </a:defRPr>
            </a:lvl7pPr>
            <a:lvl8pPr marL="3429000" indent="-228600" algn="r" defTabSz="966788" eaLnBrk="0" fontAlgn="base" hangingPunct="0">
              <a:spcBef>
                <a:spcPct val="0"/>
              </a:spcBef>
              <a:spcAft>
                <a:spcPct val="0"/>
              </a:spcAft>
              <a:defRPr>
                <a:solidFill>
                  <a:schemeClr val="tx1"/>
                </a:solidFill>
                <a:latin typeface="Verdana" charset="0"/>
                <a:ea typeface="ヒラギノ角ゴ Pro W3" charset="0"/>
              </a:defRPr>
            </a:lvl8pPr>
            <a:lvl9pPr marL="3886200" indent="-228600" algn="r" defTabSz="966788" eaLnBrk="0" fontAlgn="base" hangingPunct="0">
              <a:spcBef>
                <a:spcPct val="0"/>
              </a:spcBef>
              <a:spcAft>
                <a:spcPct val="0"/>
              </a:spcAft>
              <a:defRPr>
                <a:solidFill>
                  <a:schemeClr val="tx1"/>
                </a:solidFill>
                <a:latin typeface="Verdana" charset="0"/>
                <a:ea typeface="ヒラギノ角ゴ Pro W3" charset="0"/>
              </a:defRPr>
            </a:lvl9pPr>
          </a:lstStyle>
          <a:p>
            <a:fld id="{BC7BCDD0-1D0D-A342-92CD-58A2B5C93BCA}" type="slidenum">
              <a:rPr lang="en-US"/>
              <a:pPr/>
              <a:t>1</a:t>
            </a:fld>
            <a:endParaRPr lang="en-US"/>
          </a:p>
        </p:txBody>
      </p:sp>
    </p:spTree>
    <p:extLst>
      <p:ext uri="{BB962C8B-B14F-4D97-AF65-F5344CB8AC3E}">
        <p14:creationId xmlns:p14="http://schemas.microsoft.com/office/powerpoint/2010/main" val="262756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MS PGothic" charset="0"/>
              <a:cs typeface="MS PGothic"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charset="0"/>
                <a:ea typeface="ヒラギノ角ゴ Pro W3" charset="0"/>
                <a:cs typeface="ヒラギノ角ゴ Pro W3" charset="0"/>
              </a:defRPr>
            </a:lvl1pPr>
            <a:lvl2pPr marL="742950" indent="-285750" defTabSz="966788">
              <a:defRPr>
                <a:solidFill>
                  <a:schemeClr val="tx1"/>
                </a:solidFill>
                <a:latin typeface="Verdana" charset="0"/>
                <a:ea typeface="ヒラギノ角ゴ Pro W3" charset="0"/>
              </a:defRPr>
            </a:lvl2pPr>
            <a:lvl3pPr marL="1143000" indent="-228600" defTabSz="966788">
              <a:defRPr>
                <a:solidFill>
                  <a:schemeClr val="tx1"/>
                </a:solidFill>
                <a:latin typeface="Verdana" charset="0"/>
                <a:ea typeface="ヒラギノ角ゴ Pro W3" charset="0"/>
              </a:defRPr>
            </a:lvl3pPr>
            <a:lvl4pPr marL="1600200" indent="-228600" defTabSz="966788">
              <a:defRPr>
                <a:solidFill>
                  <a:schemeClr val="tx1"/>
                </a:solidFill>
                <a:latin typeface="Verdana" charset="0"/>
                <a:ea typeface="ヒラギノ角ゴ Pro W3" charset="0"/>
              </a:defRPr>
            </a:lvl4pPr>
            <a:lvl5pPr marL="2057400" indent="-228600" defTabSz="966788">
              <a:defRPr>
                <a:solidFill>
                  <a:schemeClr val="tx1"/>
                </a:solidFill>
                <a:latin typeface="Verdana" charset="0"/>
                <a:ea typeface="ヒラギノ角ゴ Pro W3" charset="0"/>
              </a:defRPr>
            </a:lvl5pPr>
            <a:lvl6pPr marL="2514600" indent="-228600" algn="r" defTabSz="966788" eaLnBrk="0" fontAlgn="base" hangingPunct="0">
              <a:spcBef>
                <a:spcPct val="0"/>
              </a:spcBef>
              <a:spcAft>
                <a:spcPct val="0"/>
              </a:spcAft>
              <a:defRPr>
                <a:solidFill>
                  <a:schemeClr val="tx1"/>
                </a:solidFill>
                <a:latin typeface="Verdana" charset="0"/>
                <a:ea typeface="ヒラギノ角ゴ Pro W3" charset="0"/>
              </a:defRPr>
            </a:lvl6pPr>
            <a:lvl7pPr marL="2971800" indent="-228600" algn="r" defTabSz="966788" eaLnBrk="0" fontAlgn="base" hangingPunct="0">
              <a:spcBef>
                <a:spcPct val="0"/>
              </a:spcBef>
              <a:spcAft>
                <a:spcPct val="0"/>
              </a:spcAft>
              <a:defRPr>
                <a:solidFill>
                  <a:schemeClr val="tx1"/>
                </a:solidFill>
                <a:latin typeface="Verdana" charset="0"/>
                <a:ea typeface="ヒラギノ角ゴ Pro W3" charset="0"/>
              </a:defRPr>
            </a:lvl7pPr>
            <a:lvl8pPr marL="3429000" indent="-228600" algn="r" defTabSz="966788" eaLnBrk="0" fontAlgn="base" hangingPunct="0">
              <a:spcBef>
                <a:spcPct val="0"/>
              </a:spcBef>
              <a:spcAft>
                <a:spcPct val="0"/>
              </a:spcAft>
              <a:defRPr>
                <a:solidFill>
                  <a:schemeClr val="tx1"/>
                </a:solidFill>
                <a:latin typeface="Verdana" charset="0"/>
                <a:ea typeface="ヒラギノ角ゴ Pro W3" charset="0"/>
              </a:defRPr>
            </a:lvl8pPr>
            <a:lvl9pPr marL="3886200" indent="-228600" algn="r" defTabSz="966788" eaLnBrk="0" fontAlgn="base" hangingPunct="0">
              <a:spcBef>
                <a:spcPct val="0"/>
              </a:spcBef>
              <a:spcAft>
                <a:spcPct val="0"/>
              </a:spcAft>
              <a:defRPr>
                <a:solidFill>
                  <a:schemeClr val="tx1"/>
                </a:solidFill>
                <a:latin typeface="Verdana" charset="0"/>
                <a:ea typeface="ヒラギノ角ゴ Pro W3" charset="0"/>
              </a:defRPr>
            </a:lvl9pPr>
          </a:lstStyle>
          <a:p>
            <a:fld id="{E54641DE-D560-2044-8A3B-1CFBF98D161A}" type="slidenum">
              <a:rPr lang="en-US">
                <a:solidFill>
                  <a:srgbClr val="000000"/>
                </a:solidFill>
                <a:ea typeface="MS PGothic" charset="0"/>
                <a:cs typeface="MS PGothic" charset="0"/>
              </a:rPr>
              <a:pPr/>
              <a:t>38</a:t>
            </a:fld>
            <a:endParaRPr lang="en-US">
              <a:solidFill>
                <a:srgbClr val="000000"/>
              </a:solidFill>
              <a:ea typeface="MS PGothic" charset="0"/>
              <a:cs typeface="MS PGothic" charset="0"/>
            </a:endParaRPr>
          </a:p>
        </p:txBody>
      </p:sp>
    </p:spTree>
    <p:extLst>
      <p:ext uri="{BB962C8B-B14F-4D97-AF65-F5344CB8AC3E}">
        <p14:creationId xmlns:p14="http://schemas.microsoft.com/office/powerpoint/2010/main" val="3229126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028"/>
          <p:cNvSpPr>
            <a:spLocks noChangeArrowheads="1"/>
          </p:cNvSpPr>
          <p:nvPr userDrawn="1"/>
        </p:nvSpPr>
        <p:spPr bwMode="auto">
          <a:xfrm>
            <a:off x="0" y="0"/>
            <a:ext cx="9144000" cy="5334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Verdana" pitchFamily="34" charset="0"/>
                <a:ea typeface="ヒラギノ角ゴ Pro W3" pitchFamily="127" charset="-128"/>
              </a:defRPr>
            </a:lvl1pPr>
            <a:lvl2pPr marL="742950" indent="-285750">
              <a:defRPr sz="2400">
                <a:solidFill>
                  <a:schemeClr val="tx1"/>
                </a:solidFill>
                <a:latin typeface="Verdana" pitchFamily="34" charset="0"/>
                <a:ea typeface="ヒラギノ角ゴ Pro W3" pitchFamily="127" charset="-128"/>
              </a:defRPr>
            </a:lvl2pPr>
            <a:lvl3pPr marL="1143000" indent="-228600">
              <a:defRPr sz="2400">
                <a:solidFill>
                  <a:schemeClr val="tx1"/>
                </a:solidFill>
                <a:latin typeface="Verdana" pitchFamily="34" charset="0"/>
                <a:ea typeface="ヒラギノ角ゴ Pro W3" pitchFamily="127" charset="-128"/>
              </a:defRPr>
            </a:lvl3pPr>
            <a:lvl4pPr marL="1600200" indent="-228600">
              <a:defRPr sz="2400">
                <a:solidFill>
                  <a:schemeClr val="tx1"/>
                </a:solidFill>
                <a:latin typeface="Verdana" pitchFamily="34" charset="0"/>
                <a:ea typeface="ヒラギノ角ゴ Pro W3" pitchFamily="127" charset="-128"/>
              </a:defRPr>
            </a:lvl4pPr>
            <a:lvl5pPr marL="2057400" indent="-228600">
              <a:defRPr sz="2400">
                <a:solidFill>
                  <a:schemeClr val="tx1"/>
                </a:solidFill>
                <a:latin typeface="Verdana" pitchFamily="34" charset="0"/>
                <a:ea typeface="ヒラギノ角ゴ Pro W3" pitchFamily="127" charset="-128"/>
              </a:defRPr>
            </a:lvl5pPr>
            <a:lvl6pPr marL="25146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6pPr>
            <a:lvl7pPr marL="29718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7pPr>
            <a:lvl8pPr marL="34290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8pPr>
            <a:lvl9pPr marL="38862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9pPr>
          </a:lstStyle>
          <a:p>
            <a:pPr>
              <a:defRPr/>
            </a:pPr>
            <a:endParaRPr lang="en-US" altLang="en-US" sz="1800" smtClean="0">
              <a:latin typeface="Arial" pitchFamily="34" charset="0"/>
              <a:ea typeface="MS PGothic" pitchFamily="34" charset="-128"/>
              <a:cs typeface="+mn-cs"/>
            </a:endParaRPr>
          </a:p>
        </p:txBody>
      </p:sp>
      <p:sp>
        <p:nvSpPr>
          <p:cNvPr id="5" name="Text Box 6"/>
          <p:cNvSpPr txBox="1">
            <a:spLocks noChangeArrowheads="1"/>
          </p:cNvSpPr>
          <p:nvPr userDrawn="1"/>
        </p:nvSpPr>
        <p:spPr bwMode="auto">
          <a:xfrm>
            <a:off x="365125" y="-1588"/>
            <a:ext cx="8001000" cy="522288"/>
          </a:xfrm>
          <a:prstGeom prst="rect">
            <a:avLst/>
          </a:prstGeom>
          <a:noFill/>
          <a:ln>
            <a:noFill/>
          </a:ln>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l" eaLnBrk="1" hangingPunct="1">
              <a:spcBef>
                <a:spcPct val="50000"/>
              </a:spcBef>
              <a:defRPr/>
            </a:pPr>
            <a:r>
              <a:rPr lang="en-US" sz="2800" dirty="0" smtClean="0">
                <a:solidFill>
                  <a:schemeClr val="bg1"/>
                </a:solidFill>
                <a:ea typeface="ＭＳ Ｐゴシック" pitchFamily="-106" charset="-128"/>
                <a:cs typeface="ＭＳ Ｐゴシック" pitchFamily="-106" charset="-128"/>
              </a:rPr>
              <a:t>Chapter 5 Lecture </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6" name="Rectangle 4"/>
          <p:cNvSpPr>
            <a:spLocks noGrp="1" noChangeArrowheads="1"/>
          </p:cNvSpPr>
          <p:nvPr>
            <p:ph type="dt" sz="half" idx="10"/>
          </p:nvPr>
        </p:nvSpPr>
        <p:spPr/>
        <p:txBody>
          <a:bodyPr/>
          <a:lstStyle>
            <a:lvl1pPr>
              <a:defRPr/>
            </a:lvl1pPr>
          </a:lstStyle>
          <a:p>
            <a:fld id="{F11A8799-5621-0A40-AA76-E7EF0F6B7E83}" type="datetime1">
              <a:rPr lang="en-US"/>
              <a:pPr/>
              <a:t>7/17/2017</a:t>
            </a:fld>
            <a:endParaRPr lang="en-US"/>
          </a:p>
        </p:txBody>
      </p:sp>
      <p:sp>
        <p:nvSpPr>
          <p:cNvPr id="7" name="Rectangle 5"/>
          <p:cNvSpPr>
            <a:spLocks noGrp="1" noChangeArrowheads="1"/>
          </p:cNvSpPr>
          <p:nvPr>
            <p:ph type="ftr" sz="quarter" idx="11"/>
          </p:nvPr>
        </p:nvSpPr>
        <p:spPr/>
        <p:txBody>
          <a:bodyPr/>
          <a:lstStyle>
            <a:lvl1pPr>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fld id="{96938624-EA00-5E44-8AC8-F056641D6397}" type="slidenum">
              <a:rPr lang="en-US"/>
              <a:pPr/>
              <a:t>‹#›</a:t>
            </a:fld>
            <a:endParaRPr lang="en-US"/>
          </a:p>
        </p:txBody>
      </p:sp>
    </p:spTree>
    <p:extLst>
      <p:ext uri="{BB962C8B-B14F-4D97-AF65-F5344CB8AC3E}">
        <p14:creationId xmlns:p14="http://schemas.microsoft.com/office/powerpoint/2010/main" val="150583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84048" y="155448"/>
            <a:ext cx="8302752" cy="639209"/>
          </a:xfrm>
        </p:spPr>
        <p:txBody>
          <a:bodyPr anchor="t" anchorCtr="0"/>
          <a:lstStyle>
            <a:lvl1pPr algn="l">
              <a:defRPr sz="2800" b="1">
                <a:solidFill>
                  <a:srgbClr val="5E6EBA"/>
                </a:solidFill>
              </a:defRPr>
            </a:lvl1pPr>
          </a:lstStyle>
          <a:p>
            <a:r>
              <a:rPr lang="en-US" dirty="0" smtClean="0"/>
              <a:t>Click to edit Master title style</a:t>
            </a:r>
            <a:endParaRPr lang="en-US" dirty="0"/>
          </a:p>
        </p:txBody>
      </p:sp>
      <p:sp>
        <p:nvSpPr>
          <p:cNvPr id="10" name="Content Placeholder 3"/>
          <p:cNvSpPr>
            <a:spLocks noGrp="1"/>
          </p:cNvSpPr>
          <p:nvPr>
            <p:ph sz="half" idx="2"/>
          </p:nvPr>
        </p:nvSpPr>
        <p:spPr>
          <a:xfrm>
            <a:off x="384048" y="1115568"/>
            <a:ext cx="8444266" cy="3951288"/>
          </a:xfrm>
        </p:spPr>
        <p:txBody>
          <a:bodyPr/>
          <a:lstStyle>
            <a:lvl1pPr>
              <a:defRPr sz="2800"/>
            </a:lvl1pPr>
            <a:lvl2pPr>
              <a:defRPr sz="2400"/>
            </a:lvl2pPr>
            <a:lvl3pPr>
              <a:defRPr sz="22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5542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84048" y="155448"/>
            <a:ext cx="8302752" cy="639209"/>
          </a:xfrm>
        </p:spPr>
        <p:txBody>
          <a:bodyPr anchor="t" anchorCtr="0"/>
          <a:lstStyle>
            <a:lvl1pPr algn="l">
              <a:defRPr sz="2800" b="1" baseline="0">
                <a:solidFill>
                  <a:srgbClr val="5E6EBA"/>
                </a:solidFill>
              </a:defRPr>
            </a:lvl1pPr>
          </a:lstStyle>
          <a:p>
            <a:r>
              <a:rPr lang="en-US" dirty="0" smtClean="0"/>
              <a:t>Click to edit Master title style   THIS IS FOR 2 LINE HEADER</a:t>
            </a:r>
            <a:endParaRPr lang="en-US" dirty="0"/>
          </a:p>
        </p:txBody>
      </p:sp>
      <p:sp>
        <p:nvSpPr>
          <p:cNvPr id="10" name="Content Placeholder 3"/>
          <p:cNvSpPr>
            <a:spLocks noGrp="1"/>
          </p:cNvSpPr>
          <p:nvPr>
            <p:ph sz="half" idx="2"/>
          </p:nvPr>
        </p:nvSpPr>
        <p:spPr>
          <a:xfrm>
            <a:off x="384048" y="1485692"/>
            <a:ext cx="8411609" cy="3951288"/>
          </a:xfrm>
        </p:spPr>
        <p:txBody>
          <a:bodyPr/>
          <a:lstStyle>
            <a:lvl1pPr>
              <a:defRPr sz="2800"/>
            </a:lvl1pPr>
            <a:lvl2pPr>
              <a:defRPr sz="2400"/>
            </a:lvl2pPr>
            <a:lvl3pPr>
              <a:defRPr sz="22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12190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Rectangle 2"/>
          <p:cNvSpPr txBox="1">
            <a:spLocks noChangeArrowheads="1"/>
          </p:cNvSpPr>
          <p:nvPr userDrawn="1"/>
        </p:nvSpPr>
        <p:spPr>
          <a:xfrm>
            <a:off x="533400" y="2819400"/>
            <a:ext cx="8229600" cy="1139825"/>
          </a:xfrm>
          <a:prstGeom prst="rect">
            <a:avLst/>
          </a:prstGeom>
        </p:spPr>
        <p:txBody>
          <a:bodyPr/>
          <a:lstStyle/>
          <a:p>
            <a:pPr algn="ctr" eaLnBrk="1" hangingPunct="1">
              <a:defRPr/>
            </a:pPr>
            <a:r>
              <a:rPr lang="en-US" sz="4400" b="1" dirty="0">
                <a:solidFill>
                  <a:srgbClr val="5D6CB9"/>
                </a:solidFill>
                <a:latin typeface="Arial"/>
                <a:ea typeface="ヒラギノ角ゴ Pro W3" pitchFamily="127" charset="-128"/>
                <a:cs typeface="+mn-cs"/>
              </a:rPr>
              <a:t>End of Chapter </a:t>
            </a:r>
            <a:r>
              <a:rPr lang="en-US" sz="4400" b="1" dirty="0" smtClean="0">
                <a:solidFill>
                  <a:srgbClr val="5D6CB9"/>
                </a:solidFill>
                <a:latin typeface="Arial"/>
                <a:ea typeface="ヒラギノ角ゴ Pro W3" pitchFamily="127" charset="-128"/>
                <a:cs typeface="+mn-cs"/>
              </a:rPr>
              <a:t>5 </a:t>
            </a:r>
            <a:endParaRPr lang="en-US" sz="4400" b="1" kern="0" dirty="0">
              <a:solidFill>
                <a:srgbClr val="5E6EBA"/>
              </a:solidFill>
              <a:latin typeface="Arial"/>
              <a:ea typeface="ＭＳ Ｐゴシック" pitchFamily="34" charset="-128"/>
              <a:cs typeface="+mn-cs"/>
            </a:endParaRPr>
          </a:p>
        </p:txBody>
      </p:sp>
    </p:spTree>
    <p:extLst>
      <p:ext uri="{BB962C8B-B14F-4D97-AF65-F5344CB8AC3E}">
        <p14:creationId xmlns:p14="http://schemas.microsoft.com/office/powerpoint/2010/main" val="2629938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fld id="{DFFEE5C6-A024-C146-966A-834BE8B6C09A}" type="datetime1">
              <a:rPr lang="en-US"/>
              <a:pPr/>
              <a:t>7/17/2017</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391B1F95-3568-C049-9BBA-5B02EE7DD3D4}" type="slidenum">
              <a:rPr lang="en-US"/>
              <a:pPr/>
              <a:t>‹#›</a:t>
            </a:fld>
            <a:endParaRPr lang="en-US"/>
          </a:p>
        </p:txBody>
      </p:sp>
    </p:spTree>
    <p:extLst>
      <p:ext uri="{BB962C8B-B14F-4D97-AF65-F5344CB8AC3E}">
        <p14:creationId xmlns:p14="http://schemas.microsoft.com/office/powerpoint/2010/main" val="316945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fld id="{6214E6FF-1B03-C34C-8453-CAB0F6333406}" type="datetime1">
              <a:rPr lang="en-US"/>
              <a:pPr/>
              <a:t>7/17/2017</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FA3E8AC0-D878-C542-BD5C-FCEC03087F55}" type="slidenum">
              <a:rPr lang="en-US"/>
              <a:pPr/>
              <a:t>‹#›</a:t>
            </a:fld>
            <a:endParaRPr lang="en-US"/>
          </a:p>
        </p:txBody>
      </p:sp>
    </p:spTree>
    <p:extLst>
      <p:ext uri="{BB962C8B-B14F-4D97-AF65-F5344CB8AC3E}">
        <p14:creationId xmlns:p14="http://schemas.microsoft.com/office/powerpoint/2010/main" val="1704219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09944013-5992-CC49-964E-99434A298FFC}" type="datetime1">
              <a:rPr lang="en-US"/>
              <a:pPr/>
              <a:t>7/17/2017</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35AA1FC6-A4F1-5D40-86BC-4B14BB5F280D}" type="slidenum">
              <a:rPr lang="en-US"/>
              <a:pPr/>
              <a:t>‹#›</a:t>
            </a:fld>
            <a:endParaRPr lang="en-US"/>
          </a:p>
        </p:txBody>
      </p:sp>
    </p:spTree>
    <p:extLst>
      <p:ext uri="{BB962C8B-B14F-4D97-AF65-F5344CB8AC3E}">
        <p14:creationId xmlns:p14="http://schemas.microsoft.com/office/powerpoint/2010/main" val="214053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DB385482-A9D5-3B49-89B8-BE5DB124B9F6}" type="datetime1">
              <a:rPr lang="en-US"/>
              <a:pPr/>
              <a:t>7/17/2017</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0572508-FF72-7D4C-905F-B7A680DC8DAF}" type="slidenum">
              <a:rPr lang="en-US"/>
              <a:pPr/>
              <a:t>‹#›</a:t>
            </a:fld>
            <a:endParaRPr lang="en-US"/>
          </a:p>
        </p:txBody>
      </p:sp>
    </p:spTree>
    <p:extLst>
      <p:ext uri="{BB962C8B-B14F-4D97-AF65-F5344CB8AC3E}">
        <p14:creationId xmlns:p14="http://schemas.microsoft.com/office/powerpoint/2010/main" val="292761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CC09749-35D2-CE44-9C83-D3D96DD49551}" type="datetime1">
              <a:rPr lang="en-US"/>
              <a:pPr/>
              <a:t>7/17/2017</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AB1EC08-1CB8-AE43-AA3B-9D4A2E72DC85}" type="slidenum">
              <a:rPr lang="en-US"/>
              <a:pPr/>
              <a:t>‹#›</a:t>
            </a:fld>
            <a:endParaRPr lang="en-US"/>
          </a:p>
        </p:txBody>
      </p:sp>
    </p:spTree>
    <p:extLst>
      <p:ext uri="{BB962C8B-B14F-4D97-AF65-F5344CB8AC3E}">
        <p14:creationId xmlns:p14="http://schemas.microsoft.com/office/powerpoint/2010/main" val="22916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6062FF37-9068-504F-AE83-5B7ED5387C1D}" type="datetime1">
              <a:rPr lang="en-US"/>
              <a:pPr/>
              <a:t>7/17/2017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F4A60C2-CA5F-CB4C-B3B6-C671C01D4629}" type="slidenum">
              <a:rPr lang="en-US"/>
              <a:pPr/>
              <a:t>‹#›</a:t>
            </a:fld>
            <a:endParaRPr lang="en-US"/>
          </a:p>
        </p:txBody>
      </p:sp>
    </p:spTree>
    <p:extLst>
      <p:ext uri="{BB962C8B-B14F-4D97-AF65-F5344CB8AC3E}">
        <p14:creationId xmlns:p14="http://schemas.microsoft.com/office/powerpoint/2010/main" val="90766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9DCC00D5-1C29-5D47-8025-CF2C6E6A864D}" type="datetime1">
              <a:rPr lang="en-US"/>
              <a:pPr/>
              <a:t>7/17/2017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C279A1D-DB01-0246-AB87-61A85F2794D6}" type="slidenum">
              <a:rPr lang="en-US"/>
              <a:pPr/>
              <a:t>‹#›</a:t>
            </a:fld>
            <a:endParaRPr lang="en-US"/>
          </a:p>
        </p:txBody>
      </p:sp>
    </p:spTree>
    <p:extLst>
      <p:ext uri="{BB962C8B-B14F-4D97-AF65-F5344CB8AC3E}">
        <p14:creationId xmlns:p14="http://schemas.microsoft.com/office/powerpoint/2010/main" val="250631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909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fld id="{2A422EDC-4A7D-E54A-952E-A4F68B1BD5BE}" type="datetime1">
              <a:rPr lang="en-US"/>
              <a:pPr/>
              <a:t>7/17/2017</a:t>
            </a:fld>
            <a:endParaRPr lang="en-US"/>
          </a:p>
        </p:txBody>
      </p:sp>
      <p:sp>
        <p:nvSpPr>
          <p:cNvPr id="89093"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1" hangingPunct="1">
              <a:defRPr sz="1400">
                <a:latin typeface="+mn-lt"/>
                <a:ea typeface="+mn-ea"/>
                <a:cs typeface="+mn-cs"/>
              </a:defRPr>
            </a:lvl1pPr>
          </a:lstStyle>
          <a:p>
            <a:pPr>
              <a:defRPr/>
            </a:pPr>
            <a:endParaRPr lang="en-US"/>
          </a:p>
        </p:txBody>
      </p:sp>
      <p:sp>
        <p:nvSpPr>
          <p:cNvPr id="89094"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fld id="{13EB9291-ADD1-AB4A-B370-2319EF87B415}" type="slidenum">
              <a:rPr lang="en-US"/>
              <a:pPr/>
              <a:t>‹#›</a:t>
            </a:fld>
            <a:endParaRPr lang="en-US"/>
          </a:p>
        </p:txBody>
      </p:sp>
      <p:sp>
        <p:nvSpPr>
          <p:cNvPr id="1031" name="Rectangle 5"/>
          <p:cNvSpPr>
            <a:spLocks noChangeArrowheads="1"/>
          </p:cNvSpPr>
          <p:nvPr userDrawn="1"/>
        </p:nvSpPr>
        <p:spPr bwMode="auto">
          <a:xfrm>
            <a:off x="0" y="6553200"/>
            <a:ext cx="194786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en-US" sz="900">
                <a:solidFill>
                  <a:srgbClr val="000000"/>
                </a:solidFill>
                <a:latin typeface="Arial" charset="0"/>
              </a:rPr>
              <a:t>© 2017 Pearson Education, Inc. </a:t>
            </a:r>
          </a:p>
        </p:txBody>
      </p:sp>
    </p:spTree>
  </p:cSld>
  <p:clrMap bg1="lt1" tx1="dk1" bg2="lt2" tx2="dk2" accent1="accent1" accent2="accent2" accent3="accent3" accent4="accent4" accent5="accent5" accent6="accent6" hlink="hlink" folHlink="folHlink"/>
  <p:sldLayoutIdLst>
    <p:sldLayoutId id="2147484681" r:id="rId1"/>
    <p:sldLayoutId id="2147484671" r:id="rId2"/>
    <p:sldLayoutId id="2147484672" r:id="rId3"/>
    <p:sldLayoutId id="2147484673" r:id="rId4"/>
    <p:sldLayoutId id="2147484674" r:id="rId5"/>
    <p:sldLayoutId id="2147484675" r:id="rId6"/>
    <p:sldLayoutId id="2147484676" r:id="rId7"/>
    <p:sldLayoutId id="2147484677" r:id="rId8"/>
    <p:sldLayoutId id="2147484678" r:id="rId9"/>
    <p:sldLayoutId id="2147484679" r:id="rId10"/>
    <p:sldLayoutId id="2147484680" r:id="rId11"/>
  </p:sldLayoutIdLst>
  <p:txStyles>
    <p:titleStyle>
      <a:lvl1pPr algn="ctr" rtl="0" eaLnBrk="0" fontAlgn="base" hangingPunct="0">
        <a:spcBef>
          <a:spcPct val="0"/>
        </a:spcBef>
        <a:spcAft>
          <a:spcPct val="0"/>
        </a:spcAft>
        <a:defRPr sz="4400">
          <a:solidFill>
            <a:schemeClr val="tx2"/>
          </a:solidFill>
          <a:latin typeface="+mj-lt"/>
          <a:ea typeface="ヒラギノ角ゴ Pro W3" charset="0"/>
          <a:cs typeface="+mj-cs"/>
        </a:defRPr>
      </a:lvl1pPr>
      <a:lvl2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2pPr>
      <a:lvl3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3pPr>
      <a:lvl4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4pPr>
      <a:lvl5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ヒラギノ角ゴ Pro W3"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3.xml"/><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3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txBox="1">
            <a:spLocks noChangeArrowheads="1"/>
          </p:cNvSpPr>
          <p:nvPr/>
        </p:nvSpPr>
        <p:spPr bwMode="auto">
          <a:xfrm>
            <a:off x="2362200" y="609600"/>
            <a:ext cx="6629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charset="0"/>
                <a:ea typeface="ヒラギノ角ゴ Pro W3" charset="0"/>
                <a:cs typeface="Arial" charset="0"/>
              </a:defRPr>
            </a:lvl1pPr>
            <a:lvl2pPr>
              <a:defRPr sz="2800">
                <a:solidFill>
                  <a:schemeClr val="tx1"/>
                </a:solidFill>
                <a:latin typeface="Arial" charset="0"/>
                <a:ea typeface="Arial" charset="0"/>
                <a:cs typeface="Arial" charset="0"/>
              </a:defRPr>
            </a:lvl2pPr>
            <a:lvl3pPr>
              <a:defRPr sz="2400">
                <a:solidFill>
                  <a:schemeClr val="tx1"/>
                </a:solidFill>
                <a:latin typeface="Arial" charset="0"/>
                <a:ea typeface="Arial" charset="0"/>
                <a:cs typeface="Arial" charset="0"/>
              </a:defRPr>
            </a:lvl3pPr>
            <a:lvl4pPr>
              <a:defRPr sz="2000">
                <a:solidFill>
                  <a:schemeClr val="tx1"/>
                </a:solidFill>
                <a:latin typeface="Arial" charset="0"/>
                <a:ea typeface="Arial" charset="0"/>
                <a:cs typeface="Arial" charset="0"/>
              </a:defRPr>
            </a:lvl4pPr>
            <a:lvl5pPr>
              <a:defRPr sz="2000">
                <a:solidFill>
                  <a:schemeClr val="tx1"/>
                </a:solidFill>
                <a:latin typeface="Arial" charset="0"/>
                <a:ea typeface="Arial" charset="0"/>
                <a:cs typeface="Arial" charset="0"/>
              </a:defRPr>
            </a:lvl5pPr>
            <a:lvl6pPr eaLnBrk="0" hangingPunct="0">
              <a:defRPr sz="2000">
                <a:solidFill>
                  <a:schemeClr val="tx1"/>
                </a:solidFill>
                <a:latin typeface="Arial" charset="0"/>
                <a:ea typeface="Arial" charset="0"/>
                <a:cs typeface="Arial" charset="0"/>
              </a:defRPr>
            </a:lvl6pPr>
            <a:lvl7pPr eaLnBrk="0" hangingPunct="0">
              <a:defRPr sz="2000">
                <a:solidFill>
                  <a:schemeClr val="tx1"/>
                </a:solidFill>
                <a:latin typeface="Arial" charset="0"/>
                <a:ea typeface="Arial" charset="0"/>
                <a:cs typeface="Arial" charset="0"/>
              </a:defRPr>
            </a:lvl7pPr>
            <a:lvl8pPr eaLnBrk="0" hangingPunct="0">
              <a:defRPr sz="2000">
                <a:solidFill>
                  <a:schemeClr val="tx1"/>
                </a:solidFill>
                <a:latin typeface="Arial" charset="0"/>
                <a:ea typeface="Arial" charset="0"/>
                <a:cs typeface="Arial" charset="0"/>
              </a:defRPr>
            </a:lvl8pPr>
            <a:lvl9pPr eaLnBrk="0" hangingPunct="0">
              <a:defRPr sz="2000">
                <a:solidFill>
                  <a:schemeClr val="tx1"/>
                </a:solidFill>
                <a:latin typeface="Arial" charset="0"/>
                <a:ea typeface="Arial" charset="0"/>
                <a:cs typeface="Arial" charset="0"/>
              </a:defRPr>
            </a:lvl9pPr>
          </a:lstStyle>
          <a:p>
            <a:pPr eaLnBrk="1" hangingPunct="1">
              <a:spcBef>
                <a:spcPts val="1000"/>
              </a:spcBef>
            </a:pPr>
            <a:r>
              <a:rPr lang="en-US" sz="2800" b="1">
                <a:solidFill>
                  <a:schemeClr val="tx2"/>
                </a:solidFill>
              </a:rPr>
              <a:t>World Regions in Global Context:</a:t>
            </a:r>
            <a:br>
              <a:rPr lang="en-US" sz="2800" b="1">
                <a:solidFill>
                  <a:schemeClr val="tx2"/>
                </a:solidFill>
              </a:rPr>
            </a:br>
            <a:r>
              <a:rPr lang="en-US" sz="2800" b="1">
                <a:solidFill>
                  <a:schemeClr val="tx2"/>
                </a:solidFill>
              </a:rPr>
              <a:t>Peoples, Places, and Environments</a:t>
            </a:r>
            <a:endParaRPr lang="en-US" b="1">
              <a:solidFill>
                <a:schemeClr val="tx2"/>
              </a:solidFill>
            </a:endParaRPr>
          </a:p>
          <a:p>
            <a:pPr eaLnBrk="1" hangingPunct="1">
              <a:lnSpc>
                <a:spcPct val="50000"/>
              </a:lnSpc>
              <a:spcBef>
                <a:spcPts val="1000"/>
              </a:spcBef>
            </a:pPr>
            <a:r>
              <a:rPr lang="en-US" sz="1800">
                <a:solidFill>
                  <a:schemeClr val="tx2"/>
                </a:solidFill>
              </a:rPr>
              <a:t>6</a:t>
            </a:r>
            <a:r>
              <a:rPr lang="en-US" sz="1800" baseline="30000">
                <a:solidFill>
                  <a:schemeClr val="tx2"/>
                </a:solidFill>
              </a:rPr>
              <a:t>th</a:t>
            </a:r>
            <a:r>
              <a:rPr lang="en-US" sz="1800">
                <a:solidFill>
                  <a:schemeClr val="tx2"/>
                </a:solidFill>
              </a:rPr>
              <a:t> Edition</a:t>
            </a:r>
            <a:endParaRPr lang="en-US" sz="2400" b="1">
              <a:solidFill>
                <a:schemeClr val="tx2"/>
              </a:solidFill>
            </a:endParaRPr>
          </a:p>
        </p:txBody>
      </p:sp>
      <p:sp>
        <p:nvSpPr>
          <p:cNvPr id="3075" name="Rectangle 3"/>
          <p:cNvSpPr txBox="1">
            <a:spLocks noChangeArrowheads="1"/>
          </p:cNvSpPr>
          <p:nvPr/>
        </p:nvSpPr>
        <p:spPr bwMode="auto">
          <a:xfrm>
            <a:off x="152400" y="2819400"/>
            <a:ext cx="4953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charset="0"/>
                <a:ea typeface="ヒラギノ角ゴ Pro W3" charset="0"/>
                <a:cs typeface="Arial" charset="0"/>
              </a:defRPr>
            </a:lvl1pPr>
            <a:lvl2pPr>
              <a:defRPr sz="2800">
                <a:solidFill>
                  <a:schemeClr val="tx1"/>
                </a:solidFill>
                <a:latin typeface="Arial" charset="0"/>
                <a:ea typeface="Arial" charset="0"/>
                <a:cs typeface="Arial" charset="0"/>
              </a:defRPr>
            </a:lvl2pPr>
            <a:lvl3pPr>
              <a:defRPr sz="2400">
                <a:solidFill>
                  <a:schemeClr val="tx1"/>
                </a:solidFill>
                <a:latin typeface="Arial" charset="0"/>
                <a:ea typeface="Arial" charset="0"/>
                <a:cs typeface="Arial" charset="0"/>
              </a:defRPr>
            </a:lvl3pPr>
            <a:lvl4pPr>
              <a:defRPr sz="2000">
                <a:solidFill>
                  <a:schemeClr val="tx1"/>
                </a:solidFill>
                <a:latin typeface="Arial" charset="0"/>
                <a:ea typeface="Arial" charset="0"/>
                <a:cs typeface="Arial" charset="0"/>
              </a:defRPr>
            </a:lvl4pPr>
            <a:lvl5pPr>
              <a:defRPr sz="2000">
                <a:solidFill>
                  <a:schemeClr val="tx1"/>
                </a:solidFill>
                <a:latin typeface="Arial" charset="0"/>
                <a:ea typeface="Arial" charset="0"/>
                <a:cs typeface="Arial" charset="0"/>
              </a:defRPr>
            </a:lvl5pPr>
            <a:lvl6pPr eaLnBrk="0" hangingPunct="0">
              <a:defRPr sz="2000">
                <a:solidFill>
                  <a:schemeClr val="tx1"/>
                </a:solidFill>
                <a:latin typeface="Arial" charset="0"/>
                <a:ea typeface="Arial" charset="0"/>
                <a:cs typeface="Arial" charset="0"/>
              </a:defRPr>
            </a:lvl6pPr>
            <a:lvl7pPr eaLnBrk="0" hangingPunct="0">
              <a:defRPr sz="2000">
                <a:solidFill>
                  <a:schemeClr val="tx1"/>
                </a:solidFill>
                <a:latin typeface="Arial" charset="0"/>
                <a:ea typeface="Arial" charset="0"/>
                <a:cs typeface="Arial" charset="0"/>
              </a:defRPr>
            </a:lvl7pPr>
            <a:lvl8pPr eaLnBrk="0" hangingPunct="0">
              <a:defRPr sz="2000">
                <a:solidFill>
                  <a:schemeClr val="tx1"/>
                </a:solidFill>
                <a:latin typeface="Arial" charset="0"/>
                <a:ea typeface="Arial" charset="0"/>
                <a:cs typeface="Arial" charset="0"/>
              </a:defRPr>
            </a:lvl8pPr>
            <a:lvl9pPr eaLnBrk="0" hangingPunct="0">
              <a:defRPr sz="2000">
                <a:solidFill>
                  <a:schemeClr val="tx1"/>
                </a:solidFill>
                <a:latin typeface="Arial" charset="0"/>
                <a:ea typeface="Arial" charset="0"/>
                <a:cs typeface="Arial" charset="0"/>
              </a:defRPr>
            </a:lvl9pPr>
          </a:lstStyle>
          <a:p>
            <a:pPr marL="342900" indent="-342900" algn="l" eaLnBrk="1" hangingPunct="1">
              <a:lnSpc>
                <a:spcPct val="80000"/>
              </a:lnSpc>
              <a:spcBef>
                <a:spcPct val="20000"/>
              </a:spcBef>
            </a:pPr>
            <a:r>
              <a:rPr lang="en-US" sz="2800" b="1" dirty="0"/>
              <a:t>Sub-Saharan Africa</a:t>
            </a:r>
          </a:p>
          <a:p>
            <a:pPr marL="342900" indent="-342900" algn="l" eaLnBrk="1" hangingPunct="1">
              <a:lnSpc>
                <a:spcPct val="80000"/>
              </a:lnSpc>
              <a:spcBef>
                <a:spcPct val="20000"/>
              </a:spcBef>
            </a:pPr>
            <a:endParaRPr lang="en-US" sz="1800" dirty="0" smtClean="0"/>
          </a:p>
          <a:p>
            <a:pPr marL="342900" indent="-342900" algn="l" eaLnBrk="1" hangingPunct="1">
              <a:lnSpc>
                <a:spcPct val="80000"/>
              </a:lnSpc>
              <a:spcBef>
                <a:spcPct val="20000"/>
              </a:spcBef>
            </a:pPr>
            <a:endParaRPr lang="en-US" sz="1800" dirty="0"/>
          </a:p>
          <a:p>
            <a:pPr marL="342900" indent="-342900" algn="l" eaLnBrk="1" hangingPunct="1">
              <a:lnSpc>
                <a:spcPct val="80000"/>
              </a:lnSpc>
              <a:spcBef>
                <a:spcPct val="20000"/>
              </a:spcBef>
            </a:pPr>
            <a:r>
              <a:rPr lang="en-US" sz="1800" b="1" dirty="0"/>
              <a:t>Lectures by:</a:t>
            </a:r>
          </a:p>
          <a:p>
            <a:pPr marL="342900" indent="-342900" algn="l" eaLnBrk="1" hangingPunct="1">
              <a:lnSpc>
                <a:spcPct val="80000"/>
              </a:lnSpc>
              <a:spcBef>
                <a:spcPct val="20000"/>
              </a:spcBef>
            </a:pPr>
            <a:r>
              <a:rPr lang="en-US" sz="1800" dirty="0" smtClean="0">
                <a:latin typeface="Verdana" charset="0"/>
              </a:rPr>
              <a:t>Christa Ann Smith </a:t>
            </a:r>
            <a:endParaRPr lang="en-US" sz="1800" dirty="0"/>
          </a:p>
        </p:txBody>
      </p:sp>
      <p:pic>
        <p:nvPicPr>
          <p:cNvPr id="5" name="Picture 4" descr="MARSTON_Cover.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906288" y="1997075"/>
            <a:ext cx="3965575" cy="448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55448"/>
            <a:ext cx="8302752" cy="677929"/>
          </a:xfrm>
        </p:spPr>
        <p:txBody>
          <a:bodyPr/>
          <a:lstStyle/>
          <a:p>
            <a:r>
              <a:rPr lang="en-US" dirty="0"/>
              <a:t>Learning </a:t>
            </a:r>
            <a:r>
              <a:rPr lang="en-US" dirty="0" smtClean="0"/>
              <a:t>Outcomes</a:t>
            </a:r>
            <a:endParaRPr lang="en-US" dirty="0"/>
          </a:p>
        </p:txBody>
      </p:sp>
      <p:sp>
        <p:nvSpPr>
          <p:cNvPr id="3" name="Content Placeholder 2"/>
          <p:cNvSpPr>
            <a:spLocks noGrp="1"/>
          </p:cNvSpPr>
          <p:nvPr>
            <p:ph sz="half" idx="2"/>
          </p:nvPr>
        </p:nvSpPr>
        <p:spPr>
          <a:xfrm>
            <a:off x="384048" y="1162460"/>
            <a:ext cx="8444266" cy="3951288"/>
          </a:xfrm>
        </p:spPr>
        <p:txBody>
          <a:bodyPr/>
          <a:lstStyle/>
          <a:p>
            <a:r>
              <a:rPr lang="en-US" sz="2100" dirty="0"/>
              <a:t>Compare the physical geographies of the diverse regions of sub-Saharan Africa, contrasting the climate and vegetation of the Sahel and the Congo Basin, the East African Rift Valley and Okavango, and the major rivers.</a:t>
            </a:r>
          </a:p>
          <a:p>
            <a:endParaRPr lang="en-US" sz="2100" dirty="0"/>
          </a:p>
          <a:p>
            <a:r>
              <a:rPr lang="en-US" sz="2100" dirty="0"/>
              <a:t>Evaluate the role of physical geography, disease, and mineral resources in shaping conflicts, crises, landscapes, and economies.</a:t>
            </a:r>
          </a:p>
          <a:p>
            <a:endParaRPr lang="en-US" sz="2100" dirty="0"/>
          </a:p>
          <a:p>
            <a:r>
              <a:rPr lang="en-US" sz="2100" dirty="0"/>
              <a:t>Identify the impacts of human activity on African wildlife and climates and some of the solutions to these threats.</a:t>
            </a:r>
          </a:p>
          <a:p>
            <a:endParaRPr lang="en-US" sz="2100" dirty="0"/>
          </a:p>
          <a:p>
            <a:r>
              <a:rPr lang="en-US" sz="2100" dirty="0"/>
              <a:t>Summarize the legacies of European colonialism and the Cold War in the region and how these, together with the diversity of ethnicities, religions, and languages, have created conflict within and between countries</a:t>
            </a:r>
            <a:r>
              <a:rPr lang="en-US" sz="2100" dirty="0" smtClean="0"/>
              <a:t>.</a:t>
            </a:r>
            <a:endParaRPr lang="en-US" sz="2100" dirty="0"/>
          </a:p>
        </p:txBody>
      </p:sp>
    </p:spTree>
    <p:extLst>
      <p:ext uri="{BB962C8B-B14F-4D97-AF65-F5344CB8AC3E}">
        <p14:creationId xmlns:p14="http://schemas.microsoft.com/office/powerpoint/2010/main" val="24175856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br>
              <a:rPr lang="en-US" dirty="0"/>
            </a:br>
            <a:endParaRPr lang="en-US" dirty="0"/>
          </a:p>
        </p:txBody>
      </p:sp>
      <p:sp>
        <p:nvSpPr>
          <p:cNvPr id="3" name="Content Placeholder 2"/>
          <p:cNvSpPr>
            <a:spLocks noGrp="1"/>
          </p:cNvSpPr>
          <p:nvPr>
            <p:ph sz="half" idx="2"/>
          </p:nvPr>
        </p:nvSpPr>
        <p:spPr>
          <a:xfrm>
            <a:off x="384048" y="1162460"/>
            <a:ext cx="8444266" cy="3951288"/>
          </a:xfrm>
        </p:spPr>
        <p:txBody>
          <a:bodyPr/>
          <a:lstStyle/>
          <a:p>
            <a:r>
              <a:rPr lang="en-US" sz="2100" dirty="0"/>
              <a:t>Explain how debt relief, the end of several conflicts, and improving the status of women may increase the chance of positive economic and political futures in sub-Saharan Africa.</a:t>
            </a:r>
          </a:p>
          <a:p>
            <a:endParaRPr lang="en-US" sz="2100" dirty="0"/>
          </a:p>
          <a:p>
            <a:r>
              <a:rPr lang="en-US" sz="2100" dirty="0"/>
              <a:t>Describe the main causes of low agricultural production in sub-Saharan Africa, connections of agriculture to desertification and deforestation, and problems that are emerging around land grabs.</a:t>
            </a:r>
          </a:p>
          <a:p>
            <a:endParaRPr lang="en-US" sz="2100" dirty="0"/>
          </a:p>
          <a:p>
            <a:r>
              <a:rPr lang="en-US" sz="2100" dirty="0"/>
              <a:t>Analyze factors affecting the characteristics of populations in sub-Saharan Africa, including the demographic transition, HIV/AIDS and other diseases, urbanization, fertility changes, and migration.</a:t>
            </a:r>
          </a:p>
          <a:p>
            <a:endParaRPr lang="en-US" sz="2100" dirty="0"/>
          </a:p>
          <a:p>
            <a:r>
              <a:rPr lang="en-US" sz="2100" dirty="0"/>
              <a:t>Provide examples of how African people, goods, and culture have spread around the world as a result of slavery, colonialism, and globalization.</a:t>
            </a:r>
          </a:p>
        </p:txBody>
      </p:sp>
    </p:spTree>
    <p:extLst>
      <p:ext uri="{BB962C8B-B14F-4D97-AF65-F5344CB8AC3E}">
        <p14:creationId xmlns:p14="http://schemas.microsoft.com/office/powerpoint/2010/main" val="182306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Sub-Saharan Africa</a:t>
            </a:r>
          </a:p>
        </p:txBody>
      </p:sp>
      <p:sp>
        <p:nvSpPr>
          <p:cNvPr id="3" name="Content Placeholder 2"/>
          <p:cNvSpPr>
            <a:spLocks noGrp="1"/>
          </p:cNvSpPr>
          <p:nvPr>
            <p:ph sz="half" idx="2"/>
          </p:nvPr>
        </p:nvSpPr>
        <p:spPr>
          <a:xfrm>
            <a:off x="384048" y="1080399"/>
            <a:ext cx="3597644" cy="3951288"/>
          </a:xfrm>
        </p:spPr>
        <p:txBody>
          <a:bodyPr/>
          <a:lstStyle/>
          <a:p>
            <a:r>
              <a:rPr lang="en-US" dirty="0"/>
              <a:t>Some of fastest growing economies in the world</a:t>
            </a:r>
          </a:p>
          <a:p>
            <a:r>
              <a:rPr lang="en-US" dirty="0"/>
              <a:t>Peace achieved in many regions</a:t>
            </a:r>
          </a:p>
          <a:p>
            <a:r>
              <a:rPr lang="en-US" dirty="0"/>
              <a:t>Health indicators starting to improve</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84544" y="969498"/>
            <a:ext cx="4709343" cy="4398264"/>
          </a:xfrm>
          <a:prstGeom prst="rect">
            <a:avLst/>
          </a:prstGeom>
        </p:spPr>
      </p:pic>
    </p:spTree>
    <p:extLst>
      <p:ext uri="{BB962C8B-B14F-4D97-AF65-F5344CB8AC3E}">
        <p14:creationId xmlns:p14="http://schemas.microsoft.com/office/powerpoint/2010/main" val="27950368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Environment, Society, and Sustainability</a:t>
            </a:r>
          </a:p>
        </p:txBody>
      </p:sp>
      <p:sp>
        <p:nvSpPr>
          <p:cNvPr id="3" name="Content Placeholder 2"/>
          <p:cNvSpPr>
            <a:spLocks noGrp="1"/>
          </p:cNvSpPr>
          <p:nvPr>
            <p:ph sz="half" idx="2"/>
          </p:nvPr>
        </p:nvSpPr>
        <p:spPr>
          <a:xfrm>
            <a:off x="384048" y="1080399"/>
            <a:ext cx="8444266" cy="3951288"/>
          </a:xfrm>
        </p:spPr>
        <p:txBody>
          <a:bodyPr/>
          <a:lstStyle/>
          <a:p>
            <a:r>
              <a:rPr lang="en-US" dirty="0"/>
              <a:t>Large, complex continent</a:t>
            </a:r>
          </a:p>
          <a:p>
            <a:r>
              <a:rPr lang="en-US" dirty="0"/>
              <a:t>Region of Africa south of the Sahara</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557258" y="2193153"/>
            <a:ext cx="4482543" cy="4242816"/>
          </a:xfrm>
          <a:prstGeom prst="rect">
            <a:avLst/>
          </a:prstGeom>
        </p:spPr>
      </p:pic>
    </p:spTree>
    <p:extLst>
      <p:ext uri="{BB962C8B-B14F-4D97-AF65-F5344CB8AC3E}">
        <p14:creationId xmlns:p14="http://schemas.microsoft.com/office/powerpoint/2010/main" val="4183929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Climate and Climate Change</a:t>
            </a:r>
          </a:p>
        </p:txBody>
      </p:sp>
      <p:sp>
        <p:nvSpPr>
          <p:cNvPr id="3" name="Content Placeholder 2"/>
          <p:cNvSpPr>
            <a:spLocks noGrp="1"/>
          </p:cNvSpPr>
          <p:nvPr>
            <p:ph sz="half" idx="2"/>
          </p:nvPr>
        </p:nvSpPr>
        <p:spPr>
          <a:xfrm>
            <a:off x="384048" y="1080399"/>
            <a:ext cx="3516621" cy="3951288"/>
          </a:xfrm>
        </p:spPr>
        <p:txBody>
          <a:bodyPr/>
          <a:lstStyle/>
          <a:p>
            <a:r>
              <a:rPr lang="en-US" b="1" dirty="0" err="1"/>
              <a:t>Intertropical</a:t>
            </a:r>
            <a:r>
              <a:rPr lang="en-US" b="1" dirty="0"/>
              <a:t> convergence zone (ITCZ)</a:t>
            </a:r>
          </a:p>
          <a:p>
            <a:r>
              <a:rPr lang="en-US" b="1" dirty="0"/>
              <a:t>Subtropical high pressure</a:t>
            </a:r>
          </a:p>
          <a:p>
            <a:r>
              <a:rPr lang="en-US" dirty="0"/>
              <a:t>Seasonal rainfall</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718688" y="1368084"/>
            <a:ext cx="5309871" cy="4855464"/>
          </a:xfrm>
          <a:prstGeom prst="rect">
            <a:avLst/>
          </a:prstGeom>
        </p:spPr>
      </p:pic>
    </p:spTree>
    <p:extLst>
      <p:ext uri="{BB962C8B-B14F-4D97-AF65-F5344CB8AC3E}">
        <p14:creationId xmlns:p14="http://schemas.microsoft.com/office/powerpoint/2010/main" val="8200207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Climate and Climate Change (cont.)</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b="1" dirty="0" smtClean="0"/>
              <a:t>Sahel</a:t>
            </a:r>
          </a:p>
          <a:p>
            <a:pPr lvl="1"/>
            <a:r>
              <a:rPr lang="en-US" b="1" dirty="0" smtClean="0"/>
              <a:t>desertification</a:t>
            </a:r>
            <a:endParaRPr lang="en-US" b="1" dirty="0"/>
          </a:p>
          <a:p>
            <a:pPr lvl="2"/>
            <a:r>
              <a:rPr lang="en-US" b="1" dirty="0" smtClean="0"/>
              <a:t>pastoralism</a:t>
            </a:r>
            <a:endParaRPr lang="en-US" dirty="0" smtClean="0"/>
          </a:p>
          <a:p>
            <a:pPr lvl="2"/>
            <a:r>
              <a:rPr lang="en-US" dirty="0" smtClean="0"/>
              <a:t>overgrazing</a:t>
            </a:r>
            <a:endParaRPr lang="en-US" dirty="0"/>
          </a:p>
          <a:p>
            <a:pPr lvl="2"/>
            <a:r>
              <a:rPr lang="en-US" dirty="0" smtClean="0"/>
              <a:t>deforestation</a:t>
            </a:r>
            <a:endParaRPr lang="en-US" dirty="0"/>
          </a:p>
          <a:p>
            <a:pPr lvl="2"/>
            <a:r>
              <a:rPr lang="en-US" dirty="0" smtClean="0"/>
              <a:t>unskilled </a:t>
            </a:r>
            <a:r>
              <a:rPr lang="en-US" dirty="0"/>
              <a:t>irrigation</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467619" y="679938"/>
            <a:ext cx="4361934" cy="5964312"/>
          </a:xfrm>
          <a:prstGeom prst="rect">
            <a:avLst/>
          </a:prstGeom>
        </p:spPr>
      </p:pic>
    </p:spTree>
    <p:extLst>
      <p:ext uri="{BB962C8B-B14F-4D97-AF65-F5344CB8AC3E}">
        <p14:creationId xmlns:p14="http://schemas.microsoft.com/office/powerpoint/2010/main" val="773607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Climate and Climate Change (cont.)</a:t>
            </a:r>
          </a:p>
        </p:txBody>
      </p:sp>
      <p:sp>
        <p:nvSpPr>
          <p:cNvPr id="3" name="Content Placeholder 2"/>
          <p:cNvSpPr>
            <a:spLocks noGrp="1"/>
          </p:cNvSpPr>
          <p:nvPr>
            <p:ph sz="half" idx="2"/>
          </p:nvPr>
        </p:nvSpPr>
        <p:spPr>
          <a:xfrm>
            <a:off x="384048" y="1080399"/>
            <a:ext cx="3291200" cy="3951288"/>
          </a:xfrm>
        </p:spPr>
        <p:txBody>
          <a:bodyPr/>
          <a:lstStyle/>
          <a:p>
            <a:r>
              <a:rPr lang="en-US" dirty="0"/>
              <a:t>Climate change</a:t>
            </a:r>
          </a:p>
          <a:p>
            <a:pPr lvl="1"/>
            <a:r>
              <a:rPr lang="en-US" dirty="0"/>
              <a:t>extreme vulnerability</a:t>
            </a:r>
          </a:p>
          <a:p>
            <a:pPr lvl="1"/>
            <a:r>
              <a:rPr lang="en-US" dirty="0"/>
              <a:t>low greenhouse emissions</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673542" y="1157068"/>
            <a:ext cx="5207092" cy="4928616"/>
          </a:xfrm>
          <a:prstGeom prst="rect">
            <a:avLst/>
          </a:prstGeom>
        </p:spPr>
      </p:pic>
    </p:spTree>
    <p:extLst>
      <p:ext uri="{BB962C8B-B14F-4D97-AF65-F5344CB8AC3E}">
        <p14:creationId xmlns:p14="http://schemas.microsoft.com/office/powerpoint/2010/main" val="4290532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Geological Resources, Risk, and Water</a:t>
            </a:r>
          </a:p>
        </p:txBody>
      </p:sp>
      <p:sp>
        <p:nvSpPr>
          <p:cNvPr id="3" name="Content Placeholder 2"/>
          <p:cNvSpPr>
            <a:spLocks noGrp="1"/>
          </p:cNvSpPr>
          <p:nvPr>
            <p:ph sz="half" idx="2"/>
          </p:nvPr>
        </p:nvSpPr>
        <p:spPr>
          <a:xfrm>
            <a:off x="384048" y="1080399"/>
            <a:ext cx="8444266" cy="3951288"/>
          </a:xfrm>
        </p:spPr>
        <p:txBody>
          <a:bodyPr/>
          <a:lstStyle/>
          <a:p>
            <a:r>
              <a:rPr lang="en-US" dirty="0"/>
              <a:t>Plate tectonics</a:t>
            </a:r>
          </a:p>
          <a:p>
            <a:pPr lvl="1"/>
            <a:r>
              <a:rPr lang="en-US" dirty="0"/>
              <a:t>Pangaea</a:t>
            </a:r>
          </a:p>
          <a:p>
            <a:pPr lvl="1"/>
            <a:r>
              <a:rPr lang="en-US" b="1" dirty="0"/>
              <a:t>Gondwanaland</a:t>
            </a:r>
          </a:p>
          <a:p>
            <a:pPr lvl="1"/>
            <a:r>
              <a:rPr lang="en-US" dirty="0"/>
              <a:t>plateau continent</a:t>
            </a:r>
          </a:p>
          <a:p>
            <a:pPr lvl="1"/>
            <a:r>
              <a:rPr lang="en-US" b="1" dirty="0"/>
              <a:t>rift valley</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719753" y="3067931"/>
            <a:ext cx="3653983" cy="3657600"/>
          </a:xfrm>
          <a:prstGeom prst="rect">
            <a:avLst/>
          </a:prstGeom>
        </p:spPr>
      </p:pic>
      <p:pic>
        <p:nvPicPr>
          <p:cNvPr id="6" name="Picture 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692471" y="731521"/>
            <a:ext cx="1993442" cy="5806440"/>
          </a:xfrm>
          <a:prstGeom prst="rect">
            <a:avLst/>
          </a:prstGeom>
        </p:spPr>
      </p:pic>
    </p:spTree>
    <p:extLst>
      <p:ext uri="{BB962C8B-B14F-4D97-AF65-F5344CB8AC3E}">
        <p14:creationId xmlns:p14="http://schemas.microsoft.com/office/powerpoint/2010/main" val="237604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 Resources and Dams</a:t>
            </a:r>
          </a:p>
        </p:txBody>
      </p:sp>
      <p:sp>
        <p:nvSpPr>
          <p:cNvPr id="3" name="Content Placeholder 2"/>
          <p:cNvSpPr>
            <a:spLocks noGrp="1"/>
          </p:cNvSpPr>
          <p:nvPr>
            <p:ph sz="half" idx="2"/>
          </p:nvPr>
        </p:nvSpPr>
        <p:spPr>
          <a:xfrm>
            <a:off x="384048" y="1080399"/>
            <a:ext cx="8444266" cy="3951288"/>
          </a:xfrm>
        </p:spPr>
        <p:txBody>
          <a:bodyPr/>
          <a:lstStyle/>
          <a:p>
            <a:r>
              <a:rPr lang="en-US" dirty="0"/>
              <a:t>Water resources</a:t>
            </a:r>
          </a:p>
          <a:p>
            <a:pPr lvl="1"/>
            <a:r>
              <a:rPr lang="en-US" dirty="0"/>
              <a:t>large river systems</a:t>
            </a:r>
          </a:p>
          <a:p>
            <a:pPr lvl="1"/>
            <a:r>
              <a:rPr lang="en-US" b="1" dirty="0" err="1"/>
              <a:t>Sudd</a:t>
            </a:r>
            <a:endParaRPr lang="en-US" b="1" dirty="0"/>
          </a:p>
          <a:p>
            <a:pPr lvl="1"/>
            <a:r>
              <a:rPr lang="en-US" dirty="0"/>
              <a:t>dam projects</a:t>
            </a:r>
          </a:p>
          <a:p>
            <a:pPr lvl="2"/>
            <a:r>
              <a:rPr lang="en-US" dirty="0" err="1"/>
              <a:t>Kariba</a:t>
            </a:r>
            <a:endParaRPr lang="en-US" dirty="0"/>
          </a:p>
          <a:p>
            <a:pPr lvl="2"/>
            <a:r>
              <a:rPr lang="en-US" dirty="0" err="1"/>
              <a:t>Akosombo</a:t>
            </a:r>
            <a:endParaRPr lang="en-US"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315408" y="644065"/>
            <a:ext cx="4736534" cy="3136392"/>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30663" y="3888545"/>
            <a:ext cx="3757795" cy="2862072"/>
          </a:xfrm>
          <a:prstGeom prst="rect">
            <a:avLst/>
          </a:prstGeom>
        </p:spPr>
      </p:pic>
    </p:spTree>
    <p:extLst>
      <p:ext uri="{BB962C8B-B14F-4D97-AF65-F5344CB8AC3E}">
        <p14:creationId xmlns:p14="http://schemas.microsoft.com/office/powerpoint/2010/main" val="38432971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 Resources and Dams (cont.)</a:t>
            </a:r>
          </a:p>
        </p:txBody>
      </p:sp>
      <p:sp>
        <p:nvSpPr>
          <p:cNvPr id="3" name="Content Placeholder 2"/>
          <p:cNvSpPr>
            <a:spLocks noGrp="1"/>
          </p:cNvSpPr>
          <p:nvPr>
            <p:ph sz="half" idx="2"/>
          </p:nvPr>
        </p:nvSpPr>
        <p:spPr>
          <a:xfrm>
            <a:off x="384048" y="1080399"/>
            <a:ext cx="8444266" cy="3951288"/>
          </a:xfrm>
        </p:spPr>
        <p:txBody>
          <a:bodyPr/>
          <a:lstStyle/>
          <a:p>
            <a:r>
              <a:rPr lang="en-US" dirty="0" smtClean="0"/>
              <a:t>Soils</a:t>
            </a:r>
          </a:p>
          <a:p>
            <a:pPr lvl="1"/>
            <a:r>
              <a:rPr lang="en-US" dirty="0" smtClean="0"/>
              <a:t>not </a:t>
            </a:r>
            <a:r>
              <a:rPr lang="en-US" dirty="0"/>
              <a:t>very </a:t>
            </a:r>
            <a:r>
              <a:rPr lang="en-US" dirty="0" smtClean="0"/>
              <a:t>fertile</a:t>
            </a:r>
          </a:p>
          <a:p>
            <a:pPr lvl="2"/>
            <a:r>
              <a:rPr lang="en-US" dirty="0" smtClean="0"/>
              <a:t>tropical soils	</a:t>
            </a:r>
          </a:p>
          <a:p>
            <a:pPr lvl="2"/>
            <a:r>
              <a:rPr lang="en-US" dirty="0" smtClean="0"/>
              <a:t>desert </a:t>
            </a:r>
            <a:r>
              <a:rPr lang="en-US" dirty="0"/>
              <a:t>landscapes</a:t>
            </a:r>
          </a:p>
          <a:p>
            <a:r>
              <a:rPr lang="en-US" dirty="0"/>
              <a:t>Mineral resources</a:t>
            </a:r>
          </a:p>
          <a:p>
            <a:pPr lvl="1"/>
            <a:r>
              <a:rPr lang="en-US" dirty="0"/>
              <a:t>vast reserves</a:t>
            </a:r>
          </a:p>
          <a:p>
            <a:pPr lvl="1"/>
            <a:r>
              <a:rPr lang="en-US" dirty="0"/>
              <a:t>assets and liabilities</a:t>
            </a:r>
          </a:p>
          <a:p>
            <a:pPr lvl="1"/>
            <a:r>
              <a:rPr lang="en-US" dirty="0"/>
              <a:t>gold</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846085" y="703385"/>
            <a:ext cx="3629699" cy="5999450"/>
          </a:xfrm>
          <a:prstGeom prst="rect">
            <a:avLst/>
          </a:prstGeom>
        </p:spPr>
      </p:pic>
    </p:spTree>
    <p:extLst>
      <p:ext uri="{BB962C8B-B14F-4D97-AF65-F5344CB8AC3E}">
        <p14:creationId xmlns:p14="http://schemas.microsoft.com/office/powerpoint/2010/main" val="4666361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Geographies of Indulgence, Desire, and Addiction</a:t>
            </a:r>
          </a:p>
        </p:txBody>
      </p:sp>
      <p:sp>
        <p:nvSpPr>
          <p:cNvPr id="4" name="Content Placeholder 3"/>
          <p:cNvSpPr>
            <a:spLocks noGrp="1"/>
          </p:cNvSpPr>
          <p:nvPr>
            <p:ph sz="half" idx="2"/>
          </p:nvPr>
        </p:nvSpPr>
        <p:spPr>
          <a:xfrm>
            <a:off x="384048" y="1345016"/>
            <a:ext cx="8411609" cy="3951288"/>
          </a:xfrm>
        </p:spPr>
        <p:txBody>
          <a:bodyPr/>
          <a:lstStyle/>
          <a:p>
            <a:r>
              <a:rPr lang="en-US" dirty="0"/>
              <a:t>Diamonds </a:t>
            </a:r>
            <a:endParaRPr lang="en-US" dirty="0" smtClean="0"/>
          </a:p>
          <a:p>
            <a:pPr lvl="1"/>
            <a:r>
              <a:rPr lang="en-US" dirty="0" smtClean="0"/>
              <a:t>65</a:t>
            </a:r>
            <a:r>
              <a:rPr lang="en-US" dirty="0"/>
              <a:t>% originate in </a:t>
            </a:r>
            <a:r>
              <a:rPr lang="en-US" dirty="0" smtClean="0"/>
              <a:t>Africa</a:t>
            </a:r>
          </a:p>
          <a:p>
            <a:pPr lvl="1"/>
            <a:r>
              <a:rPr lang="en-US" dirty="0" smtClean="0"/>
              <a:t>De Beers	</a:t>
            </a:r>
          </a:p>
          <a:p>
            <a:pPr lvl="1"/>
            <a:r>
              <a:rPr lang="en-US" b="1" dirty="0" smtClean="0"/>
              <a:t>conflict diamonds</a:t>
            </a:r>
          </a:p>
          <a:p>
            <a:pPr lvl="2"/>
            <a:r>
              <a:rPr lang="en-US" dirty="0" smtClean="0"/>
              <a:t>Sierra Leone</a:t>
            </a:r>
          </a:p>
          <a:p>
            <a:pPr lvl="2"/>
            <a:r>
              <a:rPr lang="en-US" dirty="0" smtClean="0"/>
              <a:t>Liberia</a:t>
            </a:r>
            <a:endParaRPr lang="en-US" dirty="0"/>
          </a:p>
          <a:p>
            <a:r>
              <a:rPr lang="en-US" dirty="0"/>
              <a:t>Kimberley Process</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835169" y="3853375"/>
            <a:ext cx="3580615" cy="2743200"/>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02051" y="815926"/>
            <a:ext cx="3846849" cy="2926080"/>
          </a:xfrm>
          <a:prstGeom prst="rect">
            <a:avLst/>
          </a:prstGeom>
        </p:spPr>
      </p:pic>
    </p:spTree>
    <p:extLst>
      <p:ext uri="{BB962C8B-B14F-4D97-AF65-F5344CB8AC3E}">
        <p14:creationId xmlns:p14="http://schemas.microsoft.com/office/powerpoint/2010/main" val="12229175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Ecology, Land, and Environmental Management</a:t>
            </a:r>
          </a:p>
        </p:txBody>
      </p:sp>
      <p:sp>
        <p:nvSpPr>
          <p:cNvPr id="3" name="Content Placeholder 2"/>
          <p:cNvSpPr>
            <a:spLocks noGrp="1"/>
          </p:cNvSpPr>
          <p:nvPr>
            <p:ph sz="half" idx="2"/>
          </p:nvPr>
        </p:nvSpPr>
        <p:spPr>
          <a:xfrm>
            <a:off x="384048" y="1080399"/>
            <a:ext cx="8444266" cy="3951288"/>
          </a:xfrm>
        </p:spPr>
        <p:txBody>
          <a:bodyPr/>
          <a:lstStyle/>
          <a:p>
            <a:r>
              <a:rPr lang="en-US" dirty="0"/>
              <a:t>Ecosystems</a:t>
            </a:r>
          </a:p>
          <a:p>
            <a:pPr lvl="1"/>
            <a:r>
              <a:rPr lang="en-US" dirty="0"/>
              <a:t>rainforests</a:t>
            </a:r>
          </a:p>
          <a:p>
            <a:pPr lvl="1"/>
            <a:r>
              <a:rPr lang="en-US" b="1" dirty="0"/>
              <a:t>savanna</a:t>
            </a:r>
          </a:p>
          <a:p>
            <a:pPr lvl="1"/>
            <a:r>
              <a:rPr lang="en-US" dirty="0"/>
              <a:t>deserts</a:t>
            </a:r>
          </a:p>
          <a:p>
            <a:pPr lvl="1"/>
            <a:r>
              <a:rPr lang="en-US" dirty="0"/>
              <a:t>Madagascar</a:t>
            </a:r>
          </a:p>
          <a:p>
            <a:pPr lvl="1"/>
            <a:r>
              <a:rPr lang="en-US" dirty="0"/>
              <a:t>deforestation</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614417" y="890054"/>
            <a:ext cx="3389255" cy="5029200"/>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895601" y="890054"/>
            <a:ext cx="2589961" cy="2075688"/>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1169" y="3777410"/>
            <a:ext cx="4688864" cy="2773128"/>
          </a:xfrm>
          <a:prstGeom prst="rect">
            <a:avLst/>
          </a:prstGeom>
        </p:spPr>
      </p:pic>
    </p:spTree>
    <p:extLst>
      <p:ext uri="{BB962C8B-B14F-4D97-AF65-F5344CB8AC3E}">
        <p14:creationId xmlns:p14="http://schemas.microsoft.com/office/powerpoint/2010/main" val="32828677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Ecology, Land, and Environmental Management (cont.)</a:t>
            </a:r>
          </a:p>
        </p:txBody>
      </p:sp>
      <p:sp>
        <p:nvSpPr>
          <p:cNvPr id="4" name="Content Placeholder 3"/>
          <p:cNvSpPr>
            <a:spLocks noGrp="1"/>
          </p:cNvSpPr>
          <p:nvPr>
            <p:ph sz="half" idx="2"/>
          </p:nvPr>
        </p:nvSpPr>
        <p:spPr>
          <a:xfrm>
            <a:off x="384048" y="1345016"/>
            <a:ext cx="8411609" cy="3951288"/>
          </a:xfrm>
        </p:spPr>
        <p:txBody>
          <a:bodyPr/>
          <a:lstStyle/>
          <a:p>
            <a:r>
              <a:rPr lang="en-US" dirty="0"/>
              <a:t>Diseases and pests</a:t>
            </a:r>
          </a:p>
          <a:p>
            <a:pPr lvl="1"/>
            <a:r>
              <a:rPr lang="en-US" b="1" dirty="0"/>
              <a:t>malaria</a:t>
            </a:r>
          </a:p>
          <a:p>
            <a:pPr lvl="1"/>
            <a:r>
              <a:rPr lang="en-US" b="1" dirty="0" smtClean="0"/>
              <a:t>schistosomiasis</a:t>
            </a:r>
            <a:endParaRPr lang="en-US" b="1" dirty="0"/>
          </a:p>
          <a:p>
            <a:pPr lvl="1"/>
            <a:r>
              <a:rPr lang="en-US" b="1" dirty="0"/>
              <a:t>river blindness</a:t>
            </a:r>
          </a:p>
          <a:p>
            <a:pPr lvl="1"/>
            <a:r>
              <a:rPr lang="en-US" dirty="0"/>
              <a:t>World Health </a:t>
            </a:r>
            <a:r>
              <a:rPr lang="en-US" dirty="0" smtClean="0"/>
              <a:t/>
            </a:r>
            <a:br>
              <a:rPr lang="en-US" dirty="0" smtClean="0"/>
            </a:br>
            <a:r>
              <a:rPr lang="en-US" dirty="0" smtClean="0"/>
              <a:t>Organization </a:t>
            </a:r>
            <a:r>
              <a:rPr lang="en-US" dirty="0"/>
              <a:t>(WHO)</a:t>
            </a:r>
          </a:p>
          <a:p>
            <a:pPr lvl="1"/>
            <a:r>
              <a:rPr lang="en-US" b="1" dirty="0"/>
              <a:t>tsetse fly</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89350" y="758482"/>
            <a:ext cx="4955074" cy="5771271"/>
          </a:xfrm>
          <a:prstGeom prst="rect">
            <a:avLst/>
          </a:prstGeom>
        </p:spPr>
      </p:pic>
    </p:spTree>
    <p:extLst>
      <p:ext uri="{BB962C8B-B14F-4D97-AF65-F5344CB8AC3E}">
        <p14:creationId xmlns:p14="http://schemas.microsoft.com/office/powerpoint/2010/main" val="37846512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Ecology, Land, and Environmental Management (cont.)</a:t>
            </a:r>
          </a:p>
        </p:txBody>
      </p:sp>
      <p:sp>
        <p:nvSpPr>
          <p:cNvPr id="4" name="Content Placeholder 3"/>
          <p:cNvSpPr>
            <a:spLocks noGrp="1"/>
          </p:cNvSpPr>
          <p:nvPr>
            <p:ph sz="half" idx="2"/>
          </p:nvPr>
        </p:nvSpPr>
        <p:spPr>
          <a:xfrm>
            <a:off x="384048" y="1345016"/>
            <a:ext cx="8411609" cy="3951288"/>
          </a:xfrm>
        </p:spPr>
        <p:txBody>
          <a:bodyPr/>
          <a:lstStyle/>
          <a:p>
            <a:r>
              <a:rPr lang="en-US" dirty="0"/>
              <a:t>Land use and agriculture</a:t>
            </a:r>
          </a:p>
          <a:p>
            <a:pPr lvl="1"/>
            <a:r>
              <a:rPr lang="en-US" dirty="0"/>
              <a:t>&lt; 30% of soils good for cultivation</a:t>
            </a:r>
          </a:p>
          <a:p>
            <a:pPr lvl="1"/>
            <a:r>
              <a:rPr lang="en-US" b="1" dirty="0"/>
              <a:t>domestication</a:t>
            </a:r>
          </a:p>
          <a:p>
            <a:pPr lvl="1"/>
            <a:r>
              <a:rPr lang="en-US" b="1" dirty="0"/>
              <a:t>shifting cultivation</a:t>
            </a:r>
          </a:p>
          <a:p>
            <a:pPr lvl="2"/>
            <a:r>
              <a:rPr lang="en-US" b="1" dirty="0"/>
              <a:t>slash-and-burn</a:t>
            </a:r>
          </a:p>
          <a:p>
            <a:pPr lvl="2"/>
            <a:r>
              <a:rPr lang="en-US" b="1" dirty="0"/>
              <a:t>bush fallow</a:t>
            </a:r>
          </a:p>
          <a:p>
            <a:pPr lvl="1"/>
            <a:r>
              <a:rPr lang="en-US" b="1" dirty="0"/>
              <a:t>intercropping</a:t>
            </a:r>
          </a:p>
          <a:p>
            <a:pPr lvl="1"/>
            <a:r>
              <a:rPr lang="en-US" b="1" dirty="0"/>
              <a:t>transhumance</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029433" y="4032223"/>
            <a:ext cx="3036720" cy="2423160"/>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024623" y="1098453"/>
            <a:ext cx="3046339" cy="2743200"/>
          </a:xfrm>
          <a:prstGeom prst="rect">
            <a:avLst/>
          </a:prstGeom>
        </p:spPr>
      </p:pic>
      <p:pic>
        <p:nvPicPr>
          <p:cNvPr id="6" name="Picture 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412015" y="4626583"/>
            <a:ext cx="2553993" cy="1828800"/>
          </a:xfrm>
          <a:prstGeom prst="rect">
            <a:avLst/>
          </a:prstGeom>
        </p:spPr>
      </p:pic>
    </p:spTree>
    <p:extLst>
      <p:ext uri="{BB962C8B-B14F-4D97-AF65-F5344CB8AC3E}">
        <p14:creationId xmlns:p14="http://schemas.microsoft.com/office/powerpoint/2010/main" val="2220520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Ecology, Land, and Environmental Management (cont.)</a:t>
            </a:r>
          </a:p>
        </p:txBody>
      </p:sp>
      <p:sp>
        <p:nvSpPr>
          <p:cNvPr id="4" name="Content Placeholder 3"/>
          <p:cNvSpPr>
            <a:spLocks noGrp="1"/>
          </p:cNvSpPr>
          <p:nvPr>
            <p:ph sz="half" idx="2"/>
          </p:nvPr>
        </p:nvSpPr>
        <p:spPr>
          <a:xfrm>
            <a:off x="384048" y="1345016"/>
            <a:ext cx="8411609" cy="3951288"/>
          </a:xfrm>
        </p:spPr>
        <p:txBody>
          <a:bodyPr/>
          <a:lstStyle/>
          <a:p>
            <a:r>
              <a:rPr lang="en-US" dirty="0"/>
              <a:t>Conservation</a:t>
            </a:r>
          </a:p>
          <a:p>
            <a:pPr lvl="1"/>
            <a:r>
              <a:rPr lang="en-US" dirty="0"/>
              <a:t>rich biodiversity</a:t>
            </a:r>
          </a:p>
          <a:p>
            <a:pPr lvl="1"/>
            <a:r>
              <a:rPr lang="en-US" dirty="0"/>
              <a:t>5% of area protected</a:t>
            </a:r>
          </a:p>
          <a:p>
            <a:pPr lvl="1"/>
            <a:r>
              <a:rPr lang="en-US" dirty="0"/>
              <a:t>criticisms of parks</a:t>
            </a:r>
          </a:p>
          <a:p>
            <a:pPr lvl="1"/>
            <a:r>
              <a:rPr lang="en-US" b="1" dirty="0" err="1"/>
              <a:t>bushmeat</a:t>
            </a:r>
            <a:endParaRPr lang="en-US" b="1" dirty="0"/>
          </a:p>
          <a:p>
            <a:pPr lvl="1"/>
            <a:r>
              <a:rPr lang="en-US" b="1" dirty="0"/>
              <a:t>Green Belt Movement</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783015" y="651216"/>
            <a:ext cx="4038365" cy="6089368"/>
          </a:xfrm>
          <a:prstGeom prst="rect">
            <a:avLst/>
          </a:prstGeom>
        </p:spPr>
      </p:pic>
    </p:spTree>
    <p:extLst>
      <p:ext uri="{BB962C8B-B14F-4D97-AF65-F5344CB8AC3E}">
        <p14:creationId xmlns:p14="http://schemas.microsoft.com/office/powerpoint/2010/main" val="11445235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232031" y="875714"/>
            <a:ext cx="4812791" cy="5773285"/>
          </a:xfrm>
          <a:prstGeom prst="rect">
            <a:avLst/>
          </a:prstGeom>
        </p:spPr>
      </p:pic>
      <p:sp>
        <p:nvSpPr>
          <p:cNvPr id="2" name="Title 1"/>
          <p:cNvSpPr>
            <a:spLocks noGrp="1"/>
          </p:cNvSpPr>
          <p:nvPr>
            <p:ph type="title"/>
          </p:nvPr>
        </p:nvSpPr>
        <p:spPr/>
        <p:txBody>
          <a:bodyPr/>
          <a:lstStyle/>
          <a:p>
            <a:r>
              <a:rPr lang="en-US" dirty="0"/>
              <a:t>History, Economy, and Territory/Historical Legacies and Landscapes</a:t>
            </a:r>
          </a:p>
        </p:txBody>
      </p:sp>
      <p:sp>
        <p:nvSpPr>
          <p:cNvPr id="4" name="Content Placeholder 3"/>
          <p:cNvSpPr>
            <a:spLocks noGrp="1"/>
          </p:cNvSpPr>
          <p:nvPr>
            <p:ph sz="half" idx="2"/>
          </p:nvPr>
        </p:nvSpPr>
        <p:spPr>
          <a:xfrm>
            <a:off x="384048" y="1345016"/>
            <a:ext cx="8411609" cy="3951288"/>
          </a:xfrm>
        </p:spPr>
        <p:txBody>
          <a:bodyPr/>
          <a:lstStyle/>
          <a:p>
            <a:r>
              <a:rPr lang="en-US" dirty="0"/>
              <a:t>Human origins</a:t>
            </a:r>
          </a:p>
          <a:p>
            <a:pPr lvl="1"/>
            <a:r>
              <a:rPr lang="ja-JP" altLang="en-US" dirty="0"/>
              <a:t>“</a:t>
            </a:r>
            <a:r>
              <a:rPr lang="en-US" altLang="ja-JP" dirty="0"/>
              <a:t>cradle of humankind</a:t>
            </a:r>
            <a:r>
              <a:rPr lang="ja-JP" altLang="en-US" dirty="0"/>
              <a:t>”</a:t>
            </a:r>
            <a:endParaRPr lang="en-US" altLang="ja-JP" dirty="0"/>
          </a:p>
          <a:p>
            <a:r>
              <a:rPr lang="en-US" dirty="0"/>
              <a:t>Early history</a:t>
            </a:r>
          </a:p>
          <a:p>
            <a:pPr lvl="1"/>
            <a:r>
              <a:rPr lang="en-US" dirty="0"/>
              <a:t>Aksum</a:t>
            </a:r>
          </a:p>
          <a:p>
            <a:pPr lvl="1"/>
            <a:r>
              <a:rPr lang="en-US" dirty="0"/>
              <a:t>West African empires</a:t>
            </a:r>
          </a:p>
          <a:p>
            <a:pPr lvl="1"/>
            <a:r>
              <a:rPr lang="en-US" dirty="0"/>
              <a:t>Zanzibar</a:t>
            </a:r>
          </a:p>
        </p:txBody>
      </p:sp>
    </p:spTree>
    <p:extLst>
      <p:ext uri="{BB962C8B-B14F-4D97-AF65-F5344CB8AC3E}">
        <p14:creationId xmlns:p14="http://schemas.microsoft.com/office/powerpoint/2010/main" val="20386516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 Legacies and Landscapes (cont.)</a:t>
            </a:r>
          </a:p>
        </p:txBody>
      </p:sp>
      <p:sp>
        <p:nvSpPr>
          <p:cNvPr id="3" name="Content Placeholder 2"/>
          <p:cNvSpPr>
            <a:spLocks noGrp="1"/>
          </p:cNvSpPr>
          <p:nvPr>
            <p:ph sz="half" idx="2"/>
          </p:nvPr>
        </p:nvSpPr>
        <p:spPr>
          <a:xfrm>
            <a:off x="384048" y="1080399"/>
            <a:ext cx="8444266" cy="3951288"/>
          </a:xfrm>
        </p:spPr>
        <p:txBody>
          <a:bodyPr/>
          <a:lstStyle/>
          <a:p>
            <a:r>
              <a:rPr lang="en-US" dirty="0"/>
              <a:t>European settlement</a:t>
            </a:r>
          </a:p>
          <a:p>
            <a:r>
              <a:rPr lang="en-US" dirty="0"/>
              <a:t>Slave trade</a:t>
            </a:r>
          </a:p>
          <a:p>
            <a:pPr lvl="1"/>
            <a:r>
              <a:rPr lang="en-US" dirty="0"/>
              <a:t>Southern </a:t>
            </a:r>
            <a:r>
              <a:rPr lang="en-US" dirty="0" smtClean="0"/>
              <a:t>Africa</a:t>
            </a:r>
          </a:p>
          <a:p>
            <a:pPr lvl="2"/>
            <a:r>
              <a:rPr lang="en-US" dirty="0" smtClean="0"/>
              <a:t>Boers</a:t>
            </a:r>
            <a:endParaRPr lang="en-US" dirty="0"/>
          </a:p>
          <a:p>
            <a:pPr lvl="2"/>
            <a:r>
              <a:rPr lang="en-US" b="1" dirty="0" smtClean="0"/>
              <a:t>Afrikaners</a:t>
            </a:r>
            <a:endParaRPr lang="en-US" b="1" dirty="0"/>
          </a:p>
          <a:p>
            <a:r>
              <a:rPr lang="en-US" dirty="0"/>
              <a:t>Exploration</a:t>
            </a:r>
          </a:p>
          <a:p>
            <a:pPr lvl="1"/>
            <a:r>
              <a:rPr lang="en-US" dirty="0"/>
              <a:t>quinine</a:t>
            </a:r>
          </a:p>
          <a:p>
            <a:pPr lvl="1"/>
            <a:r>
              <a:rPr lang="en-US" dirty="0"/>
              <a:t>Victorian explorers</a:t>
            </a:r>
          </a:p>
          <a:p>
            <a:r>
              <a:rPr lang="en-US" dirty="0"/>
              <a:t>Scramble for Africa</a:t>
            </a:r>
          </a:p>
          <a:p>
            <a:pPr lvl="1"/>
            <a:r>
              <a:rPr lang="en-US" b="1" dirty="0"/>
              <a:t>Berlin Conference</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44462" y="1684371"/>
            <a:ext cx="4947138" cy="3284410"/>
          </a:xfrm>
          <a:prstGeom prst="rect">
            <a:avLst/>
          </a:prstGeom>
        </p:spPr>
      </p:pic>
    </p:spTree>
    <p:extLst>
      <p:ext uri="{BB962C8B-B14F-4D97-AF65-F5344CB8AC3E}">
        <p14:creationId xmlns:p14="http://schemas.microsoft.com/office/powerpoint/2010/main" val="2417266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 Legacies and Landscapes (cont.)</a:t>
            </a:r>
          </a:p>
        </p:txBody>
      </p:sp>
      <p:sp>
        <p:nvSpPr>
          <p:cNvPr id="3" name="Content Placeholder 2"/>
          <p:cNvSpPr>
            <a:spLocks noGrp="1"/>
          </p:cNvSpPr>
          <p:nvPr>
            <p:ph sz="half" idx="2"/>
          </p:nvPr>
        </p:nvSpPr>
        <p:spPr>
          <a:xfrm>
            <a:off x="384048" y="1080399"/>
            <a:ext cx="8444266" cy="3951288"/>
          </a:xfrm>
        </p:spPr>
        <p:txBody>
          <a:bodyPr/>
          <a:lstStyle/>
          <a:p>
            <a:r>
              <a:rPr lang="en-US" dirty="0"/>
              <a:t>Colonial legacy</a:t>
            </a:r>
          </a:p>
          <a:p>
            <a:pPr lvl="1"/>
            <a:r>
              <a:rPr lang="en-US" dirty="0"/>
              <a:t>arbitrary political boundaries</a:t>
            </a:r>
          </a:p>
          <a:p>
            <a:pPr lvl="1"/>
            <a:r>
              <a:rPr lang="en-US" dirty="0"/>
              <a:t>extraction and export</a:t>
            </a:r>
          </a:p>
          <a:p>
            <a:pPr lvl="1"/>
            <a:r>
              <a:rPr lang="en-US" dirty="0"/>
              <a:t>introduction of European </a:t>
            </a:r>
            <a:r>
              <a:rPr lang="en-US" dirty="0" smtClean="0"/>
              <a:t/>
            </a:r>
            <a:br>
              <a:rPr lang="en-US" dirty="0" smtClean="0"/>
            </a:br>
            <a:r>
              <a:rPr lang="en-US" dirty="0" smtClean="0"/>
              <a:t>languages</a:t>
            </a:r>
            <a:endParaRPr lang="en-US" dirty="0"/>
          </a:p>
          <a:p>
            <a:pPr lvl="1"/>
            <a:r>
              <a:rPr lang="en-US" dirty="0"/>
              <a:t>European colonial policies</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108175" y="892065"/>
            <a:ext cx="3917001" cy="3657600"/>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22158" y="3761874"/>
            <a:ext cx="3954293" cy="2743200"/>
          </a:xfrm>
          <a:prstGeom prst="rect">
            <a:avLst/>
          </a:prstGeom>
        </p:spPr>
      </p:pic>
    </p:spTree>
    <p:extLst>
      <p:ext uri="{BB962C8B-B14F-4D97-AF65-F5344CB8AC3E}">
        <p14:creationId xmlns:p14="http://schemas.microsoft.com/office/powerpoint/2010/main" val="18338213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Independence </a:t>
            </a:r>
          </a:p>
        </p:txBody>
      </p:sp>
      <p:sp>
        <p:nvSpPr>
          <p:cNvPr id="3" name="Content Placeholder 2"/>
          <p:cNvSpPr>
            <a:spLocks noGrp="1"/>
          </p:cNvSpPr>
          <p:nvPr>
            <p:ph sz="half" idx="2"/>
          </p:nvPr>
        </p:nvSpPr>
        <p:spPr>
          <a:xfrm>
            <a:off x="384048" y="1080399"/>
            <a:ext cx="8444266" cy="3951288"/>
          </a:xfrm>
        </p:spPr>
        <p:txBody>
          <a:bodyPr/>
          <a:lstStyle/>
          <a:p>
            <a:r>
              <a:rPr lang="en-US" dirty="0"/>
              <a:t>Independence movements</a:t>
            </a:r>
          </a:p>
          <a:p>
            <a:pPr lvl="1"/>
            <a:r>
              <a:rPr lang="en-US" dirty="0"/>
              <a:t>Transitions</a:t>
            </a:r>
          </a:p>
          <a:p>
            <a:pPr lvl="2"/>
            <a:r>
              <a:rPr lang="en-US" dirty="0"/>
              <a:t>British</a:t>
            </a:r>
          </a:p>
          <a:p>
            <a:pPr lvl="2"/>
            <a:r>
              <a:rPr lang="en-US" dirty="0"/>
              <a:t>French</a:t>
            </a:r>
          </a:p>
          <a:p>
            <a:pPr lvl="2"/>
            <a:r>
              <a:rPr lang="en-US" dirty="0"/>
              <a:t>Belgian</a:t>
            </a:r>
          </a:p>
          <a:p>
            <a:pPr lvl="2"/>
            <a:r>
              <a:rPr lang="en-US" dirty="0"/>
              <a:t>Portuguese</a:t>
            </a:r>
          </a:p>
        </p:txBody>
      </p:sp>
    </p:spTree>
    <p:extLst>
      <p:ext uri="{BB962C8B-B14F-4D97-AF65-F5344CB8AC3E}">
        <p14:creationId xmlns:p14="http://schemas.microsoft.com/office/powerpoint/2010/main" val="24503996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 Debt, and the Production of Inequality </a:t>
            </a:r>
          </a:p>
        </p:txBody>
      </p:sp>
      <p:sp>
        <p:nvSpPr>
          <p:cNvPr id="4" name="Content Placeholder 3"/>
          <p:cNvSpPr>
            <a:spLocks noGrp="1"/>
          </p:cNvSpPr>
          <p:nvPr>
            <p:ph sz="half" idx="2"/>
          </p:nvPr>
        </p:nvSpPr>
        <p:spPr>
          <a:xfrm>
            <a:off x="384048" y="1345016"/>
            <a:ext cx="8411609" cy="3951288"/>
          </a:xfrm>
        </p:spPr>
        <p:txBody>
          <a:bodyPr/>
          <a:lstStyle/>
          <a:p>
            <a:r>
              <a:rPr lang="en-US" dirty="0"/>
              <a:t>Dependency and debt</a:t>
            </a:r>
          </a:p>
          <a:p>
            <a:pPr lvl="1"/>
            <a:r>
              <a:rPr lang="en-US" b="1" dirty="0"/>
              <a:t>terms of trade</a:t>
            </a:r>
          </a:p>
          <a:p>
            <a:pPr lvl="1"/>
            <a:r>
              <a:rPr lang="en-US" b="1" dirty="0"/>
              <a:t>G8</a:t>
            </a:r>
          </a:p>
          <a:p>
            <a:pPr lvl="1"/>
            <a:r>
              <a:rPr lang="en-US" dirty="0"/>
              <a:t>import substitution </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78475" y="1980028"/>
            <a:ext cx="4711006" cy="4114800"/>
          </a:xfrm>
          <a:prstGeom prst="rect">
            <a:avLst/>
          </a:prstGeom>
        </p:spPr>
      </p:pic>
    </p:spTree>
    <p:extLst>
      <p:ext uri="{BB962C8B-B14F-4D97-AF65-F5344CB8AC3E}">
        <p14:creationId xmlns:p14="http://schemas.microsoft.com/office/powerpoint/2010/main" val="39669718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Agricultural Challenges and Opportunities </a:t>
            </a:r>
          </a:p>
        </p:txBody>
      </p:sp>
      <p:sp>
        <p:nvSpPr>
          <p:cNvPr id="3" name="Content Placeholder 2"/>
          <p:cNvSpPr>
            <a:spLocks noGrp="1"/>
          </p:cNvSpPr>
          <p:nvPr>
            <p:ph sz="half" idx="2"/>
          </p:nvPr>
        </p:nvSpPr>
        <p:spPr>
          <a:xfrm>
            <a:off x="384048" y="1080399"/>
            <a:ext cx="8444266" cy="3951288"/>
          </a:xfrm>
        </p:spPr>
        <p:txBody>
          <a:bodyPr/>
          <a:lstStyle/>
          <a:p>
            <a:r>
              <a:rPr lang="en-US" b="1" dirty="0"/>
              <a:t>Yield gaps</a:t>
            </a:r>
          </a:p>
          <a:p>
            <a:r>
              <a:rPr lang="en-US" dirty="0"/>
              <a:t>Subsistence farming</a:t>
            </a:r>
          </a:p>
          <a:p>
            <a:pPr lvl="1"/>
            <a:r>
              <a:rPr lang="en-US" dirty="0"/>
              <a:t>Commercial farming</a:t>
            </a:r>
          </a:p>
          <a:p>
            <a:pPr lvl="1"/>
            <a:r>
              <a:rPr lang="en-US" b="1" dirty="0"/>
              <a:t>Land grabs</a:t>
            </a:r>
          </a:p>
          <a:p>
            <a:pPr lvl="1"/>
            <a:r>
              <a:rPr lang="en-US" dirty="0"/>
              <a:t>Urban agriculture</a:t>
            </a:r>
          </a:p>
          <a:p>
            <a:pPr lvl="1"/>
            <a:r>
              <a:rPr lang="en-US" b="1" dirty="0"/>
              <a:t>Fair trade movement</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869927" y="699868"/>
            <a:ext cx="3843131" cy="6005732"/>
          </a:xfrm>
          <a:prstGeom prst="rect">
            <a:avLst/>
          </a:prstGeom>
        </p:spPr>
      </p:pic>
    </p:spTree>
    <p:extLst>
      <p:ext uri="{BB962C8B-B14F-4D97-AF65-F5344CB8AC3E}">
        <p14:creationId xmlns:p14="http://schemas.microsoft.com/office/powerpoint/2010/main" val="9148060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016370" y="4263490"/>
            <a:ext cx="7033846" cy="2391701"/>
          </a:xfrm>
          <a:prstGeom prst="rect">
            <a:avLst/>
          </a:prstGeom>
        </p:spPr>
      </p:pic>
      <p:sp>
        <p:nvSpPr>
          <p:cNvPr id="2" name="Title 1"/>
          <p:cNvSpPr>
            <a:spLocks noGrp="1"/>
          </p:cNvSpPr>
          <p:nvPr>
            <p:ph type="title"/>
          </p:nvPr>
        </p:nvSpPr>
        <p:spPr/>
        <p:txBody>
          <a:bodyPr/>
          <a:lstStyle/>
          <a:p>
            <a:r>
              <a:rPr lang="en-US" dirty="0"/>
              <a:t>Agricultural Challenges and Opportunities (cont.) </a:t>
            </a:r>
          </a:p>
        </p:txBody>
      </p:sp>
      <p:sp>
        <p:nvSpPr>
          <p:cNvPr id="4" name="Content Placeholder 3"/>
          <p:cNvSpPr>
            <a:spLocks noGrp="1"/>
          </p:cNvSpPr>
          <p:nvPr>
            <p:ph sz="half" idx="2"/>
          </p:nvPr>
        </p:nvSpPr>
        <p:spPr>
          <a:xfrm>
            <a:off x="384048" y="1333293"/>
            <a:ext cx="8411609" cy="3951288"/>
          </a:xfrm>
        </p:spPr>
        <p:txBody>
          <a:bodyPr/>
          <a:lstStyle/>
          <a:p>
            <a:r>
              <a:rPr lang="en-US" dirty="0"/>
              <a:t>Manufacturing and services</a:t>
            </a:r>
          </a:p>
          <a:p>
            <a:pPr lvl="1"/>
            <a:r>
              <a:rPr lang="en-US" dirty="0"/>
              <a:t>output doubled in last decade</a:t>
            </a:r>
          </a:p>
          <a:p>
            <a:pPr lvl="1"/>
            <a:r>
              <a:rPr lang="en-US" dirty="0"/>
              <a:t>microfinance programs</a:t>
            </a:r>
          </a:p>
          <a:p>
            <a:pPr lvl="1"/>
            <a:r>
              <a:rPr lang="en-US" dirty="0"/>
              <a:t>telecommunications</a:t>
            </a:r>
          </a:p>
          <a:p>
            <a:pPr lvl="1"/>
            <a:r>
              <a:rPr lang="en-US" dirty="0"/>
              <a:t>informal economy</a:t>
            </a:r>
          </a:p>
          <a:p>
            <a:pPr lvl="1"/>
            <a:r>
              <a:rPr lang="en-US" b="1" dirty="0"/>
              <a:t>remittances</a:t>
            </a:r>
          </a:p>
          <a:p>
            <a:pPr lvl="1"/>
            <a:r>
              <a:rPr lang="en-US" dirty="0"/>
              <a:t>strong recent economic growth</a:t>
            </a:r>
          </a:p>
        </p:txBody>
      </p:sp>
      <p:pic>
        <p:nvPicPr>
          <p:cNvPr id="3" name="Picture 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343855" y="889079"/>
            <a:ext cx="3706361" cy="2688336"/>
          </a:xfrm>
          <a:prstGeom prst="rect">
            <a:avLst/>
          </a:prstGeom>
        </p:spPr>
      </p:pic>
    </p:spTree>
    <p:extLst>
      <p:ext uri="{BB962C8B-B14F-4D97-AF65-F5344CB8AC3E}">
        <p14:creationId xmlns:p14="http://schemas.microsoft.com/office/powerpoint/2010/main" val="3595822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Agricultural Challenges and Opportunities (cont.) </a:t>
            </a:r>
          </a:p>
        </p:txBody>
      </p:sp>
      <p:sp>
        <p:nvSpPr>
          <p:cNvPr id="4" name="Content Placeholder 3"/>
          <p:cNvSpPr>
            <a:spLocks noGrp="1"/>
          </p:cNvSpPr>
          <p:nvPr>
            <p:ph sz="half" idx="2"/>
          </p:nvPr>
        </p:nvSpPr>
        <p:spPr>
          <a:xfrm>
            <a:off x="384048" y="1345016"/>
            <a:ext cx="8411609" cy="3951288"/>
          </a:xfrm>
        </p:spPr>
        <p:txBody>
          <a:bodyPr/>
          <a:lstStyle/>
          <a:p>
            <a:r>
              <a:rPr lang="en-US" dirty="0"/>
              <a:t>Inequality and development</a:t>
            </a:r>
          </a:p>
          <a:p>
            <a:pPr lvl="1"/>
            <a:r>
              <a:rPr lang="en-US" dirty="0"/>
              <a:t>large income disparities</a:t>
            </a:r>
          </a:p>
          <a:p>
            <a:pPr lvl="1"/>
            <a:r>
              <a:rPr lang="en-US" dirty="0"/>
              <a:t>life expectancies</a:t>
            </a:r>
          </a:p>
          <a:p>
            <a:pPr lvl="1"/>
            <a:r>
              <a:rPr lang="en-US" b="1" dirty="0"/>
              <a:t>ECOWAS</a:t>
            </a:r>
          </a:p>
          <a:p>
            <a:pPr lvl="1"/>
            <a:r>
              <a:rPr lang="en-US" dirty="0"/>
              <a:t>African Union</a:t>
            </a: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515419" y="1063282"/>
            <a:ext cx="3448352" cy="5148072"/>
          </a:xfrm>
          <a:prstGeom prst="rect">
            <a:avLst/>
          </a:prstGeom>
        </p:spPr>
      </p:pic>
    </p:spTree>
    <p:extLst>
      <p:ext uri="{BB962C8B-B14F-4D97-AF65-F5344CB8AC3E}">
        <p14:creationId xmlns:p14="http://schemas.microsoft.com/office/powerpoint/2010/main" val="23734899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Territory and Politics</a:t>
            </a:r>
          </a:p>
        </p:txBody>
      </p:sp>
      <p:sp>
        <p:nvSpPr>
          <p:cNvPr id="3" name="Content Placeholder 2"/>
          <p:cNvSpPr>
            <a:spLocks noGrp="1"/>
          </p:cNvSpPr>
          <p:nvPr>
            <p:ph sz="half" idx="2"/>
          </p:nvPr>
        </p:nvSpPr>
        <p:spPr>
          <a:xfrm>
            <a:off x="384048" y="1080399"/>
            <a:ext cx="4104825" cy="3951288"/>
          </a:xfrm>
        </p:spPr>
        <p:txBody>
          <a:bodyPr/>
          <a:lstStyle/>
          <a:p>
            <a:r>
              <a:rPr lang="en-US" dirty="0"/>
              <a:t>Apartheid</a:t>
            </a:r>
          </a:p>
          <a:p>
            <a:pPr lvl="1"/>
            <a:r>
              <a:rPr lang="en-US" b="1" dirty="0"/>
              <a:t>South Africa</a:t>
            </a:r>
          </a:p>
          <a:p>
            <a:pPr lvl="1"/>
            <a:r>
              <a:rPr lang="en-US" b="1" dirty="0"/>
              <a:t>Nelson Mandela</a:t>
            </a:r>
          </a:p>
          <a:p>
            <a:pPr lvl="1"/>
            <a:r>
              <a:rPr lang="en-US" dirty="0"/>
              <a:t>Geographic separation of races</a:t>
            </a:r>
          </a:p>
          <a:p>
            <a:pPr lvl="1"/>
            <a:r>
              <a:rPr lang="en-US" dirty="0"/>
              <a:t>Pass laws</a:t>
            </a:r>
          </a:p>
          <a:p>
            <a:pPr lvl="1"/>
            <a:r>
              <a:rPr lang="en-US" dirty="0"/>
              <a:t>Homelands</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47847" y="379125"/>
            <a:ext cx="3966498" cy="3163824"/>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36132" y="3730518"/>
            <a:ext cx="4025105" cy="2826199"/>
          </a:xfrm>
          <a:prstGeom prst="rect">
            <a:avLst/>
          </a:prstGeom>
        </p:spPr>
      </p:pic>
    </p:spTree>
    <p:extLst>
      <p:ext uri="{BB962C8B-B14F-4D97-AF65-F5344CB8AC3E}">
        <p14:creationId xmlns:p14="http://schemas.microsoft.com/office/powerpoint/2010/main" val="14118207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Territory and Politics (cont.)</a:t>
            </a:r>
          </a:p>
        </p:txBody>
      </p:sp>
      <p:sp>
        <p:nvSpPr>
          <p:cNvPr id="3" name="Content Placeholder 2"/>
          <p:cNvSpPr>
            <a:spLocks noGrp="1"/>
          </p:cNvSpPr>
          <p:nvPr>
            <p:ph sz="half" idx="2"/>
          </p:nvPr>
        </p:nvSpPr>
        <p:spPr>
          <a:xfrm>
            <a:off x="384048" y="1080399"/>
            <a:ext cx="8444266" cy="3951288"/>
          </a:xfrm>
        </p:spPr>
        <p:txBody>
          <a:bodyPr/>
          <a:lstStyle/>
          <a:p>
            <a:r>
              <a:rPr lang="en-US" dirty="0"/>
              <a:t>Civil wars and internal </a:t>
            </a:r>
            <a:r>
              <a:rPr lang="en-US" dirty="0" smtClean="0"/>
              <a:t>conflicts</a:t>
            </a:r>
          </a:p>
          <a:p>
            <a:pPr lvl="1"/>
            <a:r>
              <a:rPr lang="en-US" dirty="0" smtClean="0"/>
              <a:t>Rwanda </a:t>
            </a:r>
            <a:r>
              <a:rPr lang="en-US" dirty="0"/>
              <a:t>and Burundi </a:t>
            </a:r>
          </a:p>
          <a:p>
            <a:pPr lvl="2"/>
            <a:r>
              <a:rPr lang="en-US" b="1" dirty="0" smtClean="0"/>
              <a:t>genocide</a:t>
            </a:r>
            <a:endParaRPr lang="en-US" b="1" dirty="0"/>
          </a:p>
          <a:p>
            <a:pPr lvl="1"/>
            <a:r>
              <a:rPr lang="en-US" dirty="0" smtClean="0"/>
              <a:t>Liberia and Sierra Leone</a:t>
            </a:r>
          </a:p>
          <a:p>
            <a:pPr lvl="2"/>
            <a:r>
              <a:rPr lang="en-US" b="1" dirty="0" smtClean="0"/>
              <a:t>child soldiers</a:t>
            </a:r>
          </a:p>
          <a:p>
            <a:pPr lvl="1"/>
            <a:r>
              <a:rPr lang="en-US" dirty="0" smtClean="0"/>
              <a:t>Somalia </a:t>
            </a:r>
            <a:r>
              <a:rPr lang="en-US" dirty="0"/>
              <a:t>and </a:t>
            </a:r>
            <a:r>
              <a:rPr lang="en-US" dirty="0" smtClean="0"/>
              <a:t>Ethiopia</a:t>
            </a:r>
          </a:p>
          <a:p>
            <a:pPr lvl="2"/>
            <a:r>
              <a:rPr lang="en-US" b="1" dirty="0" smtClean="0"/>
              <a:t>failed </a:t>
            </a:r>
            <a:r>
              <a:rPr lang="en-US" b="1" dirty="0"/>
              <a:t>state</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78922" y="2997592"/>
            <a:ext cx="4683761" cy="3657600"/>
          </a:xfrm>
          <a:prstGeom prst="rect">
            <a:avLst/>
          </a:prstGeom>
        </p:spPr>
      </p:pic>
    </p:spTree>
    <p:extLst>
      <p:ext uri="{BB962C8B-B14F-4D97-AF65-F5344CB8AC3E}">
        <p14:creationId xmlns:p14="http://schemas.microsoft.com/office/powerpoint/2010/main" val="37361416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Territory and Politics (cont.)</a:t>
            </a:r>
          </a:p>
        </p:txBody>
      </p:sp>
      <p:sp>
        <p:nvSpPr>
          <p:cNvPr id="3" name="Content Placeholder 2"/>
          <p:cNvSpPr>
            <a:spLocks noGrp="1"/>
          </p:cNvSpPr>
          <p:nvPr>
            <p:ph sz="half" idx="2"/>
          </p:nvPr>
        </p:nvSpPr>
        <p:spPr>
          <a:xfrm>
            <a:off x="384048" y="1080399"/>
            <a:ext cx="8444266" cy="1569016"/>
          </a:xfrm>
        </p:spPr>
        <p:txBody>
          <a:bodyPr/>
          <a:lstStyle/>
          <a:p>
            <a:r>
              <a:rPr lang="en-US" dirty="0"/>
              <a:t>Peacekeeping</a:t>
            </a:r>
          </a:p>
          <a:p>
            <a:pPr lvl="1"/>
            <a:r>
              <a:rPr lang="en-US" dirty="0"/>
              <a:t>U.N. presence</a:t>
            </a:r>
          </a:p>
          <a:p>
            <a:pPr lvl="1"/>
            <a:r>
              <a:rPr lang="en-US" dirty="0"/>
              <a:t>ECOMOG</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37693" y="2412140"/>
            <a:ext cx="6407545" cy="4343400"/>
          </a:xfrm>
          <a:prstGeom prst="rect">
            <a:avLst/>
          </a:prstGeom>
        </p:spPr>
      </p:pic>
    </p:spTree>
    <p:extLst>
      <p:ext uri="{BB962C8B-B14F-4D97-AF65-F5344CB8AC3E}">
        <p14:creationId xmlns:p14="http://schemas.microsoft.com/office/powerpoint/2010/main" val="40712390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Visualizing Geography </a:t>
            </a:r>
          </a:p>
        </p:txBody>
      </p:sp>
      <p:sp>
        <p:nvSpPr>
          <p:cNvPr id="3" name="Content Placeholder 2"/>
          <p:cNvSpPr>
            <a:spLocks noGrp="1"/>
          </p:cNvSpPr>
          <p:nvPr>
            <p:ph sz="half" idx="2"/>
          </p:nvPr>
        </p:nvSpPr>
        <p:spPr>
          <a:xfrm>
            <a:off x="384048" y="1080399"/>
            <a:ext cx="8333824" cy="3951288"/>
          </a:xfrm>
        </p:spPr>
        <p:txBody>
          <a:bodyPr/>
          <a:lstStyle/>
          <a:p>
            <a:r>
              <a:rPr lang="en-US" sz="2600" dirty="0"/>
              <a:t>Millennium </a:t>
            </a:r>
            <a:r>
              <a:rPr lang="en-US" sz="2600" dirty="0" smtClean="0"/>
              <a:t>Development Goals</a:t>
            </a:r>
          </a:p>
          <a:p>
            <a:pPr lvl="1"/>
            <a:r>
              <a:rPr lang="en-US" sz="2200" dirty="0" smtClean="0"/>
              <a:t>eradicate poverty</a:t>
            </a:r>
          </a:p>
          <a:p>
            <a:pPr lvl="1"/>
            <a:r>
              <a:rPr lang="en-US" sz="2200" dirty="0" smtClean="0"/>
              <a:t>universal </a:t>
            </a:r>
            <a:r>
              <a:rPr lang="en-US" sz="2200" dirty="0"/>
              <a:t>primary </a:t>
            </a:r>
            <a:r>
              <a:rPr lang="en-US" sz="2200" dirty="0" smtClean="0"/>
              <a:t>education</a:t>
            </a:r>
            <a:endParaRPr lang="en-US" sz="2200" dirty="0"/>
          </a:p>
          <a:p>
            <a:pPr lvl="1"/>
            <a:r>
              <a:rPr lang="en-US" sz="2200" dirty="0" smtClean="0"/>
              <a:t>promote </a:t>
            </a:r>
            <a:r>
              <a:rPr lang="en-US" sz="2200" dirty="0"/>
              <a:t>gender </a:t>
            </a:r>
            <a:r>
              <a:rPr lang="en-US" sz="2200" dirty="0" smtClean="0"/>
              <a:t>equality</a:t>
            </a:r>
          </a:p>
          <a:p>
            <a:pPr lvl="1"/>
            <a:r>
              <a:rPr lang="en-US" sz="2200" dirty="0" smtClean="0"/>
              <a:t>combat disease</a:t>
            </a:r>
          </a:p>
          <a:p>
            <a:pPr lvl="1"/>
            <a:r>
              <a:rPr lang="en-US" sz="2200" dirty="0" smtClean="0"/>
              <a:t>ensure environmental sustainability</a:t>
            </a:r>
          </a:p>
        </p:txBody>
      </p:sp>
      <p:pic>
        <p:nvPicPr>
          <p:cNvPr id="1026" name="Picture 2" descr="H:\53845 Marston_WRGC_6E IRDVD\Working Files 53845\Lecture PPT 53845\Component\Ch05_VG_301.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411549" y="3548499"/>
            <a:ext cx="6157266" cy="303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314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and Populations/Ethnicity</a:t>
            </a:r>
          </a:p>
        </p:txBody>
      </p:sp>
      <p:sp>
        <p:nvSpPr>
          <p:cNvPr id="3" name="Content Placeholder 2"/>
          <p:cNvSpPr>
            <a:spLocks noGrp="1"/>
          </p:cNvSpPr>
          <p:nvPr>
            <p:ph sz="half" idx="2"/>
          </p:nvPr>
        </p:nvSpPr>
        <p:spPr>
          <a:xfrm>
            <a:off x="384048" y="1080399"/>
            <a:ext cx="8444266" cy="3951288"/>
          </a:xfrm>
        </p:spPr>
        <p:txBody>
          <a:bodyPr/>
          <a:lstStyle/>
          <a:p>
            <a:r>
              <a:rPr lang="fr-FR" dirty="0"/>
              <a:t>Large, diverse </a:t>
            </a:r>
            <a:r>
              <a:rPr lang="fr-FR" dirty="0" err="1"/>
              <a:t>region</a:t>
            </a:r>
            <a:r>
              <a:rPr lang="fr-FR" dirty="0"/>
              <a:t> </a:t>
            </a:r>
            <a:endParaRPr lang="fr-FR" dirty="0" smtClean="0"/>
          </a:p>
          <a:p>
            <a:r>
              <a:rPr lang="fr-FR" dirty="0" err="1" smtClean="0"/>
              <a:t>Traditional</a:t>
            </a:r>
            <a:r>
              <a:rPr lang="fr-FR" dirty="0" smtClean="0"/>
              <a:t> </a:t>
            </a:r>
            <a:r>
              <a:rPr lang="fr-FR" dirty="0"/>
              <a:t>religions</a:t>
            </a:r>
          </a:p>
          <a:p>
            <a:r>
              <a:rPr lang="en-US" dirty="0"/>
              <a:t>Hundreds of different </a:t>
            </a:r>
            <a:r>
              <a:rPr lang="en-US" b="1" dirty="0"/>
              <a:t>ethnic groups</a:t>
            </a:r>
          </a:p>
          <a:p>
            <a:r>
              <a:rPr lang="en-US" b="1" dirty="0"/>
              <a:t>Tribe</a:t>
            </a:r>
          </a:p>
          <a:p>
            <a:r>
              <a:rPr lang="en-US" dirty="0"/>
              <a:t>Largest ethnic groups associated with dominate languages </a:t>
            </a:r>
          </a:p>
        </p:txBody>
      </p:sp>
    </p:spTree>
    <p:extLst>
      <p:ext uri="{BB962C8B-B14F-4D97-AF65-F5344CB8AC3E}">
        <p14:creationId xmlns:p14="http://schemas.microsoft.com/office/powerpoint/2010/main" val="17775647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Religion/Language</a:t>
            </a:r>
          </a:p>
        </p:txBody>
      </p:sp>
      <p:sp>
        <p:nvSpPr>
          <p:cNvPr id="3" name="Content Placeholder 2"/>
          <p:cNvSpPr>
            <a:spLocks noGrp="1"/>
          </p:cNvSpPr>
          <p:nvPr>
            <p:ph sz="half" idx="2"/>
          </p:nvPr>
        </p:nvSpPr>
        <p:spPr>
          <a:xfrm>
            <a:off x="384048" y="1080399"/>
            <a:ext cx="3516620" cy="3951288"/>
          </a:xfrm>
        </p:spPr>
        <p:txBody>
          <a:bodyPr/>
          <a:lstStyle/>
          <a:p>
            <a:r>
              <a:rPr lang="en-US" dirty="0"/>
              <a:t>Animist (worship of nature)</a:t>
            </a:r>
          </a:p>
          <a:p>
            <a:r>
              <a:rPr lang="en-US" dirty="0"/>
              <a:t>Spread of Christianity and Islam dominate</a:t>
            </a:r>
          </a:p>
          <a:p>
            <a:r>
              <a:rPr lang="en-US" dirty="0"/>
              <a:t>More than 1,000 living languages</a:t>
            </a:r>
          </a:p>
          <a:p>
            <a:r>
              <a:rPr lang="en-US" b="1" dirty="0"/>
              <a:t>Lingua </a:t>
            </a:r>
            <a:r>
              <a:rPr lang="en-US" b="1" dirty="0" smtClean="0"/>
              <a:t>franca</a:t>
            </a:r>
            <a:endParaRPr lang="en-US" b="1"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718573" y="1133621"/>
            <a:ext cx="5214411" cy="5257800"/>
          </a:xfrm>
          <a:prstGeom prst="rect">
            <a:avLst/>
          </a:prstGeom>
        </p:spPr>
      </p:pic>
    </p:spTree>
    <p:extLst>
      <p:ext uri="{BB962C8B-B14F-4D97-AF65-F5344CB8AC3E}">
        <p14:creationId xmlns:p14="http://schemas.microsoft.com/office/powerpoint/2010/main" val="28629676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Cultural </a:t>
            </a:r>
            <a:r>
              <a:rPr lang="en-US" dirty="0"/>
              <a:t>Practices, Social Differences, and Identity</a:t>
            </a:r>
          </a:p>
        </p:txBody>
      </p:sp>
      <p:sp>
        <p:nvSpPr>
          <p:cNvPr id="4" name="Content Placeholder 3"/>
          <p:cNvSpPr>
            <a:spLocks noGrp="1"/>
          </p:cNvSpPr>
          <p:nvPr>
            <p:ph sz="half" idx="2"/>
          </p:nvPr>
        </p:nvSpPr>
        <p:spPr>
          <a:xfrm>
            <a:off x="384048" y="1345016"/>
            <a:ext cx="8411609" cy="3951288"/>
          </a:xfrm>
        </p:spPr>
        <p:txBody>
          <a:bodyPr/>
          <a:lstStyle/>
          <a:p>
            <a:r>
              <a:rPr lang="en-US" dirty="0"/>
              <a:t>Kinship</a:t>
            </a:r>
          </a:p>
          <a:p>
            <a:r>
              <a:rPr lang="en-US" dirty="0"/>
              <a:t>Land</a:t>
            </a:r>
          </a:p>
          <a:p>
            <a:r>
              <a:rPr lang="en-US" dirty="0"/>
              <a:t>Music, art, and </a:t>
            </a:r>
            <a:r>
              <a:rPr lang="en-US" dirty="0" smtClean="0"/>
              <a:t>film</a:t>
            </a:r>
          </a:p>
          <a:p>
            <a:pPr lvl="1"/>
            <a:r>
              <a:rPr lang="en-US" dirty="0" smtClean="0"/>
              <a:t>musical </a:t>
            </a:r>
            <a:r>
              <a:rPr lang="en-US" dirty="0"/>
              <a:t>traditions</a:t>
            </a:r>
          </a:p>
          <a:p>
            <a:pPr lvl="1"/>
            <a:r>
              <a:rPr lang="en-US" b="1" dirty="0" err="1"/>
              <a:t>griots</a:t>
            </a:r>
            <a:endParaRPr lang="en-US" b="1" dirty="0"/>
          </a:p>
          <a:p>
            <a:pPr lvl="1"/>
            <a:r>
              <a:rPr lang="en-US" dirty="0"/>
              <a:t>pop music</a:t>
            </a:r>
          </a:p>
          <a:p>
            <a:pPr lvl="1"/>
            <a:r>
              <a:rPr lang="en-US" dirty="0"/>
              <a:t>African art</a:t>
            </a:r>
          </a:p>
          <a:p>
            <a:pPr lvl="1"/>
            <a:r>
              <a:rPr lang="en-US" b="1" dirty="0" err="1" smtClean="0"/>
              <a:t>Nollywood</a:t>
            </a:r>
            <a:endParaRPr lang="en-US" b="1" dirty="0" smtClean="0"/>
          </a:p>
          <a:p>
            <a:r>
              <a:rPr lang="en-US" dirty="0" smtClean="0"/>
              <a:t>Sport</a:t>
            </a:r>
          </a:p>
          <a:p>
            <a:pPr lvl="1"/>
            <a:r>
              <a:rPr lang="en-US" dirty="0" smtClean="0"/>
              <a:t>soccer</a:t>
            </a:r>
            <a:endParaRPr lang="en-US" dirty="0"/>
          </a:p>
          <a:p>
            <a:pPr lvl="1"/>
            <a:r>
              <a:rPr lang="en-US" dirty="0" smtClean="0"/>
              <a:t>distance </a:t>
            </a:r>
            <a:r>
              <a:rPr lang="en-US" dirty="0"/>
              <a:t>runners</a:t>
            </a:r>
          </a:p>
          <a:p>
            <a:endParaRPr lang="en-US" dirty="0"/>
          </a:p>
          <a:p>
            <a:pPr lvl="1"/>
            <a:endParaRPr lang="en-US" b="1" dirty="0"/>
          </a:p>
        </p:txBody>
      </p:sp>
      <p:pic>
        <p:nvPicPr>
          <p:cNvPr id="26626" name="Picture 2" descr="C:\Users\Loni\Desktop\Images to be used\CH05\Ch05_Labeled\WRGC_6e_Figure_05_31a_L.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4758490" y="625523"/>
            <a:ext cx="3066023" cy="2016077"/>
          </a:xfrm>
          <a:prstGeom prst="rect">
            <a:avLst/>
          </a:prstGeom>
          <a:noFill/>
          <a:extLst>
            <a:ext uri="{909E8E84-426E-40DD-AFC4-6F175D3DCCD1}">
              <a14:hiddenFill xmlns:a14="http://schemas.microsoft.com/office/drawing/2010/main">
                <a:solidFill>
                  <a:srgbClr val="FFFFFF"/>
                </a:solidFill>
              </a14:hiddenFill>
            </a:ext>
          </a:extLst>
        </p:spPr>
      </p:pic>
      <p:pic>
        <p:nvPicPr>
          <p:cNvPr id="26627" name="Picture 3" descr="C:\Users\Loni\Desktop\Images to be used\CH05\Ch05_Labeled\WRGC_6e_Figure_05_31c_L.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4747218" y="2785975"/>
            <a:ext cx="2726040" cy="1742481"/>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C:\Users\Loni\Desktop\Images to be used\CH05\Ch05_Labeled\WRGC_6e_Figure_05_32_L.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731657" y="4652153"/>
            <a:ext cx="4243313" cy="198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4438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Cultural </a:t>
            </a:r>
            <a:r>
              <a:rPr lang="en-US" dirty="0"/>
              <a:t>Practices, Social Differences, and Identity (cont.)</a:t>
            </a:r>
          </a:p>
        </p:txBody>
      </p:sp>
      <p:sp>
        <p:nvSpPr>
          <p:cNvPr id="4" name="Content Placeholder 3"/>
          <p:cNvSpPr>
            <a:spLocks noGrp="1"/>
          </p:cNvSpPr>
          <p:nvPr>
            <p:ph sz="half" idx="2"/>
          </p:nvPr>
        </p:nvSpPr>
        <p:spPr>
          <a:xfrm>
            <a:off x="384049" y="1345016"/>
            <a:ext cx="3910160" cy="3951288"/>
          </a:xfrm>
        </p:spPr>
        <p:txBody>
          <a:bodyPr/>
          <a:lstStyle/>
          <a:p>
            <a:r>
              <a:rPr lang="en-US" dirty="0"/>
              <a:t>Changing roles of women</a:t>
            </a:r>
          </a:p>
          <a:p>
            <a:pPr lvl="1"/>
            <a:r>
              <a:rPr lang="en-US" dirty="0"/>
              <a:t>feminization of poverty</a:t>
            </a:r>
          </a:p>
          <a:p>
            <a:pPr lvl="1"/>
            <a:r>
              <a:rPr lang="en-US" dirty="0"/>
              <a:t>patriarchy</a:t>
            </a:r>
          </a:p>
          <a:p>
            <a:pPr lvl="1"/>
            <a:r>
              <a:rPr lang="en-US" dirty="0"/>
              <a:t>property rights</a:t>
            </a:r>
          </a:p>
          <a:p>
            <a:pPr lvl="1"/>
            <a:r>
              <a:rPr lang="en-US" dirty="0"/>
              <a:t>programs that recognize women</a:t>
            </a:r>
            <a:r>
              <a:rPr lang="ja-JP" altLang="en-US" dirty="0"/>
              <a:t>’</a:t>
            </a:r>
            <a:r>
              <a:rPr lang="en-US" altLang="ja-JP" dirty="0"/>
              <a:t>s contributions</a:t>
            </a:r>
          </a:p>
        </p:txBody>
      </p:sp>
      <p:pic>
        <p:nvPicPr>
          <p:cNvPr id="27650" name="Picture 2" descr="C:\Users\Loni\Desktop\Images to be used\CH05\Ch05_Labeled\WRGC_6e_Figure_05_33_L.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39822" y="1558926"/>
            <a:ext cx="5107196" cy="4426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7879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Demography and Urbanization</a:t>
            </a:r>
          </a:p>
        </p:txBody>
      </p:sp>
      <p:sp>
        <p:nvSpPr>
          <p:cNvPr id="3" name="Content Placeholder 2"/>
          <p:cNvSpPr>
            <a:spLocks noGrp="1"/>
          </p:cNvSpPr>
          <p:nvPr>
            <p:ph sz="half" idx="2"/>
          </p:nvPr>
        </p:nvSpPr>
        <p:spPr>
          <a:xfrm>
            <a:off x="384048" y="1080399"/>
            <a:ext cx="5738304" cy="3951288"/>
          </a:xfrm>
        </p:spPr>
        <p:txBody>
          <a:bodyPr/>
          <a:lstStyle/>
          <a:p>
            <a:r>
              <a:rPr lang="en-US" dirty="0"/>
              <a:t>Annual growth rate of </a:t>
            </a:r>
            <a:r>
              <a:rPr lang="en-US" dirty="0" smtClean="0"/>
              <a:t>2.7%</a:t>
            </a:r>
          </a:p>
          <a:p>
            <a:pPr lvl="1"/>
            <a:r>
              <a:rPr lang="en-US" dirty="0" smtClean="0"/>
              <a:t>children </a:t>
            </a:r>
            <a:r>
              <a:rPr lang="en-US" dirty="0"/>
              <a:t>valued</a:t>
            </a:r>
          </a:p>
          <a:p>
            <a:pPr lvl="1"/>
            <a:r>
              <a:rPr lang="en-US" dirty="0"/>
              <a:t>security for elderly</a:t>
            </a:r>
          </a:p>
          <a:p>
            <a:pPr lvl="1"/>
            <a:r>
              <a:rPr lang="en-US" dirty="0"/>
              <a:t>ready source of labor</a:t>
            </a:r>
          </a:p>
          <a:p>
            <a:pPr lvl="1"/>
            <a:r>
              <a:rPr lang="en-US" dirty="0"/>
              <a:t>symbols of status </a:t>
            </a:r>
          </a:p>
          <a:p>
            <a:r>
              <a:rPr lang="en-US" dirty="0"/>
              <a:t>Fertility</a:t>
            </a:r>
          </a:p>
          <a:p>
            <a:pPr lvl="1"/>
            <a:r>
              <a:rPr lang="en-US" dirty="0"/>
              <a:t>conditions for women</a:t>
            </a:r>
          </a:p>
          <a:p>
            <a:pPr lvl="2"/>
            <a:r>
              <a:rPr lang="en-US" dirty="0"/>
              <a:t>age of marriage</a:t>
            </a:r>
          </a:p>
          <a:p>
            <a:pPr lvl="2"/>
            <a:r>
              <a:rPr lang="en-US" dirty="0"/>
              <a:t>education</a:t>
            </a:r>
          </a:p>
          <a:p>
            <a:pPr lvl="2"/>
            <a:r>
              <a:rPr lang="en-US" dirty="0"/>
              <a:t>urban vs. rural</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181919" y="711591"/>
            <a:ext cx="3816773" cy="3567332"/>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655513" y="4635539"/>
            <a:ext cx="5343179" cy="2029968"/>
          </a:xfrm>
          <a:prstGeom prst="rect">
            <a:avLst/>
          </a:prstGeom>
        </p:spPr>
      </p:pic>
    </p:spTree>
    <p:extLst>
      <p:ext uri="{BB962C8B-B14F-4D97-AF65-F5344CB8AC3E}">
        <p14:creationId xmlns:p14="http://schemas.microsoft.com/office/powerpoint/2010/main" val="7053511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Demography and Urbanization (cont.)</a:t>
            </a:r>
          </a:p>
        </p:txBody>
      </p:sp>
      <p:sp>
        <p:nvSpPr>
          <p:cNvPr id="3" name="Content Placeholder 2"/>
          <p:cNvSpPr>
            <a:spLocks noGrp="1"/>
          </p:cNvSpPr>
          <p:nvPr>
            <p:ph sz="half" idx="2"/>
          </p:nvPr>
        </p:nvSpPr>
        <p:spPr>
          <a:xfrm>
            <a:off x="384048" y="1080399"/>
            <a:ext cx="8444266" cy="3951288"/>
          </a:xfrm>
        </p:spPr>
        <p:txBody>
          <a:bodyPr/>
          <a:lstStyle/>
          <a:p>
            <a:r>
              <a:rPr lang="en-US" dirty="0"/>
              <a:t>Health concerns</a:t>
            </a:r>
          </a:p>
          <a:p>
            <a:pPr lvl="1"/>
            <a:r>
              <a:rPr lang="en-US" b="1" dirty="0" smtClean="0"/>
              <a:t>HIV/AIDS</a:t>
            </a:r>
          </a:p>
          <a:p>
            <a:pPr lvl="2"/>
            <a:r>
              <a:rPr lang="en-US" dirty="0" smtClean="0"/>
              <a:t>rates </a:t>
            </a:r>
            <a:r>
              <a:rPr lang="en-US" dirty="0"/>
              <a:t>highest in Southern/Eastern </a:t>
            </a:r>
            <a:r>
              <a:rPr lang="en-US" dirty="0" smtClean="0"/>
              <a:t>Africa</a:t>
            </a:r>
          </a:p>
          <a:p>
            <a:pPr lvl="2"/>
            <a:r>
              <a:rPr lang="en-US" dirty="0" smtClean="0"/>
              <a:t>women </a:t>
            </a:r>
            <a:r>
              <a:rPr lang="en-US" dirty="0"/>
              <a:t>more </a:t>
            </a:r>
            <a:r>
              <a:rPr lang="en-US" dirty="0" smtClean="0"/>
              <a:t>affected</a:t>
            </a:r>
          </a:p>
          <a:p>
            <a:pPr lvl="2"/>
            <a:r>
              <a:rPr lang="en-US" dirty="0" smtClean="0"/>
              <a:t>role </a:t>
            </a:r>
            <a:r>
              <a:rPr lang="en-US" dirty="0"/>
              <a:t>of </a:t>
            </a:r>
            <a:r>
              <a:rPr lang="en-US" dirty="0" smtClean="0"/>
              <a:t>poverty</a:t>
            </a:r>
          </a:p>
          <a:p>
            <a:pPr lvl="2"/>
            <a:r>
              <a:rPr lang="en-US" dirty="0" smtClean="0"/>
              <a:t>low </a:t>
            </a:r>
            <a:r>
              <a:rPr lang="en-US" dirty="0"/>
              <a:t>health-care </a:t>
            </a:r>
            <a:r>
              <a:rPr lang="en-US" dirty="0" smtClean="0"/>
              <a:t/>
            </a:r>
            <a:br>
              <a:rPr lang="en-US" dirty="0" smtClean="0"/>
            </a:br>
            <a:r>
              <a:rPr lang="en-US" dirty="0" smtClean="0"/>
              <a:t>budgets</a:t>
            </a:r>
            <a:endParaRPr lang="en-US"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598985" y="2907323"/>
            <a:ext cx="5398234" cy="3657600"/>
          </a:xfrm>
          <a:prstGeom prst="rect">
            <a:avLst/>
          </a:prstGeom>
        </p:spPr>
      </p:pic>
    </p:spTree>
    <p:extLst>
      <p:ext uri="{BB962C8B-B14F-4D97-AF65-F5344CB8AC3E}">
        <p14:creationId xmlns:p14="http://schemas.microsoft.com/office/powerpoint/2010/main" val="32398146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Demography and Urbanization (cont.)</a:t>
            </a:r>
          </a:p>
        </p:txBody>
      </p:sp>
      <p:sp>
        <p:nvSpPr>
          <p:cNvPr id="3" name="Content Placeholder 2"/>
          <p:cNvSpPr>
            <a:spLocks noGrp="1"/>
          </p:cNvSpPr>
          <p:nvPr>
            <p:ph sz="half" idx="2"/>
          </p:nvPr>
        </p:nvSpPr>
        <p:spPr>
          <a:xfrm>
            <a:off x="384048" y="1080399"/>
            <a:ext cx="4783673" cy="3951288"/>
          </a:xfrm>
        </p:spPr>
        <p:txBody>
          <a:bodyPr/>
          <a:lstStyle/>
          <a:p>
            <a:r>
              <a:rPr lang="en-US" dirty="0"/>
              <a:t>African cities</a:t>
            </a:r>
          </a:p>
          <a:p>
            <a:pPr lvl="1"/>
            <a:r>
              <a:rPr lang="en-US" dirty="0"/>
              <a:t>rural-to-urban migration</a:t>
            </a:r>
          </a:p>
          <a:p>
            <a:pPr lvl="1"/>
            <a:r>
              <a:rPr lang="en-US" dirty="0"/>
              <a:t>nearly 40% </a:t>
            </a:r>
            <a:r>
              <a:rPr lang="en-US" dirty="0" smtClean="0"/>
              <a:t>of</a:t>
            </a:r>
          </a:p>
          <a:p>
            <a:pPr marL="457200" lvl="1" indent="0">
              <a:buNone/>
            </a:pPr>
            <a:r>
              <a:rPr lang="en-US" dirty="0" smtClean="0"/>
              <a:t>   population </a:t>
            </a:r>
            <a:r>
              <a:rPr lang="en-US" dirty="0"/>
              <a:t>urban</a:t>
            </a:r>
          </a:p>
          <a:p>
            <a:pPr lvl="1"/>
            <a:r>
              <a:rPr lang="en-US" b="1" dirty="0"/>
              <a:t>Urban bias</a:t>
            </a:r>
          </a:p>
        </p:txBody>
      </p:sp>
      <p:pic>
        <p:nvPicPr>
          <p:cNvPr id="30724" name="Picture 4" descr="C:\Users\Loni\Desktop\Images to be used\CH05\Ch05_Labeled\WRGC_6e_Figure_05_38a_L.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16465" y="3336400"/>
            <a:ext cx="2352178" cy="1596956"/>
          </a:xfrm>
          <a:prstGeom prst="rect">
            <a:avLst/>
          </a:prstGeom>
          <a:noFill/>
          <a:extLst>
            <a:ext uri="{909E8E84-426E-40DD-AFC4-6F175D3DCCD1}">
              <a14:hiddenFill xmlns:a14="http://schemas.microsoft.com/office/drawing/2010/main">
                <a:solidFill>
                  <a:srgbClr val="FFFFFF"/>
                </a:solidFill>
              </a14:hiddenFill>
            </a:ext>
          </a:extLst>
        </p:spPr>
      </p:pic>
      <p:pic>
        <p:nvPicPr>
          <p:cNvPr id="30725" name="Picture 5" descr="C:\Users\Loni\Desktop\Images to be used\CH05\Ch05_Labeled\WRGC_6e_Figure_05_38b_L.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249968" y="4933356"/>
            <a:ext cx="2347432" cy="16949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717229" y="958960"/>
            <a:ext cx="4286094" cy="4754880"/>
          </a:xfrm>
          <a:prstGeom prst="rect">
            <a:avLst/>
          </a:prstGeom>
        </p:spPr>
      </p:pic>
    </p:spTree>
    <p:extLst>
      <p:ext uri="{BB962C8B-B14F-4D97-AF65-F5344CB8AC3E}">
        <p14:creationId xmlns:p14="http://schemas.microsoft.com/office/powerpoint/2010/main" val="36262068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Demography and Urbanization (cont.)</a:t>
            </a:r>
          </a:p>
        </p:txBody>
      </p:sp>
      <p:sp>
        <p:nvSpPr>
          <p:cNvPr id="3" name="Content Placeholder 2"/>
          <p:cNvSpPr>
            <a:spLocks noGrp="1"/>
          </p:cNvSpPr>
          <p:nvPr>
            <p:ph sz="half" idx="2"/>
          </p:nvPr>
        </p:nvSpPr>
        <p:spPr>
          <a:xfrm>
            <a:off x="384048" y="1080399"/>
            <a:ext cx="8444266" cy="3951288"/>
          </a:xfrm>
        </p:spPr>
        <p:txBody>
          <a:bodyPr/>
          <a:lstStyle/>
          <a:p>
            <a:r>
              <a:rPr lang="en-US" dirty="0"/>
              <a:t>African diaspora</a:t>
            </a:r>
          </a:p>
          <a:p>
            <a:pPr lvl="1"/>
            <a:r>
              <a:rPr lang="en-US" dirty="0"/>
              <a:t>Legacy of slavery</a:t>
            </a:r>
          </a:p>
          <a:p>
            <a:pPr lvl="1"/>
            <a:r>
              <a:rPr lang="en-US" dirty="0"/>
              <a:t>Post-colonial</a:t>
            </a:r>
          </a:p>
          <a:p>
            <a:pPr lvl="1"/>
            <a:r>
              <a:rPr lang="en-US" dirty="0"/>
              <a:t>Brain drain</a:t>
            </a:r>
          </a:p>
          <a:p>
            <a:r>
              <a:rPr lang="en-US" dirty="0"/>
              <a:t>Migration within Africa</a:t>
            </a:r>
          </a:p>
          <a:p>
            <a:pPr lvl="1"/>
            <a:r>
              <a:rPr lang="en-US" dirty="0"/>
              <a:t>Search for employment</a:t>
            </a:r>
          </a:p>
          <a:p>
            <a:pPr lvl="1"/>
            <a:r>
              <a:rPr lang="en-US" dirty="0"/>
              <a:t>Leaving conflict areas</a:t>
            </a:r>
          </a:p>
          <a:p>
            <a:r>
              <a:rPr lang="en-US" dirty="0" smtClean="0"/>
              <a:t>Refugees/IDPs</a:t>
            </a:r>
          </a:p>
          <a:p>
            <a:pPr lvl="1"/>
            <a:r>
              <a:rPr lang="en-US" dirty="0" smtClean="0"/>
              <a:t>15.1 </a:t>
            </a:r>
            <a:r>
              <a:rPr lang="en-US" dirty="0"/>
              <a:t>million in the region</a:t>
            </a:r>
          </a:p>
        </p:txBody>
      </p:sp>
      <p:pic>
        <p:nvPicPr>
          <p:cNvPr id="31746" name="Picture 2" descr="C:\Users\Loni\Desktop\Images to be used\CH05\Ch05_Labeled\WRGC_6e_Figure_05_39_L.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502295" y="1522989"/>
            <a:ext cx="4267200" cy="281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867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Geographies</a:t>
            </a:r>
          </a:p>
        </p:txBody>
      </p:sp>
      <p:sp>
        <p:nvSpPr>
          <p:cNvPr id="3" name="Content Placeholder 2"/>
          <p:cNvSpPr>
            <a:spLocks noGrp="1"/>
          </p:cNvSpPr>
          <p:nvPr>
            <p:ph sz="half" idx="2"/>
          </p:nvPr>
        </p:nvSpPr>
        <p:spPr>
          <a:xfrm>
            <a:off x="384048" y="1080399"/>
            <a:ext cx="4213352" cy="3951288"/>
          </a:xfrm>
        </p:spPr>
        <p:txBody>
          <a:bodyPr/>
          <a:lstStyle/>
          <a:p>
            <a:r>
              <a:rPr lang="en-US" dirty="0"/>
              <a:t>Sustaining representative and affective government</a:t>
            </a:r>
          </a:p>
          <a:p>
            <a:pPr lvl="1"/>
            <a:r>
              <a:rPr lang="en-US" dirty="0"/>
              <a:t>transparency and greater participation</a:t>
            </a:r>
          </a:p>
          <a:p>
            <a:r>
              <a:rPr lang="en-US" dirty="0"/>
              <a:t>Economic opportunities</a:t>
            </a:r>
          </a:p>
          <a:p>
            <a:pPr lvl="1"/>
            <a:r>
              <a:rPr lang="en-US" dirty="0"/>
              <a:t>ensuring food security</a:t>
            </a:r>
          </a:p>
          <a:p>
            <a:pPr lvl="1"/>
            <a:r>
              <a:rPr lang="en-US" dirty="0"/>
              <a:t>debt forgiveness</a:t>
            </a:r>
          </a:p>
          <a:p>
            <a:pPr lvl="1"/>
            <a:r>
              <a:rPr lang="en-US" dirty="0"/>
              <a:t>fostering a middle class</a:t>
            </a:r>
          </a:p>
          <a:p>
            <a:r>
              <a:rPr lang="en-US" dirty="0"/>
              <a:t>Food, </a:t>
            </a:r>
            <a:r>
              <a:rPr lang="en-US" dirty="0" smtClean="0"/>
              <a:t>water</a:t>
            </a:r>
            <a:r>
              <a:rPr lang="en-US" dirty="0"/>
              <a:t>, </a:t>
            </a:r>
            <a:r>
              <a:rPr lang="en-US" dirty="0" smtClean="0"/>
              <a:t>health </a:t>
            </a:r>
            <a:r>
              <a:rPr lang="en-US" dirty="0"/>
              <a:t>and </a:t>
            </a:r>
            <a:r>
              <a:rPr lang="en-US" dirty="0" smtClean="0"/>
              <a:t>energy </a:t>
            </a:r>
            <a:r>
              <a:rPr lang="en-US" dirty="0"/>
              <a:t>for </a:t>
            </a:r>
            <a:r>
              <a:rPr lang="en-US" dirty="0" smtClean="0"/>
              <a:t>all</a:t>
            </a:r>
            <a:endParaRPr lang="en-US"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971585" y="219221"/>
            <a:ext cx="3723265" cy="3474720"/>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71833" y="3824068"/>
            <a:ext cx="4122767" cy="2880360"/>
          </a:xfrm>
          <a:prstGeom prst="rect">
            <a:avLst/>
          </a:prstGeom>
        </p:spPr>
      </p:pic>
    </p:spTree>
    <p:extLst>
      <p:ext uri="{BB962C8B-B14F-4D97-AF65-F5344CB8AC3E}">
        <p14:creationId xmlns:p14="http://schemas.microsoft.com/office/powerpoint/2010/main" val="33669589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482&quot;&gt;&lt;object type=&quot;3&quot; unique_id=&quot;10483&quot;&gt;&lt;property id=&quot;20148&quot; value=&quot;5&quot;/&gt;&lt;property id=&quot;20300&quot; value=&quot;Slide 1&quot;/&gt;&lt;property id=&quot;20307&quot; value=&quot;256&quot;/&gt;&lt;/object&gt;&lt;object type=&quot;3&quot; unique_id=&quot;10484&quot;&gt;&lt;property id=&quot;20148&quot; value=&quot;5&quot;/&gt;&lt;property id=&quot;20300&quot; value=&quot;Slide 2&quot;/&gt;&lt;property id=&quot;20307&quot; value=&quot;258&quot;/&gt;&lt;/object&gt;&lt;object type=&quot;3&quot; unique_id=&quot;10485&quot;&gt;&lt;property id=&quot;20148&quot; value=&quot;5&quot;/&gt;&lt;property id=&quot;20300&quot; value=&quot;Slide 3&quot;/&gt;&lt;property id=&quot;20307&quot; value=&quot;263&quot;/&gt;&lt;/object&gt;&lt;object type=&quot;3&quot; unique_id=&quot;10486&quot;&gt;&lt;property id=&quot;20148&quot; value=&quot;5&quot;/&gt;&lt;property id=&quot;20300&quot; value=&quot;Slide 4&quot;/&gt;&lt;property id=&quot;20307&quot; value=&quot;264&quot;/&gt;&lt;/object&gt;&lt;object type=&quot;3&quot; unique_id=&quot;10487&quot;&gt;&lt;property id=&quot;20148&quot; value=&quot;5&quot;/&gt;&lt;property id=&quot;20300&quot; value=&quot;Slide 5&quot;/&gt;&lt;property id=&quot;20307&quot; value=&quot;265&quot;/&gt;&lt;/object&gt;&lt;object type=&quot;3&quot; unique_id=&quot;10488&quot;&gt;&lt;property id=&quot;20148&quot; value=&quot;5&quot;/&gt;&lt;property id=&quot;20300&quot; value=&quot;Slide 6&quot;/&gt;&lt;property id=&quot;20307&quot; value=&quot;295&quot;/&gt;&lt;/object&gt;&lt;object type=&quot;3&quot; unique_id=&quot;10489&quot;&gt;&lt;property id=&quot;20148&quot; value=&quot;5&quot;/&gt;&lt;property id=&quot;20300&quot; value=&quot;Slide 7&quot;/&gt;&lt;property id=&quot;20307&quot; value=&quot;296&quot;/&gt;&lt;/object&gt;&lt;object type=&quot;3&quot; unique_id=&quot;10490&quot;&gt;&lt;property id=&quot;20148&quot; value=&quot;5&quot;/&gt;&lt;property id=&quot;20300&quot; value=&quot;Slide 8&quot;/&gt;&lt;property id=&quot;20307&quot; value=&quot;297&quot;/&gt;&lt;/object&gt;&lt;object type=&quot;3&quot; unique_id=&quot;10491&quot;&gt;&lt;property id=&quot;20148&quot; value=&quot;5&quot;/&gt;&lt;property id=&quot;20300&quot; value=&quot;Slide 9&quot;/&gt;&lt;property id=&quot;20307&quot; value=&quot;298&quot;/&gt;&lt;/object&gt;&lt;object type=&quot;3&quot; unique_id=&quot;10492&quot;&gt;&lt;property id=&quot;20148&quot; value=&quot;5&quot;/&gt;&lt;property id=&quot;20300&quot; value=&quot;Slide 10&quot;/&gt;&lt;property id=&quot;20307&quot; value=&quot;271&quot;/&gt;&lt;/object&gt;&lt;object type=&quot;3&quot; unique_id=&quot;10493&quot;&gt;&lt;property id=&quot;20148&quot; value=&quot;5&quot;/&gt;&lt;property id=&quot;20300&quot; value=&quot;Slide 11&quot;/&gt;&lt;property id=&quot;20307&quot; value=&quot;272&quot;/&gt;&lt;/object&gt;&lt;object type=&quot;3&quot; unique_id=&quot;10494&quot;&gt;&lt;property id=&quot;20148&quot; value=&quot;5&quot;/&gt;&lt;property id=&quot;20300&quot; value=&quot;Slide 12&quot;/&gt;&lt;property id=&quot;20307&quot; value=&quot;273&quot;/&gt;&lt;/object&gt;&lt;object type=&quot;3&quot; unique_id=&quot;10495&quot;&gt;&lt;property id=&quot;20148&quot; value=&quot;5&quot;/&gt;&lt;property id=&quot;20300&quot; value=&quot;Slide 13&quot;/&gt;&lt;property id=&quot;20307&quot; value=&quot;299&quot;/&gt;&lt;/object&gt;&lt;object type=&quot;3&quot; unique_id=&quot;10496&quot;&gt;&lt;property id=&quot;20148&quot; value=&quot;5&quot;/&gt;&lt;property id=&quot;20300&quot; value=&quot;Slide 14&quot;/&gt;&lt;property id=&quot;20307&quot; value=&quot;301&quot;/&gt;&lt;/object&gt;&lt;object type=&quot;3&quot; unique_id=&quot;10497&quot;&gt;&lt;property id=&quot;20148&quot; value=&quot;5&quot;/&gt;&lt;property id=&quot;20300&quot; value=&quot;Slide 15&quot;/&gt;&lt;property id=&quot;20307&quot; value=&quot;300&quot;/&gt;&lt;/object&gt;&lt;object type=&quot;3&quot; unique_id=&quot;10498&quot;&gt;&lt;property id=&quot;20148&quot; value=&quot;5&quot;/&gt;&lt;property id=&quot;20300&quot; value=&quot;Slide 16&quot;/&gt;&lt;property id=&quot;20307&quot; value=&quot;276&quot;/&gt;&lt;/object&gt;&lt;object type=&quot;3&quot; unique_id=&quot;10499&quot;&gt;&lt;property id=&quot;20148&quot; value=&quot;5&quot;/&gt;&lt;property id=&quot;20300&quot; value=&quot;Slide 17&quot;/&gt;&lt;property id=&quot;20307&quot; value=&quot;277&quot;/&gt;&lt;/object&gt;&lt;object type=&quot;3&quot; unique_id=&quot;10500&quot;&gt;&lt;property id=&quot;20148&quot; value=&quot;5&quot;/&gt;&lt;property id=&quot;20300&quot; value=&quot;Slide 18&quot;/&gt;&lt;property id=&quot;20307&quot; value=&quot;278&quot;/&gt;&lt;/object&gt;&lt;object type=&quot;3&quot; unique_id=&quot;10501&quot;&gt;&lt;property id=&quot;20148&quot; value=&quot;5&quot;/&gt;&lt;property id=&quot;20300&quot; value=&quot;Slide 19&quot;/&gt;&lt;property id=&quot;20307&quot; value=&quot;302&quot;/&gt;&lt;/object&gt;&lt;object type=&quot;3&quot; unique_id=&quot;10502&quot;&gt;&lt;property id=&quot;20148&quot; value=&quot;5&quot;/&gt;&lt;property id=&quot;20300&quot; value=&quot;Slide 20&quot;/&gt;&lt;property id=&quot;20307&quot; value=&quot;281&quot;/&gt;&lt;/object&gt;&lt;object type=&quot;3&quot; unique_id=&quot;10503&quot;&gt;&lt;property id=&quot;20148&quot; value=&quot;5&quot;/&gt;&lt;property id=&quot;20300&quot; value=&quot;Slide 21&quot;/&gt;&lt;property id=&quot;20307&quot; value=&quot;282&quot;/&gt;&lt;/object&gt;&lt;object type=&quot;3&quot; unique_id=&quot;10504&quot;&gt;&lt;property id=&quot;20148&quot; value=&quot;5&quot;/&gt;&lt;property id=&quot;20300&quot; value=&quot;Slide 22&quot;/&gt;&lt;property id=&quot;20307&quot; value=&quot;275&quot;/&gt;&lt;/object&gt;&lt;object type=&quot;3&quot; unique_id=&quot;10505&quot;&gt;&lt;property id=&quot;20148&quot; value=&quot;5&quot;/&gt;&lt;property id=&quot;20300&quot; value=&quot;Slide 23&quot;/&gt;&lt;property id=&quot;20307&quot; value=&quot;269&quot;/&gt;&lt;/object&gt;&lt;object type=&quot;3&quot; unique_id=&quot;10506&quot;&gt;&lt;property id=&quot;20148&quot; value=&quot;5&quot;/&gt;&lt;property id=&quot;20300&quot; value=&quot;Slide 24&quot;/&gt;&lt;property id=&quot;20307&quot; value=&quot;303&quot;/&gt;&lt;/object&gt;&lt;object type=&quot;3&quot; unique_id=&quot;10507&quot;&gt;&lt;property id=&quot;20148&quot; value=&quot;5&quot;/&gt;&lt;property id=&quot;20300&quot; value=&quot;Slide 25&quot;/&gt;&lt;property id=&quot;20307&quot; value=&quot;283&quot;/&gt;&lt;/object&gt;&lt;object type=&quot;3&quot; unique_id=&quot;10508&quot;&gt;&lt;property id=&quot;20148&quot; value=&quot;5&quot;/&gt;&lt;property id=&quot;20300&quot; value=&quot;Slide 26&quot;/&gt;&lt;property id=&quot;20307&quot; value=&quot;304&quot;/&gt;&lt;/object&gt;&lt;object type=&quot;3&quot; unique_id=&quot;10509&quot;&gt;&lt;property id=&quot;20148&quot; value=&quot;5&quot;/&gt;&lt;property id=&quot;20300&quot; value=&quot;Slide 27&quot;/&gt;&lt;property id=&quot;20307&quot; value=&quot;284&quot;/&gt;&lt;/object&gt;&lt;object type=&quot;3&quot; unique_id=&quot;10510&quot;&gt;&lt;property id=&quot;20148&quot; value=&quot;5&quot;/&gt;&lt;property id=&quot;20300&quot; value=&quot;Slide 28&quot;/&gt;&lt;property id=&quot;20307&quot; value=&quot;285&quot;/&gt;&lt;/object&gt;&lt;object type=&quot;3&quot; unique_id=&quot;10511&quot;&gt;&lt;property id=&quot;20148&quot; value=&quot;5&quot;/&gt;&lt;property id=&quot;20300&quot; value=&quot;Slide 29&quot;/&gt;&lt;property id=&quot;20307&quot; value=&quot;305&quot;/&gt;&lt;/object&gt;&lt;object type=&quot;3&quot; unique_id=&quot;10512&quot;&gt;&lt;property id=&quot;20148&quot; value=&quot;5&quot;/&gt;&lt;property id=&quot;20300&quot; value=&quot;Slide 30&quot;/&gt;&lt;property id=&quot;20307&quot; value=&quot;306&quot;/&gt;&lt;/object&gt;&lt;object type=&quot;3&quot; unique_id=&quot;10513&quot;&gt;&lt;property id=&quot;20148&quot; value=&quot;5&quot;/&gt;&lt;property id=&quot;20300&quot; value=&quot;Slide 31&quot;/&gt;&lt;property id=&quot;20307&quot; value=&quot;291&quot;/&gt;&lt;/object&gt;&lt;object type=&quot;3&quot; unique_id=&quot;10514&quot;&gt;&lt;property id=&quot;20148&quot; value=&quot;5&quot;/&gt;&lt;property id=&quot;20300&quot; value=&quot;Slide 32&quot;/&gt;&lt;property id=&quot;20307&quot; value=&quot;288&quot;/&gt;&lt;/object&gt;&lt;object type=&quot;3&quot; unique_id=&quot;10515&quot;&gt;&lt;property id=&quot;20148&quot; value=&quot;5&quot;/&gt;&lt;property id=&quot;20300&quot; value=&quot;Slide 33&quot;/&gt;&lt;property id=&quot;20307&quot; value=&quot;309&quot;/&gt;&lt;/object&gt;&lt;object type=&quot;3&quot; unique_id=&quot;10516&quot;&gt;&lt;property id=&quot;20148&quot; value=&quot;5&quot;/&gt;&lt;property id=&quot;20300&quot; value=&quot;Slide 34&quot;/&gt;&lt;property id=&quot;20307&quot; value=&quot;289&quot;/&gt;&lt;/object&gt;&lt;object type=&quot;3&quot; unique_id=&quot;10517&quot;&gt;&lt;property id=&quot;20148&quot; value=&quot;5&quot;/&gt;&lt;property id=&quot;20300&quot; value=&quot;Slide 35&quot;/&gt;&lt;property id=&quot;20307&quot; value=&quot;307&quot;/&gt;&lt;/object&gt;&lt;object type=&quot;3&quot; unique_id=&quot;10518&quot;&gt;&lt;property id=&quot;20148&quot; value=&quot;5&quot;/&gt;&lt;property id=&quot;20300&quot; value=&quot;Slide 36&quot;/&gt;&lt;property id=&quot;20307&quot; value=&quot;310&quot;/&gt;&lt;/object&gt;&lt;object type=&quot;3&quot; unique_id=&quot;10519&quot;&gt;&lt;property id=&quot;20148&quot; value=&quot;5&quot;/&gt;&lt;property id=&quot;20300&quot; value=&quot;Slide 37&quot;/&gt;&lt;property id=&quot;20307&quot; value=&quot;294&quot;/&gt;&lt;/object&gt;&lt;object type=&quot;3&quot; unique_id=&quot;10520&quot;&gt;&lt;property id=&quot;20148&quot; value=&quot;5&quot;/&gt;&lt;property id=&quot;20300&quot; value=&quot;Slide 38&quot;/&gt;&lt;property id=&quot;20307&quot; value=&quot;311&quot;/&gt;&lt;/object&gt;&lt;/object&gt;&lt;object type=&quot;8&quot; unique_id=&quot;10560&quot;&gt;&lt;/object&gt;&lt;/object&gt;&lt;/database&gt;"/>
  <p:tag name="MMPROD_NEXTUNIQUEID" val="10018"/>
  <p:tag name="SECTOMILLISECCONVERTED" val="1"/>
</p:tagLst>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7724</TotalTime>
  <Words>738</Words>
  <Application>Microsoft Office PowerPoint</Application>
  <PresentationFormat>On-screen Show (4:3)</PresentationFormat>
  <Paragraphs>261</Paragraphs>
  <Slides>38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ＭＳ Ｐゴシック</vt:lpstr>
      <vt:lpstr>ＭＳ Ｐゴシック</vt:lpstr>
      <vt:lpstr>Arial</vt:lpstr>
      <vt:lpstr>Calibri</vt:lpstr>
      <vt:lpstr>Geneva</vt:lpstr>
      <vt:lpstr>Verdana</vt:lpstr>
      <vt:lpstr>ヒラギノ角ゴ Pro W3</vt:lpstr>
      <vt:lpstr>1_Default Design</vt:lpstr>
      <vt:lpstr>PowerPoint Presentation</vt:lpstr>
      <vt:lpstr>Learning Outcomes</vt:lpstr>
      <vt:lpstr>Learning Outcomes </vt:lpstr>
      <vt:lpstr>Sub-Saharan Africa</vt:lpstr>
      <vt:lpstr>Environment, Society, and Sustainability</vt:lpstr>
      <vt:lpstr>Climate and Climate Change</vt:lpstr>
      <vt:lpstr>Climate and Climate Change (cont.) </vt:lpstr>
      <vt:lpstr>Climate and Climate Change (cont.)</vt:lpstr>
      <vt:lpstr>Geological Resources, Risk, and Water</vt:lpstr>
      <vt:lpstr>Water Resources and Dams</vt:lpstr>
      <vt:lpstr>Water Resources and Dams (cont.)</vt:lpstr>
      <vt:lpstr>Geographies of Indulgence, Desire, and Addiction</vt:lpstr>
      <vt:lpstr>Ecology, Land, and Environmental Management</vt:lpstr>
      <vt:lpstr>Ecology, Land, and Environmental Management (cont.)</vt:lpstr>
      <vt:lpstr>Ecology, Land, and Environmental Management (cont.)</vt:lpstr>
      <vt:lpstr>Ecology, Land, and Environmental Management (cont.)</vt:lpstr>
      <vt:lpstr>History, Economy, and Territory/Historical Legacies and Landscapes</vt:lpstr>
      <vt:lpstr>Historical Legacies and Landscapes (cont.)</vt:lpstr>
      <vt:lpstr>Historical Legacies and Landscapes (cont.)</vt:lpstr>
      <vt:lpstr>Independence </vt:lpstr>
      <vt:lpstr>Economy, Debt, and the Production of Inequality </vt:lpstr>
      <vt:lpstr>Agricultural Challenges and Opportunities </vt:lpstr>
      <vt:lpstr>Agricultural Challenges and Opportunities (cont.) </vt:lpstr>
      <vt:lpstr>Agricultural Challenges and Opportunities (cont.) </vt:lpstr>
      <vt:lpstr>Territory and Politics</vt:lpstr>
      <vt:lpstr>Territory and Politics (cont.)</vt:lpstr>
      <vt:lpstr>Territory and Politics (cont.)</vt:lpstr>
      <vt:lpstr>Visualizing Geography </vt:lpstr>
      <vt:lpstr>Culture and Populations/Ethnicity</vt:lpstr>
      <vt:lpstr>Religion/Language</vt:lpstr>
      <vt:lpstr>Cultural Practices, Social Differences, and Identity</vt:lpstr>
      <vt:lpstr>Cultural Practices, Social Differences, and Identity (cont.)</vt:lpstr>
      <vt:lpstr>Demography and Urbanization</vt:lpstr>
      <vt:lpstr>Demography and Urbanization (cont.)</vt:lpstr>
      <vt:lpstr>Demography and Urbanization (cont.)</vt:lpstr>
      <vt:lpstr>Demography and Urbanization (cont.)</vt:lpstr>
      <vt:lpstr>Future Geographies</vt:lpstr>
      <vt:lpstr>PowerPoint Presentation</vt:lpstr>
    </vt:vector>
  </TitlesOfParts>
  <Company>NDSU Geoscience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Regions in Global Context: Peoples, Places, and Environments (2nd. ed)  Sallie A. Marston, Paul L. Knox,  &amp; Diana M. Liverman</dc:title>
  <dc:creator>Robert M Arthur</dc:creator>
  <cp:lastModifiedBy>Mandy Norton</cp:lastModifiedBy>
  <cp:revision>797</cp:revision>
  <dcterms:created xsi:type="dcterms:W3CDTF">2013-01-08T10:18:50Z</dcterms:created>
  <dcterms:modified xsi:type="dcterms:W3CDTF">2017-07-17T12:25:33Z</dcterms:modified>
</cp:coreProperties>
</file>