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9" r:id="rId1"/>
  </p:sldMasterIdLst>
  <p:notesMasterIdLst>
    <p:notesMasterId r:id="rId36"/>
  </p:notesMasterIdLst>
  <p:sldIdLst>
    <p:sldId id="256" r:id="rId2"/>
    <p:sldId id="312" r:id="rId3"/>
    <p:sldId id="313" r:id="rId4"/>
    <p:sldId id="314" r:id="rId5"/>
    <p:sldId id="315" r:id="rId6"/>
    <p:sldId id="316" r:id="rId7"/>
    <p:sldId id="318" r:id="rId8"/>
    <p:sldId id="319" r:id="rId9"/>
    <p:sldId id="317" r:id="rId10"/>
    <p:sldId id="320" r:id="rId11"/>
    <p:sldId id="321" r:id="rId12"/>
    <p:sldId id="322" r:id="rId13"/>
    <p:sldId id="323" r:id="rId14"/>
    <p:sldId id="328" r:id="rId15"/>
    <p:sldId id="327" r:id="rId16"/>
    <p:sldId id="326" r:id="rId17"/>
    <p:sldId id="325" r:id="rId18"/>
    <p:sldId id="324" r:id="rId19"/>
    <p:sldId id="332" r:id="rId20"/>
    <p:sldId id="331" r:id="rId21"/>
    <p:sldId id="330" r:id="rId22"/>
    <p:sldId id="335" r:id="rId23"/>
    <p:sldId id="334" r:id="rId24"/>
    <p:sldId id="329" r:id="rId25"/>
    <p:sldId id="333" r:id="rId26"/>
    <p:sldId id="338" r:id="rId27"/>
    <p:sldId id="339" r:id="rId28"/>
    <p:sldId id="337" r:id="rId29"/>
    <p:sldId id="336" r:id="rId30"/>
    <p:sldId id="343" r:id="rId31"/>
    <p:sldId id="342" r:id="rId32"/>
    <p:sldId id="341" r:id="rId33"/>
    <p:sldId id="340" r:id="rId34"/>
    <p:sldId id="311" r:id="rId35"/>
  </p:sldIdLst>
  <p:sldSz cx="9144000" cy="6858000" type="screen4x3"/>
  <p:notesSz cx="7315200" cy="9601200"/>
  <p:custDataLst>
    <p:tags r:id="rId37"/>
  </p:custDataLst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1pPr>
    <a:lvl2pPr marL="457200" algn="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2pPr>
    <a:lvl3pPr marL="914400" algn="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3pPr>
    <a:lvl4pPr marL="1371600" algn="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4pPr>
    <a:lvl5pPr marL="1828800" algn="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34">
          <p15:clr>
            <a:srgbClr val="A4A3A4"/>
          </p15:clr>
        </p15:guide>
        <p15:guide id="2" pos="3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6EBA"/>
    <a:srgbClr val="5B96FA"/>
    <a:srgbClr val="72B0FC"/>
    <a:srgbClr val="207AFC"/>
    <a:srgbClr val="76B5FC"/>
    <a:srgbClr val="750400"/>
    <a:srgbClr val="A5002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315" y="58"/>
      </p:cViewPr>
      <p:guideLst>
        <p:guide orient="horz" pos="934"/>
        <p:guide pos="3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Verdan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fld id="{FEF5AE24-08F2-5D40-832C-1BDBAD460A83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Verdan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fld id="{74251E3E-1F01-5E47-B35B-00445B403F1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776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0"/>
        <a:cs typeface="Geneva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110" charset="-128"/>
        <a:cs typeface="Geneva" pitchFamily="8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110" charset="-128"/>
        <a:cs typeface="Geneva" pitchFamily="8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110" charset="-128"/>
        <a:cs typeface="Geneva" pitchFamily="8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110" charset="-128"/>
        <a:cs typeface="Geneva" pitchFamily="8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BC7BCDD0-1D0D-A342-92CD-58A2B5C93BCA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65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E54641DE-D560-2044-8A3B-1CFBF98D161A}" type="slidenum">
              <a:rPr lang="en-US">
                <a:solidFill>
                  <a:srgbClr val="000000"/>
                </a:solidFill>
                <a:ea typeface="MS PGothic" charset="0"/>
                <a:cs typeface="MS PGothic" charset="0"/>
              </a:rPr>
              <a:pPr/>
              <a:t>34</a:t>
            </a:fld>
            <a:endParaRPr lang="en-US">
              <a:solidFill>
                <a:srgbClr val="000000"/>
              </a:solidFill>
              <a:ea typeface="MS PGothic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43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8"/>
          <p:cNvSpPr>
            <a:spLocks noChangeArrowheads="1"/>
          </p:cNvSpPr>
          <p:nvPr userDrawn="1"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9pPr>
          </a:lstStyle>
          <a:p>
            <a:pPr>
              <a:defRPr/>
            </a:pPr>
            <a:endParaRPr lang="en-US" altLang="en-US" sz="1800" smtClean="0">
              <a:latin typeface="Arial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 userDrawn="1"/>
        </p:nvSpPr>
        <p:spPr bwMode="auto">
          <a:xfrm>
            <a:off x="365125" y="-1588"/>
            <a:ext cx="8001000" cy="522288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sz="2800" dirty="0" smtClean="0">
                <a:solidFill>
                  <a:schemeClr val="bg1"/>
                </a:solidFill>
                <a:ea typeface="ＭＳ Ｐゴシック" pitchFamily="-106" charset="-128"/>
                <a:cs typeface="ＭＳ Ｐゴシック" pitchFamily="-106" charset="-128"/>
              </a:rPr>
              <a:t>Chapter 3 Lecture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1A8799-5621-0A40-AA76-E7EF0F6B7E83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38624-EA00-5E44-8AC8-F056641D639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83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4048" y="155448"/>
            <a:ext cx="8302752" cy="639209"/>
          </a:xfrm>
        </p:spPr>
        <p:txBody>
          <a:bodyPr anchor="t" anchorCtr="0"/>
          <a:lstStyle>
            <a:lvl1pPr algn="l">
              <a:defRPr sz="2800" b="1">
                <a:solidFill>
                  <a:srgbClr val="5E6EBA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"/>
          </p:nvPr>
        </p:nvSpPr>
        <p:spPr>
          <a:xfrm>
            <a:off x="384048" y="1115568"/>
            <a:ext cx="8444266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421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84048" y="155448"/>
            <a:ext cx="8302752" cy="639209"/>
          </a:xfrm>
        </p:spPr>
        <p:txBody>
          <a:bodyPr anchor="t" anchorCtr="0"/>
          <a:lstStyle>
            <a:lvl1pPr algn="l">
              <a:defRPr sz="2800" b="1" baseline="0">
                <a:solidFill>
                  <a:srgbClr val="5E6EBA"/>
                </a:solidFill>
              </a:defRPr>
            </a:lvl1pPr>
          </a:lstStyle>
          <a:p>
            <a:r>
              <a:rPr lang="en-US" dirty="0" smtClean="0"/>
              <a:t>Click to edit Master title style   THIS IS FOR 2 LINE HEADER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"/>
          </p:nvPr>
        </p:nvSpPr>
        <p:spPr>
          <a:xfrm>
            <a:off x="384048" y="1485692"/>
            <a:ext cx="8411609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190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 userDrawn="1"/>
        </p:nvSpPr>
        <p:spPr>
          <a:xfrm>
            <a:off x="533400" y="2819400"/>
            <a:ext cx="8229600" cy="1139825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defRPr/>
            </a:pPr>
            <a:r>
              <a:rPr lang="en-US" sz="4400" b="1" dirty="0">
                <a:solidFill>
                  <a:srgbClr val="5D6CB9"/>
                </a:solidFill>
                <a:latin typeface="Arial"/>
                <a:ea typeface="ヒラギノ角ゴ Pro W3" pitchFamily="127" charset="-128"/>
                <a:cs typeface="+mn-cs"/>
              </a:rPr>
              <a:t>End of Chapter </a:t>
            </a:r>
            <a:r>
              <a:rPr lang="en-US" sz="4400" b="1" dirty="0" smtClean="0">
                <a:solidFill>
                  <a:srgbClr val="5D6CB9"/>
                </a:solidFill>
                <a:latin typeface="Arial"/>
                <a:ea typeface="ヒラギノ角ゴ Pro W3" pitchFamily="127" charset="-128"/>
                <a:cs typeface="+mn-cs"/>
              </a:rPr>
              <a:t>3 </a:t>
            </a:r>
            <a:endParaRPr lang="en-US" sz="4400" b="1" kern="0" dirty="0">
              <a:solidFill>
                <a:srgbClr val="5E6EBA"/>
              </a:solidFill>
              <a:latin typeface="Arial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9938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FEE5C6-A024-C146-966A-834BE8B6C09A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1B1F95-3568-C049-9BBA-5B02EE7DD3D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58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14E6FF-1B03-C34C-8453-CAB0F6333406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3E8AC0-D878-C542-BD5C-FCEC03087F5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19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944013-5992-CC49-964E-99434A298FFC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AA1FC6-A4F1-5D40-86BC-4B14BB5F280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31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385482-A9D5-3B49-89B8-BE5DB124B9F6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572508-FF72-7D4C-905F-B7A680DC8DA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612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C09749-35D2-CE44-9C83-D3D96DD49551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B1EC08-1CB8-AE43-AA3B-9D4A2E72DC8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63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62FF37-9068-504F-AE83-5B7ED5387C1D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4A60C2-CA5F-CB4C-B3B6-C671C01D462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63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CC00D5-1C29-5D47-8025-CF2C6E6A864D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279A1D-DB01-0246-AB87-61A85F2794D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1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latin typeface="Arial" charset="0"/>
              </a:defRPr>
            </a:lvl1pPr>
          </a:lstStyle>
          <a:p>
            <a:fld id="{2A422EDC-4A7D-E54A-952E-A4F68B1BD5BE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fld id="{13EB9291-ADD1-AB4A-B370-2319EF87B41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Rectangle 5"/>
          <p:cNvSpPr>
            <a:spLocks noChangeArrowheads="1"/>
          </p:cNvSpPr>
          <p:nvPr userDrawn="1"/>
        </p:nvSpPr>
        <p:spPr bwMode="auto">
          <a:xfrm>
            <a:off x="0" y="6553200"/>
            <a:ext cx="19478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00">
                <a:solidFill>
                  <a:srgbClr val="000000"/>
                </a:solidFill>
                <a:latin typeface="Arial" charset="0"/>
              </a:rPr>
              <a:t>© 2017 Pearson Education, Inc.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1" r:id="rId1"/>
    <p:sldLayoutId id="2147484671" r:id="rId2"/>
    <p:sldLayoutId id="2147484672" r:id="rId3"/>
    <p:sldLayoutId id="2147484673" r:id="rId4"/>
    <p:sldLayoutId id="2147484674" r:id="rId5"/>
    <p:sldLayoutId id="2147484675" r:id="rId6"/>
    <p:sldLayoutId id="2147484676" r:id="rId7"/>
    <p:sldLayoutId id="2147484677" r:id="rId8"/>
    <p:sldLayoutId id="2147484678" r:id="rId9"/>
    <p:sldLayoutId id="2147484679" r:id="rId10"/>
    <p:sldLayoutId id="214748468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ヒラギノ角ゴ Pro W3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ヒラギノ角ゴ Pro W3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 txBox="1">
            <a:spLocks noChangeArrowheads="1"/>
          </p:cNvSpPr>
          <p:nvPr/>
        </p:nvSpPr>
        <p:spPr bwMode="auto">
          <a:xfrm>
            <a:off x="2362200" y="609600"/>
            <a:ext cx="66294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ts val="1000"/>
              </a:spcBef>
            </a:pPr>
            <a:r>
              <a:rPr lang="en-US" sz="2800" b="1">
                <a:solidFill>
                  <a:schemeClr val="tx2"/>
                </a:solidFill>
              </a:rPr>
              <a:t>World Regions in Global Context:</a:t>
            </a:r>
            <a:br>
              <a:rPr lang="en-US" sz="2800" b="1">
                <a:solidFill>
                  <a:schemeClr val="tx2"/>
                </a:solidFill>
              </a:rPr>
            </a:br>
            <a:r>
              <a:rPr lang="en-US" sz="2800" b="1">
                <a:solidFill>
                  <a:schemeClr val="tx2"/>
                </a:solidFill>
              </a:rPr>
              <a:t>Peoples, Places, and Environments</a:t>
            </a:r>
            <a:endParaRPr lang="en-US" b="1">
              <a:solidFill>
                <a:schemeClr val="tx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ts val="1000"/>
              </a:spcBef>
            </a:pPr>
            <a:r>
              <a:rPr lang="en-US" sz="1800">
                <a:solidFill>
                  <a:schemeClr val="tx2"/>
                </a:solidFill>
              </a:rPr>
              <a:t>6</a:t>
            </a:r>
            <a:r>
              <a:rPr lang="en-US" sz="1800" baseline="30000">
                <a:solidFill>
                  <a:schemeClr val="tx2"/>
                </a:solidFill>
              </a:rPr>
              <a:t>th</a:t>
            </a:r>
            <a:r>
              <a:rPr lang="en-US" sz="1800">
                <a:solidFill>
                  <a:schemeClr val="tx2"/>
                </a:solidFill>
              </a:rPr>
              <a:t> Edition</a:t>
            </a:r>
            <a:endParaRPr lang="en-US" sz="2400" b="1">
              <a:solidFill>
                <a:schemeClr val="tx2"/>
              </a:solidFill>
            </a:endParaRPr>
          </a:p>
        </p:txBody>
      </p:sp>
      <p:sp>
        <p:nvSpPr>
          <p:cNvPr id="3075" name="Rectangle 3"/>
          <p:cNvSpPr txBox="1">
            <a:spLocks noChangeArrowheads="1"/>
          </p:cNvSpPr>
          <p:nvPr/>
        </p:nvSpPr>
        <p:spPr bwMode="auto">
          <a:xfrm>
            <a:off x="152400" y="2819400"/>
            <a:ext cx="49530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2800" b="1" dirty="0"/>
              <a:t>The Russian</a:t>
            </a: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2800" b="1" dirty="0"/>
              <a:t>Federation, Central</a:t>
            </a: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2800" b="1" dirty="0"/>
              <a:t>Asia, and the</a:t>
            </a: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2800" b="1" dirty="0" err="1"/>
              <a:t>Transcaucasus</a:t>
            </a:r>
            <a:endParaRPr lang="en-US" sz="2800" b="1" dirty="0"/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endParaRPr lang="en-US" sz="1800" dirty="0" smtClean="0"/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endParaRPr lang="en-US" sz="1800" dirty="0"/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800" b="1" dirty="0"/>
              <a:t>Lectures by:</a:t>
            </a: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800" dirty="0" smtClean="0">
                <a:latin typeface="Verdana" charset="0"/>
              </a:rPr>
              <a:t>Christa Ann Smith </a:t>
            </a:r>
            <a:endParaRPr lang="en-US" sz="1800" dirty="0"/>
          </a:p>
        </p:txBody>
      </p:sp>
      <p:pic>
        <p:nvPicPr>
          <p:cNvPr id="5" name="Picture 4" descr="MARSTON_Cover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53103" y="1969508"/>
            <a:ext cx="3965575" cy="448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155448"/>
            <a:ext cx="8302752" cy="677929"/>
          </a:xfrm>
        </p:spPr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103845"/>
            <a:ext cx="8444266" cy="3951288"/>
          </a:xfrm>
        </p:spPr>
        <p:txBody>
          <a:bodyPr/>
          <a:lstStyle/>
          <a:p>
            <a:r>
              <a:rPr lang="en-US" sz="2600" dirty="0"/>
              <a:t>Describe the physical geography of the Russian Federation, Central Asia, and the </a:t>
            </a:r>
            <a:r>
              <a:rPr lang="en-US" sz="2600" dirty="0" err="1"/>
              <a:t>Transcaucasus</a:t>
            </a:r>
            <a:r>
              <a:rPr lang="en-US" sz="2600" dirty="0"/>
              <a:t> Region. </a:t>
            </a:r>
          </a:p>
          <a:p>
            <a:endParaRPr lang="en-US" sz="2600" dirty="0"/>
          </a:p>
          <a:p>
            <a:r>
              <a:rPr lang="en-US" sz="2600" dirty="0"/>
              <a:t>Predict how climate change and environmental impacts of human activities may influence the region’s future sustainability.</a:t>
            </a:r>
          </a:p>
          <a:p>
            <a:endParaRPr lang="en-US" sz="2600" dirty="0"/>
          </a:p>
          <a:p>
            <a:r>
              <a:rPr lang="en-US" sz="2600" dirty="0"/>
              <a:t>Explain how people have adapted to and modified the physical landscapes in this world region</a:t>
            </a:r>
            <a:r>
              <a:rPr lang="en-US" sz="2600" dirty="0" smtClean="0"/>
              <a:t>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41758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103845"/>
            <a:ext cx="8444266" cy="3951288"/>
          </a:xfrm>
        </p:spPr>
        <p:txBody>
          <a:bodyPr/>
          <a:lstStyle/>
          <a:p>
            <a:r>
              <a:rPr lang="en-US" sz="2600" dirty="0"/>
              <a:t>Describe how economic transitions in the region are playing out in the post-Socialist era</a:t>
            </a:r>
            <a:r>
              <a:rPr lang="en-US" sz="2600" dirty="0" smtClean="0"/>
              <a:t>.</a:t>
            </a:r>
          </a:p>
          <a:p>
            <a:endParaRPr lang="en-US" sz="2600" dirty="0"/>
          </a:p>
          <a:p>
            <a:r>
              <a:rPr lang="en-US" sz="2600" dirty="0"/>
              <a:t>Analyze the changing political trends in the region in terms of fragmentation and realignment</a:t>
            </a:r>
            <a:r>
              <a:rPr lang="en-US" sz="2600" dirty="0" smtClean="0"/>
              <a:t>.</a:t>
            </a:r>
          </a:p>
          <a:p>
            <a:endParaRPr lang="en-US" sz="2600" dirty="0"/>
          </a:p>
          <a:p>
            <a:r>
              <a:rPr lang="en-US" sz="2600" dirty="0"/>
              <a:t>Summarize the cultural legacies and new developments in the region in terms of high, revolutionary, and popular forms of culture</a:t>
            </a:r>
            <a:r>
              <a:rPr lang="en-US" sz="2600" dirty="0" smtClean="0"/>
              <a:t>.</a:t>
            </a:r>
          </a:p>
          <a:p>
            <a:endParaRPr lang="en-US" sz="2600" dirty="0"/>
          </a:p>
          <a:p>
            <a:r>
              <a:rPr lang="en-US" sz="2600" dirty="0"/>
              <a:t>Discuss and analyze the implications of demographic change in the region</a:t>
            </a:r>
            <a:r>
              <a:rPr lang="en-US" sz="2600" dirty="0" smtClean="0"/>
              <a:t>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82306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Environment, Society, and 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354838" cy="3951288"/>
          </a:xfrm>
        </p:spPr>
        <p:txBody>
          <a:bodyPr/>
          <a:lstStyle/>
          <a:p>
            <a:r>
              <a:rPr lang="en-US" dirty="0"/>
              <a:t>Vast territory, sparsely populated</a:t>
            </a:r>
          </a:p>
          <a:p>
            <a:r>
              <a:rPr lang="en-US" dirty="0"/>
              <a:t>Borders: Eastern Europe, the Arctic, and the Pacific Ocean</a:t>
            </a:r>
          </a:p>
          <a:p>
            <a:r>
              <a:rPr lang="en-US" dirty="0"/>
              <a:t>Southern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borders</a:t>
            </a:r>
            <a:r>
              <a:rPr lang="en-US" dirty="0"/>
              <a:t>: Middle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East</a:t>
            </a:r>
            <a:r>
              <a:rPr lang="en-US" dirty="0"/>
              <a:t>, South Asia,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and </a:t>
            </a:r>
            <a:r>
              <a:rPr lang="en-US" dirty="0"/>
              <a:t>East Asia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39661" y="2411435"/>
            <a:ext cx="5203258" cy="410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03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Climate and Climate Change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3847156"/>
            <a:ext cx="8444266" cy="2518915"/>
          </a:xfrm>
        </p:spPr>
        <p:txBody>
          <a:bodyPr/>
          <a:lstStyle/>
          <a:p>
            <a:r>
              <a:rPr lang="en-US" dirty="0"/>
              <a:t>Four major climate zones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Arid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Semiarid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Continental/</a:t>
            </a:r>
            <a:r>
              <a:rPr lang="en-US" dirty="0" err="1" smtClean="0"/>
              <a:t>Midlatitude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Polar</a:t>
            </a:r>
          </a:p>
          <a:p>
            <a:pPr lvl="2">
              <a:buFont typeface="Arial" pitchFamily="34" charset="0"/>
              <a:buChar char="–"/>
            </a:pPr>
            <a:r>
              <a:rPr lang="en-US" b="1" dirty="0" smtClean="0"/>
              <a:t>permafrost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6550" y="630960"/>
            <a:ext cx="4715206" cy="317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146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Adapting to a Warming Continent and Melting Sea Ice 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48" y="1345016"/>
            <a:ext cx="8411609" cy="3951288"/>
          </a:xfrm>
        </p:spPr>
        <p:txBody>
          <a:bodyPr/>
          <a:lstStyle/>
          <a:p>
            <a:r>
              <a:rPr lang="en-US" dirty="0"/>
              <a:t>Climate change: positive affects</a:t>
            </a:r>
          </a:p>
          <a:p>
            <a:pPr lvl="1"/>
            <a:r>
              <a:rPr lang="en-US" dirty="0"/>
              <a:t>milder winters in the northern latitudes</a:t>
            </a:r>
          </a:p>
          <a:p>
            <a:pPr lvl="1"/>
            <a:r>
              <a:rPr lang="en-US" dirty="0"/>
              <a:t>longer growing seasons</a:t>
            </a:r>
          </a:p>
          <a:p>
            <a:pPr lvl="1"/>
            <a:r>
              <a:rPr lang="en-US" dirty="0"/>
              <a:t>increased water availability</a:t>
            </a:r>
          </a:p>
          <a:p>
            <a:endParaRPr lang="en-US" dirty="0" smtClean="0"/>
          </a:p>
          <a:p>
            <a:r>
              <a:rPr lang="en-US" dirty="0"/>
              <a:t>Climate change: negative affects</a:t>
            </a:r>
          </a:p>
          <a:p>
            <a:pPr lvl="1"/>
            <a:r>
              <a:rPr lang="en-US" dirty="0"/>
              <a:t>melting of permafrost</a:t>
            </a:r>
          </a:p>
          <a:p>
            <a:pPr lvl="1"/>
            <a:r>
              <a:rPr lang="en-US" dirty="0"/>
              <a:t>heat waves/increased forest fires</a:t>
            </a:r>
          </a:p>
          <a:p>
            <a:pPr lvl="1"/>
            <a:r>
              <a:rPr lang="en-US" dirty="0"/>
              <a:t>geopolitical </a:t>
            </a:r>
            <a:r>
              <a:rPr lang="en-US" dirty="0" smtClean="0"/>
              <a:t>implications</a:t>
            </a:r>
          </a:p>
        </p:txBody>
      </p:sp>
    </p:spTree>
    <p:extLst>
      <p:ext uri="{BB962C8B-B14F-4D97-AF65-F5344CB8AC3E}">
        <p14:creationId xmlns:p14="http://schemas.microsoft.com/office/powerpoint/2010/main" val="3687425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Geological Resources, Risk, and </a:t>
            </a:r>
            <a:r>
              <a:rPr lang="en-US" dirty="0" smtClean="0"/>
              <a:t>Water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Physiographic regions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02369" y="1829666"/>
            <a:ext cx="6321016" cy="433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5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Geological Resources, Risk, and Water (cont.)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Plains</a:t>
            </a:r>
          </a:p>
          <a:p>
            <a:pPr lvl="1"/>
            <a:r>
              <a:rPr lang="en-US" dirty="0"/>
              <a:t>geologically stable</a:t>
            </a:r>
          </a:p>
          <a:p>
            <a:pPr lvl="1"/>
            <a:r>
              <a:rPr lang="en-US" dirty="0"/>
              <a:t>agricultural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heartland</a:t>
            </a:r>
            <a:endParaRPr lang="en-US" dirty="0"/>
          </a:p>
          <a:p>
            <a:pPr lvl="1"/>
            <a:r>
              <a:rPr lang="en-US" dirty="0"/>
              <a:t>Russia</a:t>
            </a:r>
            <a:r>
              <a:rPr lang="ja-JP" altLang="en-US" dirty="0"/>
              <a:t>’</a:t>
            </a:r>
            <a:r>
              <a:rPr lang="en-US" altLang="ja-JP" dirty="0"/>
              <a:t>s major 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>rivers</a:t>
            </a:r>
            <a:endParaRPr lang="ja-JP" altLang="en-US" dirty="0"/>
          </a:p>
          <a:p>
            <a:pPr lvl="1"/>
            <a:r>
              <a:rPr lang="en-US" dirty="0"/>
              <a:t>marshy, poorly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drained </a:t>
            </a:r>
            <a:r>
              <a:rPr lang="en-US" dirty="0"/>
              <a:t>areas</a:t>
            </a:r>
          </a:p>
          <a:p>
            <a:pPr lvl="1"/>
            <a:r>
              <a:rPr lang="en-US" dirty="0"/>
              <a:t>oil and gas </a:t>
            </a:r>
            <a:r>
              <a:rPr lang="en-US" dirty="0" smtClean="0"/>
              <a:t>reserves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5836" y="1915548"/>
            <a:ext cx="4948258" cy="259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627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Geological Resources, Risk, and Water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Mountains</a:t>
            </a:r>
          </a:p>
          <a:p>
            <a:pPr lvl="1"/>
            <a:r>
              <a:rPr lang="en-US" dirty="0"/>
              <a:t>highest </a:t>
            </a:r>
            <a:r>
              <a:rPr lang="en-US" dirty="0" smtClean="0"/>
              <a:t>range: </a:t>
            </a:r>
            <a:r>
              <a:rPr lang="en-US" dirty="0"/>
              <a:t>Caucasus </a:t>
            </a:r>
            <a:r>
              <a:rPr lang="en-US" dirty="0" smtClean="0"/>
              <a:t>Mountains</a:t>
            </a:r>
            <a:endParaRPr lang="en-US" dirty="0"/>
          </a:p>
          <a:p>
            <a:pPr lvl="1"/>
            <a:r>
              <a:rPr lang="en-US" dirty="0"/>
              <a:t>Urals</a:t>
            </a:r>
          </a:p>
          <a:p>
            <a:pPr lvl="2"/>
            <a:r>
              <a:rPr lang="en-US" dirty="0"/>
              <a:t>mineral wealth</a:t>
            </a:r>
          </a:p>
          <a:p>
            <a:pPr lvl="2"/>
            <a:r>
              <a:rPr lang="en-US" dirty="0"/>
              <a:t>industrial cities</a:t>
            </a:r>
          </a:p>
          <a:p>
            <a:pPr lvl="1"/>
            <a:r>
              <a:rPr lang="en-US" dirty="0"/>
              <a:t>mountain rim</a:t>
            </a:r>
          </a:p>
          <a:p>
            <a:pPr lvl="2"/>
            <a:r>
              <a:rPr lang="en-US" dirty="0"/>
              <a:t>geologic instability: earthquakes and </a:t>
            </a:r>
            <a:r>
              <a:rPr lang="en-US" dirty="0" smtClean="0"/>
              <a:t>volcanoes</a:t>
            </a:r>
          </a:p>
          <a:p>
            <a:r>
              <a:rPr lang="en-US" dirty="0"/>
              <a:t>Central Asia</a:t>
            </a:r>
          </a:p>
          <a:p>
            <a:pPr lvl="1"/>
            <a:r>
              <a:rPr lang="en-US" b="1" dirty="0"/>
              <a:t>geosyncline</a:t>
            </a:r>
          </a:p>
          <a:p>
            <a:pPr lvl="1"/>
            <a:r>
              <a:rPr lang="en-US" dirty="0"/>
              <a:t>oil reserves</a:t>
            </a:r>
          </a:p>
          <a:p>
            <a:pPr lvl="1"/>
            <a:r>
              <a:rPr lang="en-US" dirty="0"/>
              <a:t>gas reserves</a:t>
            </a:r>
          </a:p>
          <a:p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808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Geological Resources, Risk, and Water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Rivers</a:t>
            </a:r>
          </a:p>
          <a:p>
            <a:pPr lvl="1"/>
            <a:r>
              <a:rPr lang="en-US" dirty="0"/>
              <a:t>Lena</a:t>
            </a:r>
          </a:p>
          <a:p>
            <a:pPr lvl="1"/>
            <a:r>
              <a:rPr lang="en-US" dirty="0"/>
              <a:t>Ob’</a:t>
            </a:r>
          </a:p>
          <a:p>
            <a:pPr lvl="1"/>
            <a:r>
              <a:rPr lang="en-US" dirty="0"/>
              <a:t>Amur</a:t>
            </a:r>
          </a:p>
          <a:p>
            <a:r>
              <a:rPr lang="en-US" dirty="0"/>
              <a:t>Seas/Lakes</a:t>
            </a:r>
          </a:p>
          <a:p>
            <a:pPr lvl="1"/>
            <a:r>
              <a:rPr lang="en-US" dirty="0"/>
              <a:t>Caspian Sea</a:t>
            </a:r>
          </a:p>
          <a:p>
            <a:pPr lvl="1"/>
            <a:r>
              <a:rPr lang="en-US" dirty="0"/>
              <a:t>Black Sea</a:t>
            </a:r>
          </a:p>
          <a:p>
            <a:pPr lvl="1"/>
            <a:r>
              <a:rPr lang="en-US" dirty="0"/>
              <a:t>Lake Baykal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5287" y="1576510"/>
            <a:ext cx="5562143" cy="303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834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Arctic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7" y="1080399"/>
            <a:ext cx="4152442" cy="3951288"/>
          </a:xfrm>
        </p:spPr>
        <p:txBody>
          <a:bodyPr/>
          <a:lstStyle/>
          <a:p>
            <a:r>
              <a:rPr lang="en-US" dirty="0"/>
              <a:t>Northwest </a:t>
            </a:r>
            <a:r>
              <a:rPr lang="en-US" dirty="0" smtClean="0"/>
              <a:t>      Passage</a:t>
            </a:r>
            <a:endParaRPr lang="en-US" dirty="0"/>
          </a:p>
          <a:p>
            <a:pPr lvl="1"/>
            <a:r>
              <a:rPr lang="en-US" dirty="0"/>
              <a:t>global trade</a:t>
            </a:r>
          </a:p>
          <a:p>
            <a:r>
              <a:rPr lang="en-US" dirty="0"/>
              <a:t>Global climate </a:t>
            </a:r>
            <a:r>
              <a:rPr lang="en-US" dirty="0" smtClean="0"/>
              <a:t>  change</a:t>
            </a:r>
            <a:endParaRPr lang="en-US" dirty="0"/>
          </a:p>
          <a:p>
            <a:pPr lvl="1"/>
            <a:r>
              <a:rPr lang="en-US" dirty="0"/>
              <a:t>new commercial routes</a:t>
            </a:r>
          </a:p>
          <a:p>
            <a:pPr lvl="1"/>
            <a:r>
              <a:rPr lang="en-US" dirty="0"/>
              <a:t>access to seafloor</a:t>
            </a:r>
          </a:p>
          <a:p>
            <a:pPr lvl="1"/>
            <a:r>
              <a:rPr lang="en-US" dirty="0"/>
              <a:t>negative impact on wildlife</a:t>
            </a:r>
          </a:p>
          <a:p>
            <a:pPr lvl="1"/>
            <a:r>
              <a:rPr lang="en-US" dirty="0"/>
              <a:t>geopolitical </a:t>
            </a:r>
            <a:r>
              <a:rPr lang="en-US" dirty="0" smtClean="0"/>
              <a:t>ramifications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61190" y="173548"/>
            <a:ext cx="3286725" cy="36118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0162" y="406792"/>
            <a:ext cx="2447244" cy="28346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42338" y="4013044"/>
            <a:ext cx="3657600" cy="263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150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Ecology, Land, and Environmental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3852286" cy="3951288"/>
          </a:xfrm>
        </p:spPr>
        <p:txBody>
          <a:bodyPr/>
          <a:lstStyle/>
          <a:p>
            <a:r>
              <a:rPr lang="en-US" dirty="0"/>
              <a:t>Five zones</a:t>
            </a:r>
          </a:p>
          <a:p>
            <a:pPr lvl="1"/>
            <a:r>
              <a:rPr lang="en-US" dirty="0"/>
              <a:t>climate patterns</a:t>
            </a:r>
          </a:p>
          <a:p>
            <a:r>
              <a:rPr lang="en-US" b="1" dirty="0"/>
              <a:t>Tundra</a:t>
            </a:r>
          </a:p>
          <a:p>
            <a:pPr lvl="1"/>
            <a:r>
              <a:rPr lang="en-US" dirty="0"/>
              <a:t>most northerly</a:t>
            </a:r>
          </a:p>
          <a:p>
            <a:pPr lvl="1"/>
            <a:r>
              <a:rPr lang="en-US" dirty="0"/>
              <a:t>arctic wilderness</a:t>
            </a:r>
          </a:p>
          <a:p>
            <a:pPr lvl="2"/>
            <a:r>
              <a:rPr lang="en-US" dirty="0"/>
              <a:t>winters: weak daylight; snow</a:t>
            </a:r>
          </a:p>
          <a:p>
            <a:pPr lvl="2"/>
            <a:r>
              <a:rPr lang="en-US" dirty="0"/>
              <a:t>summers: long days; bogs and marshes</a:t>
            </a:r>
          </a:p>
          <a:p>
            <a:pPr lvl="1"/>
            <a:r>
              <a:rPr lang="en-US" dirty="0"/>
              <a:t>indigenous peoples</a:t>
            </a:r>
          </a:p>
          <a:p>
            <a:pPr lvl="2"/>
            <a:r>
              <a:rPr lang="en-US" dirty="0"/>
              <a:t>reindeer herders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8139" y="811003"/>
            <a:ext cx="5498969" cy="2286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38611" y="3386327"/>
            <a:ext cx="4599882" cy="267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930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Ecology, Land, and Environmental Management (cont</a:t>
            </a:r>
            <a:r>
              <a:rPr lang="en-US" dirty="0" smtClean="0"/>
              <a:t>.)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48" y="1345016"/>
            <a:ext cx="4037481" cy="3951288"/>
          </a:xfrm>
        </p:spPr>
        <p:txBody>
          <a:bodyPr/>
          <a:lstStyle/>
          <a:p>
            <a:r>
              <a:rPr lang="en-US" b="1" dirty="0"/>
              <a:t>Taiga</a:t>
            </a:r>
          </a:p>
          <a:p>
            <a:pPr lvl="1"/>
            <a:r>
              <a:rPr lang="en-US" dirty="0"/>
              <a:t>most extensive zone</a:t>
            </a:r>
          </a:p>
          <a:p>
            <a:pPr lvl="1"/>
            <a:r>
              <a:rPr lang="en-US" dirty="0"/>
              <a:t>coniferous forest</a:t>
            </a:r>
          </a:p>
          <a:p>
            <a:pPr lvl="1"/>
            <a:r>
              <a:rPr lang="en-US" dirty="0"/>
              <a:t>spruce, fir, and pine</a:t>
            </a:r>
          </a:p>
          <a:p>
            <a:pPr lvl="1"/>
            <a:r>
              <a:rPr lang="en-US" dirty="0"/>
              <a:t>fur-bearing </a:t>
            </a:r>
            <a:r>
              <a:rPr lang="en-US" dirty="0" smtClean="0"/>
              <a:t>animals</a:t>
            </a:r>
          </a:p>
          <a:p>
            <a:r>
              <a:rPr lang="en-US" dirty="0" smtClean="0"/>
              <a:t>Mixed </a:t>
            </a:r>
            <a:r>
              <a:rPr lang="en-US" dirty="0"/>
              <a:t>forest</a:t>
            </a:r>
          </a:p>
          <a:p>
            <a:pPr lvl="1"/>
            <a:r>
              <a:rPr lang="en-US" dirty="0"/>
              <a:t>large-scale logging operations</a:t>
            </a:r>
          </a:p>
          <a:p>
            <a:pPr lvl="1"/>
            <a:r>
              <a:rPr lang="en-US" b="1" dirty="0"/>
              <a:t>privatization</a:t>
            </a:r>
            <a:r>
              <a:rPr lang="en-US" dirty="0"/>
              <a:t> of timber industry</a:t>
            </a:r>
          </a:p>
          <a:p>
            <a:pPr lvl="1"/>
            <a:r>
              <a:rPr lang="en-US" dirty="0"/>
              <a:t>environmental </a:t>
            </a:r>
            <a:r>
              <a:rPr lang="en-US" dirty="0" smtClean="0"/>
              <a:t>concern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62333" y="1713797"/>
            <a:ext cx="4752714" cy="292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281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Ecology, Land, and Environmental Management (cont.)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397902" y="1351411"/>
            <a:ext cx="8411609" cy="3951288"/>
          </a:xfrm>
        </p:spPr>
        <p:txBody>
          <a:bodyPr/>
          <a:lstStyle/>
          <a:p>
            <a:r>
              <a:rPr lang="en-US" b="1" dirty="0"/>
              <a:t>Steppe</a:t>
            </a:r>
          </a:p>
          <a:p>
            <a:pPr lvl="1"/>
            <a:r>
              <a:rPr lang="en-US" dirty="0"/>
              <a:t>flat grassland</a:t>
            </a:r>
          </a:p>
          <a:p>
            <a:pPr lvl="1"/>
            <a:r>
              <a:rPr lang="en-US" dirty="0"/>
              <a:t>limited rainfall </a:t>
            </a:r>
          </a:p>
          <a:p>
            <a:pPr lvl="1"/>
            <a:r>
              <a:rPr lang="en-US" dirty="0"/>
              <a:t>cleared for agriculture</a:t>
            </a:r>
          </a:p>
          <a:p>
            <a:pPr lvl="1"/>
            <a:r>
              <a:rPr lang="en-US" dirty="0"/>
              <a:t>wheat belt</a:t>
            </a:r>
          </a:p>
          <a:p>
            <a:pPr lvl="1"/>
            <a:r>
              <a:rPr lang="en-US" dirty="0"/>
              <a:t>corn and </a:t>
            </a:r>
            <a:r>
              <a:rPr lang="en-US" dirty="0" smtClean="0"/>
              <a:t>cotton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25815" y="1482725"/>
            <a:ext cx="4724400" cy="273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0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Ecology, Land, and Environmental Management (cont.)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384048" y="1333293"/>
            <a:ext cx="8411609" cy="3951288"/>
          </a:xfrm>
        </p:spPr>
        <p:txBody>
          <a:bodyPr/>
          <a:lstStyle/>
          <a:p>
            <a:r>
              <a:rPr lang="en-US" dirty="0" err="1"/>
              <a:t>Semidesert</a:t>
            </a:r>
            <a:r>
              <a:rPr lang="en-US" dirty="0"/>
              <a:t> and </a:t>
            </a:r>
            <a:r>
              <a:rPr lang="en-US" dirty="0" smtClean="0"/>
              <a:t>desert</a:t>
            </a:r>
          </a:p>
          <a:p>
            <a:pPr lvl="1"/>
            <a:r>
              <a:rPr lang="en-US" dirty="0" smtClean="0"/>
              <a:t>Central Asia</a:t>
            </a:r>
          </a:p>
          <a:p>
            <a:pPr lvl="2"/>
            <a:r>
              <a:rPr lang="en-US" dirty="0" smtClean="0"/>
              <a:t>salt </a:t>
            </a:r>
            <a:r>
              <a:rPr lang="en-US" dirty="0"/>
              <a:t>pans</a:t>
            </a:r>
          </a:p>
          <a:p>
            <a:pPr lvl="1"/>
            <a:r>
              <a:rPr lang="en-US" b="1" dirty="0"/>
              <a:t>nomadic pastoralists</a:t>
            </a:r>
          </a:p>
          <a:p>
            <a:pPr lvl="1"/>
            <a:r>
              <a:rPr lang="en-US" dirty="0"/>
              <a:t>extensive sand dunes</a:t>
            </a:r>
          </a:p>
          <a:p>
            <a:pPr lvl="1"/>
            <a:r>
              <a:rPr lang="en-US" dirty="0"/>
              <a:t>scattered oasis and a few fertile </a:t>
            </a:r>
            <a:r>
              <a:rPr lang="en-US" dirty="0" smtClean="0"/>
              <a:t>valleys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051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to Sustainability in the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3759689" cy="3951288"/>
          </a:xfrm>
        </p:spPr>
        <p:txBody>
          <a:bodyPr/>
          <a:lstStyle/>
          <a:p>
            <a:r>
              <a:rPr lang="en-US" dirty="0" smtClean="0"/>
              <a:t>Over-exploitation </a:t>
            </a:r>
            <a:r>
              <a:rPr lang="en-US" dirty="0"/>
              <a:t>of Aral Sea</a:t>
            </a:r>
          </a:p>
          <a:p>
            <a:r>
              <a:rPr lang="en-US" dirty="0"/>
              <a:t>Pollution of rivers and lakes</a:t>
            </a:r>
          </a:p>
          <a:p>
            <a:r>
              <a:rPr lang="en-US" dirty="0"/>
              <a:t>Increased hazards of summer fires</a:t>
            </a:r>
          </a:p>
          <a:p>
            <a:r>
              <a:rPr lang="en-US" dirty="0"/>
              <a:t>Offshore oil drilling threatens marine ecosystems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30001" y="652975"/>
            <a:ext cx="2851795" cy="3828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59154" y="4539904"/>
            <a:ext cx="3392478" cy="220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087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4213352" cy="3951288"/>
          </a:xfrm>
        </p:spPr>
        <p:txBody>
          <a:bodyPr/>
          <a:lstStyle/>
          <a:p>
            <a:r>
              <a:rPr lang="en-US" dirty="0"/>
              <a:t>15 billion global </a:t>
            </a:r>
            <a:r>
              <a:rPr lang="en-US" dirty="0" smtClean="0"/>
              <a:t>    retail </a:t>
            </a:r>
            <a:r>
              <a:rPr lang="en-US" dirty="0"/>
              <a:t>sales</a:t>
            </a:r>
          </a:p>
          <a:p>
            <a:r>
              <a:rPr lang="en-US" dirty="0"/>
              <a:t>Status symbol and luxury item</a:t>
            </a:r>
          </a:p>
          <a:p>
            <a:r>
              <a:rPr lang="en-US" dirty="0" smtClean="0"/>
              <a:t>Controversy</a:t>
            </a:r>
          </a:p>
          <a:p>
            <a:pPr lvl="1"/>
            <a:r>
              <a:rPr lang="en-US" dirty="0" smtClean="0"/>
              <a:t>extinction</a:t>
            </a:r>
            <a:endParaRPr lang="en-US" dirty="0"/>
          </a:p>
          <a:p>
            <a:pPr lvl="1"/>
            <a:r>
              <a:rPr lang="en-US" dirty="0"/>
              <a:t>fur farming</a:t>
            </a:r>
          </a:p>
          <a:p>
            <a:r>
              <a:rPr lang="en-US" dirty="0"/>
              <a:t>Activism</a:t>
            </a:r>
          </a:p>
          <a:p>
            <a:r>
              <a:rPr lang="en-US" dirty="0"/>
              <a:t>Fashion comeback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3046" y="153015"/>
            <a:ext cx="4542203" cy="31600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3046" y="3411180"/>
            <a:ext cx="4542203" cy="325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968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Legacies and Landscapes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4213352" cy="3951288"/>
          </a:xfrm>
        </p:spPr>
        <p:txBody>
          <a:bodyPr/>
          <a:lstStyle/>
          <a:p>
            <a:r>
              <a:rPr lang="en-US" b="1" dirty="0"/>
              <a:t>Silk Road</a:t>
            </a:r>
          </a:p>
          <a:p>
            <a:pPr lvl="1"/>
            <a:r>
              <a:rPr lang="en-US" dirty="0"/>
              <a:t>Central </a:t>
            </a:r>
            <a:r>
              <a:rPr lang="en-US" dirty="0" smtClean="0"/>
              <a:t>Asia</a:t>
            </a:r>
          </a:p>
          <a:p>
            <a:pPr lvl="2"/>
            <a:r>
              <a:rPr lang="en-US" dirty="0" smtClean="0"/>
              <a:t>connected </a:t>
            </a:r>
            <a:r>
              <a:rPr lang="en-US" dirty="0"/>
              <a:t>China and the Mediterranean</a:t>
            </a:r>
          </a:p>
          <a:p>
            <a:pPr lvl="1"/>
            <a:r>
              <a:rPr lang="en-US" dirty="0" smtClean="0"/>
              <a:t>Samarkand	</a:t>
            </a:r>
          </a:p>
          <a:p>
            <a:pPr lvl="2"/>
            <a:r>
              <a:rPr lang="en-US" dirty="0" smtClean="0"/>
              <a:t>center </a:t>
            </a:r>
            <a:r>
              <a:rPr lang="en-US" dirty="0"/>
              <a:t>of mathematics, music, and Islamic </a:t>
            </a:r>
            <a:r>
              <a:rPr lang="en-US" dirty="0" smtClean="0"/>
              <a:t>architecture</a:t>
            </a:r>
          </a:p>
          <a:p>
            <a:pPr lvl="2"/>
            <a:r>
              <a:rPr lang="en-US" b="1" dirty="0" smtClean="0"/>
              <a:t>khans</a:t>
            </a:r>
            <a:r>
              <a:rPr lang="en-US" b="1" dirty="0"/>
              <a:t>, </a:t>
            </a:r>
            <a:r>
              <a:rPr lang="en-US" dirty="0"/>
              <a:t>nomadic people in the </a:t>
            </a:r>
            <a:r>
              <a:rPr lang="en-US" dirty="0" smtClean="0"/>
              <a:t>region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6604" y="1916958"/>
            <a:ext cx="4364996" cy="287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482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Rise of the Russian Empire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4095355" cy="3951288"/>
          </a:xfrm>
        </p:spPr>
        <p:txBody>
          <a:bodyPr/>
          <a:lstStyle/>
          <a:p>
            <a:r>
              <a:rPr lang="en-US" dirty="0"/>
              <a:t>Principality of Muscovy</a:t>
            </a:r>
          </a:p>
          <a:p>
            <a:pPr lvl="1"/>
            <a:r>
              <a:rPr lang="en-US" dirty="0"/>
              <a:t>centered around the city of Moscow</a:t>
            </a:r>
          </a:p>
          <a:p>
            <a:pPr lvl="1"/>
            <a:r>
              <a:rPr lang="en-US" dirty="0"/>
              <a:t>in 1552, Ivan the Terrible freed Muscovy from </a:t>
            </a:r>
            <a:r>
              <a:rPr lang="en-US" dirty="0" smtClean="0"/>
              <a:t>the </a:t>
            </a:r>
            <a:r>
              <a:rPr lang="en-US" dirty="0"/>
              <a:t>Tatars</a:t>
            </a:r>
          </a:p>
          <a:p>
            <a:pPr lvl="1"/>
            <a:r>
              <a:rPr lang="en-US" dirty="0"/>
              <a:t>steady expansion of Russian dominance</a:t>
            </a:r>
          </a:p>
          <a:p>
            <a:pPr lvl="1"/>
            <a:r>
              <a:rPr lang="en-US" b="1" dirty="0"/>
              <a:t>tsars </a:t>
            </a:r>
            <a:r>
              <a:rPr lang="en-US" dirty="0"/>
              <a:t>(rulers </a:t>
            </a:r>
            <a:r>
              <a:rPr lang="en-US" dirty="0" smtClean="0"/>
              <a:t>of Russian </a:t>
            </a:r>
            <a:r>
              <a:rPr lang="en-US" dirty="0"/>
              <a:t>empire)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81784" y="1750726"/>
            <a:ext cx="4727047" cy="317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897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Rise of the Russian Empire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4391092" cy="3951288"/>
          </a:xfrm>
        </p:spPr>
        <p:txBody>
          <a:bodyPr/>
          <a:lstStyle/>
          <a:p>
            <a:r>
              <a:rPr lang="en-US" dirty="0"/>
              <a:t>Early 20</a:t>
            </a:r>
            <a:r>
              <a:rPr lang="en-US" baseline="30000" dirty="0"/>
              <a:t>th</a:t>
            </a:r>
            <a:r>
              <a:rPr lang="en-US" dirty="0"/>
              <a:t> century: severe depression</a:t>
            </a:r>
          </a:p>
          <a:p>
            <a:r>
              <a:rPr lang="en-US" b="1" dirty="0" smtClean="0"/>
              <a:t>Soviets</a:t>
            </a:r>
            <a:r>
              <a:rPr lang="en-US" dirty="0" smtClean="0"/>
              <a:t> </a:t>
            </a:r>
            <a:r>
              <a:rPr lang="en-US" dirty="0"/>
              <a:t>formed in protest</a:t>
            </a:r>
          </a:p>
          <a:p>
            <a:pPr lvl="1"/>
            <a:r>
              <a:rPr lang="en-US" dirty="0"/>
              <a:t>discontent </a:t>
            </a:r>
          </a:p>
          <a:p>
            <a:r>
              <a:rPr lang="en-US" dirty="0"/>
              <a:t>World War I further put tsars in disfavor</a:t>
            </a:r>
          </a:p>
          <a:p>
            <a:r>
              <a:rPr lang="en-US" dirty="0"/>
              <a:t>October 1917</a:t>
            </a:r>
          </a:p>
          <a:p>
            <a:pPr lvl="1"/>
            <a:r>
              <a:rPr lang="en-US" b="1" dirty="0"/>
              <a:t>Bolshevik</a:t>
            </a:r>
            <a:r>
              <a:rPr lang="en-US" dirty="0"/>
              <a:t> Revolution</a:t>
            </a:r>
          </a:p>
          <a:p>
            <a:pPr lvl="1"/>
            <a:r>
              <a:rPr lang="en-US" dirty="0"/>
              <a:t>Soviet Union </a:t>
            </a:r>
            <a:r>
              <a:rPr lang="en-US" dirty="0" smtClean="0"/>
              <a:t>established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2340" y="1262576"/>
            <a:ext cx="4396154" cy="3856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58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Rise of the Russian Empire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582474" cy="3951288"/>
          </a:xfrm>
        </p:spPr>
        <p:txBody>
          <a:bodyPr/>
          <a:lstStyle/>
          <a:p>
            <a:r>
              <a:rPr lang="en-US" b="1" dirty="0"/>
              <a:t>State socialism</a:t>
            </a:r>
          </a:p>
          <a:p>
            <a:pPr lvl="1"/>
            <a:r>
              <a:rPr lang="en-US" dirty="0"/>
              <a:t>people</a:t>
            </a:r>
            <a:r>
              <a:rPr lang="ja-JP" altLang="en-US" dirty="0"/>
              <a:t>’</a:t>
            </a:r>
            <a:r>
              <a:rPr lang="en-US" altLang="ja-JP" dirty="0"/>
              <a:t>s compliance</a:t>
            </a:r>
            <a:endParaRPr lang="ja-JP" altLang="en-US" dirty="0"/>
          </a:p>
          <a:p>
            <a:r>
              <a:rPr lang="en-US" b="1" dirty="0"/>
              <a:t>Lenin</a:t>
            </a:r>
          </a:p>
          <a:p>
            <a:pPr lvl="1"/>
            <a:r>
              <a:rPr lang="en-US" b="1" dirty="0"/>
              <a:t>internationalist</a:t>
            </a:r>
          </a:p>
          <a:p>
            <a:pPr lvl="1"/>
            <a:r>
              <a:rPr lang="en-US" b="1" dirty="0"/>
              <a:t>Union of Soviet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Socialist Republics</a:t>
            </a:r>
          </a:p>
          <a:p>
            <a:r>
              <a:rPr lang="en-US" b="1" dirty="0"/>
              <a:t>Stalin</a:t>
            </a:r>
          </a:p>
          <a:p>
            <a:pPr lvl="1"/>
            <a:r>
              <a:rPr lang="en-US" dirty="0"/>
              <a:t>anti-nationalism</a:t>
            </a:r>
          </a:p>
          <a:p>
            <a:pPr lvl="1"/>
            <a:r>
              <a:rPr lang="en-US" dirty="0"/>
              <a:t>expansion into Eastern Europe</a:t>
            </a:r>
          </a:p>
          <a:p>
            <a:pPr lvl="1"/>
            <a:r>
              <a:rPr lang="en-US" b="1" dirty="0"/>
              <a:t>command economy</a:t>
            </a:r>
          </a:p>
          <a:p>
            <a:pPr lvl="1"/>
            <a:r>
              <a:rPr lang="en-US" dirty="0"/>
              <a:t>severe repression</a:t>
            </a:r>
          </a:p>
          <a:p>
            <a:pPr lvl="1"/>
            <a:r>
              <a:rPr lang="en-US" b="1" dirty="0"/>
              <a:t>collectivization</a:t>
            </a:r>
          </a:p>
          <a:p>
            <a:pPr lvl="1"/>
            <a:endParaRPr lang="en-US" dirty="0"/>
          </a:p>
          <a:p>
            <a:pPr lvl="1"/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97145" y="1279571"/>
            <a:ext cx="4884490" cy="314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571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Rise of the Russian Empire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Growth</a:t>
            </a:r>
          </a:p>
          <a:p>
            <a:pPr lvl="1"/>
            <a:r>
              <a:rPr lang="en-US" b="1" dirty="0"/>
              <a:t>territorial production complexes</a:t>
            </a:r>
          </a:p>
          <a:p>
            <a:pPr lvl="1"/>
            <a:r>
              <a:rPr lang="en-US" dirty="0"/>
              <a:t>industrialization of less-developed </a:t>
            </a:r>
            <a:r>
              <a:rPr lang="en-US" dirty="0" err="1"/>
              <a:t>subregions</a:t>
            </a:r>
            <a:endParaRPr lang="en-US" dirty="0"/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secret cities</a:t>
            </a:r>
            <a:r>
              <a:rPr lang="ja-JP" altLang="en-US" dirty="0"/>
              <a:t>”</a:t>
            </a:r>
          </a:p>
          <a:p>
            <a:r>
              <a:rPr lang="en-US" b="1" dirty="0"/>
              <a:t>Cold War</a:t>
            </a:r>
          </a:p>
          <a:p>
            <a:pPr lvl="1"/>
            <a:r>
              <a:rPr lang="en-US" dirty="0"/>
              <a:t>1950–1989</a:t>
            </a:r>
          </a:p>
          <a:p>
            <a:pPr lvl="1"/>
            <a:r>
              <a:rPr lang="en-US" dirty="0"/>
              <a:t>communism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challenged </a:t>
            </a:r>
            <a:r>
              <a:rPr lang="en-US" dirty="0"/>
              <a:t>the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dominance </a:t>
            </a:r>
            <a:r>
              <a:rPr lang="en-US" dirty="0"/>
              <a:t>of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capitalism </a:t>
            </a:r>
            <a:r>
              <a:rPr lang="en-US" dirty="0"/>
              <a:t>(the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United </a:t>
            </a:r>
            <a:r>
              <a:rPr lang="en-US" dirty="0"/>
              <a:t>States)</a:t>
            </a:r>
          </a:p>
          <a:p>
            <a:pPr lvl="1"/>
            <a:r>
              <a:rPr lang="en-US" dirty="0"/>
              <a:t>proxy conflicts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58308" y="2799237"/>
            <a:ext cx="5544653" cy="295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737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Rise of the Russian Empire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Soviet Union in crisis by 1980</a:t>
            </a:r>
          </a:p>
          <a:p>
            <a:pPr lvl="1"/>
            <a:r>
              <a:rPr lang="en-US" dirty="0"/>
              <a:t>failure to deliver consumer goods</a:t>
            </a:r>
          </a:p>
          <a:p>
            <a:pPr lvl="1"/>
            <a:r>
              <a:rPr lang="en-US" dirty="0"/>
              <a:t>population was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becoming </a:t>
            </a:r>
            <a:r>
              <a:rPr lang="en-US" dirty="0"/>
              <a:t>informed </a:t>
            </a:r>
            <a:r>
              <a:rPr lang="en-US" dirty="0" smtClean="0"/>
              <a:t>of </a:t>
            </a:r>
            <a:br>
              <a:rPr lang="en-US" dirty="0" smtClean="0"/>
            </a:br>
            <a:r>
              <a:rPr lang="en-US" dirty="0" smtClean="0"/>
              <a:t>consumerism </a:t>
            </a:r>
            <a:r>
              <a:rPr lang="en-US" dirty="0"/>
              <a:t>elsewhere</a:t>
            </a:r>
          </a:p>
          <a:p>
            <a:pPr lvl="1"/>
            <a:r>
              <a:rPr lang="en-US" dirty="0"/>
              <a:t>regional inequities</a:t>
            </a:r>
          </a:p>
          <a:p>
            <a:pPr lvl="1"/>
            <a:r>
              <a:rPr lang="en-US" dirty="0" smtClean="0"/>
              <a:t>economic </a:t>
            </a:r>
            <a:r>
              <a:rPr lang="en-US" dirty="0"/>
              <a:t>drain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of </a:t>
            </a:r>
            <a:r>
              <a:rPr lang="en-US" dirty="0"/>
              <a:t>the arms race</a:t>
            </a:r>
          </a:p>
          <a:p>
            <a:pPr lvl="1"/>
            <a:r>
              <a:rPr lang="en-US" dirty="0"/>
              <a:t>inflexibility and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lack </a:t>
            </a:r>
            <a:r>
              <a:rPr lang="en-US" dirty="0"/>
              <a:t>of computer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technology</a:t>
            </a:r>
            <a:endParaRPr lang="en-US" dirty="0"/>
          </a:p>
          <a:p>
            <a:pPr lvl="1"/>
            <a:r>
              <a:rPr lang="en-US" dirty="0"/>
              <a:t>between 1989 </a:t>
            </a:r>
            <a:r>
              <a:rPr lang="en-US" dirty="0" smtClean="0"/>
              <a:t>and </a:t>
            </a:r>
            <a:r>
              <a:rPr lang="en-US" dirty="0"/>
              <a:t>1991, the Soviet Union broke apart into 15 independent states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46228" y="2368061"/>
            <a:ext cx="4527434" cy="296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78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Economy, Accumulation, and the Production of Inequality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9566" y="1358190"/>
            <a:ext cx="3978965" cy="3951288"/>
          </a:xfrm>
        </p:spPr>
        <p:txBody>
          <a:bodyPr/>
          <a:lstStyle/>
          <a:p>
            <a:r>
              <a:rPr lang="en-US" sz="2400" dirty="0"/>
              <a:t>Shift to capitalism after 70 years of central planning has been problematic</a:t>
            </a:r>
          </a:p>
          <a:p>
            <a:r>
              <a:rPr lang="en-US" sz="2400" b="1" dirty="0" err="1"/>
              <a:t>Mafiyas</a:t>
            </a:r>
            <a:r>
              <a:rPr lang="en-US" sz="2400" b="1" dirty="0"/>
              <a:t> </a:t>
            </a:r>
            <a:r>
              <a:rPr lang="en-US" sz="2400" dirty="0"/>
              <a:t>(organized crime groups)</a:t>
            </a:r>
          </a:p>
          <a:p>
            <a:r>
              <a:rPr lang="en-US" sz="2400" b="1" dirty="0"/>
              <a:t>Oligarchs</a:t>
            </a:r>
          </a:p>
          <a:p>
            <a:r>
              <a:rPr lang="en-US" sz="2400" dirty="0"/>
              <a:t>Economic growth dramatic between 2000 </a:t>
            </a:r>
            <a:r>
              <a:rPr lang="en-US" sz="2400" dirty="0" smtClean="0"/>
              <a:t>and 2014</a:t>
            </a:r>
            <a:endParaRPr lang="en-US" sz="2400" dirty="0"/>
          </a:p>
          <a:p>
            <a:r>
              <a:rPr lang="en-US" sz="2400" dirty="0"/>
              <a:t>End of 2013, Russia 9</a:t>
            </a:r>
            <a:r>
              <a:rPr lang="en-US" sz="2400" baseline="30000" dirty="0"/>
              <a:t>th</a:t>
            </a:r>
            <a:r>
              <a:rPr lang="en-US" sz="2400" dirty="0"/>
              <a:t> largest economy in </a:t>
            </a:r>
            <a:r>
              <a:rPr lang="en-US" sz="2400" dirty="0" smtClean="0"/>
              <a:t>     the </a:t>
            </a:r>
            <a:r>
              <a:rPr lang="en-US" sz="2400" dirty="0"/>
              <a:t>world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14800" y="875714"/>
            <a:ext cx="4951908" cy="554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93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Economy, Accumulation, and the Production of Inequality (cont.)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48" y="1345016"/>
            <a:ext cx="8411609" cy="3951288"/>
          </a:xfrm>
        </p:spPr>
        <p:txBody>
          <a:bodyPr/>
          <a:lstStyle/>
          <a:p>
            <a:r>
              <a:rPr lang="en-US" dirty="0"/>
              <a:t>The Central Region</a:t>
            </a:r>
          </a:p>
          <a:p>
            <a:pPr lvl="1"/>
            <a:r>
              <a:rPr lang="en-US" dirty="0"/>
              <a:t>centered on Moscow</a:t>
            </a:r>
          </a:p>
          <a:p>
            <a:pPr lvl="1"/>
            <a:r>
              <a:rPr lang="en-US" dirty="0"/>
              <a:t>85% urban</a:t>
            </a:r>
          </a:p>
          <a:p>
            <a:pPr lvl="1"/>
            <a:r>
              <a:rPr lang="en-US" dirty="0"/>
              <a:t>major contributor to </a:t>
            </a:r>
            <a:br>
              <a:rPr lang="en-US" dirty="0"/>
            </a:br>
            <a:r>
              <a:rPr lang="en-US" dirty="0"/>
              <a:t>Russian Federation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production</a:t>
            </a:r>
            <a:endParaRPr lang="en-US" dirty="0"/>
          </a:p>
          <a:p>
            <a:r>
              <a:rPr lang="en-US" dirty="0"/>
              <a:t>Regions of decreasing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prosperity</a:t>
            </a:r>
            <a:endParaRPr lang="en-US" dirty="0"/>
          </a:p>
          <a:p>
            <a:pPr lvl="1"/>
            <a:r>
              <a:rPr lang="en-US" dirty="0"/>
              <a:t>regions of territorial conflict</a:t>
            </a:r>
          </a:p>
          <a:p>
            <a:pPr lvl="1"/>
            <a:r>
              <a:rPr lang="en-US" dirty="0"/>
              <a:t>resource-poor regions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6831" y="1191298"/>
            <a:ext cx="4513383" cy="334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976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28865" y="773318"/>
            <a:ext cx="4586179" cy="29900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Territory and Politics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7" y="1074362"/>
            <a:ext cx="4477319" cy="3951288"/>
          </a:xfrm>
        </p:spPr>
        <p:txBody>
          <a:bodyPr/>
          <a:lstStyle/>
          <a:p>
            <a:r>
              <a:rPr lang="en-US" dirty="0"/>
              <a:t>27 million non-Russians</a:t>
            </a:r>
          </a:p>
          <a:p>
            <a:r>
              <a:rPr lang="en-US" dirty="0"/>
              <a:t>Chechen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independence</a:t>
            </a:r>
            <a:endParaRPr lang="en-US" dirty="0"/>
          </a:p>
          <a:p>
            <a:pPr lvl="1"/>
            <a:r>
              <a:rPr lang="en-US" dirty="0"/>
              <a:t>Sunni Muslims</a:t>
            </a:r>
          </a:p>
          <a:p>
            <a:pPr lvl="1"/>
            <a:r>
              <a:rPr lang="en-US" dirty="0"/>
              <a:t>Soviet treatment of Chechens</a:t>
            </a:r>
          </a:p>
          <a:p>
            <a:pPr lvl="1"/>
            <a:r>
              <a:rPr lang="en-US" b="1" dirty="0"/>
              <a:t>glasnost</a:t>
            </a:r>
          </a:p>
          <a:p>
            <a:pPr lvl="1"/>
            <a:r>
              <a:rPr lang="en-US" dirty="0"/>
              <a:t>1989 declaration of independence</a:t>
            </a:r>
          </a:p>
          <a:p>
            <a:pPr lvl="1"/>
            <a:r>
              <a:rPr lang="en-US" dirty="0"/>
              <a:t>Russian invasion </a:t>
            </a:r>
            <a:br>
              <a:rPr lang="en-US" dirty="0"/>
            </a:br>
            <a:r>
              <a:rPr lang="en-US" dirty="0"/>
              <a:t>in 1994</a:t>
            </a:r>
          </a:p>
          <a:p>
            <a:pPr lvl="1"/>
            <a:r>
              <a:rPr lang="en-US" dirty="0"/>
              <a:t>fall of Grozny </a:t>
            </a:r>
            <a:br>
              <a:rPr lang="en-US" dirty="0"/>
            </a:br>
            <a:r>
              <a:rPr lang="en-US" dirty="0"/>
              <a:t>in </a:t>
            </a:r>
            <a:r>
              <a:rPr lang="en-US" dirty="0" smtClean="0"/>
              <a:t>2000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28709" y="3853674"/>
            <a:ext cx="2144589" cy="289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029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Territory and Politics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8572"/>
            <a:ext cx="8444266" cy="3951288"/>
          </a:xfrm>
        </p:spPr>
        <p:txBody>
          <a:bodyPr/>
          <a:lstStyle/>
          <a:p>
            <a:r>
              <a:rPr lang="en-US" sz="2700" dirty="0" err="1"/>
              <a:t>Transcaucasus</a:t>
            </a:r>
            <a:r>
              <a:rPr lang="en-US" sz="2700" dirty="0"/>
              <a:t> and Central Asia</a:t>
            </a:r>
          </a:p>
          <a:p>
            <a:r>
              <a:rPr lang="en-US" sz="2700" b="1" dirty="0" err="1"/>
              <a:t>Ethnonationalism</a:t>
            </a:r>
            <a:endParaRPr lang="en-US" sz="2700" b="1" dirty="0"/>
          </a:p>
          <a:p>
            <a:pPr lvl="1"/>
            <a:r>
              <a:rPr lang="en-US" sz="2300" dirty="0"/>
              <a:t>Nagorno-Karabakh</a:t>
            </a:r>
          </a:p>
          <a:p>
            <a:pPr lvl="2"/>
            <a:r>
              <a:rPr lang="en-US" sz="2100" dirty="0"/>
              <a:t>Armenian citizens </a:t>
            </a:r>
            <a:br>
              <a:rPr lang="en-US" sz="2100" dirty="0"/>
            </a:br>
            <a:r>
              <a:rPr lang="en-US" sz="2100" dirty="0"/>
              <a:t>of Azerbaijan</a:t>
            </a:r>
          </a:p>
          <a:p>
            <a:pPr lvl="2"/>
            <a:r>
              <a:rPr lang="en-US" sz="2100" dirty="0"/>
              <a:t>civil war</a:t>
            </a:r>
          </a:p>
          <a:p>
            <a:pPr lvl="2"/>
            <a:r>
              <a:rPr lang="en-US" sz="2100" dirty="0"/>
              <a:t>oil pipeline</a:t>
            </a:r>
          </a:p>
          <a:p>
            <a:pPr lvl="1"/>
            <a:r>
              <a:rPr lang="en-US" sz="2300" dirty="0"/>
              <a:t>South Ossetia</a:t>
            </a:r>
          </a:p>
          <a:p>
            <a:pPr lvl="2"/>
            <a:r>
              <a:rPr lang="en-US" sz="2100" dirty="0"/>
              <a:t>Georgia</a:t>
            </a:r>
          </a:p>
          <a:p>
            <a:pPr lvl="1"/>
            <a:r>
              <a:rPr lang="en-US" sz="2300" dirty="0"/>
              <a:t>Tajikistan</a:t>
            </a:r>
          </a:p>
          <a:p>
            <a:pPr lvl="2"/>
            <a:r>
              <a:rPr lang="en-US" sz="2100" dirty="0"/>
              <a:t>civil war</a:t>
            </a:r>
          </a:p>
          <a:p>
            <a:pPr lvl="1"/>
            <a:r>
              <a:rPr lang="en-US" sz="2300" dirty="0"/>
              <a:t>Fergana Valley</a:t>
            </a:r>
          </a:p>
          <a:p>
            <a:pPr lvl="2"/>
            <a:r>
              <a:rPr lang="en-US" sz="2100" dirty="0" smtClean="0"/>
              <a:t>Uzbekistan</a:t>
            </a:r>
            <a:endParaRPr lang="en-US" sz="21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9170" y="2580014"/>
            <a:ext cx="4887487" cy="337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125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Territory and Politics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3598"/>
            <a:ext cx="8444266" cy="3951288"/>
          </a:xfrm>
        </p:spPr>
        <p:txBody>
          <a:bodyPr/>
          <a:lstStyle/>
          <a:p>
            <a:r>
              <a:rPr lang="en-US" dirty="0"/>
              <a:t>Geopolitical shifts</a:t>
            </a:r>
          </a:p>
          <a:p>
            <a:pPr lvl="1"/>
            <a:r>
              <a:rPr lang="en-US" b="1" dirty="0"/>
              <a:t>Commonwealth of Independent States (CIS)</a:t>
            </a:r>
          </a:p>
          <a:p>
            <a:pPr lvl="1"/>
            <a:r>
              <a:rPr lang="en-US" b="1" dirty="0"/>
              <a:t>Near </a:t>
            </a:r>
            <a:r>
              <a:rPr lang="en-US" b="1" dirty="0" smtClean="0"/>
              <a:t>Abroad</a:t>
            </a:r>
          </a:p>
          <a:p>
            <a:pPr lvl="2"/>
            <a:r>
              <a:rPr lang="en-US" dirty="0" smtClean="0"/>
              <a:t>Russia</a:t>
            </a:r>
            <a:r>
              <a:rPr lang="ja-JP" altLang="en-US" dirty="0"/>
              <a:t>’</a:t>
            </a:r>
            <a:r>
              <a:rPr lang="en-US" altLang="ja-JP" dirty="0"/>
              <a:t>s expanding political influence</a:t>
            </a:r>
            <a:endParaRPr lang="ja-JP" altLang="en-US" dirty="0"/>
          </a:p>
          <a:p>
            <a:pPr lvl="1"/>
            <a:r>
              <a:rPr lang="en-US" dirty="0"/>
              <a:t>civil society</a:t>
            </a:r>
          </a:p>
          <a:p>
            <a:pPr lvl="1"/>
            <a:r>
              <a:rPr lang="en-US" dirty="0"/>
              <a:t>pluralist democracy</a:t>
            </a:r>
          </a:p>
          <a:p>
            <a:pPr lvl="1"/>
            <a:r>
              <a:rPr lang="en-US" dirty="0"/>
              <a:t>BRICS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50012" y="3182815"/>
            <a:ext cx="4491626" cy="338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004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Religion and Language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3564507" cy="3951288"/>
          </a:xfrm>
        </p:spPr>
        <p:txBody>
          <a:bodyPr/>
          <a:lstStyle/>
          <a:p>
            <a:r>
              <a:rPr lang="en-US" dirty="0"/>
              <a:t>Religion</a:t>
            </a:r>
          </a:p>
          <a:p>
            <a:pPr lvl="1"/>
            <a:r>
              <a:rPr lang="en-US" dirty="0"/>
              <a:t>Eastern Orthodoxy</a:t>
            </a:r>
          </a:p>
          <a:p>
            <a:pPr lvl="2"/>
            <a:r>
              <a:rPr lang="en-US" sz="2400" dirty="0"/>
              <a:t>Russia and Georgia</a:t>
            </a:r>
          </a:p>
          <a:p>
            <a:pPr lvl="1"/>
            <a:r>
              <a:rPr lang="en-US" dirty="0"/>
              <a:t>Islam</a:t>
            </a:r>
          </a:p>
          <a:p>
            <a:pPr lvl="2"/>
            <a:r>
              <a:rPr lang="en-US" sz="2400" dirty="0"/>
              <a:t>Azerbaijan and Central </a:t>
            </a:r>
            <a:r>
              <a:rPr lang="en-US" sz="2400" dirty="0" smtClean="0"/>
              <a:t>Asia</a:t>
            </a:r>
          </a:p>
          <a:p>
            <a:r>
              <a:rPr lang="en-US" dirty="0"/>
              <a:t>Language</a:t>
            </a:r>
          </a:p>
          <a:p>
            <a:pPr lvl="1"/>
            <a:r>
              <a:rPr lang="en-US" dirty="0"/>
              <a:t>Slavonic</a:t>
            </a:r>
          </a:p>
          <a:p>
            <a:pPr lvl="1"/>
            <a:r>
              <a:rPr lang="en-US" dirty="0"/>
              <a:t>Turkic</a:t>
            </a:r>
          </a:p>
          <a:p>
            <a:pPr lvl="1"/>
            <a:r>
              <a:rPr lang="en-US" dirty="0" err="1"/>
              <a:t>Paleo</a:t>
            </a:r>
            <a:r>
              <a:rPr lang="en-US" dirty="0"/>
              <a:t>-Siberian</a:t>
            </a:r>
          </a:p>
          <a:p>
            <a:pPr lvl="1"/>
            <a:r>
              <a:rPr lang="en-US" dirty="0" smtClean="0"/>
              <a:t>Caucasian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02536" y="1918832"/>
            <a:ext cx="5030194" cy="3685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169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Cultural Practices, Social Differences, and Identity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49" y="1345016"/>
            <a:ext cx="4998180" cy="3951288"/>
          </a:xfrm>
        </p:spPr>
        <p:txBody>
          <a:bodyPr/>
          <a:lstStyle/>
          <a:p>
            <a:r>
              <a:rPr lang="en-US" dirty="0"/>
              <a:t>High culture</a:t>
            </a:r>
          </a:p>
          <a:p>
            <a:pPr lvl="1"/>
            <a:r>
              <a:rPr lang="en-US" dirty="0"/>
              <a:t>influenced by European </a:t>
            </a:r>
            <a:r>
              <a:rPr lang="en-US" dirty="0" smtClean="0"/>
              <a:t>art</a:t>
            </a:r>
          </a:p>
          <a:p>
            <a:pPr lvl="2"/>
            <a:r>
              <a:rPr lang="en-US" dirty="0" smtClean="0"/>
              <a:t>classical </a:t>
            </a:r>
            <a:r>
              <a:rPr lang="en-US" dirty="0"/>
              <a:t>music, ballet, novels, and </a:t>
            </a:r>
            <a:r>
              <a:rPr lang="en-US" dirty="0" smtClean="0"/>
              <a:t>poetry</a:t>
            </a:r>
          </a:p>
          <a:p>
            <a:r>
              <a:rPr lang="en-US" dirty="0"/>
              <a:t>Popular culture</a:t>
            </a:r>
          </a:p>
          <a:p>
            <a:pPr lvl="1"/>
            <a:r>
              <a:rPr lang="en-US" dirty="0"/>
              <a:t>influenced by the Soviet era</a:t>
            </a:r>
          </a:p>
          <a:p>
            <a:pPr lvl="1"/>
            <a:r>
              <a:rPr lang="en-US" dirty="0"/>
              <a:t>influenced by the </a:t>
            </a:r>
            <a:r>
              <a:rPr lang="en-US" dirty="0" smtClean="0"/>
              <a:t>West</a:t>
            </a:r>
            <a:endParaRPr lang="en-US" dirty="0"/>
          </a:p>
          <a:p>
            <a:pPr lvl="1"/>
            <a:r>
              <a:rPr lang="en-US" dirty="0"/>
              <a:t>food traditions</a:t>
            </a:r>
          </a:p>
          <a:p>
            <a:pPr lvl="1"/>
            <a:r>
              <a:rPr lang="en-US" dirty="0"/>
              <a:t>modern </a:t>
            </a:r>
            <a:r>
              <a:rPr lang="en-US" dirty="0" smtClean="0"/>
              <a:t>Art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6884" y="677083"/>
            <a:ext cx="3185700" cy="31420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12664" y="3830867"/>
            <a:ext cx="3905873" cy="285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894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Gender and Inequality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Gender and identity</a:t>
            </a:r>
          </a:p>
          <a:p>
            <a:pPr lvl="1"/>
            <a:r>
              <a:rPr lang="en-US" dirty="0"/>
              <a:t>Soviet era</a:t>
            </a:r>
          </a:p>
          <a:p>
            <a:pPr lvl="1"/>
            <a:r>
              <a:rPr lang="en-US" dirty="0"/>
              <a:t>new opportunities</a:t>
            </a:r>
          </a:p>
          <a:p>
            <a:pPr lvl="1"/>
            <a:r>
              <a:rPr lang="en-US" dirty="0"/>
              <a:t>legally </a:t>
            </a:r>
            <a:r>
              <a:rPr lang="en-US" dirty="0" smtClean="0"/>
              <a:t>                                                                         off-limits jobs</a:t>
            </a:r>
            <a:endParaRPr lang="en-US" dirty="0"/>
          </a:p>
          <a:p>
            <a:pPr lvl="1"/>
            <a:r>
              <a:rPr lang="en-US" dirty="0"/>
              <a:t>wage disparity</a:t>
            </a:r>
          </a:p>
          <a:p>
            <a:pPr lvl="1"/>
            <a:r>
              <a:rPr lang="en-US" dirty="0" smtClean="0"/>
              <a:t>regressed </a:t>
            </a:r>
            <a:r>
              <a:rPr lang="en-US" dirty="0"/>
              <a:t>political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representation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45169" y="2005583"/>
            <a:ext cx="5235069" cy="349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880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Demography and Urbanization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Low population density</a:t>
            </a:r>
          </a:p>
          <a:p>
            <a:r>
              <a:rPr lang="en-US" dirty="0"/>
              <a:t>Higher urbanization in Russia</a:t>
            </a:r>
          </a:p>
          <a:p>
            <a:r>
              <a:rPr lang="en-US" dirty="0"/>
              <a:t>Population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growth </a:t>
            </a:r>
            <a:r>
              <a:rPr lang="en-US" dirty="0"/>
              <a:t>and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decline</a:t>
            </a:r>
            <a:endParaRPr lang="en-US" dirty="0"/>
          </a:p>
          <a:p>
            <a:pPr lvl="1"/>
            <a:r>
              <a:rPr lang="en-US" dirty="0"/>
              <a:t>slow-growing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population</a:t>
            </a:r>
            <a:endParaRPr lang="en-US" dirty="0"/>
          </a:p>
          <a:p>
            <a:pPr lvl="1"/>
            <a:r>
              <a:rPr lang="en-US" dirty="0"/>
              <a:t>higher birthrates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 Central </a:t>
            </a:r>
            <a:r>
              <a:rPr lang="en-US" dirty="0"/>
              <a:t>Asia</a:t>
            </a:r>
          </a:p>
          <a:p>
            <a:pPr lvl="1"/>
            <a:r>
              <a:rPr lang="en-US" dirty="0"/>
              <a:t>rising mortality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rates </a:t>
            </a:r>
            <a:r>
              <a:rPr lang="en-US" dirty="0"/>
              <a:t>among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men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21342" y="2165253"/>
            <a:ext cx="5501005" cy="428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802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Geographies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Energy dependency</a:t>
            </a:r>
          </a:p>
          <a:p>
            <a:r>
              <a:rPr lang="en-US" dirty="0"/>
              <a:t>Democracy and </a:t>
            </a:r>
            <a:r>
              <a:rPr lang="en-US" dirty="0" smtClean="0"/>
              <a:t>plutocracy</a:t>
            </a:r>
            <a:endParaRPr lang="en-US" dirty="0"/>
          </a:p>
          <a:p>
            <a:pPr lvl="1"/>
            <a:r>
              <a:rPr lang="en-US" dirty="0"/>
              <a:t>elites as sources of corruption</a:t>
            </a:r>
          </a:p>
          <a:p>
            <a:r>
              <a:rPr lang="en-US" dirty="0"/>
              <a:t>Far East economic boom</a:t>
            </a:r>
          </a:p>
          <a:p>
            <a:r>
              <a:rPr lang="en-US" dirty="0"/>
              <a:t>Demographic implosion?</a:t>
            </a:r>
          </a:p>
          <a:p>
            <a:pPr lvl="1"/>
            <a:r>
              <a:rPr lang="en-US" dirty="0"/>
              <a:t>aging population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61062" y="137160"/>
            <a:ext cx="3668725" cy="31272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5801" y="4097920"/>
            <a:ext cx="4095261" cy="23957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27677" y="3264408"/>
            <a:ext cx="2852723" cy="345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69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482&quot;&gt;&lt;object type=&quot;3&quot; unique_id=&quot;10483&quot;&gt;&lt;property id=&quot;20148&quot; value=&quot;5&quot;/&gt;&lt;property id=&quot;20300&quot; value=&quot;Slide 1&quot;/&gt;&lt;property id=&quot;20307&quot; value=&quot;256&quot;/&gt;&lt;/object&gt;&lt;object type=&quot;3&quot; unique_id=&quot;10484&quot;&gt;&lt;property id=&quot;20148&quot; value=&quot;5&quot;/&gt;&lt;property id=&quot;20300&quot; value=&quot;Slide 2&quot;/&gt;&lt;property id=&quot;20307&quot; value=&quot;258&quot;/&gt;&lt;/object&gt;&lt;object type=&quot;3&quot; unique_id=&quot;10485&quot;&gt;&lt;property id=&quot;20148&quot; value=&quot;5&quot;/&gt;&lt;property id=&quot;20300&quot; value=&quot;Slide 3&quot;/&gt;&lt;property id=&quot;20307&quot; value=&quot;263&quot;/&gt;&lt;/object&gt;&lt;object type=&quot;3&quot; unique_id=&quot;10486&quot;&gt;&lt;property id=&quot;20148&quot; value=&quot;5&quot;/&gt;&lt;property id=&quot;20300&quot; value=&quot;Slide 4&quot;/&gt;&lt;property id=&quot;20307&quot; value=&quot;264&quot;/&gt;&lt;/object&gt;&lt;object type=&quot;3&quot; unique_id=&quot;10487&quot;&gt;&lt;property id=&quot;20148&quot; value=&quot;5&quot;/&gt;&lt;property id=&quot;20300&quot; value=&quot;Slide 5&quot;/&gt;&lt;property id=&quot;20307&quot; value=&quot;265&quot;/&gt;&lt;/object&gt;&lt;object type=&quot;3&quot; unique_id=&quot;10488&quot;&gt;&lt;property id=&quot;20148&quot; value=&quot;5&quot;/&gt;&lt;property id=&quot;20300&quot; value=&quot;Slide 6&quot;/&gt;&lt;property id=&quot;20307&quot; value=&quot;295&quot;/&gt;&lt;/object&gt;&lt;object type=&quot;3&quot; unique_id=&quot;10489&quot;&gt;&lt;property id=&quot;20148&quot; value=&quot;5&quot;/&gt;&lt;property id=&quot;20300&quot; value=&quot;Slide 7&quot;/&gt;&lt;property id=&quot;20307&quot; value=&quot;296&quot;/&gt;&lt;/object&gt;&lt;object type=&quot;3&quot; unique_id=&quot;10490&quot;&gt;&lt;property id=&quot;20148&quot; value=&quot;5&quot;/&gt;&lt;property id=&quot;20300&quot; value=&quot;Slide 8&quot;/&gt;&lt;property id=&quot;20307&quot; value=&quot;297&quot;/&gt;&lt;/object&gt;&lt;object type=&quot;3&quot; unique_id=&quot;10491&quot;&gt;&lt;property id=&quot;20148&quot; value=&quot;5&quot;/&gt;&lt;property id=&quot;20300&quot; value=&quot;Slide 9&quot;/&gt;&lt;property id=&quot;20307&quot; value=&quot;298&quot;/&gt;&lt;/object&gt;&lt;object type=&quot;3&quot; unique_id=&quot;10492&quot;&gt;&lt;property id=&quot;20148&quot; value=&quot;5&quot;/&gt;&lt;property id=&quot;20300&quot; value=&quot;Slide 10&quot;/&gt;&lt;property id=&quot;20307&quot; value=&quot;271&quot;/&gt;&lt;/object&gt;&lt;object type=&quot;3&quot; unique_id=&quot;10493&quot;&gt;&lt;property id=&quot;20148&quot; value=&quot;5&quot;/&gt;&lt;property id=&quot;20300&quot; value=&quot;Slide 11&quot;/&gt;&lt;property id=&quot;20307&quot; value=&quot;272&quot;/&gt;&lt;/object&gt;&lt;object type=&quot;3&quot; unique_id=&quot;10494&quot;&gt;&lt;property id=&quot;20148&quot; value=&quot;5&quot;/&gt;&lt;property id=&quot;20300&quot; value=&quot;Slide 12&quot;/&gt;&lt;property id=&quot;20307&quot; value=&quot;273&quot;/&gt;&lt;/object&gt;&lt;object type=&quot;3&quot; unique_id=&quot;10495&quot;&gt;&lt;property id=&quot;20148&quot; value=&quot;5&quot;/&gt;&lt;property id=&quot;20300&quot; value=&quot;Slide 13&quot;/&gt;&lt;property id=&quot;20307&quot; value=&quot;299&quot;/&gt;&lt;/object&gt;&lt;object type=&quot;3&quot; unique_id=&quot;10496&quot;&gt;&lt;property id=&quot;20148&quot; value=&quot;5&quot;/&gt;&lt;property id=&quot;20300&quot; value=&quot;Slide 14&quot;/&gt;&lt;property id=&quot;20307&quot; value=&quot;301&quot;/&gt;&lt;/object&gt;&lt;object type=&quot;3&quot; unique_id=&quot;10497&quot;&gt;&lt;property id=&quot;20148&quot; value=&quot;5&quot;/&gt;&lt;property id=&quot;20300&quot; value=&quot;Slide 15&quot;/&gt;&lt;property id=&quot;20307&quot; value=&quot;300&quot;/&gt;&lt;/object&gt;&lt;object type=&quot;3&quot; unique_id=&quot;10498&quot;&gt;&lt;property id=&quot;20148&quot; value=&quot;5&quot;/&gt;&lt;property id=&quot;20300&quot; value=&quot;Slide 16&quot;/&gt;&lt;property id=&quot;20307&quot; value=&quot;276&quot;/&gt;&lt;/object&gt;&lt;object type=&quot;3&quot; unique_id=&quot;10499&quot;&gt;&lt;property id=&quot;20148&quot; value=&quot;5&quot;/&gt;&lt;property id=&quot;20300&quot; value=&quot;Slide 17&quot;/&gt;&lt;property id=&quot;20307&quot; value=&quot;277&quot;/&gt;&lt;/object&gt;&lt;object type=&quot;3&quot; unique_id=&quot;10500&quot;&gt;&lt;property id=&quot;20148&quot; value=&quot;5&quot;/&gt;&lt;property id=&quot;20300&quot; value=&quot;Slide 18&quot;/&gt;&lt;property id=&quot;20307&quot; value=&quot;278&quot;/&gt;&lt;/object&gt;&lt;object type=&quot;3&quot; unique_id=&quot;10501&quot;&gt;&lt;property id=&quot;20148&quot; value=&quot;5&quot;/&gt;&lt;property id=&quot;20300&quot; value=&quot;Slide 19&quot;/&gt;&lt;property id=&quot;20307&quot; value=&quot;302&quot;/&gt;&lt;/object&gt;&lt;object type=&quot;3&quot; unique_id=&quot;10502&quot;&gt;&lt;property id=&quot;20148&quot; value=&quot;5&quot;/&gt;&lt;property id=&quot;20300&quot; value=&quot;Slide 20&quot;/&gt;&lt;property id=&quot;20307&quot; value=&quot;281&quot;/&gt;&lt;/object&gt;&lt;object type=&quot;3&quot; unique_id=&quot;10503&quot;&gt;&lt;property id=&quot;20148&quot; value=&quot;5&quot;/&gt;&lt;property id=&quot;20300&quot; value=&quot;Slide 21&quot;/&gt;&lt;property id=&quot;20307&quot; value=&quot;282&quot;/&gt;&lt;/object&gt;&lt;object type=&quot;3&quot; unique_id=&quot;10504&quot;&gt;&lt;property id=&quot;20148&quot; value=&quot;5&quot;/&gt;&lt;property id=&quot;20300&quot; value=&quot;Slide 22&quot;/&gt;&lt;property id=&quot;20307&quot; value=&quot;275&quot;/&gt;&lt;/object&gt;&lt;object type=&quot;3&quot; unique_id=&quot;10505&quot;&gt;&lt;property id=&quot;20148&quot; value=&quot;5&quot;/&gt;&lt;property id=&quot;20300&quot; value=&quot;Slide 23&quot;/&gt;&lt;property id=&quot;20307&quot; value=&quot;269&quot;/&gt;&lt;/object&gt;&lt;object type=&quot;3&quot; unique_id=&quot;10506&quot;&gt;&lt;property id=&quot;20148&quot; value=&quot;5&quot;/&gt;&lt;property id=&quot;20300&quot; value=&quot;Slide 24&quot;/&gt;&lt;property id=&quot;20307&quot; value=&quot;303&quot;/&gt;&lt;/object&gt;&lt;object type=&quot;3&quot; unique_id=&quot;10507&quot;&gt;&lt;property id=&quot;20148&quot; value=&quot;5&quot;/&gt;&lt;property id=&quot;20300&quot; value=&quot;Slide 25&quot;/&gt;&lt;property id=&quot;20307&quot; value=&quot;283&quot;/&gt;&lt;/object&gt;&lt;object type=&quot;3&quot; unique_id=&quot;10508&quot;&gt;&lt;property id=&quot;20148&quot; value=&quot;5&quot;/&gt;&lt;property id=&quot;20300&quot; value=&quot;Slide 26&quot;/&gt;&lt;property id=&quot;20307&quot; value=&quot;304&quot;/&gt;&lt;/object&gt;&lt;object type=&quot;3&quot; unique_id=&quot;10509&quot;&gt;&lt;property id=&quot;20148&quot; value=&quot;5&quot;/&gt;&lt;property id=&quot;20300&quot; value=&quot;Slide 27&quot;/&gt;&lt;property id=&quot;20307&quot; value=&quot;284&quot;/&gt;&lt;/object&gt;&lt;object type=&quot;3&quot; unique_id=&quot;10510&quot;&gt;&lt;property id=&quot;20148&quot; value=&quot;5&quot;/&gt;&lt;property id=&quot;20300&quot; value=&quot;Slide 28&quot;/&gt;&lt;property id=&quot;20307&quot; value=&quot;285&quot;/&gt;&lt;/object&gt;&lt;object type=&quot;3&quot; unique_id=&quot;10511&quot;&gt;&lt;property id=&quot;20148&quot; value=&quot;5&quot;/&gt;&lt;property id=&quot;20300&quot; value=&quot;Slide 29&quot;/&gt;&lt;property id=&quot;20307&quot; value=&quot;305&quot;/&gt;&lt;/object&gt;&lt;object type=&quot;3&quot; unique_id=&quot;10512&quot;&gt;&lt;property id=&quot;20148&quot; value=&quot;5&quot;/&gt;&lt;property id=&quot;20300&quot; value=&quot;Slide 30&quot;/&gt;&lt;property id=&quot;20307&quot; value=&quot;306&quot;/&gt;&lt;/object&gt;&lt;object type=&quot;3&quot; unique_id=&quot;10513&quot;&gt;&lt;property id=&quot;20148&quot; value=&quot;5&quot;/&gt;&lt;property id=&quot;20300&quot; value=&quot;Slide 31&quot;/&gt;&lt;property id=&quot;20307&quot; value=&quot;291&quot;/&gt;&lt;/object&gt;&lt;object type=&quot;3&quot; unique_id=&quot;10514&quot;&gt;&lt;property id=&quot;20148&quot; value=&quot;5&quot;/&gt;&lt;property id=&quot;20300&quot; value=&quot;Slide 32&quot;/&gt;&lt;property id=&quot;20307&quot; value=&quot;288&quot;/&gt;&lt;/object&gt;&lt;object type=&quot;3&quot; unique_id=&quot;10515&quot;&gt;&lt;property id=&quot;20148&quot; value=&quot;5&quot;/&gt;&lt;property id=&quot;20300&quot; value=&quot;Slide 33&quot;/&gt;&lt;property id=&quot;20307&quot; value=&quot;309&quot;/&gt;&lt;/object&gt;&lt;object type=&quot;3&quot; unique_id=&quot;10516&quot;&gt;&lt;property id=&quot;20148&quot; value=&quot;5&quot;/&gt;&lt;property id=&quot;20300&quot; value=&quot;Slide 34&quot;/&gt;&lt;property id=&quot;20307&quot; value=&quot;289&quot;/&gt;&lt;/object&gt;&lt;object type=&quot;3&quot; unique_id=&quot;10517&quot;&gt;&lt;property id=&quot;20148&quot; value=&quot;5&quot;/&gt;&lt;property id=&quot;20300&quot; value=&quot;Slide 35&quot;/&gt;&lt;property id=&quot;20307&quot; value=&quot;307&quot;/&gt;&lt;/object&gt;&lt;object type=&quot;3&quot; unique_id=&quot;10518&quot;&gt;&lt;property id=&quot;20148&quot; value=&quot;5&quot;/&gt;&lt;property id=&quot;20300&quot; value=&quot;Slide 36&quot;/&gt;&lt;property id=&quot;20307&quot; value=&quot;310&quot;/&gt;&lt;/object&gt;&lt;object type=&quot;3&quot; unique_id=&quot;10519&quot;&gt;&lt;property id=&quot;20148&quot; value=&quot;5&quot;/&gt;&lt;property id=&quot;20300&quot; value=&quot;Slide 37&quot;/&gt;&lt;property id=&quot;20307&quot; value=&quot;294&quot;/&gt;&lt;/object&gt;&lt;object type=&quot;3&quot; unique_id=&quot;10520&quot;&gt;&lt;property id=&quot;20148&quot; value=&quot;5&quot;/&gt;&lt;property id=&quot;20300&quot; value=&quot;Slide 38&quot;/&gt;&lt;property id=&quot;20307&quot; value=&quot;311&quot;/&gt;&lt;/object&gt;&lt;/object&gt;&lt;object type=&quot;8&quot; unique_id=&quot;10560&quot;&gt;&lt;/object&gt;&lt;/object&gt;&lt;/database&gt;"/>
  <p:tag name="MMPROD_NEXTUNIQUEID" val="10018"/>
  <p:tag name="SECTOMILLISECCONVERTED" val="1"/>
</p:tagLst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7717</TotalTime>
  <Words>866</Words>
  <Application>Microsoft Office PowerPoint</Application>
  <PresentationFormat>On-screen Show (4:3)</PresentationFormat>
  <Paragraphs>267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ＭＳ Ｐゴシック</vt:lpstr>
      <vt:lpstr>ＭＳ Ｐゴシック</vt:lpstr>
      <vt:lpstr>Arial</vt:lpstr>
      <vt:lpstr>Calibri</vt:lpstr>
      <vt:lpstr>Geneva</vt:lpstr>
      <vt:lpstr>Verdana</vt:lpstr>
      <vt:lpstr>ヒラギノ角ゴ Pro W3</vt:lpstr>
      <vt:lpstr>1_Default Design</vt:lpstr>
      <vt:lpstr>PowerPoint Presentation</vt:lpstr>
      <vt:lpstr>Learning Outcomes</vt:lpstr>
      <vt:lpstr>Learning Outcomes </vt:lpstr>
      <vt:lpstr>Environment, Society, and Sustainability</vt:lpstr>
      <vt:lpstr>Climate and Climate Change </vt:lpstr>
      <vt:lpstr>Adapting to a Warming Continent and Melting Sea Ice  </vt:lpstr>
      <vt:lpstr>Geological Resources, Risk, and Water</vt:lpstr>
      <vt:lpstr>Geological Resources, Risk, and Water (cont.)</vt:lpstr>
      <vt:lpstr>Geological Resources, Risk, and Water (cont.)</vt:lpstr>
      <vt:lpstr>Geological Resources, Risk, and Water (cont.)</vt:lpstr>
      <vt:lpstr>The Arctic</vt:lpstr>
      <vt:lpstr>Ecology, Land, and Environmental Management</vt:lpstr>
      <vt:lpstr>Ecology, Land, and Environmental Management (cont.)</vt:lpstr>
      <vt:lpstr>Ecology, Land, and Environmental Management (cont.)</vt:lpstr>
      <vt:lpstr>Ecology, Land, and Environmental Management (cont.)</vt:lpstr>
      <vt:lpstr>Challenges to Sustainability in the Region</vt:lpstr>
      <vt:lpstr>Furs</vt:lpstr>
      <vt:lpstr>Historical Legacies and Landscapes</vt:lpstr>
      <vt:lpstr>The Rise of the Russian Empire</vt:lpstr>
      <vt:lpstr>The Rise of the Russian Empire (cont.)</vt:lpstr>
      <vt:lpstr>The Rise of the Russian Empire (cont.)</vt:lpstr>
      <vt:lpstr>The Rise of the Russian Empire (cont.)</vt:lpstr>
      <vt:lpstr>The Rise of the Russian Empire (cont.)</vt:lpstr>
      <vt:lpstr>Economy, Accumulation, and the Production of Inequality </vt:lpstr>
      <vt:lpstr>Economy, Accumulation, and the Production of Inequality (cont.)</vt:lpstr>
      <vt:lpstr>Territory and Politics</vt:lpstr>
      <vt:lpstr>Territory and Politics (cont.)</vt:lpstr>
      <vt:lpstr>Territory and Politics (cont.)</vt:lpstr>
      <vt:lpstr>Religion and Language </vt:lpstr>
      <vt:lpstr>Cultural Practices, Social Differences, and Identity</vt:lpstr>
      <vt:lpstr>Gender and Inequality</vt:lpstr>
      <vt:lpstr>Demography and Urbanization</vt:lpstr>
      <vt:lpstr>Future Geographies</vt:lpstr>
      <vt:lpstr>PowerPoint Presentation</vt:lpstr>
    </vt:vector>
  </TitlesOfParts>
  <Company>NDSU Geoscience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Regions in Global Context: Peoples, Places, and Environments (2nd. ed)  Sallie A. Marston, Paul L. Knox,  &amp; Diana M. Liverman</dc:title>
  <dc:creator>Robert M Arthur</dc:creator>
  <cp:lastModifiedBy>Mandy Norton</cp:lastModifiedBy>
  <cp:revision>728</cp:revision>
  <dcterms:created xsi:type="dcterms:W3CDTF">2013-01-08T10:18:50Z</dcterms:created>
  <dcterms:modified xsi:type="dcterms:W3CDTF">2017-07-17T12:24:25Z</dcterms:modified>
</cp:coreProperties>
</file>