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9" r:id="rId1"/>
  </p:sldMasterIdLst>
  <p:notesMasterIdLst>
    <p:notesMasterId r:id="rId36"/>
  </p:notesMasterIdLst>
  <p:sldIdLst>
    <p:sldId id="256" r:id="rId2"/>
    <p:sldId id="258" r:id="rId3"/>
    <p:sldId id="263" r:id="rId4"/>
    <p:sldId id="264" r:id="rId5"/>
    <p:sldId id="265" r:id="rId6"/>
    <p:sldId id="295" r:id="rId7"/>
    <p:sldId id="296" r:id="rId8"/>
    <p:sldId id="297" r:id="rId9"/>
    <p:sldId id="298" r:id="rId10"/>
    <p:sldId id="271" r:id="rId11"/>
    <p:sldId id="272" r:id="rId12"/>
    <p:sldId id="299" r:id="rId13"/>
    <p:sldId id="301" r:id="rId14"/>
    <p:sldId id="300" r:id="rId15"/>
    <p:sldId id="276" r:id="rId16"/>
    <p:sldId id="277" r:id="rId17"/>
    <p:sldId id="278" r:id="rId18"/>
    <p:sldId id="302" r:id="rId19"/>
    <p:sldId id="281" r:id="rId20"/>
    <p:sldId id="282" r:id="rId21"/>
    <p:sldId id="275" r:id="rId22"/>
    <p:sldId id="269" r:id="rId23"/>
    <p:sldId id="303" r:id="rId24"/>
    <p:sldId id="283" r:id="rId25"/>
    <p:sldId id="304" r:id="rId26"/>
    <p:sldId id="284" r:id="rId27"/>
    <p:sldId id="285" r:id="rId28"/>
    <p:sldId id="305" r:id="rId29"/>
    <p:sldId id="306" r:id="rId30"/>
    <p:sldId id="291" r:id="rId31"/>
    <p:sldId id="288" r:id="rId32"/>
    <p:sldId id="309" r:id="rId33"/>
    <p:sldId id="289" r:id="rId34"/>
    <p:sldId id="311" r:id="rId35"/>
  </p:sldIdLst>
  <p:sldSz cx="9144000" cy="6858000" type="screen4x3"/>
  <p:notesSz cx="7315200" cy="9601200"/>
  <p:custDataLst>
    <p:tags r:id="rId37"/>
  </p:custDataLst>
  <p:defaultTextStyle>
    <a:defPPr>
      <a:defRPr lang="en-US"/>
    </a:defPPr>
    <a:lvl1pPr algn="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1pPr>
    <a:lvl2pPr marL="457200" algn="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2pPr>
    <a:lvl3pPr marL="914400" algn="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3pPr>
    <a:lvl4pPr marL="1371600" algn="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4pPr>
    <a:lvl5pPr marL="1828800" algn="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34">
          <p15:clr>
            <a:srgbClr val="A4A3A4"/>
          </p15:clr>
        </p15:guide>
        <p15:guide id="2" pos="30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6EBA"/>
    <a:srgbClr val="5B96FA"/>
    <a:srgbClr val="72B0FC"/>
    <a:srgbClr val="207AFC"/>
    <a:srgbClr val="76B5FC"/>
    <a:srgbClr val="750400"/>
    <a:srgbClr val="A5002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1315" y="58"/>
      </p:cViewPr>
      <p:guideLst>
        <p:guide orient="horz" pos="934"/>
        <p:guide pos="3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Verdan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fld id="{FEF5AE24-08F2-5D40-832C-1BDBAD460A83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Verdan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fld id="{74251E3E-1F01-5E47-B35B-00445B403F1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4776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0"/>
        <a:cs typeface="Geneva" pitchFamily="-110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110" charset="-128"/>
        <a:cs typeface="Geneva" pitchFamily="8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110" charset="-128"/>
        <a:cs typeface="Geneva" pitchFamily="8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110" charset="-128"/>
        <a:cs typeface="Geneva" pitchFamily="8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110" charset="-128"/>
        <a:cs typeface="Geneva" pitchFamily="8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BC7BCDD0-1D0D-A342-92CD-58A2B5C93BCA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177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EF32C197-0079-9142-B7B2-05ED15ADD39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893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05876CF1-CB6E-4448-BAE3-76BB33526312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536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AC1E8AC3-518B-4C42-ADFE-802CE0D96067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560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F37EF67A-1A1B-274C-967B-FE75BA89A29E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128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FA9C4771-E1CE-C948-A893-E85365002077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1485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71D2FCD5-6958-3341-9B29-27B6B2F7AE56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0620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9B0AAE5D-0658-864B-8E7C-59A3656BCDA2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26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484123AC-C0A1-2047-B14D-0C4D8E93EC26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829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89BDC522-5AB6-C548-A0B8-973454930EDF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7929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3739A20F-EC83-7B4F-9BDB-94B8BCCAD4F7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4233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8498D629-45E5-B742-932C-D819FD058807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6062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35A543E0-5C73-6342-9705-97ED09A98BBB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2869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95D4C3CC-17B5-E447-84B2-4BDC190618A5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6622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54AEEEBB-21FA-9D47-A5FA-EF72D5DAE64E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547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A2FEFDE3-0BDF-8541-B3DA-082DC5C3AE7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9556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9BD5E900-ED67-FC4A-BE1A-B61B76D7E0E7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687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27A9B6AB-2BE0-7642-9AB5-1B835B7A0781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5732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871FF920-A7DD-7143-BF69-754DD637F080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0402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44FE58DE-0A5D-7349-8DD0-0C766A9E41D6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2065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4C987B38-1524-DB43-AEAE-B87382328B89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372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FFBBE352-219A-9642-86B2-D0E8C0C7B86F}" type="slidenum">
              <a:rPr lang="en-US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3912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01741166-E9CA-7F4F-BE70-28DCE7509692}" type="slidenum">
              <a:rPr lang="en-US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726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0012F834-CD0D-6B4B-9F65-26D0AAE2E2A1}" type="slidenum">
              <a:rPr lang="en-US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3449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EE78E48F-AD62-E948-A2F0-4CC4AB37843E}" type="slidenum">
              <a:rPr lang="en-US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1764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3FB5FAFD-B4C5-5D4B-AD10-715F46FD7C57}" type="slidenum">
              <a:rPr lang="en-US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2225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43235EA8-9DF9-2442-9BA0-FDB04A4581B8}" type="slidenum">
              <a:rPr lang="en-US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182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AE7670B3-C71E-F14E-83F2-578AA9EE7642}" type="slidenum">
              <a:rPr lang="en-US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9589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0FB3F706-9FA1-FD47-AF04-7481A2C2B5AE}" type="slidenum">
              <a:rPr lang="en-US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0773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091CCB85-712D-3049-B118-C842EA32A467}" type="slidenum">
              <a:rPr lang="en-US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4495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0A74C25F-834A-0949-9C76-F3CCAF0337E6}" type="slidenum">
              <a:rPr lang="en-US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7432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6EC1A5E9-6D18-334D-ACFA-840A0C6EED4F}" type="slidenum">
              <a:rPr lang="en-US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9262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420DB94E-AEFB-EE4A-A59F-EFBD8374206D}" type="slidenum">
              <a:rPr lang="en-US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24698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E54641DE-D560-2044-8A3B-1CFBF98D161A}" type="slidenum">
              <a:rPr lang="en-US">
                <a:solidFill>
                  <a:srgbClr val="000000"/>
                </a:solidFill>
                <a:ea typeface="MS PGothic" charset="0"/>
                <a:cs typeface="MS PGothic" charset="0"/>
              </a:rPr>
              <a:pPr/>
              <a:t>34</a:t>
            </a:fld>
            <a:endParaRPr lang="en-US">
              <a:solidFill>
                <a:srgbClr val="000000"/>
              </a:solidFill>
              <a:ea typeface="MS PGothic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360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8"/>
          <p:cNvSpPr>
            <a:spLocks noChangeArrowheads="1"/>
          </p:cNvSpPr>
          <p:nvPr userDrawn="1"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9pPr>
          </a:lstStyle>
          <a:p>
            <a:pPr>
              <a:defRPr/>
            </a:pPr>
            <a:endParaRPr lang="en-US" altLang="en-US" sz="1800" smtClean="0">
              <a:latin typeface="Arial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 userDrawn="1"/>
        </p:nvSpPr>
        <p:spPr bwMode="auto">
          <a:xfrm>
            <a:off x="365125" y="-1588"/>
            <a:ext cx="8001000" cy="522288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en-US" sz="2800" dirty="0" smtClean="0">
                <a:solidFill>
                  <a:schemeClr val="bg1"/>
                </a:solidFill>
                <a:ea typeface="ＭＳ Ｐゴシック" pitchFamily="-106" charset="-128"/>
                <a:cs typeface="ＭＳ Ｐゴシック" pitchFamily="-106" charset="-128"/>
              </a:rPr>
              <a:t>Chapter 1 Lecture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1A8799-5621-0A40-AA76-E7EF0F6B7E83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938624-EA00-5E44-8AC8-F056641D639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83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F553DB-1236-8346-9585-239132A9A9C8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9A6FA5-FB54-A946-929F-FB70D1094E0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21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FB6EDE-6257-9A4B-A8E2-D798F50B0551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4E3668-96C6-A441-AD98-ECE66BB2664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190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C65C6E-5CB9-2441-98F1-E1AD1BD07194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C14601-5006-B14D-9FCD-77D1651F2B7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38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FEE5C6-A024-C146-966A-834BE8B6C09A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1B1F95-3568-C049-9BBA-5B02EE7DD3D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458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14E6FF-1B03-C34C-8453-CAB0F6333406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3E8AC0-D878-C542-BD5C-FCEC03087F5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19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944013-5992-CC49-964E-99434A298FFC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AA1FC6-A4F1-5D40-86BC-4B14BB5F280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531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385482-A9D5-3B49-89B8-BE5DB124B9F6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572508-FF72-7D4C-905F-B7A680DC8DA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612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C09749-35D2-CE44-9C83-D3D96DD49551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B1EC08-1CB8-AE43-AA3B-9D4A2E72DC8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63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62FF37-9068-504F-AE83-5B7ED5387C1D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4A60C2-CA5F-CB4C-B3B6-C671C01D462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63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CC00D5-1C29-5D47-8025-CF2C6E6A864D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279A1D-DB01-0246-AB87-61A85F2794D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31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>
                <a:latin typeface="Arial" charset="0"/>
              </a:defRPr>
            </a:lvl1pPr>
          </a:lstStyle>
          <a:p>
            <a:fld id="{2A422EDC-4A7D-E54A-952E-A4F68B1BD5BE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fld id="{13EB9291-ADD1-AB4A-B370-2319EF87B41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Rectangle 5"/>
          <p:cNvSpPr>
            <a:spLocks noChangeArrowheads="1"/>
          </p:cNvSpPr>
          <p:nvPr userDrawn="1"/>
        </p:nvSpPr>
        <p:spPr bwMode="auto">
          <a:xfrm>
            <a:off x="0" y="6553200"/>
            <a:ext cx="19478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00">
                <a:solidFill>
                  <a:srgbClr val="000000"/>
                </a:solidFill>
                <a:latin typeface="Arial" charset="0"/>
              </a:rPr>
              <a:t>© 2017 Pearson Education, Inc.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1" r:id="rId1"/>
    <p:sldLayoutId id="2147484671" r:id="rId2"/>
    <p:sldLayoutId id="2147484672" r:id="rId3"/>
    <p:sldLayoutId id="2147484673" r:id="rId4"/>
    <p:sldLayoutId id="2147484674" r:id="rId5"/>
    <p:sldLayoutId id="2147484675" r:id="rId6"/>
    <p:sldLayoutId id="2147484676" r:id="rId7"/>
    <p:sldLayoutId id="2147484677" r:id="rId8"/>
    <p:sldLayoutId id="2147484678" r:id="rId9"/>
    <p:sldLayoutId id="2147484679" r:id="rId10"/>
    <p:sldLayoutId id="214748468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ヒラギノ角ゴ Pro W3" charset="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ヒラギノ角ゴ Pro W3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ヒラギノ角ゴ Pro W3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ヒラギノ角ゴ Pro W3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ヒラギノ角ゴ Pro W3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ヒラギノ角ゴ Pro W3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 txBox="1">
            <a:spLocks noChangeArrowheads="1"/>
          </p:cNvSpPr>
          <p:nvPr/>
        </p:nvSpPr>
        <p:spPr bwMode="auto">
          <a:xfrm>
            <a:off x="2362200" y="609600"/>
            <a:ext cx="66294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ts val="1000"/>
              </a:spcBef>
            </a:pPr>
            <a:r>
              <a:rPr lang="en-US" sz="2800" b="1">
                <a:solidFill>
                  <a:schemeClr val="tx2"/>
                </a:solidFill>
              </a:rPr>
              <a:t>World Regions in Global Context:</a:t>
            </a:r>
            <a:br>
              <a:rPr lang="en-US" sz="2800" b="1">
                <a:solidFill>
                  <a:schemeClr val="tx2"/>
                </a:solidFill>
              </a:rPr>
            </a:br>
            <a:r>
              <a:rPr lang="en-US" sz="2800" b="1">
                <a:solidFill>
                  <a:schemeClr val="tx2"/>
                </a:solidFill>
              </a:rPr>
              <a:t>Peoples, Places, and Environments</a:t>
            </a:r>
            <a:endParaRPr lang="en-US" b="1">
              <a:solidFill>
                <a:schemeClr val="tx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ts val="1000"/>
              </a:spcBef>
            </a:pPr>
            <a:r>
              <a:rPr lang="en-US" sz="1800">
                <a:solidFill>
                  <a:schemeClr val="tx2"/>
                </a:solidFill>
              </a:rPr>
              <a:t>6</a:t>
            </a:r>
            <a:r>
              <a:rPr lang="en-US" sz="1800" baseline="30000">
                <a:solidFill>
                  <a:schemeClr val="tx2"/>
                </a:solidFill>
              </a:rPr>
              <a:t>th</a:t>
            </a:r>
            <a:r>
              <a:rPr lang="en-US" sz="1800">
                <a:solidFill>
                  <a:schemeClr val="tx2"/>
                </a:solidFill>
              </a:rPr>
              <a:t> Edition</a:t>
            </a:r>
            <a:endParaRPr lang="en-US" sz="2400" b="1">
              <a:solidFill>
                <a:schemeClr val="tx2"/>
              </a:solidFill>
            </a:endParaRPr>
          </a:p>
        </p:txBody>
      </p:sp>
      <p:sp>
        <p:nvSpPr>
          <p:cNvPr id="3075" name="Rectangle 3"/>
          <p:cNvSpPr txBox="1">
            <a:spLocks noChangeArrowheads="1"/>
          </p:cNvSpPr>
          <p:nvPr/>
        </p:nvSpPr>
        <p:spPr bwMode="auto">
          <a:xfrm>
            <a:off x="152400" y="2819400"/>
            <a:ext cx="49530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2800" b="1" dirty="0"/>
              <a:t>World Regions in </a:t>
            </a:r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2800" b="1" dirty="0"/>
              <a:t>Global Context </a:t>
            </a:r>
            <a:endParaRPr lang="en-US" sz="1800" dirty="0"/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endParaRPr lang="en-US" sz="1800" dirty="0"/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endParaRPr lang="en-US" sz="1800" dirty="0"/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1800" b="1" dirty="0"/>
              <a:t>Lectures by:</a:t>
            </a:r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1800" smtClean="0">
                <a:latin typeface="Verdana" charset="0"/>
              </a:rPr>
              <a:t>Christa Ann Smith </a:t>
            </a:r>
            <a:endParaRPr lang="en-US" sz="1800" dirty="0"/>
          </a:p>
        </p:txBody>
      </p:sp>
      <p:pic>
        <p:nvPicPr>
          <p:cNvPr id="3076" name="Picture 7" descr="MARSTON_Cover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33950" y="1997075"/>
            <a:ext cx="3965575" cy="448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 txBox="1">
            <a:spLocks noChangeArrowheads="1"/>
          </p:cNvSpPr>
          <p:nvPr/>
        </p:nvSpPr>
        <p:spPr bwMode="auto">
          <a:xfrm>
            <a:off x="381000" y="152400"/>
            <a:ext cx="8305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sz="2800" b="1" dirty="0">
                <a:solidFill>
                  <a:srgbClr val="5E6EBA"/>
                </a:solidFill>
                <a:latin typeface="+mj-lt"/>
              </a:rPr>
              <a:t>Thinking Like a Geographer </a:t>
            </a:r>
          </a:p>
        </p:txBody>
      </p:sp>
      <p:sp>
        <p:nvSpPr>
          <p:cNvPr id="40962" name="Rectangle 3"/>
          <p:cNvSpPr txBox="1">
            <a:spLocks noChangeArrowheads="1"/>
          </p:cNvSpPr>
          <p:nvPr/>
        </p:nvSpPr>
        <p:spPr bwMode="auto">
          <a:xfrm>
            <a:off x="381000" y="1102222"/>
            <a:ext cx="4722813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7663" indent="-347663"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 marL="741363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>
              <a:spcBef>
                <a:spcPct val="20000"/>
              </a:spcBef>
              <a:buFontTx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Geography</a:t>
            </a:r>
          </a:p>
          <a:p>
            <a:pPr marL="740664" indent="-283464" algn="l">
              <a:spcBef>
                <a:spcPct val="20000"/>
              </a:spcBef>
              <a:buFont typeface="Lucida Grande" charset="0"/>
              <a:buChar char="–"/>
            </a:pPr>
            <a:r>
              <a:rPr lang="en-US" sz="2200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global relationships</a:t>
            </a:r>
          </a:p>
          <a:p>
            <a:pPr marL="740664" indent="-283464" algn="l">
              <a:spcBef>
                <a:spcPct val="20000"/>
              </a:spcBef>
              <a:buFont typeface="Lucida Grande" charset="0"/>
              <a:buChar char="–"/>
            </a:pPr>
            <a:r>
              <a:rPr lang="en-US" sz="2200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human/environment interactions</a:t>
            </a:r>
          </a:p>
          <a:p>
            <a:pPr algn="l">
              <a:spcBef>
                <a:spcPct val="20000"/>
              </a:spcBef>
              <a:buFontTx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Physical geography</a:t>
            </a:r>
          </a:p>
          <a:p>
            <a:pPr marL="740664" indent="-283464" algn="l">
              <a:spcBef>
                <a:spcPct val="20000"/>
              </a:spcBef>
              <a:buFont typeface="Lucida Grande" charset="0"/>
              <a:buChar char="–"/>
            </a:pPr>
            <a:r>
              <a:rPr lang="en-US" sz="2200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climate, landforms, ecology</a:t>
            </a:r>
          </a:p>
          <a:p>
            <a:pPr algn="l">
              <a:spcBef>
                <a:spcPct val="20000"/>
              </a:spcBef>
              <a:buFontTx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Human geography</a:t>
            </a:r>
          </a:p>
          <a:p>
            <a:pPr marL="740664" indent="-283464" algn="l">
              <a:spcBef>
                <a:spcPct val="20000"/>
              </a:spcBef>
              <a:buFont typeface="Lucida Grande" charset="0"/>
              <a:buChar char="–"/>
            </a:pPr>
            <a:r>
              <a:rPr lang="en-US" sz="2200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spatial organization </a:t>
            </a:r>
          </a:p>
          <a:p>
            <a:pPr algn="l">
              <a:spcBef>
                <a:spcPct val="20000"/>
              </a:spcBef>
              <a:buFontTx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Environmental geography</a:t>
            </a:r>
          </a:p>
          <a:p>
            <a:pPr marL="740664" indent="-283464" algn="l">
              <a:spcBef>
                <a:spcPct val="20000"/>
              </a:spcBef>
              <a:buFont typeface="Lucida Grande" charset="0"/>
              <a:buChar char="–"/>
            </a:pPr>
            <a:r>
              <a:rPr lang="en-US" sz="2200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connects human/physical geography</a:t>
            </a:r>
          </a:p>
          <a:p>
            <a:pPr algn="l">
              <a:spcBef>
                <a:spcPct val="20000"/>
              </a:spcBef>
            </a:pPr>
            <a:r>
              <a:rPr lang="en-US" sz="2400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 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3317" y="1560702"/>
            <a:ext cx="4145514" cy="36193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3"/>
          <p:cNvSpPr txBox="1">
            <a:spLocks noChangeArrowheads="1"/>
          </p:cNvSpPr>
          <p:nvPr/>
        </p:nvSpPr>
        <p:spPr bwMode="auto">
          <a:xfrm>
            <a:off x="381000" y="1084384"/>
            <a:ext cx="7900988" cy="1858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7663" indent="-347663"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 marL="741363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>
              <a:spcBef>
                <a:spcPct val="20000"/>
              </a:spcBef>
              <a:buFontTx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World regional geography</a:t>
            </a:r>
          </a:p>
          <a:p>
            <a:pPr marL="740664" indent="-283464" algn="l">
              <a:spcBef>
                <a:spcPct val="20000"/>
              </a:spcBef>
              <a:buFont typeface="Arial" charset="0"/>
              <a:buChar char="−"/>
            </a:pPr>
            <a:r>
              <a:rPr lang="en-US" sz="2400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examines geographical processes</a:t>
            </a:r>
          </a:p>
          <a:p>
            <a:pPr marL="740664" indent="-283464" algn="l">
              <a:spcBef>
                <a:spcPct val="20000"/>
              </a:spcBef>
              <a:buFont typeface="Arial" charset="0"/>
              <a:buChar char="−"/>
            </a:pPr>
            <a:r>
              <a:rPr lang="en-US" sz="2400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explains why and how patterns emerge</a:t>
            </a: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457200" y="155575"/>
            <a:ext cx="8229600" cy="569913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b="1">
                <a:solidFill>
                  <a:srgbClr val="5E6EBA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 </a:t>
            </a:r>
            <a:r>
              <a:rPr lang="en-US" sz="44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 </a:t>
            </a:r>
          </a:p>
        </p:txBody>
      </p:sp>
      <p:sp>
        <p:nvSpPr>
          <p:cNvPr id="5124" name="Rectangle 1038"/>
          <p:cNvSpPr>
            <a:spLocks noChangeArrowheads="1"/>
          </p:cNvSpPr>
          <p:nvPr/>
        </p:nvSpPr>
        <p:spPr bwMode="auto">
          <a:xfrm>
            <a:off x="2195513" y="2286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>
              <a:cs typeface="Arial" charset="0"/>
            </a:endParaRPr>
          </a:p>
        </p:txBody>
      </p:sp>
      <p:sp>
        <p:nvSpPr>
          <p:cNvPr id="5125" name="Rectangle 2"/>
          <p:cNvSpPr txBox="1">
            <a:spLocks noChangeArrowheads="1"/>
          </p:cNvSpPr>
          <p:nvPr/>
        </p:nvSpPr>
        <p:spPr bwMode="auto">
          <a:xfrm>
            <a:off x="381000" y="152400"/>
            <a:ext cx="8305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sz="2800" b="1" dirty="0">
                <a:solidFill>
                  <a:srgbClr val="5E6EBA"/>
                </a:solidFill>
                <a:latin typeface="+mj-lt"/>
              </a:rPr>
              <a:t>Thinking Like a Geographer, (</a:t>
            </a:r>
            <a:r>
              <a:rPr lang="en-US" sz="2800" b="1" dirty="0" err="1">
                <a:solidFill>
                  <a:srgbClr val="5E6EBA"/>
                </a:solidFill>
                <a:latin typeface="+mj-lt"/>
              </a:rPr>
              <a:t>cont</a:t>
            </a:r>
            <a:r>
              <a:rPr lang="en-US" sz="2800" b="1" dirty="0">
                <a:solidFill>
                  <a:srgbClr val="5E6EBA"/>
                </a:solidFill>
                <a:latin typeface="+mj-lt"/>
              </a:rPr>
              <a:t>)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2015" y="2461844"/>
            <a:ext cx="7983415" cy="40868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 txBox="1">
            <a:spLocks noChangeArrowheads="1"/>
          </p:cNvSpPr>
          <p:nvPr/>
        </p:nvSpPr>
        <p:spPr>
          <a:xfrm>
            <a:off x="381000" y="793750"/>
            <a:ext cx="7543800" cy="2057400"/>
          </a:xfrm>
          <a:prstGeom prst="rect">
            <a:avLst/>
          </a:prstGeom>
        </p:spPr>
        <p:txBody>
          <a:bodyPr/>
          <a:lstStyle/>
          <a:p>
            <a:pPr marL="347663" indent="-347663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800" b="1" kern="0" dirty="0">
                <a:solidFill>
                  <a:srgbClr val="000000"/>
                </a:solidFill>
                <a:latin typeface="+mn-lt"/>
                <a:ea typeface="ＭＳ Ｐゴシック" charset="0"/>
                <a:cs typeface="+mn-cs"/>
              </a:rPr>
              <a:t>Regions</a:t>
            </a:r>
            <a:r>
              <a:rPr lang="en-US" sz="2800" kern="0" dirty="0">
                <a:solidFill>
                  <a:srgbClr val="000000"/>
                </a:solidFill>
                <a:latin typeface="+mn-lt"/>
                <a:ea typeface="ＭＳ Ｐゴシック" charset="0"/>
                <a:cs typeface="+mn-cs"/>
              </a:rPr>
              <a:t> </a:t>
            </a:r>
          </a:p>
          <a:p>
            <a:pPr marL="740664" indent="-283464" algn="l" eaLnBrk="1" hangingPunct="1">
              <a:lnSpc>
                <a:spcPct val="90000"/>
              </a:lnSpc>
              <a:spcBef>
                <a:spcPct val="20000"/>
              </a:spcBef>
              <a:buFont typeface="Lucida Grande"/>
              <a:buChar char="–"/>
              <a:defRPr/>
            </a:pPr>
            <a:r>
              <a:rPr lang="en-US" sz="2400" kern="0" dirty="0">
                <a:solidFill>
                  <a:srgbClr val="000000"/>
                </a:solidFill>
                <a:latin typeface="+mn-lt"/>
                <a:ea typeface="ＭＳ Ｐゴシック" charset="0"/>
                <a:cs typeface="+mn-cs"/>
              </a:rPr>
              <a:t>aggregation of </a:t>
            </a:r>
            <a:r>
              <a:rPr lang="en-US" sz="2400" b="1" kern="0" dirty="0">
                <a:solidFill>
                  <a:srgbClr val="000000"/>
                </a:solidFill>
                <a:latin typeface="+mn-lt"/>
                <a:ea typeface="ＭＳ Ｐゴシック" charset="0"/>
                <a:cs typeface="+mn-cs"/>
              </a:rPr>
              <a:t>places</a:t>
            </a:r>
          </a:p>
          <a:p>
            <a:pPr marL="740664" indent="-283464" algn="l" eaLnBrk="1" hangingPunct="1">
              <a:lnSpc>
                <a:spcPct val="90000"/>
              </a:lnSpc>
              <a:spcBef>
                <a:spcPct val="20000"/>
              </a:spcBef>
              <a:buFont typeface="Lucida Grande"/>
              <a:buChar char="–"/>
              <a:defRPr/>
            </a:pPr>
            <a:r>
              <a:rPr lang="en-US" sz="2400" kern="0" dirty="0">
                <a:solidFill>
                  <a:srgbClr val="000000"/>
                </a:solidFill>
                <a:latin typeface="+mn-lt"/>
                <a:ea typeface="ＭＳ Ｐゴシック" charset="0"/>
                <a:cs typeface="+mn-cs"/>
              </a:rPr>
              <a:t>connections between places over time</a:t>
            </a:r>
          </a:p>
          <a:p>
            <a:pPr marL="347663" indent="-347663" algn="l" eaLnBrk="1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/>
            </a:pPr>
            <a:r>
              <a:rPr lang="en-US" sz="2800" b="1" kern="0" dirty="0">
                <a:solidFill>
                  <a:srgbClr val="000000"/>
                </a:solidFill>
                <a:latin typeface="+mn-lt"/>
                <a:ea typeface="ＭＳ Ｐゴシック" charset="0"/>
                <a:cs typeface="+mn-cs"/>
              </a:rPr>
              <a:t>Regionalism</a:t>
            </a:r>
          </a:p>
          <a:p>
            <a:pPr marL="740664" indent="-283464"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−"/>
              <a:defRPr/>
            </a:pPr>
            <a:r>
              <a:rPr lang="en-US" sz="2400" dirty="0">
                <a:solidFill>
                  <a:srgbClr val="000000"/>
                </a:solidFill>
                <a:latin typeface="+mn-lt"/>
                <a:ea typeface="ＭＳ Ｐゴシック" charset="0"/>
                <a:cs typeface="ＭＳ Ｐゴシック" charset="0"/>
              </a:rPr>
              <a:t>strong feeling of collective identity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defRPr/>
            </a:pPr>
            <a:endParaRPr lang="en-US" sz="2400" b="1" kern="0" dirty="0">
              <a:solidFill>
                <a:srgbClr val="000000"/>
              </a:solidFill>
              <a:latin typeface="+mn-lt"/>
              <a:ea typeface="ＭＳ Ｐゴシック" charset="0"/>
              <a:cs typeface="+mn-cs"/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457200" y="0"/>
            <a:ext cx="8229600" cy="1139825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l" eaLnBrk="1" hangingPunct="1">
              <a:defRPr/>
            </a:pPr>
            <a:r>
              <a:rPr lang="en-US" sz="4400" b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+mn-ea"/>
              </a:rPr>
              <a:t> </a:t>
            </a:r>
            <a:endParaRPr lang="en-US" sz="4400" b="1" smtClean="0">
              <a:solidFill>
                <a:srgbClr val="5E6EBA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ea typeface="+mn-ea"/>
            </a:endParaRPr>
          </a:p>
        </p:txBody>
      </p:sp>
      <p:sp>
        <p:nvSpPr>
          <p:cNvPr id="45060" name="Rectangle 2"/>
          <p:cNvSpPr txBox="1">
            <a:spLocks noChangeArrowheads="1"/>
          </p:cNvSpPr>
          <p:nvPr/>
        </p:nvSpPr>
        <p:spPr bwMode="auto">
          <a:xfrm>
            <a:off x="381000" y="152400"/>
            <a:ext cx="8305800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975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pPr marL="0" algn="l" eaLnBrk="1" hangingPunct="1">
              <a:defRPr/>
            </a:pPr>
            <a:r>
              <a:rPr lang="en-US" sz="2800" b="1" dirty="0" smtClean="0">
                <a:solidFill>
                  <a:srgbClr val="5E6EBA"/>
                </a:solidFill>
                <a:latin typeface="+mj-lt"/>
                <a:ea typeface="ＭＳ Ｐゴシック" charset="0"/>
              </a:rPr>
              <a:t>Place and the Making of Regions</a:t>
            </a:r>
            <a:endParaRPr lang="en-US" sz="2800" b="1" dirty="0" smtClean="0">
              <a:solidFill>
                <a:srgbClr val="5E6EBA"/>
              </a:solidFill>
              <a:latin typeface="+mj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8446" y="2994778"/>
            <a:ext cx="5287108" cy="36027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609600" y="152400"/>
            <a:ext cx="8229600" cy="1139825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algn="l" eaLnBrk="1" hangingPunct="1">
              <a:defRPr/>
            </a:pPr>
            <a:r>
              <a:rPr lang="en-US" sz="4400" b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+mn-ea"/>
              </a:rPr>
              <a:t> </a:t>
            </a:r>
            <a:endParaRPr lang="en-US" sz="4400" b="1" smtClean="0">
              <a:solidFill>
                <a:srgbClr val="5E6EBA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ea typeface="+mn-ea"/>
            </a:endParaRPr>
          </a:p>
        </p:txBody>
      </p:sp>
      <p:sp>
        <p:nvSpPr>
          <p:cNvPr id="47107" name="Rectangle 2"/>
          <p:cNvSpPr txBox="1">
            <a:spLocks noChangeArrowheads="1"/>
          </p:cNvSpPr>
          <p:nvPr/>
        </p:nvSpPr>
        <p:spPr bwMode="auto">
          <a:xfrm>
            <a:off x="381000" y="152400"/>
            <a:ext cx="8305800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975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pPr marL="0" algn="l" eaLnBrk="1" hangingPunct="1">
              <a:defRPr/>
            </a:pPr>
            <a:r>
              <a:rPr lang="en-US" sz="2800" b="1" dirty="0" smtClean="0">
                <a:solidFill>
                  <a:srgbClr val="5E6EBA"/>
                </a:solidFill>
                <a:latin typeface="+mj-lt"/>
                <a:ea typeface="ＭＳ Ｐゴシック" charset="0"/>
              </a:rPr>
              <a:t>Maps and Mapping</a:t>
            </a:r>
            <a:endParaRPr lang="en-US" sz="2800" b="1" dirty="0" smtClean="0">
              <a:solidFill>
                <a:srgbClr val="5E6EBA"/>
              </a:solidFill>
              <a:latin typeface="+mj-lt"/>
            </a:endParaRPr>
          </a:p>
        </p:txBody>
      </p:sp>
      <p:sp>
        <p:nvSpPr>
          <p:cNvPr id="47105" name="Rectangle 4"/>
          <p:cNvSpPr txBox="1">
            <a:spLocks noChangeArrowheads="1"/>
          </p:cNvSpPr>
          <p:nvPr/>
        </p:nvSpPr>
        <p:spPr bwMode="auto">
          <a:xfrm>
            <a:off x="381000" y="1082553"/>
            <a:ext cx="8458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7663" indent="-347663"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>
              <a:spcBef>
                <a:spcPct val="20000"/>
              </a:spcBef>
              <a:buFontTx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Map</a:t>
            </a:r>
          </a:p>
          <a:p>
            <a:pPr marL="740664" indent="-283464" algn="l">
              <a:spcBef>
                <a:spcPct val="20000"/>
              </a:spcBef>
              <a:buFont typeface="Lucida Grande" charset="0"/>
              <a:buChar char="–"/>
            </a:pPr>
            <a:r>
              <a:rPr lang="en-US" sz="2400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visual representation of Earth’s surface</a:t>
            </a:r>
          </a:p>
          <a:p>
            <a:pPr marL="740664" indent="-283464" algn="l">
              <a:spcBef>
                <a:spcPct val="20000"/>
              </a:spcBef>
              <a:buFont typeface="Lucida Grande" charset="0"/>
              <a:buChar char="–"/>
            </a:pPr>
            <a:r>
              <a:rPr lang="en-US" sz="2400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important geographic tool</a:t>
            </a:r>
          </a:p>
          <a:p>
            <a:pPr algn="l">
              <a:spcBef>
                <a:spcPct val="20000"/>
              </a:spcBef>
              <a:buFontTx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Grid system</a:t>
            </a:r>
          </a:p>
          <a:p>
            <a:pPr marL="740664" indent="-283464" algn="l">
              <a:spcBef>
                <a:spcPct val="20000"/>
              </a:spcBef>
              <a:buFont typeface="Lucida Grande" charset="0"/>
              <a:buChar char="–"/>
            </a:pPr>
            <a:r>
              <a:rPr lang="en-US" sz="2400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latitude</a:t>
            </a:r>
          </a:p>
          <a:p>
            <a:pPr marL="740664" indent="-283464" algn="l">
              <a:spcBef>
                <a:spcPct val="20000"/>
              </a:spcBef>
              <a:buFont typeface="Lucida Grande" charset="0"/>
              <a:buChar char="–"/>
            </a:pPr>
            <a:r>
              <a:rPr lang="en-US" sz="2400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longitude</a:t>
            </a:r>
          </a:p>
          <a:p>
            <a:pPr marL="740664" indent="-283464" algn="l">
              <a:spcBef>
                <a:spcPct val="20000"/>
              </a:spcBef>
              <a:buFont typeface="Lucida Grande" charset="0"/>
              <a:buChar char="–"/>
            </a:pPr>
            <a:r>
              <a:rPr lang="en-US" sz="2400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projections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16001" y="2618275"/>
            <a:ext cx="6096320" cy="29736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 txBox="1">
            <a:spLocks noChangeArrowheads="1"/>
          </p:cNvSpPr>
          <p:nvPr/>
        </p:nvSpPr>
        <p:spPr bwMode="auto">
          <a:xfrm>
            <a:off x="457200" y="0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endParaRPr lang="en-US" sz="4400" b="1">
              <a:solidFill>
                <a:srgbClr val="5E6EBA"/>
              </a:solidFill>
            </a:endParaRPr>
          </a:p>
        </p:txBody>
      </p:sp>
      <p:sp>
        <p:nvSpPr>
          <p:cNvPr id="49154" name="Rectangle 4"/>
          <p:cNvSpPr txBox="1">
            <a:spLocks noChangeArrowheads="1"/>
          </p:cNvSpPr>
          <p:nvPr/>
        </p:nvSpPr>
        <p:spPr bwMode="auto">
          <a:xfrm>
            <a:off x="380999" y="974725"/>
            <a:ext cx="6567601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marL="342900" indent="-342900" algn="l"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Globalization</a:t>
            </a:r>
          </a:p>
          <a:p>
            <a:pPr marL="740664" indent="-283464" algn="l">
              <a:spcBef>
                <a:spcPct val="20000"/>
              </a:spcBef>
              <a:buFont typeface="Lucida Grande" charset="0"/>
              <a:buChar char="–"/>
            </a:pPr>
            <a:r>
              <a:rPr lang="en-US" sz="2400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system of elements </a:t>
            </a:r>
            <a:r>
              <a:rPr lang="en-US" sz="2400" dirty="0" smtClean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linked together</a:t>
            </a:r>
            <a:endParaRPr lang="en-US" sz="2400" dirty="0">
              <a:solidFill>
                <a:srgbClr val="000000"/>
              </a:solidFill>
              <a:latin typeface="+mn-lt"/>
              <a:ea typeface="MS PGothic" charset="0"/>
              <a:cs typeface="MS PGothic" charset="0"/>
            </a:endParaRPr>
          </a:p>
          <a:p>
            <a:pPr marL="342900" indent="-342900" algn="l">
              <a:spcBef>
                <a:spcPct val="20000"/>
              </a:spcBef>
              <a:buFontTx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Regionalization</a:t>
            </a:r>
          </a:p>
          <a:p>
            <a:pPr marL="740664" indent="-283464" algn="l">
              <a:spcBef>
                <a:spcPct val="20000"/>
              </a:spcBef>
              <a:buFont typeface="Lucida Grande" charset="0"/>
              <a:buChar char="–"/>
            </a:pPr>
            <a:r>
              <a:rPr lang="en-US" sz="2400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why new regions emerge</a:t>
            </a:r>
          </a:p>
        </p:txBody>
      </p:sp>
      <p:sp>
        <p:nvSpPr>
          <p:cNvPr id="49156" name="Rectangle 2"/>
          <p:cNvSpPr txBox="1">
            <a:spLocks noChangeArrowheads="1"/>
          </p:cNvSpPr>
          <p:nvPr/>
        </p:nvSpPr>
        <p:spPr bwMode="auto">
          <a:xfrm>
            <a:off x="381000" y="152400"/>
            <a:ext cx="8305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975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pPr marL="0" algn="l" eaLnBrk="1" hangingPunct="1">
              <a:defRPr/>
            </a:pPr>
            <a:r>
              <a:rPr lang="en-US" sz="2800" b="1" dirty="0" smtClean="0">
                <a:solidFill>
                  <a:srgbClr val="5E6EBA"/>
                </a:solidFill>
                <a:latin typeface="+mj-lt"/>
                <a:ea typeface="ＭＳ Ｐゴシック" charset="0"/>
              </a:rPr>
              <a:t>Globalization and Regionalization</a:t>
            </a:r>
            <a:endParaRPr lang="en-US" sz="1800" b="1" dirty="0" smtClean="0">
              <a:solidFill>
                <a:srgbClr val="5E6EBA"/>
              </a:solidFill>
              <a:latin typeface="+mj-lt"/>
            </a:endParaRPr>
          </a:p>
        </p:txBody>
      </p:sp>
      <p:sp>
        <p:nvSpPr>
          <p:cNvPr id="8197" name="Rectangle 1035"/>
          <p:cNvSpPr>
            <a:spLocks noChangeArrowheads="1"/>
          </p:cNvSpPr>
          <p:nvPr/>
        </p:nvSpPr>
        <p:spPr bwMode="auto">
          <a:xfrm>
            <a:off x="2703513" y="1746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>
              <a:cs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47496" y="2776998"/>
            <a:ext cx="5172808" cy="38271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 txBox="1">
            <a:spLocks noChangeArrowheads="1"/>
          </p:cNvSpPr>
          <p:nvPr/>
        </p:nvSpPr>
        <p:spPr bwMode="auto">
          <a:xfrm>
            <a:off x="457200" y="0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endParaRPr lang="en-US" sz="4400" b="1">
              <a:solidFill>
                <a:srgbClr val="5E6EBA"/>
              </a:solidFill>
            </a:endParaRPr>
          </a:p>
        </p:txBody>
      </p:sp>
      <p:sp>
        <p:nvSpPr>
          <p:cNvPr id="51204" name="Rectangle 2"/>
          <p:cNvSpPr txBox="1">
            <a:spLocks noChangeArrowheads="1"/>
          </p:cNvSpPr>
          <p:nvPr/>
        </p:nvSpPr>
        <p:spPr bwMode="auto">
          <a:xfrm>
            <a:off x="381000" y="152400"/>
            <a:ext cx="8305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975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pPr marL="0" algn="l" eaLnBrk="1" hangingPunct="1">
              <a:defRPr/>
            </a:pPr>
            <a:r>
              <a:rPr lang="en-US" sz="2800" b="1" dirty="0" smtClean="0">
                <a:solidFill>
                  <a:srgbClr val="5E6EBA"/>
                </a:solidFill>
                <a:latin typeface="Arial" charset="0"/>
                <a:ea typeface="ＭＳ Ｐゴシック" charset="0"/>
              </a:rPr>
              <a:t>A World of Regions</a:t>
            </a:r>
            <a:endParaRPr lang="en-US" sz="1800" b="1" dirty="0" smtClean="0">
              <a:solidFill>
                <a:srgbClr val="5E6EBA"/>
              </a:solidFill>
              <a:latin typeface="Arial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761" y="816097"/>
            <a:ext cx="8534400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 txBox="1">
            <a:spLocks noChangeArrowheads="1"/>
          </p:cNvSpPr>
          <p:nvPr/>
        </p:nvSpPr>
        <p:spPr bwMode="auto">
          <a:xfrm>
            <a:off x="457200" y="0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endParaRPr lang="en-US" sz="4400" b="1">
              <a:solidFill>
                <a:srgbClr val="5E6EBA"/>
              </a:solidFill>
            </a:endParaRPr>
          </a:p>
        </p:txBody>
      </p:sp>
      <p:sp>
        <p:nvSpPr>
          <p:cNvPr id="53250" name="Rectangle 4"/>
          <p:cNvSpPr txBox="1">
            <a:spLocks noChangeArrowheads="1"/>
          </p:cNvSpPr>
          <p:nvPr/>
        </p:nvSpPr>
        <p:spPr bwMode="auto">
          <a:xfrm>
            <a:off x="381000" y="1084875"/>
            <a:ext cx="8320088" cy="405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95288" indent="-342900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4163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pPr marL="347663" indent="-347663" algn="l" eaLnBrk="1" hangingPunct="1">
              <a:spcBef>
                <a:spcPct val="20000"/>
              </a:spcBef>
              <a:buFontTx/>
              <a:buChar char="•"/>
              <a:defRPr/>
            </a:pPr>
            <a:r>
              <a:rPr lang="en-US" sz="2800" dirty="0" smtClean="0">
                <a:latin typeface="+mn-lt"/>
              </a:rPr>
              <a:t>Framework for studying regions</a:t>
            </a:r>
          </a:p>
          <a:p>
            <a:pPr marL="740664" indent="-283464" algn="l" eaLnBrk="1" hangingPunct="1">
              <a:spcBef>
                <a:spcPct val="20000"/>
              </a:spcBef>
              <a:buFont typeface="Lucida Grande"/>
              <a:buChar char="–"/>
              <a:defRPr/>
            </a:pPr>
            <a:r>
              <a:rPr lang="en-US" dirty="0" smtClean="0">
                <a:latin typeface="+mn-lt"/>
              </a:rPr>
              <a:t>Environment, Society, and Sustainability</a:t>
            </a:r>
          </a:p>
          <a:p>
            <a:pPr marL="740664" indent="-283464" algn="l" eaLnBrk="1" hangingPunct="1">
              <a:spcBef>
                <a:spcPct val="20000"/>
              </a:spcBef>
              <a:buFont typeface="Lucida Grande"/>
              <a:buChar char="–"/>
              <a:defRPr/>
            </a:pPr>
            <a:r>
              <a:rPr lang="en-US" dirty="0" smtClean="0">
                <a:latin typeface="+mn-lt"/>
              </a:rPr>
              <a:t>History, Economy, and Territory</a:t>
            </a:r>
          </a:p>
          <a:p>
            <a:pPr marL="740664" indent="-283464" algn="l" eaLnBrk="1" hangingPunct="1">
              <a:spcBef>
                <a:spcPct val="20000"/>
              </a:spcBef>
              <a:buFont typeface="Lucida Grande"/>
              <a:buChar char="–"/>
              <a:defRPr/>
            </a:pPr>
            <a:r>
              <a:rPr lang="en-US" dirty="0" smtClean="0">
                <a:latin typeface="+mn-lt"/>
              </a:rPr>
              <a:t>Culture and Populations</a:t>
            </a:r>
          </a:p>
          <a:p>
            <a:pPr marL="740664" indent="-283464" algn="l" eaLnBrk="1" hangingPunct="1">
              <a:spcBef>
                <a:spcPct val="20000"/>
              </a:spcBef>
              <a:buFont typeface="Lucida Grande"/>
              <a:buChar char="–"/>
              <a:defRPr/>
            </a:pPr>
            <a:r>
              <a:rPr lang="en-US" dirty="0" smtClean="0">
                <a:latin typeface="+mn-lt"/>
              </a:rPr>
              <a:t>Future Geographies</a:t>
            </a:r>
          </a:p>
        </p:txBody>
      </p:sp>
      <p:sp>
        <p:nvSpPr>
          <p:cNvPr id="10244" name="Rectangle 2"/>
          <p:cNvSpPr txBox="1">
            <a:spLocks noChangeArrowheads="1"/>
          </p:cNvSpPr>
          <p:nvPr/>
        </p:nvSpPr>
        <p:spPr bwMode="auto">
          <a:xfrm>
            <a:off x="381000" y="152400"/>
            <a:ext cx="83058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sz="2800" b="1" dirty="0">
                <a:solidFill>
                  <a:srgbClr val="5E6EBA"/>
                </a:solidFill>
                <a:latin typeface="+mj-lt"/>
                <a:ea typeface="MS PGothic" charset="0"/>
                <a:cs typeface="MS PGothic" charset="0"/>
              </a:rPr>
              <a:t>Organizing and Exploring the World’s Regions</a:t>
            </a:r>
            <a:endParaRPr lang="en-US" sz="1800" b="1" dirty="0">
              <a:solidFill>
                <a:srgbClr val="5E6EBA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4"/>
          <p:cNvSpPr txBox="1">
            <a:spLocks noChangeArrowheads="1"/>
          </p:cNvSpPr>
          <p:nvPr/>
        </p:nvSpPr>
        <p:spPr bwMode="auto">
          <a:xfrm>
            <a:off x="381000" y="814388"/>
            <a:ext cx="5176838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 marL="793750" indent="-342900"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marL="342900" indent="-342900" algn="l" eaLnBrk="1" hangingPunct="1">
              <a:spcBef>
                <a:spcPct val="20000"/>
              </a:spcBef>
              <a:buFontTx/>
              <a:buChar char="•"/>
            </a:pPr>
            <a:r>
              <a:rPr lang="en-US" sz="2400" b="1" dirty="0">
                <a:latin typeface="+mn-lt"/>
              </a:rPr>
              <a:t>Environment:</a:t>
            </a:r>
            <a:r>
              <a:rPr lang="en-US" sz="2400" dirty="0">
                <a:latin typeface="+mn-lt"/>
              </a:rPr>
              <a:t> everything that </a:t>
            </a: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surrounds us</a:t>
            </a:r>
          </a:p>
          <a:p>
            <a:pPr marL="740664" indent="-283464" algn="l">
              <a:spcBef>
                <a:spcPct val="20000"/>
              </a:spcBef>
              <a:buFont typeface="Lucida Grande" charset="0"/>
              <a:buChar char="–"/>
            </a:pPr>
            <a:r>
              <a:rPr lang="en-US" sz="2000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very little untouched nature</a:t>
            </a:r>
          </a:p>
          <a:p>
            <a:pPr marL="342900" indent="-342900" algn="l">
              <a:spcBef>
                <a:spcPct val="20000"/>
              </a:spcBef>
              <a:buFontTx/>
              <a:buChar char="•"/>
            </a:pPr>
            <a:r>
              <a:rPr lang="en-US" sz="2400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Human impact on Earth’s system </a:t>
            </a:r>
          </a:p>
          <a:p>
            <a:pPr marL="740664" indent="-283464" algn="l">
              <a:spcBef>
                <a:spcPct val="20000"/>
              </a:spcBef>
              <a:buFont typeface="Lucida Grande" charset="0"/>
              <a:buChar char="–"/>
            </a:pPr>
            <a:r>
              <a:rPr lang="en-US" sz="2000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now live in </a:t>
            </a:r>
            <a:r>
              <a:rPr lang="en-US" sz="2000" b="1" dirty="0" err="1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Anthropocene</a:t>
            </a:r>
            <a:r>
              <a:rPr lang="en-US" sz="2000" b="1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 </a:t>
            </a:r>
            <a:endParaRPr lang="en-US" sz="2000" dirty="0">
              <a:solidFill>
                <a:srgbClr val="000000"/>
              </a:solidFill>
              <a:latin typeface="+mn-lt"/>
              <a:ea typeface="MS PGothic" charset="0"/>
              <a:cs typeface="MS PGothic" charset="0"/>
            </a:endParaRPr>
          </a:p>
          <a:p>
            <a:pPr marL="740664" indent="-283464" algn="l">
              <a:spcBef>
                <a:spcPct val="20000"/>
              </a:spcBef>
              <a:buFont typeface="Lucida Grande" charset="0"/>
              <a:buChar char="–"/>
            </a:pPr>
            <a:r>
              <a:rPr lang="en-US" sz="2000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human activity dominates </a:t>
            </a:r>
            <a:br>
              <a:rPr lang="en-US" sz="2000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</a:br>
            <a:r>
              <a:rPr lang="en-US" sz="2000" dirty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earth </a:t>
            </a:r>
            <a:r>
              <a:rPr lang="en-US" sz="2000" dirty="0" smtClean="0">
                <a:solidFill>
                  <a:srgbClr val="000000"/>
                </a:solidFill>
                <a:latin typeface="+mn-lt"/>
                <a:ea typeface="MS PGothic" charset="0"/>
                <a:cs typeface="MS PGothic" charset="0"/>
              </a:rPr>
              <a:t>system</a:t>
            </a:r>
            <a:endParaRPr lang="en-US" sz="2000" dirty="0">
              <a:solidFill>
                <a:srgbClr val="000000"/>
              </a:solidFill>
              <a:latin typeface="+mn-lt"/>
              <a:ea typeface="MS PGothic" charset="0"/>
              <a:cs typeface="MS PGothic" charset="0"/>
            </a:endParaRPr>
          </a:p>
        </p:txBody>
      </p:sp>
      <p:sp>
        <p:nvSpPr>
          <p:cNvPr id="55298" name="Rectangle 2"/>
          <p:cNvSpPr txBox="1">
            <a:spLocks noChangeArrowheads="1"/>
          </p:cNvSpPr>
          <p:nvPr/>
        </p:nvSpPr>
        <p:spPr bwMode="auto">
          <a:xfrm>
            <a:off x="381000" y="152400"/>
            <a:ext cx="8305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975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pPr marL="0" algn="l" eaLnBrk="1" hangingPunct="1">
              <a:defRPr/>
            </a:pPr>
            <a:r>
              <a:rPr lang="en-US" sz="2800" b="1" dirty="0" smtClean="0">
                <a:solidFill>
                  <a:srgbClr val="5E6EBA"/>
                </a:solidFill>
                <a:latin typeface="+mj-lt"/>
                <a:ea typeface="ＭＳ Ｐゴシック" charset="0"/>
              </a:rPr>
              <a:t>Environment, Society, and Sustainability</a:t>
            </a:r>
            <a:endParaRPr lang="en-US" sz="1800" b="1" dirty="0" smtClean="0">
              <a:solidFill>
                <a:srgbClr val="5E6EBA"/>
              </a:solidFill>
              <a:latin typeface="+mj-lt"/>
            </a:endParaRPr>
          </a:p>
        </p:txBody>
      </p:sp>
      <p:pic>
        <p:nvPicPr>
          <p:cNvPr id="11269" name="Picture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16038" y="3549650"/>
            <a:ext cx="6227762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3186" y="782515"/>
            <a:ext cx="3738562" cy="25368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 txBox="1">
            <a:spLocks noChangeArrowheads="1"/>
          </p:cNvSpPr>
          <p:nvPr/>
        </p:nvSpPr>
        <p:spPr bwMode="auto">
          <a:xfrm>
            <a:off x="457200" y="153988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endParaRPr lang="en-US" b="1">
              <a:solidFill>
                <a:srgbClr val="5E6EBA"/>
              </a:solidFill>
            </a:endParaRPr>
          </a:p>
        </p:txBody>
      </p:sp>
      <p:sp>
        <p:nvSpPr>
          <p:cNvPr id="57346" name="Rectangle 3"/>
          <p:cNvSpPr txBox="1">
            <a:spLocks noChangeArrowheads="1"/>
          </p:cNvSpPr>
          <p:nvPr/>
        </p:nvSpPr>
        <p:spPr bwMode="auto">
          <a:xfrm>
            <a:off x="381000" y="1148861"/>
            <a:ext cx="41529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ヒラギノ角ゴ Pro W3" pitchFamily="127" charset="-128"/>
                <a:cs typeface="Arial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2200" b="1" dirty="0" smtClean="0">
                <a:latin typeface="+mn-lt"/>
              </a:rPr>
              <a:t>Weather</a:t>
            </a:r>
          </a:p>
          <a:p>
            <a:pPr marL="740664" indent="-283464" eaLnBrk="1" hangingPunct="1">
              <a:buFont typeface="Lucida Grande" pitchFamily="127" charset="0"/>
              <a:buChar char="–"/>
              <a:defRPr/>
            </a:pPr>
            <a:r>
              <a:rPr lang="en-US" altLang="en-US" sz="1800" dirty="0" smtClean="0">
                <a:latin typeface="+mn-lt"/>
              </a:rPr>
              <a:t>current precipitation/temperatures</a:t>
            </a:r>
          </a:p>
          <a:p>
            <a:pPr eaLnBrk="1" hangingPunct="1">
              <a:defRPr/>
            </a:pPr>
            <a:r>
              <a:rPr lang="en-US" altLang="en-US" sz="2200" b="1" dirty="0" smtClean="0">
                <a:latin typeface="+mn-lt"/>
              </a:rPr>
              <a:t>Climate</a:t>
            </a:r>
          </a:p>
          <a:p>
            <a:pPr marL="740664" indent="-283464" eaLnBrk="1" hangingPunct="1">
              <a:buFont typeface="Lucida Grande" pitchFamily="127" charset="0"/>
              <a:buChar char="–"/>
              <a:defRPr/>
            </a:pPr>
            <a:r>
              <a:rPr lang="en-US" altLang="en-US" sz="1800" dirty="0" smtClean="0">
                <a:latin typeface="+mn-lt"/>
              </a:rPr>
              <a:t>average weather at a location </a:t>
            </a:r>
            <a:br>
              <a:rPr lang="en-US" altLang="en-US" sz="1800" dirty="0" smtClean="0">
                <a:latin typeface="+mn-lt"/>
              </a:rPr>
            </a:br>
            <a:r>
              <a:rPr lang="en-US" altLang="en-US" sz="1800" dirty="0" smtClean="0">
                <a:latin typeface="+mn-lt"/>
              </a:rPr>
              <a:t>over time</a:t>
            </a:r>
          </a:p>
          <a:p>
            <a:pPr eaLnBrk="1" hangingPunct="1">
              <a:defRPr/>
            </a:pPr>
            <a:r>
              <a:rPr lang="en-US" altLang="en-US" sz="2200" b="1" dirty="0" smtClean="0">
                <a:latin typeface="+mn-lt"/>
              </a:rPr>
              <a:t>Climate systems</a:t>
            </a:r>
          </a:p>
          <a:p>
            <a:pPr marL="740664" indent="-283464" eaLnBrk="1" hangingPunct="1">
              <a:buFont typeface="Lucida Grande" pitchFamily="127" charset="0"/>
              <a:buChar char="–"/>
              <a:defRPr/>
            </a:pPr>
            <a:r>
              <a:rPr lang="en-US" altLang="en-US" sz="1800" dirty="0" smtClean="0">
                <a:latin typeface="+mn-lt"/>
              </a:rPr>
              <a:t>solar interaction with atmosphere, hydrosphere, lithosphere, biosphere.</a:t>
            </a:r>
          </a:p>
          <a:p>
            <a:pPr eaLnBrk="1" hangingPunct="1">
              <a:defRPr/>
            </a:pPr>
            <a:r>
              <a:rPr lang="en-US" altLang="en-US" sz="2200" b="1" dirty="0" smtClean="0">
                <a:latin typeface="+mn-lt"/>
              </a:rPr>
              <a:t>Atmospheric circulation </a:t>
            </a:r>
          </a:p>
          <a:p>
            <a:pPr marL="740664" indent="-283464" eaLnBrk="1" hangingPunct="1">
              <a:buFont typeface="Lucida Grande" pitchFamily="127" charset="0"/>
              <a:buChar char="–"/>
              <a:defRPr/>
            </a:pPr>
            <a:r>
              <a:rPr lang="en-US" altLang="en-US" sz="1800" dirty="0" smtClean="0">
                <a:latin typeface="+mn-lt"/>
              </a:rPr>
              <a:t>air and ocean currents </a:t>
            </a:r>
          </a:p>
          <a:p>
            <a:pPr marL="740664" indent="-283464" eaLnBrk="1" hangingPunct="1">
              <a:buFont typeface="Lucida Grande" pitchFamily="127" charset="0"/>
              <a:buChar char="–"/>
              <a:defRPr/>
            </a:pPr>
            <a:r>
              <a:rPr lang="en-US" altLang="en-US" sz="1800" dirty="0" smtClean="0">
                <a:latin typeface="+mn-lt"/>
              </a:rPr>
              <a:t>transports heat and moisture from one place to another </a:t>
            </a:r>
          </a:p>
        </p:txBody>
      </p:sp>
      <p:sp>
        <p:nvSpPr>
          <p:cNvPr id="12292" name="Rectangle 2"/>
          <p:cNvSpPr txBox="1">
            <a:spLocks noChangeArrowheads="1"/>
          </p:cNvSpPr>
          <p:nvPr/>
        </p:nvSpPr>
        <p:spPr bwMode="auto">
          <a:xfrm>
            <a:off x="381000" y="152400"/>
            <a:ext cx="83058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sz="2800" b="1" dirty="0">
                <a:solidFill>
                  <a:srgbClr val="5E6EBA"/>
                </a:solidFill>
                <a:latin typeface="+mj-lt"/>
              </a:rPr>
              <a:t>Climate and Climate Change </a:t>
            </a:r>
            <a:endParaRPr lang="en-US" sz="1800" b="1" dirty="0">
              <a:solidFill>
                <a:srgbClr val="5E6EBA"/>
              </a:solidFill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80794" y="1033272"/>
            <a:ext cx="4566110" cy="47914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3"/>
          <p:cNvSpPr txBox="1">
            <a:spLocks noChangeArrowheads="1"/>
          </p:cNvSpPr>
          <p:nvPr/>
        </p:nvSpPr>
        <p:spPr bwMode="auto">
          <a:xfrm>
            <a:off x="381000" y="1078523"/>
            <a:ext cx="8396288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95288" indent="-342900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pPr marL="347472" indent="-347472" algn="l" eaLnBrk="1" hangingPunct="1">
              <a:spcBef>
                <a:spcPct val="20000"/>
              </a:spcBef>
              <a:buFontTx/>
              <a:buChar char="•"/>
              <a:defRPr/>
            </a:pPr>
            <a:r>
              <a:rPr lang="en-US" sz="2800" b="1" dirty="0" smtClean="0">
                <a:latin typeface="+mn-lt"/>
              </a:rPr>
              <a:t>Greenhouse gases</a:t>
            </a:r>
          </a:p>
          <a:p>
            <a:pPr marL="347472" indent="-347472" algn="l" eaLnBrk="1" hangingPunct="1">
              <a:spcBef>
                <a:spcPct val="20000"/>
              </a:spcBef>
              <a:buFontTx/>
              <a:buChar char="•"/>
              <a:defRPr/>
            </a:pPr>
            <a:r>
              <a:rPr lang="en-US" sz="2800" b="1" dirty="0" smtClean="0">
                <a:latin typeface="+mn-lt"/>
              </a:rPr>
              <a:t>Global warming</a:t>
            </a:r>
          </a:p>
          <a:p>
            <a:pPr marL="740664" indent="-283464" algn="l" eaLnBrk="1" hangingPunct="1">
              <a:spcBef>
                <a:spcPct val="20000"/>
              </a:spcBef>
              <a:buFont typeface="Lucida Grande"/>
              <a:buChar char="–"/>
              <a:defRPr/>
            </a:pPr>
            <a:r>
              <a:rPr lang="en-US" dirty="0" smtClean="0">
                <a:latin typeface="+mn-lt"/>
              </a:rPr>
              <a:t>heat trapped in atmosphere</a:t>
            </a:r>
          </a:p>
          <a:p>
            <a:pPr marL="740664" indent="-283464" algn="l" eaLnBrk="1" hangingPunct="1">
              <a:spcBef>
                <a:spcPct val="20000"/>
              </a:spcBef>
              <a:buFont typeface="Lucida Grande"/>
              <a:buChar char="–"/>
              <a:defRPr/>
            </a:pPr>
            <a:r>
              <a:rPr lang="en-US" dirty="0" smtClean="0">
                <a:latin typeface="+mn-lt"/>
              </a:rPr>
              <a:t>climate extremes</a:t>
            </a:r>
          </a:p>
        </p:txBody>
      </p:sp>
      <p:sp>
        <p:nvSpPr>
          <p:cNvPr id="13315" name="Rectangle 2"/>
          <p:cNvSpPr txBox="1">
            <a:spLocks noChangeArrowheads="1"/>
          </p:cNvSpPr>
          <p:nvPr/>
        </p:nvSpPr>
        <p:spPr bwMode="auto">
          <a:xfrm>
            <a:off x="381000" y="152400"/>
            <a:ext cx="8305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sz="2800" b="1" dirty="0">
                <a:solidFill>
                  <a:srgbClr val="5E6EBA"/>
                </a:solidFill>
                <a:latin typeface="+mj-lt"/>
              </a:rPr>
              <a:t>Ecological Landscapes (cont.)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000" y="3261614"/>
            <a:ext cx="4410182" cy="314553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9200" y="3261614"/>
            <a:ext cx="3993083" cy="31455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 txBox="1">
            <a:spLocks noChangeArrowheads="1"/>
          </p:cNvSpPr>
          <p:nvPr/>
        </p:nvSpPr>
        <p:spPr bwMode="auto">
          <a:xfrm>
            <a:off x="381000" y="1080111"/>
            <a:ext cx="5718175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95288" indent="-395288"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marL="347472" indent="-347472" algn="l" eaLnBrk="1" hangingPunct="1">
              <a:spcBef>
                <a:spcPct val="20000"/>
              </a:spcBef>
              <a:buFontTx/>
              <a:buChar char="•"/>
            </a:pPr>
            <a:r>
              <a:rPr lang="en-US" sz="2800" dirty="0" err="1">
                <a:latin typeface="+mn-lt"/>
              </a:rPr>
              <a:t>Köppen</a:t>
            </a:r>
            <a:r>
              <a:rPr lang="en-US" sz="2800" dirty="0">
                <a:latin typeface="+mn-lt"/>
              </a:rPr>
              <a:t> climate </a:t>
            </a:r>
            <a:r>
              <a:rPr lang="en-US" sz="2800" dirty="0" smtClean="0">
                <a:latin typeface="+mn-lt"/>
              </a:rPr>
              <a:t>classification</a:t>
            </a:r>
            <a:endParaRPr lang="en-US" sz="24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4339" name="Rectangle 2"/>
          <p:cNvSpPr txBox="1">
            <a:spLocks noChangeArrowheads="1"/>
          </p:cNvSpPr>
          <p:nvPr/>
        </p:nvSpPr>
        <p:spPr bwMode="auto">
          <a:xfrm>
            <a:off x="381000" y="152400"/>
            <a:ext cx="8305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sz="2800" b="1" dirty="0">
                <a:solidFill>
                  <a:srgbClr val="5E6EBA"/>
                </a:solidFill>
                <a:latin typeface="+mj-lt"/>
              </a:rPr>
              <a:t>Climate and Climate Change, (</a:t>
            </a:r>
            <a:r>
              <a:rPr lang="en-US" sz="2800" b="1" dirty="0" err="1">
                <a:solidFill>
                  <a:srgbClr val="5E6EBA"/>
                </a:solidFill>
                <a:latin typeface="+mj-lt"/>
              </a:rPr>
              <a:t>cont</a:t>
            </a:r>
            <a:r>
              <a:rPr lang="en-US" sz="2800" b="1" dirty="0">
                <a:solidFill>
                  <a:srgbClr val="5E6EBA"/>
                </a:solidFill>
                <a:latin typeface="+mj-lt"/>
              </a:rPr>
              <a:t>)</a:t>
            </a:r>
            <a:endParaRPr lang="en-US" sz="1800" b="1" dirty="0">
              <a:solidFill>
                <a:srgbClr val="5E6EBA"/>
              </a:solidFill>
              <a:latin typeface="+mj-lt"/>
            </a:endParaRPr>
          </a:p>
        </p:txBody>
      </p:sp>
      <p:pic>
        <p:nvPicPr>
          <p:cNvPr id="14341" name="Picture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48263" y="2066925"/>
            <a:ext cx="3887787" cy="392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800" y="2403124"/>
            <a:ext cx="4939016" cy="29809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 txBox="1">
            <a:spLocks noChangeArrowheads="1"/>
          </p:cNvSpPr>
          <p:nvPr/>
        </p:nvSpPr>
        <p:spPr bwMode="auto">
          <a:xfrm>
            <a:off x="381000" y="152400"/>
            <a:ext cx="8229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sz="2800" b="1" dirty="0">
                <a:solidFill>
                  <a:srgbClr val="5E6EBA"/>
                </a:solidFill>
                <a:latin typeface="+mj-lt"/>
              </a:rPr>
              <a:t>Furs</a:t>
            </a:r>
            <a:endParaRPr lang="en-US" b="1" dirty="0">
              <a:solidFill>
                <a:srgbClr val="5E6EBA"/>
              </a:solidFill>
              <a:latin typeface="+mj-lt"/>
            </a:endParaRPr>
          </a:p>
        </p:txBody>
      </p:sp>
      <p:sp>
        <p:nvSpPr>
          <p:cNvPr id="40962" name="Rectangle 4"/>
          <p:cNvSpPr txBox="1">
            <a:spLocks noChangeArrowheads="1"/>
          </p:cNvSpPr>
          <p:nvPr/>
        </p:nvSpPr>
        <p:spPr bwMode="auto">
          <a:xfrm>
            <a:off x="381000" y="790575"/>
            <a:ext cx="7675563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7663" indent="-347663"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ヒラギノ角ゴ Pro W3" pitchFamily="127" charset="-128"/>
                <a:cs typeface="Arial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2600" b="1" dirty="0" smtClean="0">
                <a:solidFill>
                  <a:srgbClr val="000000"/>
                </a:solidFill>
                <a:latin typeface="+mn-lt"/>
              </a:rPr>
              <a:t>Geomorphology</a:t>
            </a:r>
          </a:p>
          <a:p>
            <a:pPr marL="740664" indent="-283464" eaLnBrk="1" hangingPunct="1">
              <a:buFont typeface="Arial" pitchFamily="34" charset="0"/>
              <a:buChar char="−"/>
              <a:defRPr/>
            </a:pPr>
            <a:r>
              <a:rPr lang="en-US" altLang="en-US" sz="2200" dirty="0" smtClean="0">
                <a:solidFill>
                  <a:srgbClr val="000000"/>
                </a:solidFill>
                <a:latin typeface="+mn-lt"/>
              </a:rPr>
              <a:t>physical processes that shape landforms</a:t>
            </a:r>
          </a:p>
          <a:p>
            <a:pPr eaLnBrk="1" hangingPunct="1">
              <a:defRPr/>
            </a:pPr>
            <a:r>
              <a:rPr lang="en-US" altLang="en-US" sz="2600" b="1" dirty="0" smtClean="0">
                <a:solidFill>
                  <a:srgbClr val="000000"/>
                </a:solidFill>
                <a:latin typeface="+mn-lt"/>
              </a:rPr>
              <a:t>Plate tectonics</a:t>
            </a:r>
          </a:p>
          <a:p>
            <a:pPr marL="740664" indent="-283464" eaLnBrk="1" hangingPunct="1">
              <a:buFont typeface="Arial" pitchFamily="34" charset="0"/>
              <a:buChar char="−"/>
              <a:defRPr/>
            </a:pPr>
            <a:r>
              <a:rPr lang="en-US" altLang="en-US" sz="2200" dirty="0" smtClean="0">
                <a:solidFill>
                  <a:srgbClr val="000000"/>
                </a:solidFill>
                <a:latin typeface="+mn-lt"/>
              </a:rPr>
              <a:t>convergent</a:t>
            </a:r>
          </a:p>
          <a:p>
            <a:pPr marL="740664" indent="-283464" eaLnBrk="1" hangingPunct="1">
              <a:buFont typeface="Arial" pitchFamily="34" charset="0"/>
              <a:buChar char="−"/>
              <a:defRPr/>
            </a:pPr>
            <a:r>
              <a:rPr lang="en-US" altLang="en-US" sz="2200" dirty="0" smtClean="0">
                <a:solidFill>
                  <a:srgbClr val="000000"/>
                </a:solidFill>
                <a:latin typeface="+mn-lt"/>
              </a:rPr>
              <a:t>divergent</a:t>
            </a:r>
          </a:p>
          <a:p>
            <a:pPr marL="740664" indent="-283464" eaLnBrk="1" hangingPunct="1">
              <a:buFont typeface="Arial" pitchFamily="34" charset="0"/>
              <a:buChar char="−"/>
              <a:defRPr/>
            </a:pPr>
            <a:r>
              <a:rPr lang="en-US" altLang="en-US" sz="2200" dirty="0" smtClean="0">
                <a:solidFill>
                  <a:srgbClr val="000000"/>
                </a:solidFill>
                <a:latin typeface="+mn-lt"/>
              </a:rPr>
              <a:t>transform</a:t>
            </a:r>
            <a:endParaRPr lang="en-US" altLang="en-US" sz="2200" dirty="0" smtClean="0">
              <a:latin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39662" y="2103985"/>
            <a:ext cx="5329156" cy="330098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4429" y="3334483"/>
            <a:ext cx="2602525" cy="32233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 txBox="1">
            <a:spLocks noChangeArrowheads="1"/>
          </p:cNvSpPr>
          <p:nvPr/>
        </p:nvSpPr>
        <p:spPr bwMode="auto">
          <a:xfrm>
            <a:off x="381000" y="152400"/>
            <a:ext cx="8680938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sz="2800" b="1" dirty="0">
                <a:solidFill>
                  <a:srgbClr val="5E6EBA"/>
                </a:solidFill>
                <a:latin typeface="+mj-lt"/>
              </a:rPr>
              <a:t>Ecology, Land, and Environmental Management</a:t>
            </a:r>
          </a:p>
        </p:txBody>
      </p:sp>
      <p:sp>
        <p:nvSpPr>
          <p:cNvPr id="43010" name="Rectangle 3"/>
          <p:cNvSpPr txBox="1">
            <a:spLocks noChangeArrowheads="1"/>
          </p:cNvSpPr>
          <p:nvPr/>
        </p:nvSpPr>
        <p:spPr bwMode="auto">
          <a:xfrm>
            <a:off x="381000" y="1078402"/>
            <a:ext cx="8380413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95288" indent="-342900"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9pPr>
          </a:lstStyle>
          <a:p>
            <a:pPr marL="342900" algn="l" eaLnBrk="1" hangingPunct="1">
              <a:spcBef>
                <a:spcPct val="20000"/>
              </a:spcBef>
              <a:buFontTx/>
              <a:buChar char="•"/>
              <a:defRPr/>
            </a:pPr>
            <a:r>
              <a:rPr lang="en-US" altLang="en-US" sz="2800" b="1" dirty="0" smtClean="0">
                <a:solidFill>
                  <a:srgbClr val="000000"/>
                </a:solidFill>
                <a:latin typeface="+mn-lt"/>
                <a:cs typeface="+mn-cs"/>
              </a:rPr>
              <a:t>Biomes</a:t>
            </a:r>
          </a:p>
          <a:p>
            <a:pPr marL="740664" indent="-283464" algn="l" eaLnBrk="1" hangingPunct="1">
              <a:spcBef>
                <a:spcPct val="20000"/>
              </a:spcBef>
              <a:buFont typeface="Arial" panose="020B0604020202020204" pitchFamily="34" charset="0"/>
              <a:buChar char="−"/>
              <a:defRPr/>
            </a:pPr>
            <a:r>
              <a:rPr lang="en-US" altLang="en-US" dirty="0" smtClean="0">
                <a:solidFill>
                  <a:srgbClr val="000000"/>
                </a:solidFill>
                <a:latin typeface="+mn-lt"/>
                <a:cs typeface="+mn-cs"/>
              </a:rPr>
              <a:t>large regions of similar climates/physical conditions</a:t>
            </a:r>
            <a:endParaRPr lang="en-US" altLang="en-US" sz="2000" dirty="0" smtClean="0">
              <a:latin typeface="+mn-lt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4246" y="2203133"/>
            <a:ext cx="6813919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3"/>
          <p:cNvSpPr txBox="1">
            <a:spLocks noChangeArrowheads="1"/>
          </p:cNvSpPr>
          <p:nvPr/>
        </p:nvSpPr>
        <p:spPr bwMode="auto">
          <a:xfrm>
            <a:off x="381000" y="1385522"/>
            <a:ext cx="4954588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95288" indent="-342900"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9pPr>
          </a:lstStyle>
          <a:p>
            <a:pPr marL="342900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altLang="en-US" sz="2800" b="1" dirty="0" smtClean="0">
                <a:latin typeface="+mn-lt"/>
                <a:cs typeface="+mn-cs"/>
              </a:rPr>
              <a:t>Biodiversity</a:t>
            </a:r>
          </a:p>
          <a:p>
            <a:pPr marL="740664" indent="-283464"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−"/>
              <a:defRPr/>
            </a:pPr>
            <a:r>
              <a:rPr lang="en-US" altLang="en-US" dirty="0" smtClean="0">
                <a:latin typeface="+mn-lt"/>
                <a:cs typeface="+mn-cs"/>
              </a:rPr>
              <a:t>species variation</a:t>
            </a:r>
          </a:p>
          <a:p>
            <a:pPr marL="342900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altLang="en-US" sz="2800" b="1" dirty="0" smtClean="0">
                <a:latin typeface="+mn-lt"/>
                <a:cs typeface="+mn-cs"/>
              </a:rPr>
              <a:t>Ecosystem services</a:t>
            </a:r>
          </a:p>
          <a:p>
            <a:pPr marL="342900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altLang="en-US" sz="2800" b="1" dirty="0" smtClean="0">
                <a:latin typeface="+mn-lt"/>
                <a:cs typeface="+mn-cs"/>
              </a:rPr>
              <a:t>Rewilding</a:t>
            </a:r>
          </a:p>
          <a:p>
            <a:pPr marL="740664" indent="-283464"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−"/>
              <a:defRPr/>
            </a:pPr>
            <a:r>
              <a:rPr lang="en-US" altLang="en-US" dirty="0" smtClean="0">
                <a:latin typeface="+mn-lt"/>
                <a:cs typeface="+mn-cs"/>
              </a:rPr>
              <a:t>reintroduction of wild species</a:t>
            </a:r>
          </a:p>
          <a:p>
            <a:pPr marL="342900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altLang="en-US" sz="2800" b="1" dirty="0" smtClean="0">
                <a:latin typeface="+mn-lt"/>
                <a:cs typeface="+mn-cs"/>
              </a:rPr>
              <a:t>Invasive species</a:t>
            </a:r>
            <a:endParaRPr lang="en-US" altLang="en-US" sz="2800" b="1" dirty="0" smtClean="0">
              <a:solidFill>
                <a:srgbClr val="000000"/>
              </a:solidFill>
              <a:latin typeface="+mn-lt"/>
              <a:cs typeface="+mn-cs"/>
            </a:endParaRPr>
          </a:p>
        </p:txBody>
      </p:sp>
      <p:sp>
        <p:nvSpPr>
          <p:cNvPr id="17411" name="Rectangle 2"/>
          <p:cNvSpPr txBox="1">
            <a:spLocks noChangeArrowheads="1"/>
          </p:cNvSpPr>
          <p:nvPr/>
        </p:nvSpPr>
        <p:spPr bwMode="auto">
          <a:xfrm>
            <a:off x="380999" y="152400"/>
            <a:ext cx="8622323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sz="2800" b="1" dirty="0">
                <a:solidFill>
                  <a:srgbClr val="5E6EBA"/>
                </a:solidFill>
                <a:latin typeface="+mj-lt"/>
              </a:rPr>
              <a:t>Ecology, Land, and Environmental Management, (</a:t>
            </a:r>
            <a:r>
              <a:rPr lang="en-US" sz="2800" b="1" dirty="0" err="1">
                <a:solidFill>
                  <a:srgbClr val="5E6EBA"/>
                </a:solidFill>
                <a:latin typeface="+mj-lt"/>
              </a:rPr>
              <a:t>cont</a:t>
            </a:r>
            <a:r>
              <a:rPr lang="en-US" sz="2800" b="1" dirty="0">
                <a:solidFill>
                  <a:srgbClr val="5E6EBA"/>
                </a:solidFill>
                <a:latin typeface="+mj-lt"/>
              </a:rPr>
              <a:t>)</a:t>
            </a:r>
            <a:endParaRPr lang="en-US" sz="1800" b="1" dirty="0">
              <a:solidFill>
                <a:srgbClr val="5E6EBA"/>
              </a:solidFill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20154" y="710589"/>
            <a:ext cx="3187260" cy="31638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63347" y="3886136"/>
            <a:ext cx="4252051" cy="28437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 txBox="1">
            <a:spLocks noChangeArrowheads="1"/>
          </p:cNvSpPr>
          <p:nvPr/>
        </p:nvSpPr>
        <p:spPr bwMode="auto">
          <a:xfrm>
            <a:off x="363415" y="155575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sz="2800" b="1" dirty="0">
                <a:solidFill>
                  <a:srgbClr val="5E6EBA"/>
                </a:solidFill>
                <a:latin typeface="+mj-lt"/>
              </a:rPr>
              <a:t>Sustainability and the Future </a:t>
            </a:r>
          </a:p>
        </p:txBody>
      </p:sp>
      <p:sp>
        <p:nvSpPr>
          <p:cNvPr id="3" name="Rectangle 4"/>
          <p:cNvSpPr txBox="1">
            <a:spLocks noChangeArrowheads="1"/>
          </p:cNvSpPr>
          <p:nvPr/>
        </p:nvSpPr>
        <p:spPr>
          <a:xfrm>
            <a:off x="381000" y="1081453"/>
            <a:ext cx="8488363" cy="4648200"/>
          </a:xfrm>
          <a:prstGeom prst="rect">
            <a:avLst/>
          </a:prstGeom>
        </p:spPr>
        <p:txBody>
          <a:bodyPr/>
          <a:lstStyle/>
          <a:p>
            <a:pPr marL="347663" indent="-347663" algn="l">
              <a:buFont typeface="Arial" panose="020B0604020202020204" pitchFamily="34" charset="0"/>
              <a:buChar char="•"/>
              <a:defRPr/>
            </a:pPr>
            <a:r>
              <a:rPr lang="en-US" sz="2800" b="1" dirty="0">
                <a:solidFill>
                  <a:srgbClr val="000000"/>
                </a:solidFill>
                <a:latin typeface="+mn-lt"/>
                <a:ea typeface="ヒラギノ角ゴ Pro W3" pitchFamily="127" charset="-128"/>
                <a:cs typeface="+mn-cs"/>
              </a:rPr>
              <a:t>Sustainability </a:t>
            </a:r>
          </a:p>
          <a:p>
            <a:pPr marL="740664" indent="-283464" algn="l">
              <a:buFont typeface="Arial" panose="020B0604020202020204" pitchFamily="34" charset="0"/>
              <a:buChar char="−"/>
              <a:defRPr/>
            </a:pPr>
            <a:r>
              <a:rPr lang="en-US" sz="2400" dirty="0">
                <a:solidFill>
                  <a:srgbClr val="000000"/>
                </a:solidFill>
                <a:latin typeface="+mn-lt"/>
                <a:ea typeface="ヒラギノ角ゴ Pro W3" pitchFamily="127" charset="-128"/>
                <a:cs typeface="+mn-cs"/>
              </a:rPr>
              <a:t>triple bottom line: serving profit, people, and the planet </a:t>
            </a:r>
          </a:p>
          <a:p>
            <a:pPr marL="740664" indent="-283464" algn="l">
              <a:buFont typeface="Arial" panose="020B0604020202020204" pitchFamily="34" charset="0"/>
              <a:buChar char="−"/>
              <a:defRPr/>
            </a:pPr>
            <a:r>
              <a:rPr lang="en-US" sz="2400" dirty="0">
                <a:solidFill>
                  <a:srgbClr val="000000"/>
                </a:solidFill>
                <a:latin typeface="+mn-lt"/>
                <a:ea typeface="ヒラギノ角ゴ Pro W3" pitchFamily="127" charset="-128"/>
                <a:cs typeface="+mn-cs"/>
              </a:rPr>
              <a:t>growing local food </a:t>
            </a:r>
          </a:p>
          <a:p>
            <a:pPr marL="740664" indent="-283464" algn="l">
              <a:buFont typeface="Arial" panose="020B0604020202020204" pitchFamily="34" charset="0"/>
              <a:buChar char="−"/>
              <a:defRPr/>
            </a:pPr>
            <a:r>
              <a:rPr lang="en-US" sz="2400" dirty="0">
                <a:solidFill>
                  <a:srgbClr val="000000"/>
                </a:solidFill>
                <a:latin typeface="+mn-lt"/>
                <a:ea typeface="ヒラギノ角ゴ Pro W3" pitchFamily="127" charset="-128"/>
                <a:cs typeface="+mn-cs"/>
              </a:rPr>
              <a:t>water conservation </a:t>
            </a:r>
          </a:p>
          <a:p>
            <a:pPr marL="740664" indent="-283464" algn="l">
              <a:buFont typeface="Arial" panose="020B0604020202020204" pitchFamily="34" charset="0"/>
              <a:buChar char="−"/>
              <a:defRPr/>
            </a:pPr>
            <a:r>
              <a:rPr lang="en-US" sz="2400" dirty="0">
                <a:solidFill>
                  <a:srgbClr val="000000"/>
                </a:solidFill>
                <a:latin typeface="+mn-lt"/>
                <a:ea typeface="ヒラギノ角ゴ Pro W3" pitchFamily="127" charset="-128"/>
                <a:cs typeface="+mn-cs"/>
              </a:rPr>
              <a:t>recycled compost </a:t>
            </a:r>
            <a:endParaRPr lang="en-US" sz="2400" kern="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68842" y="1942513"/>
            <a:ext cx="5228266" cy="472744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 txBox="1">
            <a:spLocks noChangeArrowheads="1"/>
          </p:cNvSpPr>
          <p:nvPr/>
        </p:nvSpPr>
        <p:spPr bwMode="auto">
          <a:xfrm>
            <a:off x="381000" y="152400"/>
            <a:ext cx="68580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sz="2800" b="1" dirty="0">
                <a:solidFill>
                  <a:srgbClr val="5E6EBA"/>
                </a:solidFill>
                <a:latin typeface="+mj-lt"/>
              </a:rPr>
              <a:t>History, Economy, and Territory</a:t>
            </a:r>
          </a:p>
        </p:txBody>
      </p:sp>
      <p:sp>
        <p:nvSpPr>
          <p:cNvPr id="19459" name="Rectangle 4"/>
          <p:cNvSpPr txBox="1">
            <a:spLocks noChangeArrowheads="1"/>
          </p:cNvSpPr>
          <p:nvPr/>
        </p:nvSpPr>
        <p:spPr bwMode="auto">
          <a:xfrm>
            <a:off x="381000" y="1106364"/>
            <a:ext cx="8577263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95288" indent="-342900"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ヒラギノ角ゴ Pro W3" pitchFamily="127" charset="-128"/>
                <a:cs typeface="Arial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2pPr>
            <a:lvl3pPr marL="1200150" indent="-28575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9pPr>
          </a:lstStyle>
          <a:p>
            <a:pPr marL="342900">
              <a:defRPr/>
            </a:pPr>
            <a:r>
              <a:rPr lang="en-US" sz="2600" b="1" dirty="0" smtClean="0">
                <a:solidFill>
                  <a:srgbClr val="000000"/>
                </a:solidFill>
                <a:latin typeface="+mn-lt"/>
              </a:rPr>
              <a:t>Colonialism </a:t>
            </a:r>
            <a:endParaRPr lang="en-US" sz="2600" dirty="0" smtClean="0">
              <a:solidFill>
                <a:srgbClr val="000000"/>
              </a:solidFill>
              <a:latin typeface="+mn-lt"/>
            </a:endParaRPr>
          </a:p>
          <a:p>
            <a:pPr marL="740664" indent="-283464">
              <a:buFont typeface="Arial" panose="020B0604020202020204" pitchFamily="34" charset="0"/>
              <a:buChar char="−"/>
              <a:defRPr/>
            </a:pPr>
            <a:r>
              <a:rPr lang="en-US" sz="2200" dirty="0" smtClean="0">
                <a:solidFill>
                  <a:srgbClr val="000000"/>
                </a:solidFill>
                <a:latin typeface="+mn-lt"/>
              </a:rPr>
              <a:t>regions and societies dominated by external society </a:t>
            </a:r>
          </a:p>
          <a:p>
            <a:pPr marL="342900">
              <a:defRPr/>
            </a:pPr>
            <a:r>
              <a:rPr lang="en-US" sz="2600" dirty="0" smtClean="0">
                <a:solidFill>
                  <a:srgbClr val="000000"/>
                </a:solidFill>
                <a:latin typeface="+mn-lt"/>
              </a:rPr>
              <a:t>First wave </a:t>
            </a:r>
          </a:p>
          <a:p>
            <a:pPr marL="740664" indent="-283464">
              <a:buFont typeface="Arial" panose="020B0604020202020204" pitchFamily="34" charset="0"/>
              <a:buChar char="−"/>
              <a:defRPr/>
            </a:pPr>
            <a:r>
              <a:rPr lang="en-US" sz="2200" dirty="0" smtClean="0">
                <a:solidFill>
                  <a:srgbClr val="000000"/>
                </a:solidFill>
                <a:latin typeface="+mn-lt"/>
              </a:rPr>
              <a:t>European investment in port cities </a:t>
            </a:r>
          </a:p>
          <a:p>
            <a:pPr marL="740664" indent="-283464">
              <a:buFont typeface="Arial" panose="020B0604020202020204" pitchFamily="34" charset="0"/>
              <a:buChar char="−"/>
              <a:defRPr/>
            </a:pPr>
            <a:r>
              <a:rPr lang="en-US" sz="2200" b="1" dirty="0" smtClean="0">
                <a:solidFill>
                  <a:srgbClr val="000000"/>
                </a:solidFill>
                <a:latin typeface="+mn-lt"/>
              </a:rPr>
              <a:t>plantation economies </a:t>
            </a:r>
            <a:endParaRPr lang="en-US" altLang="en-US" sz="2200" dirty="0" smtClean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90025" y="3247292"/>
            <a:ext cx="5380196" cy="33893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 txBox="1">
            <a:spLocks noChangeArrowheads="1"/>
          </p:cNvSpPr>
          <p:nvPr/>
        </p:nvSpPr>
        <p:spPr bwMode="auto">
          <a:xfrm>
            <a:off x="381000" y="152400"/>
            <a:ext cx="68580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sz="2800" b="1" dirty="0">
                <a:solidFill>
                  <a:srgbClr val="5E6EBA"/>
                </a:solidFill>
                <a:latin typeface="+mj-lt"/>
              </a:rPr>
              <a:t>History, Economy, and Territory, (</a:t>
            </a:r>
            <a:r>
              <a:rPr lang="en-US" sz="2800" b="1" dirty="0" err="1">
                <a:solidFill>
                  <a:srgbClr val="5E6EBA"/>
                </a:solidFill>
                <a:latin typeface="+mj-lt"/>
              </a:rPr>
              <a:t>cont</a:t>
            </a:r>
            <a:r>
              <a:rPr lang="en-US" sz="2800" b="1" dirty="0">
                <a:solidFill>
                  <a:srgbClr val="5E6EBA"/>
                </a:solidFill>
                <a:latin typeface="+mj-lt"/>
              </a:rPr>
              <a:t>)</a:t>
            </a:r>
          </a:p>
        </p:txBody>
      </p:sp>
      <p:sp>
        <p:nvSpPr>
          <p:cNvPr id="20483" name="Rectangle 4"/>
          <p:cNvSpPr txBox="1">
            <a:spLocks noChangeArrowheads="1"/>
          </p:cNvSpPr>
          <p:nvPr/>
        </p:nvSpPr>
        <p:spPr bwMode="auto">
          <a:xfrm>
            <a:off x="363904" y="1078523"/>
            <a:ext cx="76454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95288" indent="-342900"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ヒラギノ角ゴ Pro W3" pitchFamily="127" charset="-128"/>
                <a:cs typeface="Arial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9pPr>
          </a:lstStyle>
          <a:p>
            <a:pPr marL="342900" eaLnBrk="1" hangingPunct="1">
              <a:defRPr/>
            </a:pPr>
            <a:r>
              <a:rPr lang="en-US" altLang="en-US" sz="2800" dirty="0" smtClean="0">
                <a:solidFill>
                  <a:srgbClr val="000000"/>
                </a:solidFill>
                <a:latin typeface="+mn-lt"/>
              </a:rPr>
              <a:t>Second Wave</a:t>
            </a:r>
          </a:p>
          <a:p>
            <a:pPr marL="740664" indent="-283464" eaLnBrk="1" hangingPunct="1">
              <a:buFont typeface="Arial" panose="020B0604020202020204" pitchFamily="34" charset="0"/>
              <a:buChar char="−"/>
              <a:defRPr/>
            </a:pPr>
            <a:r>
              <a:rPr lang="en-US" altLang="en-US" sz="2400" dirty="0" smtClean="0">
                <a:solidFill>
                  <a:srgbClr val="000000"/>
                </a:solidFill>
                <a:latin typeface="+mn-lt"/>
              </a:rPr>
              <a:t>Africa/Asia/Australia</a:t>
            </a:r>
          </a:p>
          <a:p>
            <a:pPr marL="740664" indent="-283464" eaLnBrk="1" hangingPunct="1">
              <a:buFont typeface="Arial" panose="020B0604020202020204" pitchFamily="34" charset="0"/>
              <a:buChar char="−"/>
              <a:defRPr/>
            </a:pPr>
            <a:r>
              <a:rPr lang="en-US" altLang="en-US" sz="2400" b="1" dirty="0" smtClean="0">
                <a:solidFill>
                  <a:srgbClr val="000000"/>
                </a:solidFill>
                <a:latin typeface="+mn-lt"/>
              </a:rPr>
              <a:t>imperialism</a:t>
            </a:r>
          </a:p>
          <a:p>
            <a:pPr marL="740664" indent="-283464" eaLnBrk="1" hangingPunct="1">
              <a:buFont typeface="Arial" panose="020B0604020202020204" pitchFamily="34" charset="0"/>
              <a:buChar char="−"/>
              <a:defRPr/>
            </a:pPr>
            <a:r>
              <a:rPr lang="en-US" altLang="en-US" sz="2400" b="1" dirty="0" smtClean="0">
                <a:solidFill>
                  <a:srgbClr val="000000"/>
                </a:solidFill>
                <a:latin typeface="+mn-lt"/>
              </a:rPr>
              <a:t>Industrial Revolution</a:t>
            </a:r>
          </a:p>
          <a:p>
            <a:pPr marL="740664" indent="-283464" eaLnBrk="1" hangingPunct="1">
              <a:buFont typeface="Arial" panose="020B0604020202020204" pitchFamily="34" charset="0"/>
              <a:buChar char="−"/>
              <a:defRPr/>
            </a:pPr>
            <a:r>
              <a:rPr lang="en-US" altLang="en-US" sz="2400" b="1" dirty="0" smtClean="0">
                <a:solidFill>
                  <a:srgbClr val="000000"/>
                </a:solidFill>
                <a:latin typeface="+mn-lt"/>
              </a:rPr>
              <a:t>capitalism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23847" y="2834053"/>
            <a:ext cx="5791873" cy="373989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 txBox="1">
            <a:spLocks noChangeArrowheads="1"/>
          </p:cNvSpPr>
          <p:nvPr/>
        </p:nvSpPr>
        <p:spPr bwMode="auto">
          <a:xfrm>
            <a:off x="381000" y="1524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sz="2800" b="1" dirty="0">
                <a:solidFill>
                  <a:srgbClr val="5E6EBA"/>
                </a:solidFill>
                <a:latin typeface="+mj-lt"/>
              </a:rPr>
              <a:t>History, Economy, and Territory, (</a:t>
            </a:r>
            <a:r>
              <a:rPr lang="en-US" sz="2800" b="1" dirty="0" err="1">
                <a:solidFill>
                  <a:srgbClr val="5E6EBA"/>
                </a:solidFill>
                <a:latin typeface="+mj-lt"/>
              </a:rPr>
              <a:t>cont</a:t>
            </a:r>
            <a:r>
              <a:rPr lang="en-US" sz="2800" b="1" dirty="0">
                <a:solidFill>
                  <a:srgbClr val="5E6EBA"/>
                </a:solidFill>
                <a:latin typeface="+mj-lt"/>
              </a:rPr>
              <a:t>)</a:t>
            </a:r>
          </a:p>
        </p:txBody>
      </p:sp>
      <p:sp>
        <p:nvSpPr>
          <p:cNvPr id="21507" name="Rectangle 3"/>
          <p:cNvSpPr txBox="1">
            <a:spLocks noChangeArrowheads="1"/>
          </p:cNvSpPr>
          <p:nvPr/>
        </p:nvSpPr>
        <p:spPr bwMode="auto">
          <a:xfrm>
            <a:off x="357554" y="1115280"/>
            <a:ext cx="51054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9250"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indent="-342900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dirty="0">
                <a:latin typeface="+mn-lt"/>
              </a:rPr>
              <a:t>Decolonization</a:t>
            </a:r>
          </a:p>
          <a:p>
            <a:pPr indent="-342900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b="1" dirty="0">
                <a:latin typeface="+mn-lt"/>
              </a:rPr>
              <a:t>Communism</a:t>
            </a:r>
          </a:p>
          <a:p>
            <a:pPr indent="-342900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b="1" dirty="0">
                <a:latin typeface="+mn-lt"/>
              </a:rPr>
              <a:t>Cold War</a:t>
            </a:r>
            <a:endParaRPr lang="en-US" b="1" dirty="0">
              <a:latin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79290" y="1068388"/>
            <a:ext cx="5177494" cy="510235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 txBox="1">
            <a:spLocks noChangeArrowheads="1"/>
          </p:cNvSpPr>
          <p:nvPr/>
        </p:nvSpPr>
        <p:spPr bwMode="auto">
          <a:xfrm>
            <a:off x="381000" y="153988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sz="2800" b="1" dirty="0">
                <a:solidFill>
                  <a:srgbClr val="5E6EBA"/>
                </a:solidFill>
                <a:latin typeface="+mj-lt"/>
              </a:rPr>
              <a:t>Economy, Accumulation, and the Production of Inequality</a:t>
            </a:r>
          </a:p>
        </p:txBody>
      </p:sp>
      <p:sp>
        <p:nvSpPr>
          <p:cNvPr id="22531" name="Rectangle 3"/>
          <p:cNvSpPr txBox="1">
            <a:spLocks noChangeArrowheads="1"/>
          </p:cNvSpPr>
          <p:nvPr/>
        </p:nvSpPr>
        <p:spPr bwMode="auto">
          <a:xfrm>
            <a:off x="381000" y="1379783"/>
            <a:ext cx="8534400" cy="286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marL="342900" indent="-342900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+mn-lt"/>
              </a:rPr>
              <a:t>Primary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+mn-lt"/>
              </a:rPr>
              <a:t>Secondary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+mn-lt"/>
              </a:rPr>
              <a:t>Tertiary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+mn-lt"/>
              </a:rPr>
              <a:t>Quaternary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+mn-lt"/>
              </a:rPr>
              <a:t>MNCs</a:t>
            </a:r>
            <a:endParaRPr lang="en-US" sz="2400" b="1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70985" y="1482725"/>
            <a:ext cx="6173015" cy="481432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/>
          <p:cNvSpPr txBox="1">
            <a:spLocks noChangeArrowheads="1"/>
          </p:cNvSpPr>
          <p:nvPr/>
        </p:nvSpPr>
        <p:spPr bwMode="auto">
          <a:xfrm>
            <a:off x="381000" y="1382713"/>
            <a:ext cx="36703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95288" indent="-342900"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ヒラギノ角ゴ Pro W3" pitchFamily="127" charset="-128"/>
                <a:cs typeface="Arial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9pPr>
          </a:lstStyle>
          <a:p>
            <a:pPr marL="342900" eaLnBrk="1" hangingPunct="1">
              <a:lnSpc>
                <a:spcPct val="90000"/>
              </a:lnSpc>
              <a:defRPr/>
            </a:pPr>
            <a:r>
              <a:rPr lang="en-US" altLang="en-US" sz="2600" b="1" dirty="0" smtClean="0">
                <a:solidFill>
                  <a:srgbClr val="000000"/>
                </a:solidFill>
                <a:latin typeface="+mn-lt"/>
              </a:rPr>
              <a:t>Gross Domestic Product (GDP)</a:t>
            </a:r>
          </a:p>
          <a:p>
            <a:pPr marL="342900" eaLnBrk="1" hangingPunct="1">
              <a:lnSpc>
                <a:spcPct val="90000"/>
              </a:lnSpc>
              <a:defRPr/>
            </a:pPr>
            <a:r>
              <a:rPr lang="en-US" altLang="en-US" sz="2600" b="1" dirty="0" smtClean="0">
                <a:solidFill>
                  <a:srgbClr val="000000"/>
                </a:solidFill>
                <a:latin typeface="+mn-lt"/>
              </a:rPr>
              <a:t>Gross National Income (GNI)</a:t>
            </a:r>
          </a:p>
          <a:p>
            <a:pPr marL="342900" eaLnBrk="1" hangingPunct="1">
              <a:lnSpc>
                <a:spcPct val="90000"/>
              </a:lnSpc>
              <a:defRPr/>
            </a:pPr>
            <a:r>
              <a:rPr lang="en-US" altLang="en-US" sz="2600" b="1" dirty="0" smtClean="0">
                <a:solidFill>
                  <a:srgbClr val="000000"/>
                </a:solidFill>
                <a:latin typeface="+mn-lt"/>
              </a:rPr>
              <a:t>Purchasing Power Parity (PPP) per capita</a:t>
            </a:r>
          </a:p>
          <a:p>
            <a:pPr marL="740664" indent="-292608" eaLnBrk="1" hangingPunct="1">
              <a:lnSpc>
                <a:spcPct val="90000"/>
              </a:lnSpc>
              <a:buFont typeface="Arial" panose="020B0604020202020204" pitchFamily="34" charset="0"/>
              <a:buChar char="−"/>
              <a:defRPr/>
            </a:pPr>
            <a:r>
              <a:rPr lang="en-US" altLang="en-US" sz="2200" dirty="0" smtClean="0">
                <a:solidFill>
                  <a:srgbClr val="000000"/>
                </a:solidFill>
                <a:latin typeface="+mn-lt"/>
              </a:rPr>
              <a:t>Corrective measure</a:t>
            </a:r>
          </a:p>
          <a:p>
            <a:pPr marL="342900" eaLnBrk="1" hangingPunct="1">
              <a:lnSpc>
                <a:spcPct val="90000"/>
              </a:lnSpc>
              <a:defRPr/>
            </a:pPr>
            <a:r>
              <a:rPr lang="en-US" altLang="en-US" sz="2600" b="1" dirty="0" smtClean="0">
                <a:solidFill>
                  <a:srgbClr val="000000"/>
                </a:solidFill>
                <a:latin typeface="+mn-lt"/>
              </a:rPr>
              <a:t>Global </a:t>
            </a:r>
            <a:br>
              <a:rPr lang="en-US" altLang="en-US" sz="2600" b="1" dirty="0" smtClean="0">
                <a:solidFill>
                  <a:srgbClr val="000000"/>
                </a:solidFill>
                <a:latin typeface="+mn-lt"/>
              </a:rPr>
            </a:br>
            <a:r>
              <a:rPr lang="en-US" altLang="en-US" sz="2600" b="1" dirty="0" smtClean="0">
                <a:solidFill>
                  <a:srgbClr val="000000"/>
                </a:solidFill>
                <a:latin typeface="+mn-lt"/>
              </a:rPr>
              <a:t>north/global south</a:t>
            </a:r>
          </a:p>
          <a:p>
            <a:pPr marL="342900" eaLnBrk="1" hangingPunct="1">
              <a:lnSpc>
                <a:spcPct val="90000"/>
              </a:lnSpc>
              <a:defRPr/>
            </a:pPr>
            <a:r>
              <a:rPr lang="en-US" altLang="en-US" sz="2600" b="1" dirty="0" smtClean="0">
                <a:solidFill>
                  <a:srgbClr val="000000"/>
                </a:solidFill>
                <a:latin typeface="+mn-lt"/>
              </a:rPr>
              <a:t>HDI</a:t>
            </a:r>
          </a:p>
        </p:txBody>
      </p:sp>
      <p:sp>
        <p:nvSpPr>
          <p:cNvPr id="23555" name="Rectangle 2"/>
          <p:cNvSpPr txBox="1">
            <a:spLocks noChangeArrowheads="1"/>
          </p:cNvSpPr>
          <p:nvPr/>
        </p:nvSpPr>
        <p:spPr bwMode="auto">
          <a:xfrm>
            <a:off x="381000" y="155575"/>
            <a:ext cx="838200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sz="2800" b="1" dirty="0">
                <a:solidFill>
                  <a:srgbClr val="5E6EBA"/>
                </a:solidFill>
                <a:latin typeface="+mj-lt"/>
              </a:rPr>
              <a:t>Economy, Accumulation, and the Production of </a:t>
            </a:r>
            <a:r>
              <a:rPr lang="en-US" sz="2800" b="1" dirty="0" smtClean="0">
                <a:solidFill>
                  <a:srgbClr val="5E6EBA"/>
                </a:solidFill>
                <a:latin typeface="+mj-lt"/>
              </a:rPr>
              <a:t>Inequality, </a:t>
            </a:r>
            <a:r>
              <a:rPr lang="en-US" sz="2800" b="1" dirty="0">
                <a:solidFill>
                  <a:srgbClr val="5E6EBA"/>
                </a:solidFill>
                <a:latin typeface="+mj-lt"/>
              </a:rPr>
              <a:t>(</a:t>
            </a:r>
            <a:r>
              <a:rPr lang="en-US" sz="2800" b="1" dirty="0" err="1" smtClean="0">
                <a:solidFill>
                  <a:srgbClr val="5E6EBA"/>
                </a:solidFill>
                <a:latin typeface="+mj-lt"/>
              </a:rPr>
              <a:t>cont</a:t>
            </a:r>
            <a:r>
              <a:rPr lang="en-US" sz="2800" b="1" dirty="0" smtClean="0">
                <a:solidFill>
                  <a:srgbClr val="5E6EBA"/>
                </a:solidFill>
                <a:latin typeface="+mj-lt"/>
              </a:rPr>
              <a:t>)</a:t>
            </a:r>
            <a:endParaRPr lang="en-US" sz="2800" b="1" dirty="0">
              <a:solidFill>
                <a:srgbClr val="5E6EBA"/>
              </a:solidFill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66470" y="839787"/>
            <a:ext cx="5305072" cy="28163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92796" y="3662469"/>
            <a:ext cx="5278746" cy="27523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 txBox="1">
            <a:spLocks noChangeArrowheads="1"/>
          </p:cNvSpPr>
          <p:nvPr/>
        </p:nvSpPr>
        <p:spPr bwMode="auto">
          <a:xfrm>
            <a:off x="381000" y="153988"/>
            <a:ext cx="815340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sz="2800" b="1" dirty="0">
                <a:solidFill>
                  <a:srgbClr val="5E6EBA"/>
                </a:solidFill>
                <a:latin typeface="+mj-lt"/>
              </a:rPr>
              <a:t>Territory and Politics</a:t>
            </a:r>
            <a:endParaRPr lang="en-US" sz="1800" b="1" dirty="0">
              <a:solidFill>
                <a:srgbClr val="5E6EBA"/>
              </a:solidFill>
              <a:latin typeface="+mj-lt"/>
            </a:endParaRPr>
          </a:p>
        </p:txBody>
      </p:sp>
      <p:sp>
        <p:nvSpPr>
          <p:cNvPr id="24579" name="Rectangle 3"/>
          <p:cNvSpPr txBox="1">
            <a:spLocks noChangeArrowheads="1"/>
          </p:cNvSpPr>
          <p:nvPr/>
        </p:nvSpPr>
        <p:spPr bwMode="auto">
          <a:xfrm>
            <a:off x="369277" y="1101969"/>
            <a:ext cx="6899275" cy="2602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9250"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indent="-342900" algn="l" eaLnBrk="1" hangingPunct="1">
              <a:spcBef>
                <a:spcPct val="20000"/>
              </a:spcBef>
              <a:buFontTx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+mn-lt"/>
              </a:rPr>
              <a:t>Sovereign state </a:t>
            </a:r>
            <a:r>
              <a:rPr lang="en-US" sz="2600" b="1" dirty="0" err="1">
                <a:solidFill>
                  <a:srgbClr val="000000"/>
                </a:solidFill>
                <a:latin typeface="+mn-lt"/>
              </a:rPr>
              <a:t>vs</a:t>
            </a:r>
            <a:r>
              <a:rPr lang="en-US" sz="2600" b="1" dirty="0">
                <a:solidFill>
                  <a:srgbClr val="000000"/>
                </a:solidFill>
                <a:latin typeface="+mn-lt"/>
              </a:rPr>
              <a:t> nation</a:t>
            </a:r>
          </a:p>
          <a:p>
            <a:pPr indent="-342900" algn="l" eaLnBrk="1" hangingPunct="1">
              <a:spcBef>
                <a:spcPct val="20000"/>
              </a:spcBef>
              <a:buFontTx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+mn-lt"/>
              </a:rPr>
              <a:t>Nation-state</a:t>
            </a:r>
          </a:p>
          <a:p>
            <a:pPr indent="-342900" algn="l" eaLnBrk="1" hangingPunct="1">
              <a:spcBef>
                <a:spcPct val="20000"/>
              </a:spcBef>
              <a:buFontTx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+mn-lt"/>
              </a:rPr>
              <a:t>Failed state</a:t>
            </a:r>
          </a:p>
          <a:p>
            <a:pPr indent="-342900" algn="l" eaLnBrk="1" hangingPunct="1">
              <a:spcBef>
                <a:spcPct val="20000"/>
              </a:spcBef>
              <a:buFontTx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+mn-lt"/>
              </a:rPr>
              <a:t>Supranational organizations</a:t>
            </a:r>
          </a:p>
          <a:p>
            <a:pPr indent="-342900" algn="l" eaLnBrk="1" hangingPunct="1">
              <a:spcBef>
                <a:spcPct val="20000"/>
              </a:spcBef>
              <a:buFontTx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+mn-lt"/>
              </a:rPr>
              <a:t>NGOs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003" y="3575538"/>
            <a:ext cx="4556059" cy="286055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7508" y="3575537"/>
            <a:ext cx="4397619" cy="2874157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 txBox="1">
            <a:spLocks noChangeArrowheads="1"/>
          </p:cNvSpPr>
          <p:nvPr/>
        </p:nvSpPr>
        <p:spPr bwMode="auto">
          <a:xfrm>
            <a:off x="381000" y="152400"/>
            <a:ext cx="7616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sz="2800" b="1" dirty="0">
                <a:solidFill>
                  <a:srgbClr val="5E6EBA"/>
                </a:solidFill>
                <a:latin typeface="+mj-lt"/>
              </a:rPr>
              <a:t>Culture and Populations</a:t>
            </a:r>
          </a:p>
        </p:txBody>
      </p:sp>
      <p:sp>
        <p:nvSpPr>
          <p:cNvPr id="25603" name="Rectangle 3"/>
          <p:cNvSpPr txBox="1">
            <a:spLocks noChangeArrowheads="1"/>
          </p:cNvSpPr>
          <p:nvPr/>
        </p:nvSpPr>
        <p:spPr bwMode="auto">
          <a:xfrm>
            <a:off x="381000" y="1080111"/>
            <a:ext cx="7743092" cy="2479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95288" indent="-342900"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ヒラギノ角ゴ Pro W3" pitchFamily="127" charset="-128"/>
                <a:cs typeface="Arial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2pPr>
            <a:lvl3pPr marL="1200150" indent="-28575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9pPr>
          </a:lstStyle>
          <a:p>
            <a:pPr marL="342900" eaLnBrk="1" hangingPunct="1">
              <a:defRPr/>
            </a:pPr>
            <a:r>
              <a:rPr lang="en-US" altLang="en-US" sz="2800" b="1" dirty="0" smtClean="0">
                <a:solidFill>
                  <a:srgbClr val="000000"/>
                </a:solidFill>
                <a:latin typeface="+mn-lt"/>
              </a:rPr>
              <a:t>Culture</a:t>
            </a:r>
          </a:p>
          <a:p>
            <a:pPr marL="740664" indent="-283464" eaLnBrk="1" hangingPunct="1">
              <a:buFont typeface="Arial" panose="020B0604020202020204" pitchFamily="34" charset="0"/>
              <a:buChar char="−"/>
              <a:defRPr/>
            </a:pPr>
            <a:r>
              <a:rPr lang="en-US" altLang="en-US" sz="2400" dirty="0" smtClean="0">
                <a:solidFill>
                  <a:srgbClr val="000000"/>
                </a:solidFill>
                <a:latin typeface="+mn-lt"/>
              </a:rPr>
              <a:t>shared set of meanings and practices</a:t>
            </a:r>
          </a:p>
          <a:p>
            <a:pPr marL="342900" eaLnBrk="1" hangingPunct="1">
              <a:defRPr/>
            </a:pPr>
            <a:r>
              <a:rPr lang="en-US" altLang="en-US" sz="2800" b="1" dirty="0" smtClean="0">
                <a:solidFill>
                  <a:srgbClr val="000000"/>
                </a:solidFill>
                <a:latin typeface="+mn-lt"/>
              </a:rPr>
              <a:t>Demographics</a:t>
            </a:r>
          </a:p>
          <a:p>
            <a:pPr marL="740664" indent="-283464" eaLnBrk="1" hangingPunct="1">
              <a:buFont typeface="Arial" panose="020B0604020202020204" pitchFamily="34" charset="0"/>
              <a:buChar char="−"/>
              <a:defRPr/>
            </a:pPr>
            <a:r>
              <a:rPr lang="en-US" altLang="en-US" sz="2400" dirty="0" smtClean="0">
                <a:solidFill>
                  <a:srgbClr val="000000"/>
                </a:solidFill>
                <a:latin typeface="+mn-lt"/>
              </a:rPr>
              <a:t>population densities</a:t>
            </a:r>
          </a:p>
          <a:p>
            <a:pPr marL="740664" indent="-283464" eaLnBrk="1" hangingPunct="1">
              <a:buFont typeface="Arial" panose="020B0604020202020204" pitchFamily="34" charset="0"/>
              <a:buChar char="−"/>
              <a:defRPr/>
            </a:pPr>
            <a:r>
              <a:rPr lang="en-US" altLang="en-US" sz="2400" dirty="0" smtClean="0">
                <a:solidFill>
                  <a:srgbClr val="000000"/>
                </a:solidFill>
                <a:latin typeface="+mn-lt"/>
              </a:rPr>
              <a:t>population movements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120" y="3539431"/>
            <a:ext cx="4343400" cy="295351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3167" y="3083292"/>
            <a:ext cx="4413601" cy="340964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 txBox="1">
            <a:spLocks noChangeArrowheads="1"/>
          </p:cNvSpPr>
          <p:nvPr/>
        </p:nvSpPr>
        <p:spPr bwMode="auto">
          <a:xfrm>
            <a:off x="381000" y="152400"/>
            <a:ext cx="8229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sz="2800" b="1" dirty="0">
                <a:solidFill>
                  <a:srgbClr val="5E6EBA"/>
                </a:solidFill>
                <a:latin typeface="+mj-lt"/>
              </a:rPr>
              <a:t>Culture, Religion, and Language</a:t>
            </a:r>
          </a:p>
        </p:txBody>
      </p:sp>
      <p:sp>
        <p:nvSpPr>
          <p:cNvPr id="26627" name="Rectangle 3"/>
          <p:cNvSpPr txBox="1">
            <a:spLocks noChangeArrowheads="1"/>
          </p:cNvSpPr>
          <p:nvPr/>
        </p:nvSpPr>
        <p:spPr bwMode="auto">
          <a:xfrm>
            <a:off x="381000" y="1068388"/>
            <a:ext cx="7772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26628" name="Rectangle 3"/>
          <p:cNvSpPr txBox="1">
            <a:spLocks noChangeArrowheads="1"/>
          </p:cNvSpPr>
          <p:nvPr/>
        </p:nvSpPr>
        <p:spPr bwMode="auto">
          <a:xfrm>
            <a:off x="357554" y="1166446"/>
            <a:ext cx="7391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95288" indent="-342900"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ヒラギノ角ゴ Pro W3" pitchFamily="127" charset="-128"/>
                <a:cs typeface="Arial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9pPr>
          </a:lstStyle>
          <a:p>
            <a:pPr marL="349250" eaLnBrk="1" hangingPunct="1">
              <a:lnSpc>
                <a:spcPct val="80000"/>
              </a:lnSpc>
              <a:defRPr/>
            </a:pPr>
            <a:r>
              <a:rPr lang="en-US" altLang="en-US" sz="2800" dirty="0" smtClean="0">
                <a:solidFill>
                  <a:srgbClr val="000000"/>
                </a:solidFill>
                <a:latin typeface="+mn-lt"/>
              </a:rPr>
              <a:t>Geographies of religion</a:t>
            </a:r>
          </a:p>
          <a:p>
            <a:pPr marL="740664" indent="-283464" eaLnBrk="1" hangingPunct="1">
              <a:lnSpc>
                <a:spcPct val="80000"/>
              </a:lnSpc>
              <a:buFont typeface="Arial" panose="020B0604020202020204" pitchFamily="34" charset="0"/>
              <a:buChar char="−"/>
              <a:defRPr/>
            </a:pPr>
            <a:r>
              <a:rPr lang="en-US" altLang="en-US" sz="2400" dirty="0" smtClean="0">
                <a:solidFill>
                  <a:srgbClr val="000000"/>
                </a:solidFill>
                <a:latin typeface="+mn-lt"/>
              </a:rPr>
              <a:t>diffusion</a:t>
            </a:r>
          </a:p>
          <a:p>
            <a:pPr marL="740664" indent="-283464" eaLnBrk="1" hangingPunct="1">
              <a:lnSpc>
                <a:spcPct val="80000"/>
              </a:lnSpc>
              <a:buFont typeface="Arial" panose="020B0604020202020204" pitchFamily="34" charset="0"/>
              <a:buChar char="−"/>
              <a:defRPr/>
            </a:pPr>
            <a:r>
              <a:rPr lang="en-US" altLang="en-US" sz="2400" dirty="0" smtClean="0">
                <a:solidFill>
                  <a:srgbClr val="000000"/>
                </a:solidFill>
                <a:latin typeface="+mn-lt"/>
              </a:rPr>
              <a:t>global distribution</a:t>
            </a:r>
          </a:p>
          <a:p>
            <a:pPr marL="740664" indent="-283464" eaLnBrk="1" hangingPunct="1">
              <a:lnSpc>
                <a:spcPct val="80000"/>
              </a:lnSpc>
              <a:buFont typeface="Arial" panose="020B0604020202020204" pitchFamily="34" charset="0"/>
              <a:buChar char="−"/>
              <a:defRPr/>
            </a:pPr>
            <a:r>
              <a:rPr lang="en-US" altLang="en-US" sz="2400" dirty="0" smtClean="0">
                <a:solidFill>
                  <a:srgbClr val="000000"/>
                </a:solidFill>
                <a:latin typeface="+mn-lt"/>
              </a:rPr>
              <a:t>spread of religious fundamentalism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0619" y="2730952"/>
            <a:ext cx="7670361" cy="375784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 txBox="1">
            <a:spLocks noChangeArrowheads="1"/>
          </p:cNvSpPr>
          <p:nvPr/>
        </p:nvSpPr>
        <p:spPr bwMode="auto">
          <a:xfrm>
            <a:off x="381000" y="1524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fr-FR" sz="2800" b="1" dirty="0">
                <a:solidFill>
                  <a:srgbClr val="5E6EBA"/>
                </a:solidFill>
                <a:latin typeface="+mj-lt"/>
              </a:rPr>
              <a:t>Culture, Religion and </a:t>
            </a:r>
            <a:r>
              <a:rPr lang="fr-FR" sz="2800" b="1" dirty="0" err="1">
                <a:solidFill>
                  <a:srgbClr val="5E6EBA"/>
                </a:solidFill>
                <a:latin typeface="+mj-lt"/>
              </a:rPr>
              <a:t>Language</a:t>
            </a:r>
            <a:r>
              <a:rPr lang="fr-FR" sz="2800" b="1" dirty="0">
                <a:solidFill>
                  <a:srgbClr val="5E6EBA"/>
                </a:solidFill>
                <a:latin typeface="+mj-lt"/>
              </a:rPr>
              <a:t>, (</a:t>
            </a:r>
            <a:r>
              <a:rPr lang="fr-FR" sz="2800" b="1" dirty="0" err="1">
                <a:solidFill>
                  <a:srgbClr val="5E6EBA"/>
                </a:solidFill>
                <a:latin typeface="+mj-lt"/>
              </a:rPr>
              <a:t>cont</a:t>
            </a:r>
            <a:r>
              <a:rPr lang="fr-FR" sz="2800" b="1" dirty="0">
                <a:solidFill>
                  <a:srgbClr val="5E6EBA"/>
                </a:solidFill>
                <a:latin typeface="+mj-lt"/>
              </a:rPr>
              <a:t>)</a:t>
            </a:r>
            <a:endParaRPr lang="en-US" sz="2800" b="1" dirty="0">
              <a:solidFill>
                <a:srgbClr val="5E6EBA"/>
              </a:solidFill>
              <a:latin typeface="+mj-lt"/>
            </a:endParaRPr>
          </a:p>
        </p:txBody>
      </p:sp>
      <p:sp>
        <p:nvSpPr>
          <p:cNvPr id="27651" name="Rectangle 3"/>
          <p:cNvSpPr txBox="1">
            <a:spLocks noChangeArrowheads="1"/>
          </p:cNvSpPr>
          <p:nvPr/>
        </p:nvSpPr>
        <p:spPr bwMode="auto">
          <a:xfrm>
            <a:off x="369276" y="1166446"/>
            <a:ext cx="7731369" cy="1858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95288" indent="-342900"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ヒラギノ角ゴ Pro W3" pitchFamily="127" charset="-128"/>
                <a:cs typeface="Arial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9pPr>
          </a:lstStyle>
          <a:p>
            <a:pPr marL="342900" eaLnBrk="1" hangingPunct="1">
              <a:lnSpc>
                <a:spcPct val="80000"/>
              </a:lnSpc>
              <a:defRPr/>
            </a:pPr>
            <a:r>
              <a:rPr lang="en-US" altLang="en-US" sz="2800" dirty="0" smtClean="0">
                <a:solidFill>
                  <a:srgbClr val="000000"/>
                </a:solidFill>
                <a:latin typeface="+mn-lt"/>
              </a:rPr>
              <a:t>Geographies of language</a:t>
            </a:r>
          </a:p>
          <a:p>
            <a:pPr marL="740664" indent="-283464" eaLnBrk="1" hangingPunct="1">
              <a:lnSpc>
                <a:spcPct val="80000"/>
              </a:lnSpc>
              <a:buFont typeface="Arial" panose="020B0604020202020204" pitchFamily="34" charset="0"/>
              <a:buChar char="−"/>
              <a:defRPr/>
            </a:pPr>
            <a:r>
              <a:rPr lang="en-US" altLang="en-US" sz="2400" dirty="0" smtClean="0">
                <a:solidFill>
                  <a:srgbClr val="000000"/>
                </a:solidFill>
                <a:latin typeface="+mn-lt"/>
              </a:rPr>
              <a:t>global distribution</a:t>
            </a:r>
          </a:p>
          <a:p>
            <a:pPr marL="740664" indent="-283464" eaLnBrk="1" hangingPunct="1">
              <a:lnSpc>
                <a:spcPct val="80000"/>
              </a:lnSpc>
              <a:buFont typeface="Arial" panose="020B0604020202020204" pitchFamily="34" charset="0"/>
              <a:buChar char="−"/>
              <a:defRPr/>
            </a:pPr>
            <a:r>
              <a:rPr lang="en-US" altLang="en-US" sz="2400" b="1" dirty="0" smtClean="0">
                <a:solidFill>
                  <a:srgbClr val="000000"/>
                </a:solidFill>
                <a:latin typeface="+mn-lt"/>
              </a:rPr>
              <a:t>dialects</a:t>
            </a:r>
          </a:p>
          <a:p>
            <a:pPr marL="740664" indent="-283464" eaLnBrk="1" hangingPunct="1">
              <a:lnSpc>
                <a:spcPct val="80000"/>
              </a:lnSpc>
              <a:buFont typeface="Arial" panose="020B0604020202020204" pitchFamily="34" charset="0"/>
              <a:buChar char="−"/>
              <a:defRPr/>
            </a:pPr>
            <a:r>
              <a:rPr lang="en-US" altLang="en-US" sz="2400" b="1" dirty="0" smtClean="0">
                <a:solidFill>
                  <a:srgbClr val="000000"/>
                </a:solidFill>
                <a:latin typeface="+mn-lt"/>
              </a:rPr>
              <a:t>lingua franca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1600" y="2678488"/>
            <a:ext cx="6444756" cy="389978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 txBox="1">
            <a:spLocks noChangeArrowheads="1"/>
          </p:cNvSpPr>
          <p:nvPr/>
        </p:nvSpPr>
        <p:spPr bwMode="auto">
          <a:xfrm>
            <a:off x="381000" y="1078523"/>
            <a:ext cx="4514850" cy="551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95288" indent="-342900"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ヒラギノ角ゴ Pro W3" pitchFamily="127" charset="-128"/>
                <a:cs typeface="Arial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9pPr>
          </a:lstStyle>
          <a:p>
            <a:pPr marL="342900" eaLnBrk="1" hangingPunct="1">
              <a:defRPr/>
            </a:pPr>
            <a:r>
              <a:rPr lang="en-US" altLang="en-US" sz="2800" b="1" dirty="0" smtClean="0">
                <a:solidFill>
                  <a:srgbClr val="000000"/>
                </a:solidFill>
                <a:latin typeface="+mn-lt"/>
              </a:rPr>
              <a:t>Ethnicity</a:t>
            </a:r>
          </a:p>
          <a:p>
            <a:pPr marL="740664" indent="-283464" eaLnBrk="1" hangingPunct="1">
              <a:buFont typeface="Arial" panose="020B0604020202020204" pitchFamily="34" charset="0"/>
              <a:buChar char="−"/>
              <a:defRPr/>
            </a:pPr>
            <a:r>
              <a:rPr lang="en-US" altLang="en-US" sz="2400" dirty="0" smtClean="0">
                <a:solidFill>
                  <a:srgbClr val="000000"/>
                </a:solidFill>
                <a:latin typeface="+mn-lt"/>
              </a:rPr>
              <a:t>community identity</a:t>
            </a:r>
          </a:p>
          <a:p>
            <a:pPr marL="342900" eaLnBrk="1" hangingPunct="1">
              <a:defRPr/>
            </a:pPr>
            <a:r>
              <a:rPr lang="en-US" altLang="en-US" sz="2800" b="1" dirty="0" smtClean="0">
                <a:solidFill>
                  <a:srgbClr val="000000"/>
                </a:solidFill>
                <a:latin typeface="+mn-lt"/>
              </a:rPr>
              <a:t>Race</a:t>
            </a:r>
          </a:p>
          <a:p>
            <a:pPr marL="740664" indent="-283464" eaLnBrk="1" hangingPunct="1">
              <a:buFont typeface="Arial" panose="020B0604020202020204" pitchFamily="34" charset="0"/>
              <a:buChar char="−"/>
              <a:defRPr/>
            </a:pPr>
            <a:r>
              <a:rPr lang="en-US" altLang="en-US" sz="2400" dirty="0" smtClean="0">
                <a:solidFill>
                  <a:srgbClr val="000000"/>
                </a:solidFill>
                <a:latin typeface="+mn-lt"/>
              </a:rPr>
              <a:t>problematic</a:t>
            </a:r>
            <a:endParaRPr lang="en-US" sz="2400" dirty="0" smtClean="0">
              <a:latin typeface="+mn-lt"/>
            </a:endParaRPr>
          </a:p>
          <a:p>
            <a:pPr marL="342900">
              <a:defRPr/>
            </a:pPr>
            <a:r>
              <a:rPr lang="en-US" sz="2800" b="1" dirty="0" smtClean="0">
                <a:latin typeface="+mn-lt"/>
              </a:rPr>
              <a:t>Gender </a:t>
            </a:r>
            <a:endParaRPr lang="en-US" sz="2800" dirty="0" smtClean="0">
              <a:latin typeface="+mn-lt"/>
            </a:endParaRPr>
          </a:p>
          <a:p>
            <a:pPr marL="740664" indent="-283464">
              <a:buFont typeface="Arial" panose="020B0604020202020204" pitchFamily="34" charset="0"/>
              <a:buChar char="−"/>
              <a:defRPr/>
            </a:pPr>
            <a:r>
              <a:rPr lang="en-US" sz="2400" dirty="0" smtClean="0">
                <a:latin typeface="+mn-lt"/>
              </a:rPr>
              <a:t>socially learned differences between </a:t>
            </a:r>
            <a:br>
              <a:rPr lang="en-US" sz="2400" dirty="0" smtClean="0">
                <a:latin typeface="+mn-lt"/>
              </a:rPr>
            </a:br>
            <a:r>
              <a:rPr lang="en-US" sz="2400" dirty="0" smtClean="0">
                <a:latin typeface="+mn-lt"/>
              </a:rPr>
              <a:t>men/women </a:t>
            </a:r>
          </a:p>
          <a:p>
            <a:pPr marL="342900">
              <a:defRPr/>
            </a:pPr>
            <a:r>
              <a:rPr lang="en-US" sz="2800" b="1" dirty="0" smtClean="0">
                <a:latin typeface="+mn-lt"/>
              </a:rPr>
              <a:t>Class </a:t>
            </a:r>
            <a:endParaRPr lang="en-US" sz="2800" dirty="0" smtClean="0">
              <a:latin typeface="+mn-lt"/>
            </a:endParaRPr>
          </a:p>
          <a:p>
            <a:pPr marL="740664" indent="-283464">
              <a:buFont typeface="Arial" panose="020B0604020202020204" pitchFamily="34" charset="0"/>
              <a:buChar char="−"/>
              <a:defRPr/>
            </a:pPr>
            <a:r>
              <a:rPr lang="en-US" sz="2400" dirty="0" smtClean="0">
                <a:latin typeface="+mn-lt"/>
              </a:rPr>
              <a:t> based on wealth and access to resources </a:t>
            </a:r>
          </a:p>
          <a:p>
            <a:pPr marL="342900">
              <a:defRPr/>
            </a:pPr>
            <a:r>
              <a:rPr lang="en-US" sz="2800" b="1" dirty="0" smtClean="0">
                <a:latin typeface="+mn-lt"/>
              </a:rPr>
              <a:t>Sexuality </a:t>
            </a:r>
            <a:endParaRPr lang="en-US" sz="2800" dirty="0" smtClean="0">
              <a:latin typeface="+mn-lt"/>
            </a:endParaRPr>
          </a:p>
        </p:txBody>
      </p:sp>
      <p:sp>
        <p:nvSpPr>
          <p:cNvPr id="28675" name="Rectangle 2"/>
          <p:cNvSpPr txBox="1">
            <a:spLocks noChangeArrowheads="1"/>
          </p:cNvSpPr>
          <p:nvPr/>
        </p:nvSpPr>
        <p:spPr bwMode="auto">
          <a:xfrm>
            <a:off x="381000" y="152400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sz="2800" b="1" dirty="0">
                <a:solidFill>
                  <a:srgbClr val="5E6EBA"/>
                </a:solidFill>
                <a:latin typeface="+mj-lt"/>
              </a:rPr>
              <a:t>Cultural Practices, Social Differences, and Identity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1214" y="975360"/>
            <a:ext cx="2815011" cy="19202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3038" y="2153530"/>
            <a:ext cx="2360075" cy="295351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8324" y="3711551"/>
            <a:ext cx="2272284" cy="2880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 txBox="1">
            <a:spLocks noChangeArrowheads="1"/>
          </p:cNvSpPr>
          <p:nvPr/>
        </p:nvSpPr>
        <p:spPr bwMode="auto">
          <a:xfrm>
            <a:off x="369277" y="1115280"/>
            <a:ext cx="6887308" cy="126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95288" indent="-342900"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ヒラギノ角ゴ Pro W3" pitchFamily="127" charset="-128"/>
                <a:cs typeface="Arial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9pPr>
          </a:lstStyle>
          <a:p>
            <a:pPr marL="342900" eaLnBrk="1" hangingPunct="1">
              <a:lnSpc>
                <a:spcPct val="90000"/>
              </a:lnSpc>
              <a:spcBef>
                <a:spcPts val="675"/>
              </a:spcBef>
              <a:defRPr/>
            </a:pPr>
            <a:r>
              <a:rPr lang="en-US" altLang="en-US" sz="2800" dirty="0" smtClean="0">
                <a:solidFill>
                  <a:srgbClr val="000000"/>
                </a:solidFill>
                <a:latin typeface="+mn-lt"/>
              </a:rPr>
              <a:t>Uneven distribution</a:t>
            </a:r>
          </a:p>
          <a:p>
            <a:pPr marL="740664" indent="-283464" eaLnBrk="1" hangingPunct="1">
              <a:lnSpc>
                <a:spcPct val="90000"/>
              </a:lnSpc>
              <a:spcBef>
                <a:spcPts val="675"/>
              </a:spcBef>
              <a:buFont typeface="Arial" panose="020B0604020202020204" pitchFamily="34" charset="0"/>
              <a:buChar char="−"/>
              <a:defRPr/>
            </a:pPr>
            <a:r>
              <a:rPr lang="en-US" altLang="en-US" sz="2400" dirty="0" smtClean="0">
                <a:solidFill>
                  <a:srgbClr val="000000"/>
                </a:solidFill>
                <a:latin typeface="+mn-lt"/>
              </a:rPr>
              <a:t>7 billion global population</a:t>
            </a:r>
            <a:endParaRPr lang="en-US" altLang="en-US" sz="2400" dirty="0" smtClean="0">
              <a:latin typeface="+mn-lt"/>
            </a:endParaRPr>
          </a:p>
        </p:txBody>
      </p:sp>
      <p:sp>
        <p:nvSpPr>
          <p:cNvPr id="29699" name="Rectangle 2"/>
          <p:cNvSpPr txBox="1">
            <a:spLocks noChangeArrowheads="1"/>
          </p:cNvSpPr>
          <p:nvPr/>
        </p:nvSpPr>
        <p:spPr bwMode="auto">
          <a:xfrm>
            <a:off x="381000" y="152400"/>
            <a:ext cx="6629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sz="2800" b="1" dirty="0">
                <a:solidFill>
                  <a:srgbClr val="5E6EBA"/>
                </a:solidFill>
                <a:latin typeface="+mj-lt"/>
              </a:rPr>
              <a:t>Demography and Urbanization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2736" y="2071467"/>
            <a:ext cx="8249407" cy="441139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 txBox="1">
            <a:spLocks noChangeArrowheads="1"/>
          </p:cNvSpPr>
          <p:nvPr/>
        </p:nvSpPr>
        <p:spPr bwMode="auto">
          <a:xfrm>
            <a:off x="369277" y="1137138"/>
            <a:ext cx="6459538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95288" indent="-342900"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ヒラギノ角ゴ Pro W3" pitchFamily="127" charset="-128"/>
                <a:cs typeface="Arial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2pPr>
            <a:lvl3pPr marL="1200150" indent="-28575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9pPr>
          </a:lstStyle>
          <a:p>
            <a:pPr marL="349250" eaLnBrk="1" hangingPunct="1">
              <a:lnSpc>
                <a:spcPct val="90000"/>
              </a:lnSpc>
              <a:defRPr/>
            </a:pPr>
            <a:r>
              <a:rPr lang="en-US" altLang="en-US" sz="2600" b="1" dirty="0" smtClean="0">
                <a:solidFill>
                  <a:srgbClr val="000000"/>
                </a:solidFill>
                <a:latin typeface="+mn-lt"/>
              </a:rPr>
              <a:t>Megacities</a:t>
            </a:r>
          </a:p>
          <a:p>
            <a:pPr marL="740664" indent="-283464" eaLnBrk="1" hangingPunct="1">
              <a:lnSpc>
                <a:spcPct val="90000"/>
              </a:lnSpc>
              <a:buFont typeface="Arial" panose="020B0604020202020204" pitchFamily="34" charset="0"/>
              <a:buChar char="−"/>
              <a:defRPr/>
            </a:pPr>
            <a:r>
              <a:rPr lang="en-US" altLang="en-US" sz="2200" dirty="0" smtClean="0">
                <a:solidFill>
                  <a:srgbClr val="000000"/>
                </a:solidFill>
                <a:latin typeface="+mn-lt"/>
              </a:rPr>
              <a:t>rural to urban migrations</a:t>
            </a:r>
          </a:p>
          <a:p>
            <a:pPr marL="740664" indent="-283464" eaLnBrk="1" hangingPunct="1">
              <a:lnSpc>
                <a:spcPct val="90000"/>
              </a:lnSpc>
              <a:buFont typeface="Arial" panose="020B0604020202020204" pitchFamily="34" charset="0"/>
              <a:buChar char="−"/>
              <a:defRPr/>
            </a:pPr>
            <a:r>
              <a:rPr lang="en-US" altLang="en-US" sz="2200" b="1" dirty="0" smtClean="0">
                <a:solidFill>
                  <a:srgbClr val="000000"/>
                </a:solidFill>
                <a:latin typeface="+mn-lt"/>
              </a:rPr>
              <a:t>birth rates</a:t>
            </a:r>
          </a:p>
          <a:p>
            <a:pPr marL="740664" indent="-283464" eaLnBrk="1" hangingPunct="1">
              <a:lnSpc>
                <a:spcPct val="90000"/>
              </a:lnSpc>
              <a:buFont typeface="Arial" panose="020B0604020202020204" pitchFamily="34" charset="0"/>
              <a:buChar char="−"/>
              <a:defRPr/>
            </a:pPr>
            <a:r>
              <a:rPr lang="en-US" altLang="en-US" sz="2200" b="1" dirty="0" smtClean="0">
                <a:solidFill>
                  <a:srgbClr val="000000"/>
                </a:solidFill>
                <a:latin typeface="+mn-lt"/>
              </a:rPr>
              <a:t>death rates</a:t>
            </a:r>
          </a:p>
          <a:p>
            <a:pPr marL="740664" indent="-283464" eaLnBrk="1" hangingPunct="1">
              <a:lnSpc>
                <a:spcPct val="90000"/>
              </a:lnSpc>
              <a:buFont typeface="Arial" panose="020B0604020202020204" pitchFamily="34" charset="0"/>
              <a:buChar char="−"/>
              <a:defRPr/>
            </a:pPr>
            <a:r>
              <a:rPr lang="en-US" altLang="en-US" sz="2200" b="1" dirty="0" smtClean="0">
                <a:solidFill>
                  <a:srgbClr val="000000"/>
                </a:solidFill>
                <a:latin typeface="+mn-lt"/>
              </a:rPr>
              <a:t>population pyramids</a:t>
            </a:r>
          </a:p>
        </p:txBody>
      </p:sp>
      <p:sp>
        <p:nvSpPr>
          <p:cNvPr id="30723" name="Rectangle 2"/>
          <p:cNvSpPr txBox="1">
            <a:spLocks noChangeArrowheads="1"/>
          </p:cNvSpPr>
          <p:nvPr/>
        </p:nvSpPr>
        <p:spPr bwMode="auto">
          <a:xfrm>
            <a:off x="381000" y="152400"/>
            <a:ext cx="6629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sz="2800" b="1" dirty="0">
                <a:solidFill>
                  <a:srgbClr val="5E6EBA"/>
                </a:solidFill>
                <a:latin typeface="+mj-lt"/>
              </a:rPr>
              <a:t>Demography and Urbanization, (</a:t>
            </a:r>
            <a:r>
              <a:rPr lang="en-US" sz="2800" b="1" dirty="0" err="1">
                <a:solidFill>
                  <a:srgbClr val="5E6EBA"/>
                </a:solidFill>
                <a:latin typeface="+mj-lt"/>
              </a:rPr>
              <a:t>cont</a:t>
            </a:r>
            <a:r>
              <a:rPr lang="en-US" sz="2800" b="1" dirty="0">
                <a:solidFill>
                  <a:srgbClr val="5E6EBA"/>
                </a:solidFill>
                <a:latin typeface="+mj-lt"/>
              </a:rPr>
              <a:t>) </a:t>
            </a:r>
            <a:endParaRPr lang="en-US" sz="1800" b="1" dirty="0">
              <a:solidFill>
                <a:srgbClr val="5E6EBA"/>
              </a:solidFill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07477" y="3247291"/>
            <a:ext cx="6365854" cy="325882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06749" y="927990"/>
            <a:ext cx="4940240" cy="220207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 txBox="1">
            <a:spLocks noChangeArrowheads="1"/>
          </p:cNvSpPr>
          <p:nvPr/>
        </p:nvSpPr>
        <p:spPr bwMode="auto">
          <a:xfrm>
            <a:off x="369277" y="1080111"/>
            <a:ext cx="8404225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200150" indent="-28575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marL="342900" indent="-342900" algn="l">
              <a:spcBef>
                <a:spcPct val="20000"/>
              </a:spcBef>
              <a:buFontTx/>
              <a:buChar char="•"/>
            </a:pPr>
            <a:r>
              <a:rPr lang="en-US" sz="2800" b="1" dirty="0">
                <a:latin typeface="+mn-lt"/>
              </a:rPr>
              <a:t>Demographic transition </a:t>
            </a:r>
            <a:endParaRPr lang="en-US" sz="2800" dirty="0">
              <a:latin typeface="+mn-lt"/>
            </a:endParaRPr>
          </a:p>
          <a:p>
            <a:pPr marL="740664" indent="-283464" algn="l">
              <a:spcBef>
                <a:spcPct val="20000"/>
              </a:spcBef>
              <a:buFont typeface="Arial" charset="0"/>
              <a:buChar char="−"/>
            </a:pPr>
            <a:r>
              <a:rPr lang="en-US" sz="2400" dirty="0">
                <a:latin typeface="+mn-lt"/>
              </a:rPr>
              <a:t>predicts patterns of change over time </a:t>
            </a:r>
          </a:p>
          <a:p>
            <a:pPr marL="740664" indent="-283464" algn="l">
              <a:spcBef>
                <a:spcPct val="20000"/>
              </a:spcBef>
              <a:buFont typeface="Arial" charset="0"/>
              <a:buChar char="−"/>
            </a:pPr>
            <a:r>
              <a:rPr lang="en-US" sz="2400" dirty="0">
                <a:latin typeface="+mn-lt"/>
              </a:rPr>
              <a:t>women</a:t>
            </a:r>
            <a:r>
              <a:rPr lang="ja-JP" altLang="en-US" sz="2400" dirty="0">
                <a:latin typeface="+mn-lt"/>
              </a:rPr>
              <a:t>’</a:t>
            </a:r>
            <a:r>
              <a:rPr lang="en-US" sz="2400" dirty="0">
                <a:latin typeface="+mn-lt"/>
              </a:rPr>
              <a:t>s status and fertility </a:t>
            </a:r>
          </a:p>
          <a:p>
            <a:pPr marL="342900" indent="-342900" algn="l">
              <a:spcBef>
                <a:spcPct val="20000"/>
              </a:spcBef>
              <a:buFontTx/>
              <a:buChar char="•"/>
            </a:pPr>
            <a:r>
              <a:rPr lang="en-US" sz="2800" b="1" dirty="0">
                <a:latin typeface="+mn-lt"/>
              </a:rPr>
              <a:t>Population pyramids </a:t>
            </a:r>
            <a:endParaRPr lang="en-US" sz="2800" dirty="0">
              <a:latin typeface="+mn-lt"/>
            </a:endParaRPr>
          </a:p>
        </p:txBody>
      </p:sp>
      <p:sp>
        <p:nvSpPr>
          <p:cNvPr id="31747" name="Rectangle 2"/>
          <p:cNvSpPr txBox="1">
            <a:spLocks noChangeArrowheads="1"/>
          </p:cNvSpPr>
          <p:nvPr/>
        </p:nvSpPr>
        <p:spPr bwMode="auto">
          <a:xfrm>
            <a:off x="381000" y="152400"/>
            <a:ext cx="6629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sz="2800" b="1" dirty="0">
                <a:solidFill>
                  <a:srgbClr val="5E6EBA"/>
                </a:solidFill>
                <a:latin typeface="+mj-lt"/>
              </a:rPr>
              <a:t>Modeling Demographic Change</a:t>
            </a:r>
            <a:endParaRPr lang="en-US" sz="1800" b="1" dirty="0">
              <a:solidFill>
                <a:srgbClr val="5E6EBA"/>
              </a:solidFill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2631" y="3054979"/>
            <a:ext cx="8017516" cy="345854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 txBox="1">
            <a:spLocks/>
          </p:cNvSpPr>
          <p:nvPr/>
        </p:nvSpPr>
        <p:spPr bwMode="auto">
          <a:xfrm>
            <a:off x="381000" y="152401"/>
            <a:ext cx="8229600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175" indent="-3175"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2800" b="1" dirty="0">
                <a:solidFill>
                  <a:srgbClr val="5E6EBA"/>
                </a:solidFill>
                <a:latin typeface="+mj-lt"/>
              </a:rPr>
              <a:t>Future Geographies</a:t>
            </a:r>
          </a:p>
        </p:txBody>
      </p:sp>
      <p:sp>
        <p:nvSpPr>
          <p:cNvPr id="32771" name="Content Placeholder 4"/>
          <p:cNvSpPr txBox="1">
            <a:spLocks/>
          </p:cNvSpPr>
          <p:nvPr/>
        </p:nvSpPr>
        <p:spPr bwMode="auto">
          <a:xfrm>
            <a:off x="381000" y="748690"/>
            <a:ext cx="7350125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95288" indent="-342900"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ヒラギノ角ゴ Pro W3" pitchFamily="127" charset="-128"/>
                <a:cs typeface="Arial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9pPr>
          </a:lstStyle>
          <a:p>
            <a:pPr marL="342900">
              <a:defRPr/>
            </a:pPr>
            <a:r>
              <a:rPr lang="en-US" sz="2600" b="1" dirty="0" smtClean="0">
                <a:latin typeface="+mn-lt"/>
              </a:rPr>
              <a:t>Population Boom or Bust? </a:t>
            </a:r>
            <a:endParaRPr lang="en-US" sz="2600" dirty="0" smtClean="0">
              <a:latin typeface="+mn-lt"/>
            </a:endParaRPr>
          </a:p>
          <a:p>
            <a:pPr marL="740664" indent="-283464">
              <a:buFont typeface="Arial" panose="020B0604020202020204" pitchFamily="34" charset="0"/>
              <a:buChar char="−"/>
              <a:defRPr/>
            </a:pPr>
            <a:r>
              <a:rPr lang="en-US" sz="2200" dirty="0" smtClean="0">
                <a:latin typeface="+mn-lt"/>
              </a:rPr>
              <a:t>regional decreases </a:t>
            </a:r>
          </a:p>
          <a:p>
            <a:pPr marL="740664" indent="-283464">
              <a:buFont typeface="Arial" panose="020B0604020202020204" pitchFamily="34" charset="0"/>
              <a:buChar char="−"/>
              <a:defRPr/>
            </a:pPr>
            <a:r>
              <a:rPr lang="en-US" sz="2200" dirty="0" smtClean="0">
                <a:latin typeface="+mn-lt"/>
              </a:rPr>
              <a:t>regional increases </a:t>
            </a:r>
          </a:p>
          <a:p>
            <a:pPr marL="342900">
              <a:defRPr/>
            </a:pPr>
            <a:r>
              <a:rPr lang="en-US" sz="2600" b="1" dirty="0" smtClean="0">
                <a:latin typeface="+mn-lt"/>
              </a:rPr>
              <a:t>Emerging Resource Regions </a:t>
            </a:r>
            <a:endParaRPr lang="en-US" sz="2600" dirty="0" smtClean="0">
              <a:latin typeface="+mn-lt"/>
            </a:endParaRPr>
          </a:p>
          <a:p>
            <a:pPr marL="740664" indent="-283464">
              <a:buFont typeface="Arial" panose="020B0604020202020204" pitchFamily="34" charset="0"/>
              <a:buChar char="−"/>
              <a:defRPr/>
            </a:pPr>
            <a:r>
              <a:rPr lang="en-US" sz="2200" dirty="0" smtClean="0">
                <a:latin typeface="+mn-lt"/>
              </a:rPr>
              <a:t>globalization of resources </a:t>
            </a:r>
          </a:p>
          <a:p>
            <a:pPr marL="740664" indent="-283464">
              <a:buFont typeface="Arial" panose="020B0604020202020204" pitchFamily="34" charset="0"/>
              <a:buChar char="−"/>
              <a:defRPr/>
            </a:pPr>
            <a:r>
              <a:rPr lang="en-US" sz="2200" dirty="0" smtClean="0">
                <a:latin typeface="+mn-lt"/>
              </a:rPr>
              <a:t>new resource regions </a:t>
            </a:r>
            <a:endParaRPr lang="en-US" altLang="en-US" sz="2200" dirty="0" smtClean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95046" y="3281985"/>
            <a:ext cx="6435970" cy="331540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 txBox="1">
            <a:spLocks noChangeArrowheads="1"/>
          </p:cNvSpPr>
          <p:nvPr/>
        </p:nvSpPr>
        <p:spPr bwMode="auto">
          <a:xfrm>
            <a:off x="381000" y="152400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sz="2800" b="1" dirty="0">
                <a:solidFill>
                  <a:srgbClr val="5E6EBA"/>
                </a:solidFill>
                <a:latin typeface="+mj-lt"/>
              </a:rPr>
              <a:t>Economic Globalization and Challenges to Regional Governance </a:t>
            </a:r>
          </a:p>
        </p:txBody>
      </p:sp>
      <p:sp>
        <p:nvSpPr>
          <p:cNvPr id="33795" name="Rectangle 3"/>
          <p:cNvSpPr txBox="1">
            <a:spLocks noChangeArrowheads="1"/>
          </p:cNvSpPr>
          <p:nvPr/>
        </p:nvSpPr>
        <p:spPr bwMode="auto">
          <a:xfrm>
            <a:off x="380999" y="1343179"/>
            <a:ext cx="7836877" cy="486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95288" indent="-342900"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ea typeface="ヒラギノ角ゴ Pro W3" pitchFamily="127" charset="-128"/>
                <a:cs typeface="Arial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2pPr>
            <a:lvl3pPr marL="1200150" indent="-28575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9pPr>
          </a:lstStyle>
          <a:p>
            <a:pPr marL="342900">
              <a:defRPr/>
            </a:pPr>
            <a:r>
              <a:rPr lang="en-US" sz="2800" dirty="0" smtClean="0">
                <a:latin typeface="+mn-lt"/>
              </a:rPr>
              <a:t>Supranational </a:t>
            </a:r>
            <a:br>
              <a:rPr lang="en-US" sz="2800" dirty="0" smtClean="0">
                <a:latin typeface="+mn-lt"/>
              </a:rPr>
            </a:br>
            <a:r>
              <a:rPr lang="en-US" sz="2800" dirty="0" smtClean="0">
                <a:latin typeface="+mn-lt"/>
              </a:rPr>
              <a:t>organizations </a:t>
            </a:r>
          </a:p>
          <a:p>
            <a:pPr marL="740664" indent="-283464">
              <a:buFont typeface="Arial" panose="020B0604020202020204" pitchFamily="34" charset="0"/>
              <a:buChar char="−"/>
              <a:defRPr/>
            </a:pPr>
            <a:r>
              <a:rPr lang="en-US" sz="2400" dirty="0" smtClean="0">
                <a:latin typeface="+mn-lt"/>
              </a:rPr>
              <a:t>NAFTA </a:t>
            </a:r>
          </a:p>
          <a:p>
            <a:pPr marL="740664" indent="-283464">
              <a:buFont typeface="Arial" panose="020B0604020202020204" pitchFamily="34" charset="0"/>
              <a:buChar char="−"/>
              <a:defRPr/>
            </a:pPr>
            <a:r>
              <a:rPr lang="en-US" sz="2400" dirty="0" smtClean="0">
                <a:latin typeface="+mn-lt"/>
              </a:rPr>
              <a:t>EU </a:t>
            </a:r>
          </a:p>
          <a:p>
            <a:pPr marL="740664" indent="-283464">
              <a:buFont typeface="Arial" panose="020B0604020202020204" pitchFamily="34" charset="0"/>
              <a:buChar char="−"/>
              <a:defRPr/>
            </a:pPr>
            <a:r>
              <a:rPr lang="en-US" sz="2400" dirty="0" smtClean="0">
                <a:latin typeface="+mn-lt"/>
              </a:rPr>
              <a:t>WTO </a:t>
            </a:r>
          </a:p>
          <a:p>
            <a:pPr marL="349250">
              <a:defRPr/>
            </a:pPr>
            <a:r>
              <a:rPr lang="en-US" sz="2800" dirty="0" smtClean="0">
                <a:latin typeface="+mn-lt"/>
              </a:rPr>
              <a:t>Goal of creating </a:t>
            </a:r>
            <a:br>
              <a:rPr lang="en-US" sz="2800" dirty="0" smtClean="0">
                <a:latin typeface="+mn-lt"/>
              </a:rPr>
            </a:br>
            <a:r>
              <a:rPr lang="en-US" sz="2800" dirty="0" smtClean="0">
                <a:latin typeface="+mn-lt"/>
              </a:rPr>
              <a:t>global trading areas </a:t>
            </a:r>
          </a:p>
          <a:p>
            <a:pPr marL="740664" indent="-283464">
              <a:buFont typeface="Arial" panose="020B0604020202020204" pitchFamily="34" charset="0"/>
              <a:buChar char="−"/>
              <a:defRPr/>
            </a:pPr>
            <a:r>
              <a:rPr lang="en-US" sz="2400" dirty="0" smtClean="0">
                <a:latin typeface="+mn-lt"/>
              </a:rPr>
              <a:t>states/cities increasingly making connections with supranational organizations </a:t>
            </a:r>
            <a:endParaRPr lang="en-US" altLang="en-US" sz="2400" dirty="0" smtClean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1820" y="1389675"/>
            <a:ext cx="4947555" cy="277063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 txBox="1">
            <a:spLocks/>
          </p:cNvSpPr>
          <p:nvPr/>
        </p:nvSpPr>
        <p:spPr bwMode="auto">
          <a:xfrm>
            <a:off x="381000" y="152400"/>
            <a:ext cx="8229600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2800" b="1" dirty="0">
                <a:solidFill>
                  <a:srgbClr val="5E6EBA"/>
                </a:solidFill>
                <a:latin typeface="+mj-lt"/>
              </a:rPr>
              <a:t>New Regions of Insecurity and Crime </a:t>
            </a:r>
          </a:p>
        </p:txBody>
      </p:sp>
      <p:sp>
        <p:nvSpPr>
          <p:cNvPr id="3" name="Content Placeholder 4"/>
          <p:cNvSpPr txBox="1">
            <a:spLocks/>
          </p:cNvSpPr>
          <p:nvPr/>
        </p:nvSpPr>
        <p:spPr>
          <a:xfrm>
            <a:off x="381000" y="1080111"/>
            <a:ext cx="7686675" cy="2133600"/>
          </a:xfrm>
          <a:prstGeom prst="rect">
            <a:avLst/>
          </a:prstGeom>
        </p:spPr>
        <p:txBody>
          <a:bodyPr/>
          <a:lstStyle/>
          <a:p>
            <a:pPr marL="347663" indent="-347663" algn="l">
              <a:buFont typeface="Arial" panose="020B0604020202020204" pitchFamily="34" charset="0"/>
              <a:buChar char="•"/>
              <a:defRPr/>
            </a:pPr>
            <a:r>
              <a:rPr lang="en-US" sz="2800" dirty="0" smtClean="0">
                <a:solidFill>
                  <a:srgbClr val="000000"/>
                </a:solidFill>
                <a:latin typeface="+mn-lt"/>
                <a:ea typeface="ヒラギノ角ゴ Pro W3" pitchFamily="127" charset="-128"/>
                <a:cs typeface="+mn-cs"/>
              </a:rPr>
              <a:t>Internationalization </a:t>
            </a:r>
            <a:r>
              <a:rPr lang="en-US" sz="2800" dirty="0">
                <a:solidFill>
                  <a:srgbClr val="000000"/>
                </a:solidFill>
                <a:latin typeface="+mn-lt"/>
                <a:ea typeface="ヒラギノ角ゴ Pro W3" pitchFamily="127" charset="-128"/>
                <a:cs typeface="+mn-cs"/>
              </a:rPr>
              <a:t>of crime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600" y="1777217"/>
            <a:ext cx="8534400" cy="448290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 txBox="1">
            <a:spLocks noChangeArrowheads="1"/>
          </p:cNvSpPr>
          <p:nvPr/>
        </p:nvSpPr>
        <p:spPr bwMode="auto">
          <a:xfrm>
            <a:off x="381000" y="153988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sz="2800" b="1" dirty="0">
                <a:solidFill>
                  <a:srgbClr val="5E6EBA"/>
                </a:solidFill>
                <a:latin typeface="+mj-lt"/>
              </a:rPr>
              <a:t>Future Environmental Threats and Global Sustainability </a:t>
            </a:r>
          </a:p>
        </p:txBody>
      </p:sp>
      <p:sp>
        <p:nvSpPr>
          <p:cNvPr id="3" name="Rectangle 4"/>
          <p:cNvSpPr txBox="1">
            <a:spLocks noChangeArrowheads="1"/>
          </p:cNvSpPr>
          <p:nvPr/>
        </p:nvSpPr>
        <p:spPr>
          <a:xfrm>
            <a:off x="381000" y="1293936"/>
            <a:ext cx="4549775" cy="4618038"/>
          </a:xfrm>
          <a:prstGeom prst="rect">
            <a:avLst/>
          </a:prstGeom>
        </p:spPr>
        <p:txBody>
          <a:bodyPr/>
          <a:lstStyle/>
          <a:p>
            <a:pPr marL="342900" indent="-342900" algn="l" eaLnBrk="1" hangingPunct="1">
              <a:lnSpc>
                <a:spcPct val="12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800" kern="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Multiple threats to the environment</a:t>
            </a:r>
          </a:p>
          <a:p>
            <a:pPr marL="740664" indent="-283464" algn="l"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−"/>
              <a:defRPr/>
            </a:pPr>
            <a:r>
              <a:rPr lang="en-US" sz="2400" kern="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loss of biodiversity</a:t>
            </a:r>
          </a:p>
          <a:p>
            <a:pPr marL="740664" indent="-283464" algn="l"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−"/>
              <a:defRPr/>
            </a:pPr>
            <a:r>
              <a:rPr lang="en-US" sz="2400" kern="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water and air pollution</a:t>
            </a:r>
          </a:p>
          <a:p>
            <a:pPr marL="740664" indent="-283464" algn="l"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−"/>
              <a:defRPr/>
            </a:pPr>
            <a:r>
              <a:rPr lang="en-US" sz="2400" kern="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greenhouse gas emissions</a:t>
            </a:r>
          </a:p>
          <a:p>
            <a:pPr marL="342900" indent="-342900" algn="l" eaLnBrk="1" hangingPunct="1">
              <a:lnSpc>
                <a:spcPct val="12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800" b="1" kern="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Geoengineering</a:t>
            </a:r>
          </a:p>
          <a:p>
            <a:pPr marL="740664" indent="-283464" algn="l"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−"/>
              <a:defRPr/>
            </a:pPr>
            <a:r>
              <a:rPr lang="en-US" sz="2400" kern="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block incoming sunlight</a:t>
            </a:r>
          </a:p>
          <a:p>
            <a:pPr marL="740664" indent="-283464" algn="l"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−"/>
              <a:defRPr/>
            </a:pPr>
            <a:r>
              <a:rPr lang="en-US" sz="2400" kern="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carbon storage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68488" y="1670238"/>
            <a:ext cx="4763789" cy="367724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533400" y="2819400"/>
            <a:ext cx="8229600" cy="1139825"/>
          </a:xfrm>
          <a:prstGeom prst="rect">
            <a:avLst/>
          </a:prstGeom>
        </p:spPr>
        <p:txBody>
          <a:bodyPr/>
          <a:lstStyle/>
          <a:p>
            <a:pPr algn="ctr" eaLnBrk="1" hangingPunct="1">
              <a:defRPr/>
            </a:pPr>
            <a:r>
              <a:rPr lang="en-US" sz="4400" b="1" dirty="0">
                <a:solidFill>
                  <a:srgbClr val="5E6EBA"/>
                </a:solidFill>
                <a:latin typeface="+mj-lt"/>
                <a:ea typeface="ヒラギノ角ゴ Pro W3" pitchFamily="127" charset="-128"/>
                <a:cs typeface="+mn-cs"/>
              </a:rPr>
              <a:t>End of Chapter 1 </a:t>
            </a:r>
            <a:endParaRPr lang="en-US" sz="4400" b="1" kern="0" dirty="0">
              <a:solidFill>
                <a:srgbClr val="5E6EBA"/>
              </a:solidFill>
              <a:latin typeface="+mj-lt"/>
              <a:ea typeface="ＭＳ Ｐゴシック" pitchFamily="34" charset="-128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8.0&quot;&gt;&lt;object type=&quot;1&quot; unique_id=&quot;10001&quot;&gt;&lt;object type=&quot;2&quot; unique_id=&quot;10482&quot;&gt;&lt;object type=&quot;3&quot; unique_id=&quot;10483&quot;&gt;&lt;property id=&quot;20148&quot; value=&quot;5&quot;/&gt;&lt;property id=&quot;20300&quot; value=&quot;Slide 1&quot;/&gt;&lt;property id=&quot;20307&quot; value=&quot;256&quot;/&gt;&lt;/object&gt;&lt;object type=&quot;3&quot; unique_id=&quot;10484&quot;&gt;&lt;property id=&quot;20148&quot; value=&quot;5&quot;/&gt;&lt;property id=&quot;20300&quot; value=&quot;Slide 2&quot;/&gt;&lt;property id=&quot;20307&quot; value=&quot;258&quot;/&gt;&lt;/object&gt;&lt;object type=&quot;3&quot; unique_id=&quot;10485&quot;&gt;&lt;property id=&quot;20148&quot; value=&quot;5&quot;/&gt;&lt;property id=&quot;20300&quot; value=&quot;Slide 3&quot;/&gt;&lt;property id=&quot;20307&quot; value=&quot;263&quot;/&gt;&lt;/object&gt;&lt;object type=&quot;3&quot; unique_id=&quot;10486&quot;&gt;&lt;property id=&quot;20148&quot; value=&quot;5&quot;/&gt;&lt;property id=&quot;20300&quot; value=&quot;Slide 4&quot;/&gt;&lt;property id=&quot;20307&quot; value=&quot;264&quot;/&gt;&lt;/object&gt;&lt;object type=&quot;3&quot; unique_id=&quot;10487&quot;&gt;&lt;property id=&quot;20148&quot; value=&quot;5&quot;/&gt;&lt;property id=&quot;20300&quot; value=&quot;Slide 5&quot;/&gt;&lt;property id=&quot;20307&quot; value=&quot;265&quot;/&gt;&lt;/object&gt;&lt;object type=&quot;3&quot; unique_id=&quot;10488&quot;&gt;&lt;property id=&quot;20148&quot; value=&quot;5&quot;/&gt;&lt;property id=&quot;20300&quot; value=&quot;Slide 6&quot;/&gt;&lt;property id=&quot;20307&quot; value=&quot;295&quot;/&gt;&lt;/object&gt;&lt;object type=&quot;3&quot; unique_id=&quot;10489&quot;&gt;&lt;property id=&quot;20148&quot; value=&quot;5&quot;/&gt;&lt;property id=&quot;20300&quot; value=&quot;Slide 7&quot;/&gt;&lt;property id=&quot;20307&quot; value=&quot;296&quot;/&gt;&lt;/object&gt;&lt;object type=&quot;3&quot; unique_id=&quot;10490&quot;&gt;&lt;property id=&quot;20148&quot; value=&quot;5&quot;/&gt;&lt;property id=&quot;20300&quot; value=&quot;Slide 8&quot;/&gt;&lt;property id=&quot;20307&quot; value=&quot;297&quot;/&gt;&lt;/object&gt;&lt;object type=&quot;3&quot; unique_id=&quot;10491&quot;&gt;&lt;property id=&quot;20148&quot; value=&quot;5&quot;/&gt;&lt;property id=&quot;20300&quot; value=&quot;Slide 9&quot;/&gt;&lt;property id=&quot;20307&quot; value=&quot;298&quot;/&gt;&lt;/object&gt;&lt;object type=&quot;3&quot; unique_id=&quot;10492&quot;&gt;&lt;property id=&quot;20148&quot; value=&quot;5&quot;/&gt;&lt;property id=&quot;20300&quot; value=&quot;Slide 10&quot;/&gt;&lt;property id=&quot;20307&quot; value=&quot;271&quot;/&gt;&lt;/object&gt;&lt;object type=&quot;3&quot; unique_id=&quot;10493&quot;&gt;&lt;property id=&quot;20148&quot; value=&quot;5&quot;/&gt;&lt;property id=&quot;20300&quot; value=&quot;Slide 11&quot;/&gt;&lt;property id=&quot;20307&quot; value=&quot;272&quot;/&gt;&lt;/object&gt;&lt;object type=&quot;3&quot; unique_id=&quot;10494&quot;&gt;&lt;property id=&quot;20148&quot; value=&quot;5&quot;/&gt;&lt;property id=&quot;20300&quot; value=&quot;Slide 12&quot;/&gt;&lt;property id=&quot;20307&quot; value=&quot;273&quot;/&gt;&lt;/object&gt;&lt;object type=&quot;3&quot; unique_id=&quot;10495&quot;&gt;&lt;property id=&quot;20148&quot; value=&quot;5&quot;/&gt;&lt;property id=&quot;20300&quot; value=&quot;Slide 13&quot;/&gt;&lt;property id=&quot;20307&quot; value=&quot;299&quot;/&gt;&lt;/object&gt;&lt;object type=&quot;3&quot; unique_id=&quot;10496&quot;&gt;&lt;property id=&quot;20148&quot; value=&quot;5&quot;/&gt;&lt;property id=&quot;20300&quot; value=&quot;Slide 14&quot;/&gt;&lt;property id=&quot;20307&quot; value=&quot;301&quot;/&gt;&lt;/object&gt;&lt;object type=&quot;3&quot; unique_id=&quot;10497&quot;&gt;&lt;property id=&quot;20148&quot; value=&quot;5&quot;/&gt;&lt;property id=&quot;20300&quot; value=&quot;Slide 15&quot;/&gt;&lt;property id=&quot;20307&quot; value=&quot;300&quot;/&gt;&lt;/object&gt;&lt;object type=&quot;3&quot; unique_id=&quot;10498&quot;&gt;&lt;property id=&quot;20148&quot; value=&quot;5&quot;/&gt;&lt;property id=&quot;20300&quot; value=&quot;Slide 16&quot;/&gt;&lt;property id=&quot;20307&quot; value=&quot;276&quot;/&gt;&lt;/object&gt;&lt;object type=&quot;3&quot; unique_id=&quot;10499&quot;&gt;&lt;property id=&quot;20148&quot; value=&quot;5&quot;/&gt;&lt;property id=&quot;20300&quot; value=&quot;Slide 17&quot;/&gt;&lt;property id=&quot;20307&quot; value=&quot;277&quot;/&gt;&lt;/object&gt;&lt;object type=&quot;3&quot; unique_id=&quot;10500&quot;&gt;&lt;property id=&quot;20148&quot; value=&quot;5&quot;/&gt;&lt;property id=&quot;20300&quot; value=&quot;Slide 18&quot;/&gt;&lt;property id=&quot;20307&quot; value=&quot;278&quot;/&gt;&lt;/object&gt;&lt;object type=&quot;3&quot; unique_id=&quot;10501&quot;&gt;&lt;property id=&quot;20148&quot; value=&quot;5&quot;/&gt;&lt;property id=&quot;20300&quot; value=&quot;Slide 19&quot;/&gt;&lt;property id=&quot;20307&quot; value=&quot;302&quot;/&gt;&lt;/object&gt;&lt;object type=&quot;3&quot; unique_id=&quot;10502&quot;&gt;&lt;property id=&quot;20148&quot; value=&quot;5&quot;/&gt;&lt;property id=&quot;20300&quot; value=&quot;Slide 20&quot;/&gt;&lt;property id=&quot;20307&quot; value=&quot;281&quot;/&gt;&lt;/object&gt;&lt;object type=&quot;3&quot; unique_id=&quot;10503&quot;&gt;&lt;property id=&quot;20148&quot; value=&quot;5&quot;/&gt;&lt;property id=&quot;20300&quot; value=&quot;Slide 21&quot;/&gt;&lt;property id=&quot;20307&quot; value=&quot;282&quot;/&gt;&lt;/object&gt;&lt;object type=&quot;3&quot; unique_id=&quot;10504&quot;&gt;&lt;property id=&quot;20148&quot; value=&quot;5&quot;/&gt;&lt;property id=&quot;20300&quot; value=&quot;Slide 22&quot;/&gt;&lt;property id=&quot;20307&quot; value=&quot;275&quot;/&gt;&lt;/object&gt;&lt;object type=&quot;3&quot; unique_id=&quot;10505&quot;&gt;&lt;property id=&quot;20148&quot; value=&quot;5&quot;/&gt;&lt;property id=&quot;20300&quot; value=&quot;Slide 23&quot;/&gt;&lt;property id=&quot;20307&quot; value=&quot;269&quot;/&gt;&lt;/object&gt;&lt;object type=&quot;3&quot; unique_id=&quot;10506&quot;&gt;&lt;property id=&quot;20148&quot; value=&quot;5&quot;/&gt;&lt;property id=&quot;20300&quot; value=&quot;Slide 24&quot;/&gt;&lt;property id=&quot;20307&quot; value=&quot;303&quot;/&gt;&lt;/object&gt;&lt;object type=&quot;3&quot; unique_id=&quot;10507&quot;&gt;&lt;property id=&quot;20148&quot; value=&quot;5&quot;/&gt;&lt;property id=&quot;20300&quot; value=&quot;Slide 25&quot;/&gt;&lt;property id=&quot;20307&quot; value=&quot;283&quot;/&gt;&lt;/object&gt;&lt;object type=&quot;3&quot; unique_id=&quot;10508&quot;&gt;&lt;property id=&quot;20148&quot; value=&quot;5&quot;/&gt;&lt;property id=&quot;20300&quot; value=&quot;Slide 26&quot;/&gt;&lt;property id=&quot;20307&quot; value=&quot;304&quot;/&gt;&lt;/object&gt;&lt;object type=&quot;3&quot; unique_id=&quot;10509&quot;&gt;&lt;property id=&quot;20148&quot; value=&quot;5&quot;/&gt;&lt;property id=&quot;20300&quot; value=&quot;Slide 27&quot;/&gt;&lt;property id=&quot;20307&quot; value=&quot;284&quot;/&gt;&lt;/object&gt;&lt;object type=&quot;3&quot; unique_id=&quot;10510&quot;&gt;&lt;property id=&quot;20148&quot; value=&quot;5&quot;/&gt;&lt;property id=&quot;20300&quot; value=&quot;Slide 28&quot;/&gt;&lt;property id=&quot;20307&quot; value=&quot;285&quot;/&gt;&lt;/object&gt;&lt;object type=&quot;3&quot; unique_id=&quot;10511&quot;&gt;&lt;property id=&quot;20148&quot; value=&quot;5&quot;/&gt;&lt;property id=&quot;20300&quot; value=&quot;Slide 29&quot;/&gt;&lt;property id=&quot;20307&quot; value=&quot;305&quot;/&gt;&lt;/object&gt;&lt;object type=&quot;3&quot; unique_id=&quot;10512&quot;&gt;&lt;property id=&quot;20148&quot; value=&quot;5&quot;/&gt;&lt;property id=&quot;20300&quot; value=&quot;Slide 30&quot;/&gt;&lt;property id=&quot;20307&quot; value=&quot;306&quot;/&gt;&lt;/object&gt;&lt;object type=&quot;3&quot; unique_id=&quot;10513&quot;&gt;&lt;property id=&quot;20148&quot; value=&quot;5&quot;/&gt;&lt;property id=&quot;20300&quot; value=&quot;Slide 31&quot;/&gt;&lt;property id=&quot;20307&quot; value=&quot;291&quot;/&gt;&lt;/object&gt;&lt;object type=&quot;3&quot; unique_id=&quot;10514&quot;&gt;&lt;property id=&quot;20148&quot; value=&quot;5&quot;/&gt;&lt;property id=&quot;20300&quot; value=&quot;Slide 32&quot;/&gt;&lt;property id=&quot;20307&quot; value=&quot;288&quot;/&gt;&lt;/object&gt;&lt;object type=&quot;3&quot; unique_id=&quot;10515&quot;&gt;&lt;property id=&quot;20148&quot; value=&quot;5&quot;/&gt;&lt;property id=&quot;20300&quot; value=&quot;Slide 33&quot;/&gt;&lt;property id=&quot;20307&quot; value=&quot;309&quot;/&gt;&lt;/object&gt;&lt;object type=&quot;3&quot; unique_id=&quot;10516&quot;&gt;&lt;property id=&quot;20148&quot; value=&quot;5&quot;/&gt;&lt;property id=&quot;20300&quot; value=&quot;Slide 34&quot;/&gt;&lt;property id=&quot;20307&quot; value=&quot;289&quot;/&gt;&lt;/object&gt;&lt;object type=&quot;3&quot; unique_id=&quot;10517&quot;&gt;&lt;property id=&quot;20148&quot; value=&quot;5&quot;/&gt;&lt;property id=&quot;20300&quot; value=&quot;Slide 35&quot;/&gt;&lt;property id=&quot;20307&quot; value=&quot;307&quot;/&gt;&lt;/object&gt;&lt;object type=&quot;3&quot; unique_id=&quot;10518&quot;&gt;&lt;property id=&quot;20148&quot; value=&quot;5&quot;/&gt;&lt;property id=&quot;20300&quot; value=&quot;Slide 36&quot;/&gt;&lt;property id=&quot;20307&quot; value=&quot;310&quot;/&gt;&lt;/object&gt;&lt;object type=&quot;3&quot; unique_id=&quot;10519&quot;&gt;&lt;property id=&quot;20148&quot; value=&quot;5&quot;/&gt;&lt;property id=&quot;20300&quot; value=&quot;Slide 37&quot;/&gt;&lt;property id=&quot;20307&quot; value=&quot;294&quot;/&gt;&lt;/object&gt;&lt;object type=&quot;3&quot; unique_id=&quot;10520&quot;&gt;&lt;property id=&quot;20148&quot; value=&quot;5&quot;/&gt;&lt;property id=&quot;20300&quot; value=&quot;Slide 38&quot;/&gt;&lt;property id=&quot;20307&quot; value=&quot;311&quot;/&gt;&lt;/object&gt;&lt;/object&gt;&lt;object type=&quot;8&quot; unique_id=&quot;10560&quot;&gt;&lt;/object&gt;&lt;/object&gt;&lt;/database&gt;"/>
  <p:tag name="MMPROD_NEXTUNIQUEID" val="10018"/>
  <p:tag name="SECTOMILLISECCONVERTED" val="1"/>
</p:tagLst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7383</TotalTime>
  <Words>602</Words>
  <Application>Microsoft Office PowerPoint</Application>
  <PresentationFormat>On-screen Show (4:3)</PresentationFormat>
  <Paragraphs>232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ＭＳ Ｐゴシック</vt:lpstr>
      <vt:lpstr>ＭＳ Ｐゴシック</vt:lpstr>
      <vt:lpstr>Arial</vt:lpstr>
      <vt:lpstr>Calibri</vt:lpstr>
      <vt:lpstr>Geneva</vt:lpstr>
      <vt:lpstr>Lucida Grande</vt:lpstr>
      <vt:lpstr>Verdana</vt:lpstr>
      <vt:lpstr>ヒラギノ角ゴ Pro W3</vt:lpstr>
      <vt:lpstr>1_Default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NDSU Geoscience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 Regions in Global Context: Peoples, Places, and Environments (2nd. ed)  Sallie A. Marston, Paul L. Knox,  &amp; Diana M. Liverman</dc:title>
  <dc:creator>Robert M Arthur</dc:creator>
  <cp:lastModifiedBy>Mandy Norton</cp:lastModifiedBy>
  <cp:revision>676</cp:revision>
  <dcterms:created xsi:type="dcterms:W3CDTF">2013-01-08T10:18:50Z</dcterms:created>
  <dcterms:modified xsi:type="dcterms:W3CDTF">2017-07-17T12:22:25Z</dcterms:modified>
</cp:coreProperties>
</file>