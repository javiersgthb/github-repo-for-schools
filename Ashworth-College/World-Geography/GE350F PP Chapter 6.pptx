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35"/>
  </p:notesMasterIdLst>
  <p:sldIdLst>
    <p:sldId id="256" r:id="rId2"/>
    <p:sldId id="312" r:id="rId3"/>
    <p:sldId id="313" r:id="rId4"/>
    <p:sldId id="314" r:id="rId5"/>
    <p:sldId id="340" r:id="rId6"/>
    <p:sldId id="339" r:id="rId7"/>
    <p:sldId id="338" r:id="rId8"/>
    <p:sldId id="337" r:id="rId9"/>
    <p:sldId id="336" r:id="rId10"/>
    <p:sldId id="335" r:id="rId11"/>
    <p:sldId id="334" r:id="rId12"/>
    <p:sldId id="333" r:id="rId13"/>
    <p:sldId id="332" r:id="rId14"/>
    <p:sldId id="331" r:id="rId15"/>
    <p:sldId id="330" r:id="rId16"/>
    <p:sldId id="329" r:id="rId17"/>
    <p:sldId id="328" r:id="rId18"/>
    <p:sldId id="327" r:id="rId19"/>
    <p:sldId id="326" r:id="rId20"/>
    <p:sldId id="325" r:id="rId21"/>
    <p:sldId id="324" r:id="rId22"/>
    <p:sldId id="323" r:id="rId23"/>
    <p:sldId id="322" r:id="rId24"/>
    <p:sldId id="321" r:id="rId25"/>
    <p:sldId id="320" r:id="rId26"/>
    <p:sldId id="319" r:id="rId27"/>
    <p:sldId id="318" r:id="rId28"/>
    <p:sldId id="317" r:id="rId29"/>
    <p:sldId id="316" r:id="rId30"/>
    <p:sldId id="315" r:id="rId31"/>
    <p:sldId id="341" r:id="rId32"/>
    <p:sldId id="342" r:id="rId33"/>
    <p:sldId id="311" r:id="rId34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34">
          <p15:clr>
            <a:srgbClr val="A4A3A4"/>
          </p15:clr>
        </p15:guide>
        <p15:guide id="2" pos="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6EBA"/>
    <a:srgbClr val="5B96FA"/>
    <a:srgbClr val="72B0FC"/>
    <a:srgbClr val="207AFC"/>
    <a:srgbClr val="76B5FC"/>
    <a:srgbClr val="750400"/>
    <a:srgbClr val="A500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315" y="58"/>
      </p:cViewPr>
      <p:guideLst>
        <p:guide orient="horz" pos="934"/>
        <p:guide pos="3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FEF5AE24-08F2-5D40-832C-1BDBAD460A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74251E3E-1F01-5E47-B35B-00445B403F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7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Geneva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BC7BCDD0-1D0D-A342-92CD-58A2B5C93BC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1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54641DE-D560-2044-8A3B-1CFBF98D161A}" type="slidenum">
              <a:rPr lang="en-US">
                <a:solidFill>
                  <a:srgbClr val="000000"/>
                </a:solidFill>
                <a:ea typeface="MS PGothic" charset="0"/>
                <a:cs typeface="MS PGothic" charset="0"/>
              </a:rPr>
              <a:pPr/>
              <a:t>33</a:t>
            </a:fld>
            <a:endParaRPr lang="en-US">
              <a:solidFill>
                <a:srgbClr val="000000"/>
              </a:solidFill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11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>
              <a:defRPr/>
            </a:pPr>
            <a:endParaRPr lang="en-US" altLang="en-US" sz="1800" smtClean="0"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365125" y="-1588"/>
            <a:ext cx="8001000" cy="5222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bg1"/>
                </a:solidFill>
                <a:ea typeface="ＭＳ Ｐゴシック" pitchFamily="-106" charset="-128"/>
                <a:cs typeface="ＭＳ Ｐゴシック" pitchFamily="-106" charset="-128"/>
              </a:rPr>
              <a:t>Chapter 6 Lecture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1A8799-5621-0A40-AA76-E7EF0F6B7E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38624-EA00-5E44-8AC8-F056641D63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3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115568"/>
            <a:ext cx="8444266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2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 baseline="0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   THIS IS FOR 2 LINE HEADER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485692"/>
            <a:ext cx="8411609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9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 userDrawn="1"/>
        </p:nvSpPr>
        <p:spPr>
          <a:xfrm>
            <a:off x="533400" y="2819400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End of Chapter </a:t>
            </a:r>
            <a:r>
              <a:rPr lang="en-US" sz="4400" b="1" dirty="0" smtClean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6 </a:t>
            </a:r>
            <a:endParaRPr lang="en-US" sz="4400" b="1" kern="0" dirty="0">
              <a:solidFill>
                <a:srgbClr val="5E6EBA"/>
              </a:solidFill>
              <a:latin typeface="Arial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93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EE5C6-A024-C146-966A-834BE8B6C09A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B1F95-3568-C049-9BBA-5B02EE7DD3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5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4E6FF-1B03-C34C-8453-CAB0F633340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E8AC0-D878-C542-BD5C-FCEC03087F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44013-5992-CC49-964E-99434A298FFC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AA1FC6-A4F1-5D40-86BC-4B14BB5F28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85482-A9D5-3B49-89B8-BE5DB124B9F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572508-FF72-7D4C-905F-B7A680DC8D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1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09749-35D2-CE44-9C83-D3D96DD49551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B1EC08-1CB8-AE43-AA3B-9D4A2E72DC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2FF37-9068-504F-AE83-5B7ED5387C1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A60C2-CA5F-CB4C-B3B6-C671C01D46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C00D5-1C29-5D47-8025-CF2C6E6A864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79A1D-DB01-0246-AB87-61A85F279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fld id="{2A422EDC-4A7D-E54A-952E-A4F68B1BD5BE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fld id="{13EB9291-ADD1-AB4A-B370-2319EF87B41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0" y="6553200"/>
            <a:ext cx="19478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Arial" charset="0"/>
              </a:rPr>
              <a:t>© 2017 Pearson Education, Inc.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1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 txBox="1">
            <a:spLocks noChangeArrowheads="1"/>
          </p:cNvSpPr>
          <p:nvPr/>
        </p:nvSpPr>
        <p:spPr bwMode="auto">
          <a:xfrm>
            <a:off x="2362200" y="6096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000"/>
              </a:spcBef>
            </a:pPr>
            <a:r>
              <a:rPr lang="en-US" sz="2800" b="1">
                <a:solidFill>
                  <a:schemeClr val="tx2"/>
                </a:solidFill>
              </a:rPr>
              <a:t>World Regions in Global Context:</a:t>
            </a:r>
            <a:br>
              <a:rPr lang="en-US" sz="2800" b="1">
                <a:solidFill>
                  <a:schemeClr val="tx2"/>
                </a:solidFill>
              </a:rPr>
            </a:br>
            <a:r>
              <a:rPr lang="en-US" sz="2800" b="1">
                <a:solidFill>
                  <a:schemeClr val="tx2"/>
                </a:solidFill>
              </a:rPr>
              <a:t>Peoples, Places, and Environments</a:t>
            </a:r>
            <a:endParaRPr lang="en-US" b="1">
              <a:solidFill>
                <a:schemeClr val="tx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ts val="1000"/>
              </a:spcBef>
            </a:pPr>
            <a:r>
              <a:rPr lang="en-US" sz="1800">
                <a:solidFill>
                  <a:schemeClr val="tx2"/>
                </a:solidFill>
              </a:rPr>
              <a:t>6</a:t>
            </a:r>
            <a:r>
              <a:rPr lang="en-US" sz="1800" baseline="30000">
                <a:solidFill>
                  <a:schemeClr val="tx2"/>
                </a:solidFill>
              </a:rPr>
              <a:t>th</a:t>
            </a:r>
            <a:r>
              <a:rPr lang="en-US" sz="1800">
                <a:solidFill>
                  <a:schemeClr val="tx2"/>
                </a:solidFill>
              </a:rPr>
              <a:t> Edition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3075" name="Rectangle 3"/>
          <p:cNvSpPr txBox="1">
            <a:spLocks noChangeArrowheads="1"/>
          </p:cNvSpPr>
          <p:nvPr/>
        </p:nvSpPr>
        <p:spPr bwMode="auto">
          <a:xfrm>
            <a:off x="152400" y="2819400"/>
            <a:ext cx="4953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The United States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and Canada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 smtClean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b="1" dirty="0"/>
              <a:t>Lectures by: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 smtClean="0">
                <a:latin typeface="Verdana" charset="0"/>
              </a:rPr>
              <a:t>Christa Ann Smith </a:t>
            </a:r>
            <a:endParaRPr lang="en-US" sz="1800" dirty="0"/>
          </a:p>
        </p:txBody>
      </p:sp>
      <p:pic>
        <p:nvPicPr>
          <p:cNvPr id="5" name="Picture 4" descr="MARSTON_Cover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7411" y="1997074"/>
            <a:ext cx="3965575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7792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50737"/>
            <a:ext cx="8444266" cy="3951288"/>
          </a:xfrm>
        </p:spPr>
        <p:txBody>
          <a:bodyPr/>
          <a:lstStyle/>
          <a:p>
            <a:r>
              <a:rPr lang="en-US" sz="2200" dirty="0"/>
              <a:t>Describe the distinctive landscapes of the United States and Canada with respect to landforms and climate.</a:t>
            </a:r>
          </a:p>
          <a:p>
            <a:endParaRPr lang="en-US" sz="2200" dirty="0"/>
          </a:p>
          <a:p>
            <a:r>
              <a:rPr lang="en-US" sz="2200" dirty="0"/>
              <a:t>Explain how the United States and Canada are affecting and affected by global climate change.</a:t>
            </a:r>
          </a:p>
          <a:p>
            <a:endParaRPr lang="en-US" sz="2200" dirty="0"/>
          </a:p>
          <a:p>
            <a:r>
              <a:rPr lang="en-US" sz="2200" dirty="0"/>
              <a:t>Understand the rise of the United States and Canada as key forces in the global economy.</a:t>
            </a:r>
          </a:p>
          <a:p>
            <a:endParaRPr lang="en-US" sz="2200" dirty="0"/>
          </a:p>
          <a:p>
            <a:r>
              <a:rPr lang="en-US" sz="2200" dirty="0"/>
              <a:t>Describe how the two countries</a:t>
            </a:r>
            <a:r>
              <a:rPr lang="ja-JP" altLang="en-US" sz="2200" dirty="0"/>
              <a:t>’</a:t>
            </a:r>
            <a:r>
              <a:rPr lang="en-US" altLang="ja-JP" sz="2200" dirty="0"/>
              <a:t> dynamic economies contribute to and shape the global economy.</a:t>
            </a:r>
          </a:p>
          <a:p>
            <a:endParaRPr lang="en-US" sz="2200" dirty="0"/>
          </a:p>
          <a:p>
            <a:r>
              <a:rPr lang="en-US" sz="2200" dirty="0"/>
              <a:t>Summarize the economic inequality that exists in both the United States and Canada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1758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50737"/>
            <a:ext cx="8444266" cy="3951288"/>
          </a:xfrm>
        </p:spPr>
        <p:txBody>
          <a:bodyPr/>
          <a:lstStyle/>
          <a:p>
            <a:r>
              <a:rPr lang="en-US" sz="2200" dirty="0"/>
              <a:t>Compare and contrast the forms and practice of government of the United States and Canada.</a:t>
            </a:r>
          </a:p>
          <a:p>
            <a:endParaRPr lang="en-US" sz="2200" dirty="0"/>
          </a:p>
          <a:p>
            <a:r>
              <a:rPr lang="en-US" sz="2200" dirty="0"/>
              <a:t>Summarize the indigenous and immigrant histories of the United States and Canada.</a:t>
            </a:r>
          </a:p>
          <a:p>
            <a:endParaRPr lang="en-US" sz="2200" dirty="0"/>
          </a:p>
          <a:p>
            <a:r>
              <a:rPr lang="en-US" sz="2200" dirty="0"/>
              <a:t>Describe the fundamentals of the geography of religion and language across the United States and Canada.</a:t>
            </a:r>
          </a:p>
          <a:p>
            <a:endParaRPr lang="en-US" sz="2200" dirty="0"/>
          </a:p>
          <a:p>
            <a:r>
              <a:rPr lang="en-US" sz="2200" dirty="0"/>
              <a:t>Compare and contrast the urbanization processes that have shaped the United States and Canada.</a:t>
            </a:r>
          </a:p>
        </p:txBody>
      </p:sp>
    </p:spTree>
    <p:extLst>
      <p:ext uri="{BB962C8B-B14F-4D97-AF65-F5344CB8AC3E}">
        <p14:creationId xmlns:p14="http://schemas.microsoft.com/office/powerpoint/2010/main" val="18230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United States and Canada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7" y="1080399"/>
            <a:ext cx="4587448" cy="3951288"/>
          </a:xfrm>
        </p:spPr>
        <p:txBody>
          <a:bodyPr/>
          <a:lstStyle/>
          <a:p>
            <a:r>
              <a:rPr lang="en-US" dirty="0" smtClean="0"/>
              <a:t>Highly developed </a:t>
            </a:r>
            <a:r>
              <a:rPr lang="en-US" dirty="0"/>
              <a:t>region</a:t>
            </a:r>
          </a:p>
          <a:p>
            <a:r>
              <a:rPr lang="en-US" dirty="0"/>
              <a:t>Large landmass</a:t>
            </a:r>
          </a:p>
          <a:p>
            <a:r>
              <a:rPr lang="en-US" dirty="0"/>
              <a:t>Human adaptation to the </a:t>
            </a:r>
            <a:r>
              <a:rPr lang="en-US" dirty="0" smtClean="0"/>
              <a:t>environment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446" y="1590273"/>
            <a:ext cx="5219225" cy="507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7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Climate, Adaptation, and Global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049056" cy="3951288"/>
          </a:xfrm>
        </p:spPr>
        <p:txBody>
          <a:bodyPr/>
          <a:lstStyle/>
          <a:p>
            <a:r>
              <a:rPr lang="en-US" dirty="0"/>
              <a:t>Nearly every climate pattern</a:t>
            </a:r>
          </a:p>
          <a:p>
            <a:pPr lvl="1"/>
            <a:r>
              <a:rPr lang="en-US" dirty="0"/>
              <a:t>Arctic north</a:t>
            </a:r>
          </a:p>
          <a:p>
            <a:pPr lvl="1"/>
            <a:r>
              <a:rPr lang="en-US" dirty="0"/>
              <a:t>Southeast United States</a:t>
            </a:r>
          </a:p>
          <a:p>
            <a:pPr lvl="1"/>
            <a:r>
              <a:rPr lang="en-US" dirty="0"/>
              <a:t>Precipitation gradient</a:t>
            </a:r>
          </a:p>
          <a:p>
            <a:pPr lvl="1"/>
            <a:r>
              <a:rPr lang="en-US" dirty="0"/>
              <a:t>Jet stream in winter months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Lake-effect</a:t>
            </a:r>
            <a:r>
              <a:rPr lang="ja-JP" altLang="en-US" dirty="0"/>
              <a:t>” </a:t>
            </a:r>
            <a:r>
              <a:rPr lang="en-US" altLang="ja-JP" dirty="0" smtClean="0"/>
              <a:t>snow</a:t>
            </a:r>
            <a:endParaRPr lang="ja-JP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8110" y="1133622"/>
            <a:ext cx="4678660" cy="507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2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Climate, Adaptation, and Global Change (cont.)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678666" cy="3951288"/>
          </a:xfrm>
        </p:spPr>
        <p:txBody>
          <a:bodyPr/>
          <a:lstStyle/>
          <a:p>
            <a:r>
              <a:rPr lang="en-US" dirty="0"/>
              <a:t>Environmental modifications</a:t>
            </a:r>
          </a:p>
          <a:p>
            <a:pPr lvl="1"/>
            <a:r>
              <a:rPr lang="en-US" dirty="0"/>
              <a:t>resource wealth</a:t>
            </a:r>
          </a:p>
          <a:p>
            <a:pPr lvl="1"/>
            <a:r>
              <a:rPr lang="en-US" dirty="0"/>
              <a:t>technological capability for exploitation</a:t>
            </a:r>
          </a:p>
          <a:p>
            <a:r>
              <a:rPr lang="en-US" dirty="0"/>
              <a:t>Environmental impacts</a:t>
            </a:r>
          </a:p>
          <a:p>
            <a:pPr lvl="1"/>
            <a:r>
              <a:rPr lang="en-US" dirty="0"/>
              <a:t>global climate change</a:t>
            </a:r>
          </a:p>
          <a:p>
            <a:pPr lvl="1"/>
            <a:r>
              <a:rPr lang="en-US" b="1" dirty="0"/>
              <a:t>greenhouse gases</a:t>
            </a:r>
          </a:p>
          <a:p>
            <a:pPr lvl="1"/>
            <a:r>
              <a:rPr lang="en-US" dirty="0"/>
              <a:t>large </a:t>
            </a:r>
            <a:r>
              <a:rPr lang="en-US" b="1" dirty="0"/>
              <a:t>carbon footprint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96337" y="682966"/>
            <a:ext cx="4923448" cy="27103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9935" y="3450228"/>
            <a:ext cx="5067484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6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Canadian Shield</a:t>
            </a:r>
          </a:p>
          <a:p>
            <a:r>
              <a:rPr lang="en-US" dirty="0"/>
              <a:t>Interior lowlands</a:t>
            </a:r>
          </a:p>
          <a:p>
            <a:r>
              <a:rPr lang="en-US" dirty="0"/>
              <a:t>Great </a:t>
            </a:r>
            <a:r>
              <a:rPr lang="en-US" dirty="0" smtClean="0"/>
              <a:t>Plains</a:t>
            </a:r>
          </a:p>
          <a:p>
            <a:r>
              <a:rPr lang="en-US" dirty="0"/>
              <a:t>Rocky Mountains</a:t>
            </a:r>
          </a:p>
          <a:p>
            <a:r>
              <a:rPr lang="en-US" dirty="0"/>
              <a:t>Appalachian Mountains</a:t>
            </a:r>
          </a:p>
          <a:p>
            <a:r>
              <a:rPr lang="en-US" dirty="0"/>
              <a:t>Atlantic Coastal Plain</a:t>
            </a:r>
          </a:p>
          <a:p>
            <a:r>
              <a:rPr lang="en-US" dirty="0"/>
              <a:t>River and lake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60276" y="1625989"/>
            <a:ext cx="4560277" cy="388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94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Energy and mineral resources</a:t>
            </a:r>
          </a:p>
          <a:p>
            <a:r>
              <a:rPr lang="en-US" dirty="0"/>
              <a:t>Countries top producers of natural gas</a:t>
            </a:r>
          </a:p>
          <a:p>
            <a:pPr lvl="1"/>
            <a:r>
              <a:rPr lang="en-US" dirty="0"/>
              <a:t>substantial </a:t>
            </a:r>
            <a:r>
              <a:rPr lang="en-US" dirty="0" smtClean="0"/>
              <a:t>coal </a:t>
            </a:r>
            <a:r>
              <a:rPr lang="en-US" dirty="0"/>
              <a:t>and oil reserves</a:t>
            </a:r>
          </a:p>
          <a:p>
            <a:pPr lvl="1"/>
            <a:r>
              <a:rPr lang="en-US" dirty="0"/>
              <a:t>renewable sources</a:t>
            </a:r>
          </a:p>
        </p:txBody>
      </p:sp>
    </p:spTree>
    <p:extLst>
      <p:ext uri="{BB962C8B-B14F-4D97-AF65-F5344CB8AC3E}">
        <p14:creationId xmlns:p14="http://schemas.microsoft.com/office/powerpoint/2010/main" val="213300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Indigenous land use</a:t>
            </a:r>
          </a:p>
          <a:p>
            <a:pPr lvl="1"/>
            <a:r>
              <a:rPr lang="en-US" dirty="0"/>
              <a:t>land bridge</a:t>
            </a:r>
          </a:p>
          <a:p>
            <a:pPr lvl="1"/>
            <a:r>
              <a:rPr lang="en-US" dirty="0"/>
              <a:t>subsistence production</a:t>
            </a:r>
          </a:p>
          <a:p>
            <a:pPr lvl="1"/>
            <a:r>
              <a:rPr lang="en-US" dirty="0"/>
              <a:t>plant domestication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94339" y="2932878"/>
            <a:ext cx="6224954" cy="358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3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Colonial land use</a:t>
            </a:r>
          </a:p>
          <a:p>
            <a:pPr lvl="1"/>
            <a:r>
              <a:rPr lang="en-US" dirty="0"/>
              <a:t>resource commodification</a:t>
            </a:r>
          </a:p>
          <a:p>
            <a:pPr lvl="1"/>
            <a:r>
              <a:rPr lang="en-US" dirty="0"/>
              <a:t>land ownership</a:t>
            </a:r>
          </a:p>
          <a:p>
            <a:pPr lvl="1"/>
            <a:r>
              <a:rPr lang="en-US" b="1" dirty="0" smtClean="0"/>
              <a:t>reservation/reserve</a:t>
            </a:r>
            <a:endParaRPr lang="en-US" dirty="0"/>
          </a:p>
          <a:p>
            <a:r>
              <a:rPr lang="en-US" dirty="0"/>
              <a:t>irrigation</a:t>
            </a:r>
          </a:p>
          <a:p>
            <a:r>
              <a:rPr lang="en-US" b="1" dirty="0"/>
              <a:t>acid rain</a:t>
            </a:r>
          </a:p>
          <a:p>
            <a:r>
              <a:rPr lang="en-US" dirty="0"/>
              <a:t>green goods and services</a:t>
            </a:r>
          </a:p>
          <a:p>
            <a:r>
              <a:rPr lang="en-US" b="1" dirty="0"/>
              <a:t>cap and trade programs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5565" y="1075006"/>
            <a:ext cx="4002072" cy="478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0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9" y="1345016"/>
            <a:ext cx="3360486" cy="3951288"/>
          </a:xfrm>
        </p:spPr>
        <p:txBody>
          <a:bodyPr/>
          <a:lstStyle/>
          <a:p>
            <a:r>
              <a:rPr lang="en-US" dirty="0"/>
              <a:t>Alternative food movements</a:t>
            </a:r>
          </a:p>
          <a:p>
            <a:pPr lvl="1"/>
            <a:r>
              <a:rPr lang="en-US" b="1" dirty="0"/>
              <a:t>organic farming</a:t>
            </a:r>
          </a:p>
          <a:p>
            <a:pPr lvl="1"/>
            <a:r>
              <a:rPr lang="en-US" b="1" dirty="0"/>
              <a:t>genetically modified organisms (GMOS)</a:t>
            </a:r>
          </a:p>
          <a:p>
            <a:pPr lvl="1"/>
            <a:r>
              <a:rPr lang="en-US" b="1" dirty="0"/>
              <a:t>local food</a:t>
            </a:r>
          </a:p>
          <a:p>
            <a:pPr lvl="1"/>
            <a:r>
              <a:rPr lang="en-US" b="1" dirty="0"/>
              <a:t>slow </a:t>
            </a:r>
            <a:r>
              <a:rPr lang="en-US" b="1" dirty="0" smtClean="0"/>
              <a:t>food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7259" y="1482725"/>
            <a:ext cx="5436626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99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Geographies of Indulgence, Desire, and Addiction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33293"/>
            <a:ext cx="4500467" cy="3951288"/>
          </a:xfrm>
        </p:spPr>
        <p:txBody>
          <a:bodyPr/>
          <a:lstStyle/>
          <a:p>
            <a:r>
              <a:rPr lang="en-US" dirty="0" smtClean="0"/>
              <a:t>Marijuana is the most </a:t>
            </a:r>
            <a:r>
              <a:rPr lang="en-US" dirty="0"/>
              <a:t>commonly used illicit substance</a:t>
            </a:r>
          </a:p>
          <a:p>
            <a:r>
              <a:rPr lang="en-US" dirty="0"/>
              <a:t>Use is higher in developed countries</a:t>
            </a:r>
          </a:p>
          <a:p>
            <a:r>
              <a:rPr lang="en-US" dirty="0"/>
              <a:t>California and British Columbia</a:t>
            </a:r>
          </a:p>
          <a:p>
            <a:r>
              <a:rPr lang="en-US" dirty="0"/>
              <a:t>Legalization and interdiction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79264" y="652976"/>
            <a:ext cx="4120605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57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History, </a:t>
            </a:r>
            <a:r>
              <a:rPr lang="en-US" dirty="0" smtClean="0"/>
              <a:t>Economy, </a:t>
            </a:r>
            <a:r>
              <a:rPr lang="en-US" dirty="0"/>
              <a:t>and Territory/Historical Landscapes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4847707" cy="3951288"/>
          </a:xfrm>
        </p:spPr>
        <p:txBody>
          <a:bodyPr/>
          <a:lstStyle/>
          <a:p>
            <a:r>
              <a:rPr lang="en-US" dirty="0"/>
              <a:t>Indigenous histories</a:t>
            </a:r>
          </a:p>
          <a:p>
            <a:pPr lvl="1"/>
            <a:r>
              <a:rPr lang="en-US" dirty="0"/>
              <a:t>wide range of cultural groups</a:t>
            </a:r>
          </a:p>
          <a:p>
            <a:pPr lvl="1"/>
            <a:r>
              <a:rPr lang="en-US" dirty="0"/>
              <a:t>daily life governed by tribe and environment</a:t>
            </a:r>
          </a:p>
          <a:p>
            <a:pPr lvl="1"/>
            <a:r>
              <a:rPr lang="en-US" dirty="0"/>
              <a:t>Europeans initially interested in commerce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9277" y="1110174"/>
            <a:ext cx="3799298" cy="541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5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Colonization and independence</a:t>
            </a:r>
          </a:p>
          <a:p>
            <a:pPr lvl="1"/>
            <a:r>
              <a:rPr lang="en-US" b="1" dirty="0"/>
              <a:t>Europeanization</a:t>
            </a:r>
          </a:p>
          <a:p>
            <a:pPr lvl="2"/>
            <a:r>
              <a:rPr lang="en-US" dirty="0"/>
              <a:t>Great Britain dominant</a:t>
            </a:r>
          </a:p>
          <a:p>
            <a:pPr lvl="1"/>
            <a:r>
              <a:rPr lang="en-US" dirty="0"/>
              <a:t>exploitation of native people</a:t>
            </a:r>
          </a:p>
          <a:p>
            <a:pPr lvl="1"/>
            <a:r>
              <a:rPr lang="en-US" b="1" dirty="0"/>
              <a:t>French and Indian War</a:t>
            </a:r>
          </a:p>
          <a:p>
            <a:pPr lvl="1"/>
            <a:r>
              <a:rPr lang="en-US" b="1" dirty="0" smtClean="0"/>
              <a:t>American Revolution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74124" y="3713870"/>
            <a:ext cx="4999441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46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Legacy of slavery</a:t>
            </a:r>
          </a:p>
          <a:p>
            <a:pPr lvl="1"/>
            <a:r>
              <a:rPr lang="en-US" dirty="0"/>
              <a:t>different development for the U.S. North and South</a:t>
            </a:r>
          </a:p>
          <a:p>
            <a:pPr lvl="1"/>
            <a:r>
              <a:rPr lang="en-US" b="1" dirty="0"/>
              <a:t>indentured servants</a:t>
            </a:r>
          </a:p>
          <a:p>
            <a:pPr lvl="1"/>
            <a:r>
              <a:rPr lang="en-US" dirty="0"/>
              <a:t>reduction of native populations</a:t>
            </a:r>
          </a:p>
          <a:p>
            <a:pPr lvl="1"/>
            <a:r>
              <a:rPr lang="en-US" dirty="0"/>
              <a:t>Atlantic slave trade</a:t>
            </a:r>
          </a:p>
        </p:txBody>
      </p:sp>
    </p:spTree>
    <p:extLst>
      <p:ext uri="{BB962C8B-B14F-4D97-AF65-F5344CB8AC3E}">
        <p14:creationId xmlns:p14="http://schemas.microsoft.com/office/powerpoint/2010/main" val="254052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Settlement and industrialization</a:t>
            </a:r>
          </a:p>
          <a:p>
            <a:pPr lvl="1"/>
            <a:r>
              <a:rPr lang="en-US" dirty="0"/>
              <a:t>continuous frontier </a:t>
            </a:r>
            <a:r>
              <a:rPr lang="en-US" dirty="0" smtClean="0"/>
              <a:t>settlement</a:t>
            </a:r>
            <a:endParaRPr lang="en-US" dirty="0"/>
          </a:p>
          <a:p>
            <a:pPr lvl="1"/>
            <a:r>
              <a:rPr lang="en-US" dirty="0"/>
              <a:t>westward </a:t>
            </a:r>
            <a:r>
              <a:rPr lang="en-US" dirty="0" smtClean="0"/>
              <a:t>expansion in </a:t>
            </a:r>
            <a:r>
              <a:rPr lang="en-US" dirty="0"/>
              <a:t>Canada</a:t>
            </a:r>
          </a:p>
          <a:p>
            <a:pPr lvl="1"/>
            <a:r>
              <a:rPr lang="en-US" dirty="0"/>
              <a:t>industrialization of </a:t>
            </a:r>
            <a:r>
              <a:rPr lang="en-US" dirty="0" smtClean="0"/>
              <a:t>northeast United States</a:t>
            </a:r>
            <a:endParaRPr lang="en-US" dirty="0"/>
          </a:p>
          <a:p>
            <a:pPr lvl="1"/>
            <a:r>
              <a:rPr lang="en-US" b="1" dirty="0"/>
              <a:t>U.S. Civil War</a:t>
            </a:r>
          </a:p>
          <a:p>
            <a:pPr lvl="1"/>
            <a:r>
              <a:rPr lang="en-US" b="1" dirty="0"/>
              <a:t>North America Act </a:t>
            </a:r>
            <a:r>
              <a:rPr lang="en-US" b="1" dirty="0" smtClean="0"/>
              <a:t>of </a:t>
            </a:r>
            <a:r>
              <a:rPr lang="en-US" b="1" dirty="0"/>
              <a:t>1867</a:t>
            </a:r>
          </a:p>
        </p:txBody>
      </p:sp>
    </p:spTree>
    <p:extLst>
      <p:ext uri="{BB962C8B-B14F-4D97-AF65-F5344CB8AC3E}">
        <p14:creationId xmlns:p14="http://schemas.microsoft.com/office/powerpoint/2010/main" val="242912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Two economies</a:t>
            </a:r>
          </a:p>
          <a:p>
            <a:pPr lvl="1"/>
            <a:r>
              <a:rPr lang="en-US" dirty="0" smtClean="0"/>
              <a:t>Canada</a:t>
            </a:r>
          </a:p>
          <a:p>
            <a:pPr lvl="2"/>
            <a:r>
              <a:rPr lang="en-US" b="1" dirty="0" smtClean="0"/>
              <a:t>staples </a:t>
            </a:r>
            <a:r>
              <a:rPr lang="en-US" b="1" dirty="0"/>
              <a:t>economy</a:t>
            </a:r>
          </a:p>
          <a:p>
            <a:pPr lvl="1"/>
            <a:r>
              <a:rPr lang="en-US" dirty="0"/>
              <a:t>United </a:t>
            </a:r>
            <a:r>
              <a:rPr lang="en-US" dirty="0" smtClean="0"/>
              <a:t>States</a:t>
            </a:r>
          </a:p>
          <a:p>
            <a:pPr lvl="2"/>
            <a:r>
              <a:rPr lang="en-US" dirty="0" smtClean="0"/>
              <a:t>far </a:t>
            </a:r>
            <a:r>
              <a:rPr lang="en-US" dirty="0"/>
              <a:t>dominant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3538" y="3472611"/>
            <a:ext cx="6166339" cy="330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0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Transforming economies</a:t>
            </a:r>
          </a:p>
          <a:p>
            <a:pPr lvl="1"/>
            <a:r>
              <a:rPr lang="en-US" b="1" dirty="0"/>
              <a:t>Manufacturing Belt</a:t>
            </a:r>
          </a:p>
          <a:p>
            <a:pPr lvl="1"/>
            <a:r>
              <a:rPr lang="en-US" b="1" dirty="0" smtClean="0"/>
              <a:t>Rustbelt</a:t>
            </a:r>
          </a:p>
          <a:p>
            <a:pPr lvl="2"/>
            <a:r>
              <a:rPr lang="en-US" b="1" dirty="0" smtClean="0"/>
              <a:t>deindustrialization</a:t>
            </a:r>
            <a:endParaRPr lang="en-US" b="1" dirty="0"/>
          </a:p>
          <a:p>
            <a:pPr lvl="1"/>
            <a:r>
              <a:rPr lang="en-US" b="1" dirty="0"/>
              <a:t>Sunbelt</a:t>
            </a:r>
          </a:p>
          <a:p>
            <a:pPr lvl="1"/>
            <a:r>
              <a:rPr lang="en-US" b="1" dirty="0"/>
              <a:t>creative destruction</a:t>
            </a:r>
          </a:p>
          <a:p>
            <a:r>
              <a:rPr lang="en-US" dirty="0"/>
              <a:t>The new economy</a:t>
            </a:r>
          </a:p>
          <a:p>
            <a:pPr lvl="1"/>
            <a:r>
              <a:rPr lang="en-US" b="1" dirty="0"/>
              <a:t>information technologies</a:t>
            </a:r>
          </a:p>
          <a:p>
            <a:pPr lvl="1"/>
            <a:r>
              <a:rPr lang="en-US" dirty="0"/>
              <a:t>Canada</a:t>
            </a:r>
            <a:r>
              <a:rPr lang="ja-JP" altLang="en-US" dirty="0"/>
              <a:t>’</a:t>
            </a:r>
            <a:r>
              <a:rPr lang="en-US" altLang="ja-JP" dirty="0"/>
              <a:t>s role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44057" y="675249"/>
            <a:ext cx="4020823" cy="29809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41878" y="3738254"/>
            <a:ext cx="2757352" cy="300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8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3887010" cy="3951288"/>
          </a:xfrm>
        </p:spPr>
        <p:txBody>
          <a:bodyPr/>
          <a:lstStyle/>
          <a:p>
            <a:r>
              <a:rPr lang="en-US" b="1" dirty="0"/>
              <a:t>Wealth inequality</a:t>
            </a:r>
          </a:p>
          <a:p>
            <a:r>
              <a:rPr lang="en-US" b="1" dirty="0"/>
              <a:t>Income </a:t>
            </a:r>
            <a:r>
              <a:rPr lang="en-US" b="1" dirty="0" smtClean="0"/>
              <a:t>inequality</a:t>
            </a:r>
            <a:endParaRPr lang="en-US" b="1" dirty="0"/>
          </a:p>
          <a:p>
            <a:r>
              <a:rPr lang="en-US" b="1" dirty="0"/>
              <a:t>Occupy Wall Street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26168" y="1482725"/>
            <a:ext cx="4818185" cy="385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59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Global economic crisis</a:t>
            </a:r>
          </a:p>
          <a:p>
            <a:pPr lvl="1"/>
            <a:r>
              <a:rPr lang="en-US" dirty="0"/>
              <a:t>bank failures in 2008</a:t>
            </a:r>
          </a:p>
          <a:p>
            <a:pPr lvl="1"/>
            <a:r>
              <a:rPr lang="en-US" dirty="0"/>
              <a:t>personal and government debt</a:t>
            </a:r>
          </a:p>
          <a:p>
            <a:pPr lvl="1"/>
            <a:r>
              <a:rPr lang="en-US" dirty="0"/>
              <a:t>mortgage crisis</a:t>
            </a:r>
          </a:p>
          <a:p>
            <a:pPr lvl="1"/>
            <a:r>
              <a:rPr lang="en-US" dirty="0"/>
              <a:t>signs of recovery</a:t>
            </a:r>
          </a:p>
          <a:p>
            <a:pPr lvl="1"/>
            <a:r>
              <a:rPr lang="en-US" dirty="0"/>
              <a:t>effects on Canada</a:t>
            </a:r>
            <a:r>
              <a:rPr lang="ja-JP" altLang="en-US" dirty="0"/>
              <a:t>’</a:t>
            </a:r>
            <a:r>
              <a:rPr lang="en-US" altLang="ja-JP" dirty="0"/>
              <a:t>s economy</a:t>
            </a:r>
          </a:p>
        </p:txBody>
      </p:sp>
    </p:spTree>
    <p:extLst>
      <p:ext uri="{BB962C8B-B14F-4D97-AF65-F5344CB8AC3E}">
        <p14:creationId xmlns:p14="http://schemas.microsoft.com/office/powerpoint/2010/main" val="3906363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294484" cy="1511881"/>
          </a:xfrm>
        </p:spPr>
        <p:txBody>
          <a:bodyPr/>
          <a:lstStyle/>
          <a:p>
            <a:r>
              <a:rPr lang="en-US" sz="2600" dirty="0"/>
              <a:t>The </a:t>
            </a:r>
            <a:r>
              <a:rPr lang="en-US" sz="2600" dirty="0" smtClean="0"/>
              <a:t>gender pay gap </a:t>
            </a:r>
            <a:r>
              <a:rPr lang="en-US" sz="2600" dirty="0"/>
              <a:t>in the United States </a:t>
            </a:r>
            <a:r>
              <a:rPr lang="en-US" sz="2600" dirty="0" smtClean="0"/>
              <a:t>       and </a:t>
            </a:r>
            <a:r>
              <a:rPr lang="en-US" sz="2600" dirty="0"/>
              <a:t>Canada</a:t>
            </a:r>
          </a:p>
          <a:p>
            <a:pPr lvl="1"/>
            <a:r>
              <a:rPr lang="en-US" sz="2200" dirty="0" smtClean="0"/>
              <a:t>women </a:t>
            </a:r>
            <a:r>
              <a:rPr lang="en-US" sz="2200" dirty="0"/>
              <a:t>earn </a:t>
            </a:r>
            <a:r>
              <a:rPr lang="en-US" sz="2200" dirty="0" smtClean="0"/>
              <a:t>77 </a:t>
            </a:r>
            <a:r>
              <a:rPr lang="en-US" sz="2200" dirty="0"/>
              <a:t>cents for every one dollar a </a:t>
            </a:r>
            <a:r>
              <a:rPr lang="en-US" sz="2200" dirty="0" smtClean="0"/>
              <a:t>          man </a:t>
            </a:r>
            <a:r>
              <a:rPr lang="en-US" sz="2200" dirty="0"/>
              <a:t>earns</a:t>
            </a:r>
          </a:p>
          <a:p>
            <a:pPr lvl="1"/>
            <a:r>
              <a:rPr lang="en-US" sz="2200" dirty="0" smtClean="0"/>
              <a:t>pay </a:t>
            </a:r>
            <a:r>
              <a:rPr lang="en-US" sz="2200" dirty="0"/>
              <a:t>gap worse </a:t>
            </a:r>
            <a:r>
              <a:rPr lang="en-US" sz="2200" dirty="0" smtClean="0"/>
              <a:t>for </a:t>
            </a:r>
            <a:r>
              <a:rPr lang="en-US" sz="2200" dirty="0"/>
              <a:t>minorities</a:t>
            </a:r>
          </a:p>
        </p:txBody>
      </p:sp>
      <p:pic>
        <p:nvPicPr>
          <p:cNvPr id="1026" name="Picture 2" descr="H:\53845 Marston_WRGC_6E IRDVD\Working Files 53845\Lecture PPT 53845\Component\Ch06_VG_20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17879" y="900474"/>
            <a:ext cx="4524888" cy="47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b="1" dirty="0"/>
              <a:t>Democracies </a:t>
            </a:r>
          </a:p>
          <a:p>
            <a:r>
              <a:rPr lang="en-US" b="1" dirty="0"/>
              <a:t>State</a:t>
            </a:r>
            <a:r>
              <a:rPr lang="en-US" dirty="0"/>
              <a:t> and </a:t>
            </a:r>
            <a:r>
              <a:rPr lang="en-US" b="1" dirty="0"/>
              <a:t>government</a:t>
            </a:r>
          </a:p>
          <a:p>
            <a:pPr lvl="1"/>
            <a:r>
              <a:rPr lang="en-US" b="1" dirty="0"/>
              <a:t>federal system</a:t>
            </a:r>
          </a:p>
          <a:p>
            <a:pPr lvl="1"/>
            <a:r>
              <a:rPr lang="en-US" dirty="0"/>
              <a:t>differences </a:t>
            </a:r>
            <a:r>
              <a:rPr lang="en-US" dirty="0" smtClean="0"/>
              <a:t>in the American and Canadian constitutions</a:t>
            </a:r>
            <a:endParaRPr lang="en-US" dirty="0"/>
          </a:p>
          <a:p>
            <a:pPr lvl="1"/>
            <a:r>
              <a:rPr lang="en-US" dirty="0"/>
              <a:t>social welfare</a:t>
            </a:r>
          </a:p>
          <a:p>
            <a:pPr lvl="1"/>
            <a:r>
              <a:rPr lang="en-US" dirty="0"/>
              <a:t>creation of </a:t>
            </a:r>
            <a:r>
              <a:rPr lang="en-US" dirty="0" smtClean="0"/>
              <a:t>Nunavut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947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U.S. political and military influence</a:t>
            </a:r>
          </a:p>
          <a:p>
            <a:pPr lvl="1"/>
            <a:r>
              <a:rPr lang="en-US" dirty="0"/>
              <a:t>Monroe Doctrine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America First</a:t>
            </a:r>
            <a:r>
              <a:rPr lang="ja-JP" altLang="en-US" dirty="0"/>
              <a:t>”</a:t>
            </a:r>
          </a:p>
          <a:p>
            <a:pPr lvl="1"/>
            <a:r>
              <a:rPr lang="en-US" dirty="0"/>
              <a:t>post-WWII</a:t>
            </a:r>
          </a:p>
          <a:p>
            <a:pPr lvl="1"/>
            <a:r>
              <a:rPr lang="en-US" dirty="0"/>
              <a:t>end of the Cold War</a:t>
            </a:r>
          </a:p>
        </p:txBody>
      </p:sp>
    </p:spTree>
    <p:extLst>
      <p:ext uri="{BB962C8B-B14F-4D97-AF65-F5344CB8AC3E}">
        <p14:creationId xmlns:p14="http://schemas.microsoft.com/office/powerpoint/2010/main" val="2663497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61306" y="984738"/>
            <a:ext cx="5098305" cy="283698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944884" cy="3951288"/>
          </a:xfrm>
        </p:spPr>
        <p:txBody>
          <a:bodyPr/>
          <a:lstStyle/>
          <a:p>
            <a:r>
              <a:rPr lang="en-US" dirty="0"/>
              <a:t>U.S. </a:t>
            </a:r>
            <a:r>
              <a:rPr lang="en-US" b="1" dirty="0"/>
              <a:t>War on Terror</a:t>
            </a:r>
          </a:p>
          <a:p>
            <a:pPr lvl="1"/>
            <a:r>
              <a:rPr lang="en-US" dirty="0"/>
              <a:t>invasion of Afghanistan</a:t>
            </a:r>
          </a:p>
          <a:p>
            <a:pPr lvl="1"/>
            <a:r>
              <a:rPr lang="en-US" dirty="0"/>
              <a:t>Iraq and Saddam Hussein</a:t>
            </a:r>
          </a:p>
          <a:p>
            <a:pPr lvl="1"/>
            <a:r>
              <a:rPr lang="en-US" dirty="0"/>
              <a:t>Taliban and </a:t>
            </a:r>
            <a:r>
              <a:rPr lang="en-US" b="1" dirty="0"/>
              <a:t>al-Qaeda</a:t>
            </a:r>
          </a:p>
          <a:p>
            <a:pPr lvl="1"/>
            <a:r>
              <a:rPr lang="en-US" dirty="0"/>
              <a:t>high cost of the war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5848" y="3868613"/>
            <a:ext cx="3371322" cy="283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0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374383" cy="3951288"/>
          </a:xfrm>
        </p:spPr>
        <p:txBody>
          <a:bodyPr/>
          <a:lstStyle/>
          <a:p>
            <a:r>
              <a:rPr lang="en-US" dirty="0"/>
              <a:t>Social movements</a:t>
            </a:r>
          </a:p>
          <a:p>
            <a:pPr lvl="1"/>
            <a:r>
              <a:rPr lang="en-US" dirty="0"/>
              <a:t>women</a:t>
            </a:r>
            <a:r>
              <a:rPr lang="ja-JP" altLang="en-US" dirty="0"/>
              <a:t>’</a:t>
            </a:r>
            <a:r>
              <a:rPr lang="en-US" altLang="ja-JP" dirty="0"/>
              <a:t>s </a:t>
            </a:r>
            <a:r>
              <a:rPr lang="en-US" altLang="ja-JP" dirty="0" smtClean="0"/>
              <a:t>movement</a:t>
            </a:r>
            <a:endParaRPr lang="en-US" altLang="ja-JP" dirty="0"/>
          </a:p>
          <a:p>
            <a:pPr lvl="2"/>
            <a:r>
              <a:rPr lang="en-US" dirty="0" smtClean="0"/>
              <a:t>Seneca </a:t>
            </a:r>
            <a:r>
              <a:rPr lang="en-US" dirty="0"/>
              <a:t>Falls, NY (1848)</a:t>
            </a:r>
          </a:p>
          <a:p>
            <a:pPr lvl="1"/>
            <a:r>
              <a:rPr lang="en-US" dirty="0"/>
              <a:t>gays, disabled, </a:t>
            </a:r>
            <a:r>
              <a:rPr lang="en-US" dirty="0" smtClean="0"/>
              <a:t> children’s </a:t>
            </a:r>
            <a:r>
              <a:rPr lang="en-US" dirty="0"/>
              <a:t>rights</a:t>
            </a:r>
          </a:p>
          <a:p>
            <a:pPr lvl="1"/>
            <a:r>
              <a:rPr lang="en-US" dirty="0"/>
              <a:t>environmental </a:t>
            </a:r>
            <a:r>
              <a:rPr lang="en-US" dirty="0" smtClean="0"/>
              <a:t> movement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7261" y="2802049"/>
            <a:ext cx="5401173" cy="36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67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7" y="155448"/>
            <a:ext cx="8473625" cy="639209"/>
          </a:xfrm>
        </p:spPr>
        <p:txBody>
          <a:bodyPr/>
          <a:lstStyle/>
          <a:p>
            <a:r>
              <a:rPr lang="en-US" dirty="0"/>
              <a:t>Culture and Populations/Religion and Language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081083"/>
            <a:ext cx="8411609" cy="3951288"/>
          </a:xfrm>
        </p:spPr>
        <p:txBody>
          <a:bodyPr/>
          <a:lstStyle/>
          <a:p>
            <a:r>
              <a:rPr lang="en-US" dirty="0"/>
              <a:t>United States</a:t>
            </a:r>
          </a:p>
          <a:p>
            <a:pPr lvl="1"/>
            <a:r>
              <a:rPr lang="en-US" dirty="0"/>
              <a:t>predominantly English</a:t>
            </a:r>
          </a:p>
          <a:p>
            <a:pPr lvl="1"/>
            <a:r>
              <a:rPr lang="en-US" dirty="0"/>
              <a:t>Roman Catholics and Protestants</a:t>
            </a:r>
          </a:p>
          <a:p>
            <a:pPr lvl="1"/>
            <a:r>
              <a:rPr lang="en-US" dirty="0"/>
              <a:t>regional </a:t>
            </a:r>
            <a:r>
              <a:rPr lang="en-US" dirty="0" smtClean="0"/>
              <a:t>differences</a:t>
            </a:r>
          </a:p>
          <a:p>
            <a:pPr lvl="2"/>
            <a:r>
              <a:rPr lang="en-US" sz="2000" b="1" dirty="0" smtClean="0"/>
              <a:t>Bible </a:t>
            </a:r>
            <a:r>
              <a:rPr lang="en-US" sz="2000" b="1" dirty="0"/>
              <a:t>Belt</a:t>
            </a:r>
          </a:p>
          <a:p>
            <a:pPr lvl="1"/>
            <a:r>
              <a:rPr lang="en-US" b="1" dirty="0"/>
              <a:t>assimilation</a:t>
            </a:r>
          </a:p>
          <a:p>
            <a:r>
              <a:rPr lang="en-US" dirty="0"/>
              <a:t>Canada</a:t>
            </a:r>
          </a:p>
          <a:p>
            <a:pPr lvl="1"/>
            <a:r>
              <a:rPr lang="en-US" dirty="0"/>
              <a:t>French and English</a:t>
            </a:r>
          </a:p>
          <a:p>
            <a:pPr lvl="1"/>
            <a:r>
              <a:rPr lang="en-US" b="1" dirty="0" smtClean="0"/>
              <a:t>multiculturalism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1814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4494" y="3733096"/>
            <a:ext cx="5321249" cy="2862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Practices, Social Differences, and Identity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Arts, music, and sports</a:t>
            </a:r>
          </a:p>
          <a:p>
            <a:pPr lvl="1"/>
            <a:r>
              <a:rPr lang="en-US" dirty="0"/>
              <a:t>jazz</a:t>
            </a:r>
          </a:p>
          <a:p>
            <a:pPr lvl="1"/>
            <a:r>
              <a:rPr lang="en-US" dirty="0"/>
              <a:t>Native American art</a:t>
            </a:r>
          </a:p>
          <a:p>
            <a:pPr lvl="1"/>
            <a:r>
              <a:rPr lang="en-US" dirty="0"/>
              <a:t>baseball</a:t>
            </a:r>
          </a:p>
          <a:p>
            <a:r>
              <a:rPr lang="en-US" dirty="0"/>
              <a:t>U.S. cultural </a:t>
            </a:r>
            <a:r>
              <a:rPr lang="en-US" dirty="0" smtClean="0"/>
              <a:t>imperialism</a:t>
            </a:r>
            <a:endParaRPr lang="en-US" dirty="0"/>
          </a:p>
          <a:p>
            <a:pPr lvl="1"/>
            <a:r>
              <a:rPr lang="en-US" dirty="0"/>
              <a:t>globalization or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Americanization?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9244" y="780914"/>
            <a:ext cx="3956858" cy="27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5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Practices, Social Differences, and Identity (cont.)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4609351" cy="3951288"/>
          </a:xfrm>
        </p:spPr>
        <p:txBody>
          <a:bodyPr/>
          <a:lstStyle/>
          <a:p>
            <a:r>
              <a:rPr lang="en-US" dirty="0"/>
              <a:t>Cultural nationalism</a:t>
            </a:r>
          </a:p>
          <a:p>
            <a:pPr lvl="1"/>
            <a:r>
              <a:rPr lang="en-US" dirty="0"/>
              <a:t>protection against American cultural invasion</a:t>
            </a:r>
          </a:p>
          <a:p>
            <a:pPr lvl="1"/>
            <a:r>
              <a:rPr lang="en-US" dirty="0"/>
              <a:t>export of music and film personalities to </a:t>
            </a:r>
            <a:br>
              <a:rPr lang="en-US" dirty="0"/>
            </a:br>
            <a:r>
              <a:rPr lang="en-US" dirty="0"/>
              <a:t>the United States</a:t>
            </a:r>
          </a:p>
          <a:p>
            <a:r>
              <a:rPr lang="en-US" dirty="0"/>
              <a:t>Sex, gender, and </a:t>
            </a:r>
            <a:r>
              <a:rPr lang="en-US" b="1" dirty="0"/>
              <a:t>sexuality</a:t>
            </a:r>
          </a:p>
          <a:p>
            <a:pPr lvl="1"/>
            <a:r>
              <a:rPr lang="en-US" dirty="0"/>
              <a:t>Civil Marriage Act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2025" y="1368083"/>
            <a:ext cx="3793490" cy="47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5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3169" y="3373667"/>
            <a:ext cx="5989562" cy="3383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United States</a:t>
            </a:r>
          </a:p>
          <a:p>
            <a:pPr lvl="1"/>
            <a:r>
              <a:rPr lang="en-US" dirty="0"/>
              <a:t>whites make up ¾ of total</a:t>
            </a:r>
          </a:p>
          <a:p>
            <a:pPr lvl="1"/>
            <a:r>
              <a:rPr lang="en-US" dirty="0"/>
              <a:t>minorities have higher fertility</a:t>
            </a:r>
          </a:p>
          <a:p>
            <a:pPr lvl="1"/>
            <a:r>
              <a:rPr lang="en-US" dirty="0"/>
              <a:t>Hispanics largest minority</a:t>
            </a:r>
          </a:p>
          <a:p>
            <a:r>
              <a:rPr lang="en-US" dirty="0"/>
              <a:t>Canada</a:t>
            </a:r>
          </a:p>
          <a:p>
            <a:pPr lvl="1"/>
            <a:r>
              <a:rPr lang="en-US" dirty="0"/>
              <a:t>British and French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descendants</a:t>
            </a:r>
            <a:endParaRPr lang="en-US" dirty="0"/>
          </a:p>
          <a:p>
            <a:pPr lvl="1"/>
            <a:r>
              <a:rPr lang="en-US" dirty="0"/>
              <a:t>immigrant populations</a:t>
            </a:r>
          </a:p>
        </p:txBody>
      </p:sp>
    </p:spTree>
    <p:extLst>
      <p:ext uri="{BB962C8B-B14F-4D97-AF65-F5344CB8AC3E}">
        <p14:creationId xmlns:p14="http://schemas.microsoft.com/office/powerpoint/2010/main" val="317358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Immigration</a:t>
            </a:r>
          </a:p>
          <a:p>
            <a:pPr lvl="1"/>
            <a:r>
              <a:rPr lang="en-US" dirty="0"/>
              <a:t>United </a:t>
            </a:r>
            <a:r>
              <a:rPr lang="en-US" dirty="0" smtClean="0"/>
              <a:t>States</a:t>
            </a:r>
          </a:p>
          <a:p>
            <a:pPr lvl="2"/>
            <a:r>
              <a:rPr lang="en-US" b="1" dirty="0" smtClean="0"/>
              <a:t>first wave</a:t>
            </a:r>
          </a:p>
          <a:p>
            <a:pPr lvl="2"/>
            <a:r>
              <a:rPr lang="en-US" b="1" dirty="0" smtClean="0"/>
              <a:t>second wave</a:t>
            </a:r>
          </a:p>
          <a:p>
            <a:pPr lvl="2"/>
            <a:r>
              <a:rPr lang="en-US" b="1" dirty="0" smtClean="0"/>
              <a:t>third </a:t>
            </a:r>
            <a:r>
              <a:rPr lang="en-US" b="1" dirty="0"/>
              <a:t>wave</a:t>
            </a:r>
          </a:p>
          <a:p>
            <a:pPr lvl="1"/>
            <a:r>
              <a:rPr lang="en-US" dirty="0" smtClean="0"/>
              <a:t>Canada</a:t>
            </a:r>
          </a:p>
          <a:p>
            <a:pPr lvl="2"/>
            <a:r>
              <a:rPr lang="en-US" dirty="0" smtClean="0"/>
              <a:t>French </a:t>
            </a:r>
            <a:r>
              <a:rPr lang="en-US" dirty="0"/>
              <a:t>settlers</a:t>
            </a:r>
          </a:p>
          <a:p>
            <a:pPr lvl="1"/>
            <a:r>
              <a:rPr lang="en-US" dirty="0"/>
              <a:t>resistance to </a:t>
            </a:r>
            <a:r>
              <a:rPr lang="en-US" dirty="0" smtClean="0"/>
              <a:t>immigrants</a:t>
            </a:r>
          </a:p>
          <a:p>
            <a:pPr lvl="2"/>
            <a:r>
              <a:rPr lang="en-US" b="1" dirty="0" smtClean="0"/>
              <a:t>hate </a:t>
            </a:r>
            <a:r>
              <a:rPr lang="en-US" b="1" dirty="0"/>
              <a:t>crimes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53428" y="670980"/>
            <a:ext cx="4017097" cy="2971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82988" y="3818207"/>
            <a:ext cx="1957975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6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7544610" cy="3951288"/>
          </a:xfrm>
        </p:spPr>
        <p:txBody>
          <a:bodyPr/>
          <a:lstStyle/>
          <a:p>
            <a:r>
              <a:rPr lang="en-US" dirty="0"/>
              <a:t>Urbanization and industrialization</a:t>
            </a:r>
          </a:p>
          <a:p>
            <a:pPr lvl="1"/>
            <a:r>
              <a:rPr lang="en-US" dirty="0"/>
              <a:t>indigenous cities</a:t>
            </a:r>
          </a:p>
          <a:p>
            <a:pPr lvl="1"/>
            <a:r>
              <a:rPr lang="en-US" dirty="0"/>
              <a:t>European </a:t>
            </a:r>
            <a:r>
              <a:rPr lang="en-US" dirty="0" smtClean="0"/>
              <a:t>settlements</a:t>
            </a:r>
          </a:p>
          <a:p>
            <a:pPr lvl="2"/>
            <a:r>
              <a:rPr lang="en-US" dirty="0" smtClean="0"/>
              <a:t>commercial </a:t>
            </a:r>
            <a:r>
              <a:rPr lang="en-US" dirty="0"/>
              <a:t>centers</a:t>
            </a:r>
          </a:p>
          <a:p>
            <a:pPr lvl="1"/>
            <a:r>
              <a:rPr lang="en-US" dirty="0"/>
              <a:t>pull of manufacturing jobs</a:t>
            </a:r>
          </a:p>
          <a:p>
            <a:r>
              <a:rPr lang="en-US" dirty="0"/>
              <a:t>Suburbanization</a:t>
            </a:r>
          </a:p>
          <a:p>
            <a:pPr lvl="1"/>
            <a:r>
              <a:rPr lang="en-US" dirty="0"/>
              <a:t>reasons for moving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out </a:t>
            </a:r>
            <a:r>
              <a:rPr lang="en-US" dirty="0"/>
              <a:t>of the city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3800" y="3366867"/>
            <a:ext cx="4674813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Geographies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U.S. dominance and challenge</a:t>
            </a:r>
          </a:p>
          <a:p>
            <a:pPr lvl="1"/>
            <a:r>
              <a:rPr lang="en-US" dirty="0"/>
              <a:t>2008 </a:t>
            </a:r>
            <a:r>
              <a:rPr lang="en-US" dirty="0" smtClean="0"/>
              <a:t>recession</a:t>
            </a:r>
            <a:endParaRPr lang="en-US" dirty="0"/>
          </a:p>
          <a:p>
            <a:pPr lvl="1"/>
            <a:r>
              <a:rPr lang="en-US" dirty="0"/>
              <a:t>China challenge</a:t>
            </a:r>
          </a:p>
          <a:p>
            <a:r>
              <a:rPr lang="en-US" dirty="0"/>
              <a:t>Security, terrorism,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war</a:t>
            </a:r>
          </a:p>
          <a:p>
            <a:pPr lvl="1"/>
            <a:r>
              <a:rPr lang="en-US" dirty="0"/>
              <a:t>ISIS</a:t>
            </a:r>
          </a:p>
          <a:p>
            <a:r>
              <a:rPr lang="en-US" dirty="0"/>
              <a:t>Environmental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change</a:t>
            </a:r>
            <a:endParaRPr lang="en-US" dirty="0"/>
          </a:p>
          <a:p>
            <a:pPr lvl="1"/>
            <a:r>
              <a:rPr lang="en-US" dirty="0"/>
              <a:t>significant effects,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but </a:t>
            </a:r>
            <a:r>
              <a:rPr lang="en-US" dirty="0"/>
              <a:t>localized variations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21448" y="1768544"/>
            <a:ext cx="4919447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482&quot;&gt;&lt;object type=&quot;3&quot; unique_id=&quot;10483&quot;&gt;&lt;property id=&quot;20148&quot; value=&quot;5&quot;/&gt;&lt;property id=&quot;20300&quot; value=&quot;Slide 1&quot;/&gt;&lt;property id=&quot;20307&quot; value=&quot;256&quot;/&gt;&lt;/object&gt;&lt;object type=&quot;3&quot; unique_id=&quot;10484&quot;&gt;&lt;property id=&quot;20148&quot; value=&quot;5&quot;/&gt;&lt;property id=&quot;20300&quot; value=&quot;Slide 2&quot;/&gt;&lt;property id=&quot;20307&quot; value=&quot;258&quot;/&gt;&lt;/object&gt;&lt;object type=&quot;3&quot; unique_id=&quot;10485&quot;&gt;&lt;property id=&quot;20148&quot; value=&quot;5&quot;/&gt;&lt;property id=&quot;20300&quot; value=&quot;Slide 3&quot;/&gt;&lt;property id=&quot;20307&quot; value=&quot;263&quot;/&gt;&lt;/object&gt;&lt;object type=&quot;3&quot; unique_id=&quot;10486&quot;&gt;&lt;property id=&quot;20148&quot; value=&quot;5&quot;/&gt;&lt;property id=&quot;20300&quot; value=&quot;Slide 4&quot;/&gt;&lt;property id=&quot;20307&quot; value=&quot;264&quot;/&gt;&lt;/object&gt;&lt;object type=&quot;3&quot; unique_id=&quot;10487&quot;&gt;&lt;property id=&quot;20148&quot; value=&quot;5&quot;/&gt;&lt;property id=&quot;20300&quot; value=&quot;Slide 5&quot;/&gt;&lt;property id=&quot;20307&quot; value=&quot;265&quot;/&gt;&lt;/object&gt;&lt;object type=&quot;3&quot; unique_id=&quot;10488&quot;&gt;&lt;property id=&quot;20148&quot; value=&quot;5&quot;/&gt;&lt;property id=&quot;20300&quot; value=&quot;Slide 6&quot;/&gt;&lt;property id=&quot;20307&quot; value=&quot;295&quot;/&gt;&lt;/object&gt;&lt;object type=&quot;3&quot; unique_id=&quot;10489&quot;&gt;&lt;property id=&quot;20148&quot; value=&quot;5&quot;/&gt;&lt;property id=&quot;20300&quot; value=&quot;Slide 7&quot;/&gt;&lt;property id=&quot;20307&quot; value=&quot;296&quot;/&gt;&lt;/object&gt;&lt;object type=&quot;3&quot; unique_id=&quot;10490&quot;&gt;&lt;property id=&quot;20148&quot; value=&quot;5&quot;/&gt;&lt;property id=&quot;20300&quot; value=&quot;Slide 8&quot;/&gt;&lt;property id=&quot;20307&quot; value=&quot;297&quot;/&gt;&lt;/object&gt;&lt;object type=&quot;3&quot; unique_id=&quot;10491&quot;&gt;&lt;property id=&quot;20148&quot; value=&quot;5&quot;/&gt;&lt;property id=&quot;20300&quot; value=&quot;Slide 9&quot;/&gt;&lt;property id=&quot;20307&quot; value=&quot;298&quot;/&gt;&lt;/object&gt;&lt;object type=&quot;3&quot; unique_id=&quot;10492&quot;&gt;&lt;property id=&quot;20148&quot; value=&quot;5&quot;/&gt;&lt;property id=&quot;20300&quot; value=&quot;Slide 10&quot;/&gt;&lt;property id=&quot;20307&quot; value=&quot;271&quot;/&gt;&lt;/object&gt;&lt;object type=&quot;3&quot; unique_id=&quot;10493&quot;&gt;&lt;property id=&quot;20148&quot; value=&quot;5&quot;/&gt;&lt;property id=&quot;20300&quot; value=&quot;Slide 11&quot;/&gt;&lt;property id=&quot;20307&quot; value=&quot;272&quot;/&gt;&lt;/object&gt;&lt;object type=&quot;3&quot; unique_id=&quot;10494&quot;&gt;&lt;property id=&quot;20148&quot; value=&quot;5&quot;/&gt;&lt;property id=&quot;20300&quot; value=&quot;Slide 12&quot;/&gt;&lt;property id=&quot;20307&quot; value=&quot;273&quot;/&gt;&lt;/object&gt;&lt;object type=&quot;3&quot; unique_id=&quot;10495&quot;&gt;&lt;property id=&quot;20148&quot; value=&quot;5&quot;/&gt;&lt;property id=&quot;20300&quot; value=&quot;Slide 13&quot;/&gt;&lt;property id=&quot;20307&quot; value=&quot;299&quot;/&gt;&lt;/object&gt;&lt;object type=&quot;3&quot; unique_id=&quot;10496&quot;&gt;&lt;property id=&quot;20148&quot; value=&quot;5&quot;/&gt;&lt;property id=&quot;20300&quot; value=&quot;Slide 14&quot;/&gt;&lt;property id=&quot;20307&quot; value=&quot;301&quot;/&gt;&lt;/object&gt;&lt;object type=&quot;3&quot; unique_id=&quot;10497&quot;&gt;&lt;property id=&quot;20148&quot; value=&quot;5&quot;/&gt;&lt;property id=&quot;20300&quot; value=&quot;Slide 15&quot;/&gt;&lt;property id=&quot;20307&quot; value=&quot;300&quot;/&gt;&lt;/object&gt;&lt;object type=&quot;3&quot; unique_id=&quot;10498&quot;&gt;&lt;property id=&quot;20148&quot; value=&quot;5&quot;/&gt;&lt;property id=&quot;20300&quot; value=&quot;Slide 16&quot;/&gt;&lt;property id=&quot;20307&quot; value=&quot;276&quot;/&gt;&lt;/object&gt;&lt;object type=&quot;3&quot; unique_id=&quot;10499&quot;&gt;&lt;property id=&quot;20148&quot; value=&quot;5&quot;/&gt;&lt;property id=&quot;20300&quot; value=&quot;Slide 17&quot;/&gt;&lt;property id=&quot;20307&quot; value=&quot;277&quot;/&gt;&lt;/object&gt;&lt;object type=&quot;3&quot; unique_id=&quot;10500&quot;&gt;&lt;property id=&quot;20148&quot; value=&quot;5&quot;/&gt;&lt;property id=&quot;20300&quot; value=&quot;Slide 18&quot;/&gt;&lt;property id=&quot;20307&quot; value=&quot;278&quot;/&gt;&lt;/object&gt;&lt;object type=&quot;3&quot; unique_id=&quot;10501&quot;&gt;&lt;property id=&quot;20148&quot; value=&quot;5&quot;/&gt;&lt;property id=&quot;20300&quot; value=&quot;Slide 19&quot;/&gt;&lt;property id=&quot;20307&quot; value=&quot;302&quot;/&gt;&lt;/object&gt;&lt;object type=&quot;3&quot; unique_id=&quot;10502&quot;&gt;&lt;property id=&quot;20148&quot; value=&quot;5&quot;/&gt;&lt;property id=&quot;20300&quot; value=&quot;Slide 20&quot;/&gt;&lt;property id=&quot;20307&quot; value=&quot;281&quot;/&gt;&lt;/object&gt;&lt;object type=&quot;3&quot; unique_id=&quot;10503&quot;&gt;&lt;property id=&quot;20148&quot; value=&quot;5&quot;/&gt;&lt;property id=&quot;20300&quot; value=&quot;Slide 21&quot;/&gt;&lt;property id=&quot;20307&quot; value=&quot;282&quot;/&gt;&lt;/object&gt;&lt;object type=&quot;3&quot; unique_id=&quot;10504&quot;&gt;&lt;property id=&quot;20148&quot; value=&quot;5&quot;/&gt;&lt;property id=&quot;20300&quot; value=&quot;Slide 22&quot;/&gt;&lt;property id=&quot;20307&quot; value=&quot;275&quot;/&gt;&lt;/object&gt;&lt;object type=&quot;3&quot; unique_id=&quot;10505&quot;&gt;&lt;property id=&quot;20148&quot; value=&quot;5&quot;/&gt;&lt;property id=&quot;20300&quot; value=&quot;Slide 23&quot;/&gt;&lt;property id=&quot;20307&quot; value=&quot;269&quot;/&gt;&lt;/object&gt;&lt;object type=&quot;3&quot; unique_id=&quot;10506&quot;&gt;&lt;property id=&quot;20148&quot; value=&quot;5&quot;/&gt;&lt;property id=&quot;20300&quot; value=&quot;Slide 24&quot;/&gt;&lt;property id=&quot;20307&quot; value=&quot;303&quot;/&gt;&lt;/object&gt;&lt;object type=&quot;3&quot; unique_id=&quot;10507&quot;&gt;&lt;property id=&quot;20148&quot; value=&quot;5&quot;/&gt;&lt;property id=&quot;20300&quot; value=&quot;Slide 25&quot;/&gt;&lt;property id=&quot;20307&quot; value=&quot;283&quot;/&gt;&lt;/object&gt;&lt;object type=&quot;3&quot; unique_id=&quot;10508&quot;&gt;&lt;property id=&quot;20148&quot; value=&quot;5&quot;/&gt;&lt;property id=&quot;20300&quot; value=&quot;Slide 26&quot;/&gt;&lt;property id=&quot;20307&quot; value=&quot;304&quot;/&gt;&lt;/object&gt;&lt;object type=&quot;3&quot; unique_id=&quot;10509&quot;&gt;&lt;property id=&quot;20148&quot; value=&quot;5&quot;/&gt;&lt;property id=&quot;20300&quot; value=&quot;Slide 27&quot;/&gt;&lt;property id=&quot;20307&quot; value=&quot;284&quot;/&gt;&lt;/object&gt;&lt;object type=&quot;3&quot; unique_id=&quot;10510&quot;&gt;&lt;property id=&quot;20148&quot; value=&quot;5&quot;/&gt;&lt;property id=&quot;20300&quot; value=&quot;Slide 28&quot;/&gt;&lt;property id=&quot;20307&quot; value=&quot;285&quot;/&gt;&lt;/object&gt;&lt;object type=&quot;3&quot; unique_id=&quot;10511&quot;&gt;&lt;property id=&quot;20148&quot; value=&quot;5&quot;/&gt;&lt;property id=&quot;20300&quot; value=&quot;Slide 29&quot;/&gt;&lt;property id=&quot;20307&quot; value=&quot;305&quot;/&gt;&lt;/object&gt;&lt;object type=&quot;3&quot; unique_id=&quot;10512&quot;&gt;&lt;property id=&quot;20148&quot; value=&quot;5&quot;/&gt;&lt;property id=&quot;20300&quot; value=&quot;Slide 30&quot;/&gt;&lt;property id=&quot;20307&quot; value=&quot;306&quot;/&gt;&lt;/object&gt;&lt;object type=&quot;3&quot; unique_id=&quot;10513&quot;&gt;&lt;property id=&quot;20148&quot; value=&quot;5&quot;/&gt;&lt;property id=&quot;20300&quot; value=&quot;Slide 31&quot;/&gt;&lt;property id=&quot;20307&quot; value=&quot;291&quot;/&gt;&lt;/object&gt;&lt;object type=&quot;3&quot; unique_id=&quot;10514&quot;&gt;&lt;property id=&quot;20148&quot; value=&quot;5&quot;/&gt;&lt;property id=&quot;20300&quot; value=&quot;Slide 32&quot;/&gt;&lt;property id=&quot;20307&quot; value=&quot;288&quot;/&gt;&lt;/object&gt;&lt;object type=&quot;3&quot; unique_id=&quot;10515&quot;&gt;&lt;property id=&quot;20148&quot; value=&quot;5&quot;/&gt;&lt;property id=&quot;20300&quot; value=&quot;Slide 33&quot;/&gt;&lt;property id=&quot;20307&quot; value=&quot;309&quot;/&gt;&lt;/object&gt;&lt;object type=&quot;3&quot; unique_id=&quot;10516&quot;&gt;&lt;property id=&quot;20148&quot; value=&quot;5&quot;/&gt;&lt;property id=&quot;20300&quot; value=&quot;Slide 34&quot;/&gt;&lt;property id=&quot;20307&quot; value=&quot;289&quot;/&gt;&lt;/object&gt;&lt;object type=&quot;3&quot; unique_id=&quot;10517&quot;&gt;&lt;property id=&quot;20148&quot; value=&quot;5&quot;/&gt;&lt;property id=&quot;20300&quot; value=&quot;Slide 35&quot;/&gt;&lt;property id=&quot;20307&quot; value=&quot;307&quot;/&gt;&lt;/object&gt;&lt;object type=&quot;3&quot; unique_id=&quot;10518&quot;&gt;&lt;property id=&quot;20148&quot; value=&quot;5&quot;/&gt;&lt;property id=&quot;20300&quot; value=&quot;Slide 36&quot;/&gt;&lt;property id=&quot;20307&quot; value=&quot;310&quot;/&gt;&lt;/object&gt;&lt;object type=&quot;3&quot; unique_id=&quot;10519&quot;&gt;&lt;property id=&quot;20148&quot; value=&quot;5&quot;/&gt;&lt;property id=&quot;20300&quot; value=&quot;Slide 37&quot;/&gt;&lt;property id=&quot;20307&quot; value=&quot;294&quot;/&gt;&lt;/object&gt;&lt;object type=&quot;3&quot; unique_id=&quot;10520&quot;&gt;&lt;property id=&quot;20148&quot; value=&quot;5&quot;/&gt;&lt;property id=&quot;20300&quot; value=&quot;Slide 38&quot;/&gt;&lt;property id=&quot;20307&quot; value=&quot;311&quot;/&gt;&lt;/object&gt;&lt;/object&gt;&lt;object type=&quot;8&quot; unique_id=&quot;10560&quot;&gt;&lt;/object&gt;&lt;/object&gt;&lt;/database&gt;"/>
  <p:tag name="MMPROD_NEXTUNIQUEID" val="10018"/>
  <p:tag name="SECTOMILLISECCONVERTED" val="1"/>
</p:tagLst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7638</TotalTime>
  <Words>870</Words>
  <Application>Microsoft Office PowerPoint</Application>
  <PresentationFormat>On-screen Show (4:3)</PresentationFormat>
  <Paragraphs>224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ＭＳ Ｐゴシック</vt:lpstr>
      <vt:lpstr>ＭＳ Ｐゴシック</vt:lpstr>
      <vt:lpstr>Arial</vt:lpstr>
      <vt:lpstr>Calibri</vt:lpstr>
      <vt:lpstr>Geneva</vt:lpstr>
      <vt:lpstr>Verdana</vt:lpstr>
      <vt:lpstr>ヒラギノ角ゴ Pro W3</vt:lpstr>
      <vt:lpstr>1_Default Design</vt:lpstr>
      <vt:lpstr>PowerPoint Presentation</vt:lpstr>
      <vt:lpstr>Learning Outcomes</vt:lpstr>
      <vt:lpstr>Learning Outcomes </vt:lpstr>
      <vt:lpstr>The United States and Canada</vt:lpstr>
      <vt:lpstr>Climate, Adaptation, and Global Change</vt:lpstr>
      <vt:lpstr>Climate, Adaptation, and Global Change (cont.) </vt:lpstr>
      <vt:lpstr>Geological Resources, Risk, and Water</vt:lpstr>
      <vt:lpstr>Geological Resources, Risk, and Water (cont.)</vt:lpstr>
      <vt:lpstr>Ecology, Land, and Environmental Management</vt:lpstr>
      <vt:lpstr>Ecology, Land, and Environmental Management (cont.)</vt:lpstr>
      <vt:lpstr>Ecology, Land, and Environmental Management (cont.)</vt:lpstr>
      <vt:lpstr>Geographies of Indulgence, Desire, and Addiction </vt:lpstr>
      <vt:lpstr>History, Economy, and Territory/Historical Landscapes</vt:lpstr>
      <vt:lpstr>Historical Landscapes (cont.)</vt:lpstr>
      <vt:lpstr>Historical Landscapes (cont.)</vt:lpstr>
      <vt:lpstr>Historical Landscapes (cont.)</vt:lpstr>
      <vt:lpstr>Economy, Accumulation, and the Production of Inequality</vt:lpstr>
      <vt:lpstr>Economy, Accumulation, and the Production of Inequality (cont.)</vt:lpstr>
      <vt:lpstr>Economy, Accumulation, and the Production of Inequality (cont.)</vt:lpstr>
      <vt:lpstr>Economy, Accumulation, and the Production of Inequality (cont.)</vt:lpstr>
      <vt:lpstr>Visualizing Geography</vt:lpstr>
      <vt:lpstr>Territory and Politics</vt:lpstr>
      <vt:lpstr>Territory and Politics (cont.)</vt:lpstr>
      <vt:lpstr>Territory and Politics (cont.) </vt:lpstr>
      <vt:lpstr>Territory and Politics (cont.)</vt:lpstr>
      <vt:lpstr>Culture and Populations/Religion and Language</vt:lpstr>
      <vt:lpstr>Cultural Practices, Social Differences, and Identity  </vt:lpstr>
      <vt:lpstr>Cultural Practices, Social Differences, and Identity (cont.)  </vt:lpstr>
      <vt:lpstr>Demography and Urbanization</vt:lpstr>
      <vt:lpstr>Demography and Urbanization (cont.)</vt:lpstr>
      <vt:lpstr>Demography and Urbanization (cont.)</vt:lpstr>
      <vt:lpstr>Future Geographies</vt:lpstr>
      <vt:lpstr>PowerPoint Presentation</vt:lpstr>
    </vt:vector>
  </TitlesOfParts>
  <Company>NDSU Geoscience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Regions in Global Context: Peoples, Places, and Environments (2nd. ed)  Sallie A. Marston, Paul L. Knox,  &amp; Diana M. Liverman</dc:title>
  <dc:creator>Robert M Arthur</dc:creator>
  <cp:lastModifiedBy>Mandy Norton</cp:lastModifiedBy>
  <cp:revision>776</cp:revision>
  <dcterms:created xsi:type="dcterms:W3CDTF">2013-01-08T10:18:50Z</dcterms:created>
  <dcterms:modified xsi:type="dcterms:W3CDTF">2017-07-17T12:26:07Z</dcterms:modified>
</cp:coreProperties>
</file>