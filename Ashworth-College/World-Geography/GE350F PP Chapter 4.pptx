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9" r:id="rId1"/>
  </p:sldMasterIdLst>
  <p:notesMasterIdLst>
    <p:notesMasterId r:id="rId31"/>
  </p:notesMasterIdLst>
  <p:sldIdLst>
    <p:sldId id="256" r:id="rId2"/>
    <p:sldId id="312" r:id="rId3"/>
    <p:sldId id="313" r:id="rId4"/>
    <p:sldId id="314" r:id="rId5"/>
    <p:sldId id="316" r:id="rId6"/>
    <p:sldId id="317" r:id="rId7"/>
    <p:sldId id="315" r:id="rId8"/>
    <p:sldId id="338" r:id="rId9"/>
    <p:sldId id="337" r:id="rId10"/>
    <p:sldId id="336" r:id="rId11"/>
    <p:sldId id="335" r:id="rId12"/>
    <p:sldId id="334" r:id="rId13"/>
    <p:sldId id="333" r:id="rId14"/>
    <p:sldId id="332" r:id="rId15"/>
    <p:sldId id="331" r:id="rId16"/>
    <p:sldId id="330" r:id="rId17"/>
    <p:sldId id="329" r:id="rId18"/>
    <p:sldId id="328" r:id="rId19"/>
    <p:sldId id="326" r:id="rId20"/>
    <p:sldId id="327" r:id="rId21"/>
    <p:sldId id="325" r:id="rId22"/>
    <p:sldId id="324" r:id="rId23"/>
    <p:sldId id="323" r:id="rId24"/>
    <p:sldId id="322" r:id="rId25"/>
    <p:sldId id="321" r:id="rId26"/>
    <p:sldId id="320" r:id="rId27"/>
    <p:sldId id="319" r:id="rId28"/>
    <p:sldId id="318" r:id="rId29"/>
    <p:sldId id="311" r:id="rId30"/>
  </p:sldIdLst>
  <p:sldSz cx="9144000" cy="6858000" type="screen4x3"/>
  <p:notesSz cx="7315200" cy="9601200"/>
  <p:custDataLst>
    <p:tags r:id="rId32"/>
  </p:custDataLst>
  <p:defaultTextStyle>
    <a:defPPr>
      <a:defRPr lang="en-US"/>
    </a:defPPr>
    <a:lvl1pPr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1pPr>
    <a:lvl2pPr marL="4572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2pPr>
    <a:lvl3pPr marL="9144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3pPr>
    <a:lvl4pPr marL="13716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4pPr>
    <a:lvl5pPr marL="1828800" algn="r" rtl="0" eaLnBrk="0" fontAlgn="base" hangingPunct="0">
      <a:spcBef>
        <a:spcPct val="0"/>
      </a:spcBef>
      <a:spcAft>
        <a:spcPct val="0"/>
      </a:spcAft>
      <a:defRPr kern="1200">
        <a:solidFill>
          <a:schemeClr val="tx1"/>
        </a:solidFill>
        <a:latin typeface="Verdana" charset="0"/>
        <a:ea typeface="ヒラギノ角ゴ Pro W3" charset="0"/>
        <a:cs typeface="ヒラギノ角ゴ Pro W3" charset="0"/>
      </a:defRPr>
    </a:lvl5pPr>
    <a:lvl6pPr marL="2286000" algn="l" defTabSz="457200" rtl="0" eaLnBrk="1" latinLnBrk="0" hangingPunct="1">
      <a:defRPr kern="1200">
        <a:solidFill>
          <a:schemeClr val="tx1"/>
        </a:solidFill>
        <a:latin typeface="Verdana" charset="0"/>
        <a:ea typeface="ヒラギノ角ゴ Pro W3" charset="0"/>
        <a:cs typeface="ヒラギノ角ゴ Pro W3" charset="0"/>
      </a:defRPr>
    </a:lvl6pPr>
    <a:lvl7pPr marL="2743200" algn="l" defTabSz="457200" rtl="0" eaLnBrk="1" latinLnBrk="0" hangingPunct="1">
      <a:defRPr kern="1200">
        <a:solidFill>
          <a:schemeClr val="tx1"/>
        </a:solidFill>
        <a:latin typeface="Verdana" charset="0"/>
        <a:ea typeface="ヒラギノ角ゴ Pro W3" charset="0"/>
        <a:cs typeface="ヒラギノ角ゴ Pro W3" charset="0"/>
      </a:defRPr>
    </a:lvl7pPr>
    <a:lvl8pPr marL="3200400" algn="l" defTabSz="457200" rtl="0" eaLnBrk="1" latinLnBrk="0" hangingPunct="1">
      <a:defRPr kern="1200">
        <a:solidFill>
          <a:schemeClr val="tx1"/>
        </a:solidFill>
        <a:latin typeface="Verdana" charset="0"/>
        <a:ea typeface="ヒラギノ角ゴ Pro W3" charset="0"/>
        <a:cs typeface="ヒラギノ角ゴ Pro W3" charset="0"/>
      </a:defRPr>
    </a:lvl8pPr>
    <a:lvl9pPr marL="3657600" algn="l" defTabSz="457200" rtl="0" eaLnBrk="1" latinLnBrk="0" hangingPunct="1">
      <a:defRPr kern="1200">
        <a:solidFill>
          <a:schemeClr val="tx1"/>
        </a:solidFill>
        <a:latin typeface="Verdana" charset="0"/>
        <a:ea typeface="ヒラギノ角ゴ Pro W3" charset="0"/>
        <a:cs typeface="ヒラギノ角ゴ Pro W3" charset="0"/>
      </a:defRPr>
    </a:lvl9pPr>
  </p:defaultTextStyle>
  <p:extLst>
    <p:ext uri="{EFAFB233-063F-42B5-8137-9DF3F51BA10A}">
      <p15:sldGuideLst xmlns:p15="http://schemas.microsoft.com/office/powerpoint/2012/main">
        <p15:guide id="1" orient="horz" pos="934">
          <p15:clr>
            <a:srgbClr val="A4A3A4"/>
          </p15:clr>
        </p15:guide>
        <p15:guide id="2" pos="2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6EBA"/>
    <a:srgbClr val="5B96FA"/>
    <a:srgbClr val="72B0FC"/>
    <a:srgbClr val="207AFC"/>
    <a:srgbClr val="76B5FC"/>
    <a:srgbClr val="750400"/>
    <a:srgbClr val="A5002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85" autoAdjust="0"/>
    <p:restoredTop sz="94562" autoAdjust="0"/>
  </p:normalViewPr>
  <p:slideViewPr>
    <p:cSldViewPr snapToGrid="0">
      <p:cViewPr varScale="1">
        <p:scale>
          <a:sx n="54" d="100"/>
          <a:sy n="54" d="100"/>
        </p:scale>
        <p:origin x="1325" y="58"/>
      </p:cViewPr>
      <p:guideLst>
        <p:guide orient="horz" pos="934"/>
        <p:guide pos="2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170238"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algn="l" defTabSz="966788">
              <a:defRPr sz="1300">
                <a:latin typeface="Verdana" pitchFamily="34" charset="0"/>
                <a:ea typeface="+mn-ea"/>
                <a:cs typeface="+mn-cs"/>
              </a:defRPr>
            </a:lvl1pPr>
          </a:lstStyle>
          <a:p>
            <a:pPr>
              <a:defRPr/>
            </a:pPr>
            <a:endParaRPr lang="en-US"/>
          </a:p>
        </p:txBody>
      </p:sp>
      <p:sp>
        <p:nvSpPr>
          <p:cNvPr id="3" name="Date Placeholder 2"/>
          <p:cNvSpPr>
            <a:spLocks noGrp="1"/>
          </p:cNvSpPr>
          <p:nvPr>
            <p:ph type="dt" idx="1"/>
          </p:nvPr>
        </p:nvSpPr>
        <p:spPr bwMode="auto">
          <a:xfrm>
            <a:off x="4143375" y="0"/>
            <a:ext cx="3170238"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defTabSz="966788">
              <a:defRPr sz="1300"/>
            </a:lvl1pPr>
          </a:lstStyle>
          <a:p>
            <a:fld id="{FEF5AE24-08F2-5D40-832C-1BDBAD460A83}" type="datetime1">
              <a:rPr lang="en-US"/>
              <a:pPr/>
              <a:t>7/17/2017</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bwMode="auto">
          <a:xfrm>
            <a:off x="731838" y="4560888"/>
            <a:ext cx="5851525" cy="4319587"/>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bwMode="auto">
          <a:xfrm>
            <a:off x="0" y="9120188"/>
            <a:ext cx="3170238"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algn="l" defTabSz="966788">
              <a:defRPr sz="1300">
                <a:latin typeface="Verdana" pitchFamily="34" charset="0"/>
                <a:ea typeface="+mn-ea"/>
                <a:cs typeface="+mn-cs"/>
              </a:defRPr>
            </a:lvl1pPr>
          </a:lstStyle>
          <a:p>
            <a:pPr>
              <a:defRPr/>
            </a:pPr>
            <a:endParaRPr lang="en-US"/>
          </a:p>
        </p:txBody>
      </p:sp>
      <p:sp>
        <p:nvSpPr>
          <p:cNvPr id="7" name="Slide Number Placeholder 6"/>
          <p:cNvSpPr>
            <a:spLocks noGrp="1"/>
          </p:cNvSpPr>
          <p:nvPr>
            <p:ph type="sldNum" sz="quarter" idx="5"/>
          </p:nvPr>
        </p:nvSpPr>
        <p:spPr bwMode="auto">
          <a:xfrm>
            <a:off x="4143375" y="9120188"/>
            <a:ext cx="3170238"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defTabSz="966788">
              <a:defRPr sz="1300"/>
            </a:lvl1pPr>
          </a:lstStyle>
          <a:p>
            <a:fld id="{74251E3E-1F01-5E47-B35B-00445B403F1E}" type="slidenum">
              <a:rPr lang="en-US"/>
              <a:pPr/>
              <a:t>‹#›</a:t>
            </a:fld>
            <a:endParaRPr lang="en-US"/>
          </a:p>
        </p:txBody>
      </p:sp>
    </p:spTree>
    <p:extLst>
      <p:ext uri="{BB962C8B-B14F-4D97-AF65-F5344CB8AC3E}">
        <p14:creationId xmlns:p14="http://schemas.microsoft.com/office/powerpoint/2010/main" val="2178477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ヒラギノ角ゴ Pro W3" charset="0"/>
        <a:cs typeface="Geneva" pitchFamily="-110" charset="-128"/>
      </a:defRPr>
    </a:lvl1pPr>
    <a:lvl2pPr marL="4572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2pPr>
    <a:lvl3pPr marL="9144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3pPr>
    <a:lvl4pPr marL="13716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4pPr>
    <a:lvl5pPr marL="1828800" algn="l" rtl="0" eaLnBrk="0" fontAlgn="base" hangingPunct="0">
      <a:spcBef>
        <a:spcPct val="30000"/>
      </a:spcBef>
      <a:spcAft>
        <a:spcPct val="0"/>
      </a:spcAft>
      <a:defRPr sz="1200" kern="1200">
        <a:solidFill>
          <a:schemeClr val="tx1"/>
        </a:solidFill>
        <a:latin typeface="+mn-lt"/>
        <a:ea typeface="Geneva" pitchFamily="-110" charset="-128"/>
        <a:cs typeface="Geneva" pitchFamily="8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cs typeface="Geneva"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charset="0"/>
                <a:ea typeface="ヒラギノ角ゴ Pro W3" charset="0"/>
                <a:cs typeface="ヒラギノ角ゴ Pro W3" charset="0"/>
              </a:defRPr>
            </a:lvl1pPr>
            <a:lvl2pPr marL="742950" indent="-285750" defTabSz="966788">
              <a:defRPr>
                <a:solidFill>
                  <a:schemeClr val="tx1"/>
                </a:solidFill>
                <a:latin typeface="Verdana" charset="0"/>
                <a:ea typeface="ヒラギノ角ゴ Pro W3" charset="0"/>
              </a:defRPr>
            </a:lvl2pPr>
            <a:lvl3pPr marL="1143000" indent="-228600" defTabSz="966788">
              <a:defRPr>
                <a:solidFill>
                  <a:schemeClr val="tx1"/>
                </a:solidFill>
                <a:latin typeface="Verdana" charset="0"/>
                <a:ea typeface="ヒラギノ角ゴ Pro W3" charset="0"/>
              </a:defRPr>
            </a:lvl3pPr>
            <a:lvl4pPr marL="1600200" indent="-228600" defTabSz="966788">
              <a:defRPr>
                <a:solidFill>
                  <a:schemeClr val="tx1"/>
                </a:solidFill>
                <a:latin typeface="Verdana" charset="0"/>
                <a:ea typeface="ヒラギノ角ゴ Pro W3" charset="0"/>
              </a:defRPr>
            </a:lvl4pPr>
            <a:lvl5pPr marL="2057400" indent="-228600" defTabSz="966788">
              <a:defRPr>
                <a:solidFill>
                  <a:schemeClr val="tx1"/>
                </a:solidFill>
                <a:latin typeface="Verdana" charset="0"/>
                <a:ea typeface="ヒラギノ角ゴ Pro W3" charset="0"/>
              </a:defRPr>
            </a:lvl5pPr>
            <a:lvl6pPr marL="2514600" indent="-228600" algn="r" defTabSz="966788" eaLnBrk="0" fontAlgn="base" hangingPunct="0">
              <a:spcBef>
                <a:spcPct val="0"/>
              </a:spcBef>
              <a:spcAft>
                <a:spcPct val="0"/>
              </a:spcAft>
              <a:defRPr>
                <a:solidFill>
                  <a:schemeClr val="tx1"/>
                </a:solidFill>
                <a:latin typeface="Verdana" charset="0"/>
                <a:ea typeface="ヒラギノ角ゴ Pro W3" charset="0"/>
              </a:defRPr>
            </a:lvl6pPr>
            <a:lvl7pPr marL="2971800" indent="-228600" algn="r" defTabSz="966788" eaLnBrk="0" fontAlgn="base" hangingPunct="0">
              <a:spcBef>
                <a:spcPct val="0"/>
              </a:spcBef>
              <a:spcAft>
                <a:spcPct val="0"/>
              </a:spcAft>
              <a:defRPr>
                <a:solidFill>
                  <a:schemeClr val="tx1"/>
                </a:solidFill>
                <a:latin typeface="Verdana" charset="0"/>
                <a:ea typeface="ヒラギノ角ゴ Pro W3" charset="0"/>
              </a:defRPr>
            </a:lvl7pPr>
            <a:lvl8pPr marL="3429000" indent="-228600" algn="r" defTabSz="966788" eaLnBrk="0" fontAlgn="base" hangingPunct="0">
              <a:spcBef>
                <a:spcPct val="0"/>
              </a:spcBef>
              <a:spcAft>
                <a:spcPct val="0"/>
              </a:spcAft>
              <a:defRPr>
                <a:solidFill>
                  <a:schemeClr val="tx1"/>
                </a:solidFill>
                <a:latin typeface="Verdana" charset="0"/>
                <a:ea typeface="ヒラギノ角ゴ Pro W3" charset="0"/>
              </a:defRPr>
            </a:lvl8pPr>
            <a:lvl9pPr marL="3886200" indent="-228600" algn="r" defTabSz="966788" eaLnBrk="0" fontAlgn="base" hangingPunct="0">
              <a:spcBef>
                <a:spcPct val="0"/>
              </a:spcBef>
              <a:spcAft>
                <a:spcPct val="0"/>
              </a:spcAft>
              <a:defRPr>
                <a:solidFill>
                  <a:schemeClr val="tx1"/>
                </a:solidFill>
                <a:latin typeface="Verdana" charset="0"/>
                <a:ea typeface="ヒラギノ角ゴ Pro W3" charset="0"/>
              </a:defRPr>
            </a:lvl9pPr>
          </a:lstStyle>
          <a:p>
            <a:fld id="{BC7BCDD0-1D0D-A342-92CD-58A2B5C93BCA}" type="slidenum">
              <a:rPr lang="en-US"/>
              <a:pPr/>
              <a:t>1</a:t>
            </a:fld>
            <a:endParaRPr lang="en-US"/>
          </a:p>
        </p:txBody>
      </p:sp>
    </p:spTree>
    <p:extLst>
      <p:ext uri="{BB962C8B-B14F-4D97-AF65-F5344CB8AC3E}">
        <p14:creationId xmlns:p14="http://schemas.microsoft.com/office/powerpoint/2010/main" val="1780311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MS PGothic" charset="0"/>
              <a:cs typeface="MS PGothic"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charset="0"/>
                <a:ea typeface="ヒラギノ角ゴ Pro W3" charset="0"/>
                <a:cs typeface="ヒラギノ角ゴ Pro W3" charset="0"/>
              </a:defRPr>
            </a:lvl1pPr>
            <a:lvl2pPr marL="742950" indent="-285750" defTabSz="966788">
              <a:defRPr>
                <a:solidFill>
                  <a:schemeClr val="tx1"/>
                </a:solidFill>
                <a:latin typeface="Verdana" charset="0"/>
                <a:ea typeface="ヒラギノ角ゴ Pro W3" charset="0"/>
              </a:defRPr>
            </a:lvl2pPr>
            <a:lvl3pPr marL="1143000" indent="-228600" defTabSz="966788">
              <a:defRPr>
                <a:solidFill>
                  <a:schemeClr val="tx1"/>
                </a:solidFill>
                <a:latin typeface="Verdana" charset="0"/>
                <a:ea typeface="ヒラギノ角ゴ Pro W3" charset="0"/>
              </a:defRPr>
            </a:lvl3pPr>
            <a:lvl4pPr marL="1600200" indent="-228600" defTabSz="966788">
              <a:defRPr>
                <a:solidFill>
                  <a:schemeClr val="tx1"/>
                </a:solidFill>
                <a:latin typeface="Verdana" charset="0"/>
                <a:ea typeface="ヒラギノ角ゴ Pro W3" charset="0"/>
              </a:defRPr>
            </a:lvl4pPr>
            <a:lvl5pPr marL="2057400" indent="-228600" defTabSz="966788">
              <a:defRPr>
                <a:solidFill>
                  <a:schemeClr val="tx1"/>
                </a:solidFill>
                <a:latin typeface="Verdana" charset="0"/>
                <a:ea typeface="ヒラギノ角ゴ Pro W3" charset="0"/>
              </a:defRPr>
            </a:lvl5pPr>
            <a:lvl6pPr marL="2514600" indent="-228600" algn="r" defTabSz="966788" eaLnBrk="0" fontAlgn="base" hangingPunct="0">
              <a:spcBef>
                <a:spcPct val="0"/>
              </a:spcBef>
              <a:spcAft>
                <a:spcPct val="0"/>
              </a:spcAft>
              <a:defRPr>
                <a:solidFill>
                  <a:schemeClr val="tx1"/>
                </a:solidFill>
                <a:latin typeface="Verdana" charset="0"/>
                <a:ea typeface="ヒラギノ角ゴ Pro W3" charset="0"/>
              </a:defRPr>
            </a:lvl6pPr>
            <a:lvl7pPr marL="2971800" indent="-228600" algn="r" defTabSz="966788" eaLnBrk="0" fontAlgn="base" hangingPunct="0">
              <a:spcBef>
                <a:spcPct val="0"/>
              </a:spcBef>
              <a:spcAft>
                <a:spcPct val="0"/>
              </a:spcAft>
              <a:defRPr>
                <a:solidFill>
                  <a:schemeClr val="tx1"/>
                </a:solidFill>
                <a:latin typeface="Verdana" charset="0"/>
                <a:ea typeface="ヒラギノ角ゴ Pro W3" charset="0"/>
              </a:defRPr>
            </a:lvl7pPr>
            <a:lvl8pPr marL="3429000" indent="-228600" algn="r" defTabSz="966788" eaLnBrk="0" fontAlgn="base" hangingPunct="0">
              <a:spcBef>
                <a:spcPct val="0"/>
              </a:spcBef>
              <a:spcAft>
                <a:spcPct val="0"/>
              </a:spcAft>
              <a:defRPr>
                <a:solidFill>
                  <a:schemeClr val="tx1"/>
                </a:solidFill>
                <a:latin typeface="Verdana" charset="0"/>
                <a:ea typeface="ヒラギノ角ゴ Pro W3" charset="0"/>
              </a:defRPr>
            </a:lvl8pPr>
            <a:lvl9pPr marL="3886200" indent="-228600" algn="r" defTabSz="966788" eaLnBrk="0" fontAlgn="base" hangingPunct="0">
              <a:spcBef>
                <a:spcPct val="0"/>
              </a:spcBef>
              <a:spcAft>
                <a:spcPct val="0"/>
              </a:spcAft>
              <a:defRPr>
                <a:solidFill>
                  <a:schemeClr val="tx1"/>
                </a:solidFill>
                <a:latin typeface="Verdana" charset="0"/>
                <a:ea typeface="ヒラギノ角ゴ Pro W3" charset="0"/>
              </a:defRPr>
            </a:lvl9pPr>
          </a:lstStyle>
          <a:p>
            <a:fld id="{E54641DE-D560-2044-8A3B-1CFBF98D161A}" type="slidenum">
              <a:rPr lang="en-US">
                <a:solidFill>
                  <a:srgbClr val="000000"/>
                </a:solidFill>
                <a:ea typeface="MS PGothic" charset="0"/>
                <a:cs typeface="MS PGothic" charset="0"/>
              </a:rPr>
              <a:pPr/>
              <a:t>29</a:t>
            </a:fld>
            <a:endParaRPr lang="en-US">
              <a:solidFill>
                <a:srgbClr val="000000"/>
              </a:solidFill>
              <a:ea typeface="MS PGothic" charset="0"/>
              <a:cs typeface="MS PGothic" charset="0"/>
            </a:endParaRPr>
          </a:p>
        </p:txBody>
      </p:sp>
    </p:spTree>
    <p:extLst>
      <p:ext uri="{BB962C8B-B14F-4D97-AF65-F5344CB8AC3E}">
        <p14:creationId xmlns:p14="http://schemas.microsoft.com/office/powerpoint/2010/main" val="368897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1028"/>
          <p:cNvSpPr>
            <a:spLocks noChangeArrowheads="1"/>
          </p:cNvSpPr>
          <p:nvPr userDrawn="1"/>
        </p:nvSpPr>
        <p:spPr bwMode="auto">
          <a:xfrm>
            <a:off x="0" y="0"/>
            <a:ext cx="9144000" cy="5334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Verdana" pitchFamily="34" charset="0"/>
                <a:ea typeface="ヒラギノ角ゴ Pro W3" pitchFamily="127" charset="-128"/>
              </a:defRPr>
            </a:lvl1pPr>
            <a:lvl2pPr marL="742950" indent="-285750">
              <a:defRPr sz="2400">
                <a:solidFill>
                  <a:schemeClr val="tx1"/>
                </a:solidFill>
                <a:latin typeface="Verdana" pitchFamily="34" charset="0"/>
                <a:ea typeface="ヒラギノ角ゴ Pro W3" pitchFamily="127" charset="-128"/>
              </a:defRPr>
            </a:lvl2pPr>
            <a:lvl3pPr marL="1143000" indent="-228600">
              <a:defRPr sz="2400">
                <a:solidFill>
                  <a:schemeClr val="tx1"/>
                </a:solidFill>
                <a:latin typeface="Verdana" pitchFamily="34" charset="0"/>
                <a:ea typeface="ヒラギノ角ゴ Pro W3" pitchFamily="127" charset="-128"/>
              </a:defRPr>
            </a:lvl3pPr>
            <a:lvl4pPr marL="1600200" indent="-228600">
              <a:defRPr sz="2400">
                <a:solidFill>
                  <a:schemeClr val="tx1"/>
                </a:solidFill>
                <a:latin typeface="Verdana" pitchFamily="34" charset="0"/>
                <a:ea typeface="ヒラギノ角ゴ Pro W3" pitchFamily="127" charset="-128"/>
              </a:defRPr>
            </a:lvl4pPr>
            <a:lvl5pPr marL="2057400" indent="-228600">
              <a:defRPr sz="2400">
                <a:solidFill>
                  <a:schemeClr val="tx1"/>
                </a:solidFill>
                <a:latin typeface="Verdana" pitchFamily="34" charset="0"/>
                <a:ea typeface="ヒラギノ角ゴ Pro W3" pitchFamily="127" charset="-128"/>
              </a:defRPr>
            </a:lvl5pPr>
            <a:lvl6pPr marL="25146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6pPr>
            <a:lvl7pPr marL="29718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7pPr>
            <a:lvl8pPr marL="34290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8pPr>
            <a:lvl9pPr marL="3886200" indent="-228600" algn="r" eaLnBrk="0" fontAlgn="base" hangingPunct="0">
              <a:spcBef>
                <a:spcPct val="0"/>
              </a:spcBef>
              <a:spcAft>
                <a:spcPct val="0"/>
              </a:spcAft>
              <a:defRPr sz="2400">
                <a:solidFill>
                  <a:schemeClr val="tx1"/>
                </a:solidFill>
                <a:latin typeface="Verdana" pitchFamily="34" charset="0"/>
                <a:ea typeface="ヒラギノ角ゴ Pro W3" pitchFamily="127" charset="-128"/>
              </a:defRPr>
            </a:lvl9pPr>
          </a:lstStyle>
          <a:p>
            <a:pPr>
              <a:defRPr/>
            </a:pPr>
            <a:endParaRPr lang="en-US" altLang="en-US" sz="1800" smtClean="0">
              <a:latin typeface="Arial" pitchFamily="34" charset="0"/>
              <a:ea typeface="MS PGothic" pitchFamily="34" charset="-128"/>
              <a:cs typeface="+mn-cs"/>
            </a:endParaRPr>
          </a:p>
        </p:txBody>
      </p:sp>
      <p:sp>
        <p:nvSpPr>
          <p:cNvPr id="5" name="Text Box 6"/>
          <p:cNvSpPr txBox="1">
            <a:spLocks noChangeArrowheads="1"/>
          </p:cNvSpPr>
          <p:nvPr userDrawn="1"/>
        </p:nvSpPr>
        <p:spPr bwMode="auto">
          <a:xfrm>
            <a:off x="365125" y="-1588"/>
            <a:ext cx="8001000" cy="522288"/>
          </a:xfrm>
          <a:prstGeom prst="rect">
            <a:avLst/>
          </a:prstGeom>
          <a:noFill/>
          <a:ln>
            <a:noFill/>
          </a:ln>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l" eaLnBrk="1" hangingPunct="1">
              <a:spcBef>
                <a:spcPct val="50000"/>
              </a:spcBef>
              <a:defRPr/>
            </a:pPr>
            <a:r>
              <a:rPr lang="en-US" sz="2800" dirty="0" smtClean="0">
                <a:solidFill>
                  <a:schemeClr val="bg1"/>
                </a:solidFill>
                <a:ea typeface="ＭＳ Ｐゴシック" pitchFamily="-106" charset="-128"/>
                <a:cs typeface="ＭＳ Ｐゴシック" pitchFamily="-106" charset="-128"/>
              </a:rPr>
              <a:t>Chapter 4 Lecture </a:t>
            </a: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6" name="Rectangle 4"/>
          <p:cNvSpPr>
            <a:spLocks noGrp="1" noChangeArrowheads="1"/>
          </p:cNvSpPr>
          <p:nvPr>
            <p:ph type="dt" sz="half" idx="10"/>
          </p:nvPr>
        </p:nvSpPr>
        <p:spPr/>
        <p:txBody>
          <a:bodyPr/>
          <a:lstStyle>
            <a:lvl1pPr>
              <a:defRPr/>
            </a:lvl1pPr>
          </a:lstStyle>
          <a:p>
            <a:fld id="{F11A8799-5621-0A40-AA76-E7EF0F6B7E83}" type="datetime1">
              <a:rPr lang="en-US"/>
              <a:pPr/>
              <a:t>7/17/2017</a:t>
            </a:fld>
            <a:endParaRPr lang="en-US"/>
          </a:p>
        </p:txBody>
      </p:sp>
      <p:sp>
        <p:nvSpPr>
          <p:cNvPr id="7" name="Rectangle 5"/>
          <p:cNvSpPr>
            <a:spLocks noGrp="1" noChangeArrowheads="1"/>
          </p:cNvSpPr>
          <p:nvPr>
            <p:ph type="ftr" sz="quarter" idx="11"/>
          </p:nvPr>
        </p:nvSpPr>
        <p:spPr/>
        <p:txBody>
          <a:bodyPr/>
          <a:lstStyle>
            <a:lvl1pPr>
              <a:defRPr/>
            </a:lvl1pPr>
          </a:lstStyle>
          <a:p>
            <a:pPr>
              <a:defRPr/>
            </a:pPr>
            <a:endParaRPr lang="en-US"/>
          </a:p>
        </p:txBody>
      </p:sp>
      <p:sp>
        <p:nvSpPr>
          <p:cNvPr id="8" name="Rectangle 6"/>
          <p:cNvSpPr>
            <a:spLocks noGrp="1" noChangeArrowheads="1"/>
          </p:cNvSpPr>
          <p:nvPr>
            <p:ph type="sldNum" sz="quarter" idx="12"/>
          </p:nvPr>
        </p:nvSpPr>
        <p:spPr/>
        <p:txBody>
          <a:bodyPr/>
          <a:lstStyle>
            <a:lvl1pPr>
              <a:defRPr/>
            </a:lvl1pPr>
          </a:lstStyle>
          <a:p>
            <a:fld id="{96938624-EA00-5E44-8AC8-F056641D6397}" type="slidenum">
              <a:rPr lang="en-US"/>
              <a:pPr/>
              <a:t>‹#›</a:t>
            </a:fld>
            <a:endParaRPr lang="en-US"/>
          </a:p>
        </p:txBody>
      </p:sp>
    </p:spTree>
    <p:extLst>
      <p:ext uri="{BB962C8B-B14F-4D97-AF65-F5344CB8AC3E}">
        <p14:creationId xmlns:p14="http://schemas.microsoft.com/office/powerpoint/2010/main" val="150583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384048" y="155448"/>
            <a:ext cx="8302752" cy="639209"/>
          </a:xfrm>
        </p:spPr>
        <p:txBody>
          <a:bodyPr anchor="t" anchorCtr="0"/>
          <a:lstStyle>
            <a:lvl1pPr algn="l">
              <a:defRPr sz="2800" b="1">
                <a:solidFill>
                  <a:srgbClr val="5E6EBA"/>
                </a:solidFill>
              </a:defRPr>
            </a:lvl1pPr>
          </a:lstStyle>
          <a:p>
            <a:r>
              <a:rPr lang="en-US" dirty="0" smtClean="0"/>
              <a:t>Click to edit Master title style</a:t>
            </a:r>
            <a:endParaRPr lang="en-US" dirty="0"/>
          </a:p>
        </p:txBody>
      </p:sp>
      <p:sp>
        <p:nvSpPr>
          <p:cNvPr id="10" name="Content Placeholder 3"/>
          <p:cNvSpPr>
            <a:spLocks noGrp="1"/>
          </p:cNvSpPr>
          <p:nvPr>
            <p:ph sz="half" idx="2"/>
          </p:nvPr>
        </p:nvSpPr>
        <p:spPr>
          <a:xfrm>
            <a:off x="384048" y="1115568"/>
            <a:ext cx="8444266" cy="3951288"/>
          </a:xfrm>
        </p:spPr>
        <p:txBody>
          <a:bodyPr/>
          <a:lstStyle>
            <a:lvl1pPr>
              <a:defRPr sz="2800"/>
            </a:lvl1pPr>
            <a:lvl2pPr>
              <a:defRPr sz="2400"/>
            </a:lvl2pPr>
            <a:lvl3pPr>
              <a:defRPr sz="22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5542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384048" y="155448"/>
            <a:ext cx="8302752" cy="639209"/>
          </a:xfrm>
        </p:spPr>
        <p:txBody>
          <a:bodyPr anchor="t" anchorCtr="0"/>
          <a:lstStyle>
            <a:lvl1pPr algn="l">
              <a:defRPr sz="2800" b="1" baseline="0">
                <a:solidFill>
                  <a:srgbClr val="5E6EBA"/>
                </a:solidFill>
              </a:defRPr>
            </a:lvl1pPr>
          </a:lstStyle>
          <a:p>
            <a:r>
              <a:rPr lang="en-US" dirty="0" smtClean="0"/>
              <a:t>Click to edit Master title style   THIS IS FOR 2 LINE HEADER</a:t>
            </a:r>
            <a:endParaRPr lang="en-US" dirty="0"/>
          </a:p>
        </p:txBody>
      </p:sp>
      <p:sp>
        <p:nvSpPr>
          <p:cNvPr id="10" name="Content Placeholder 3"/>
          <p:cNvSpPr>
            <a:spLocks noGrp="1"/>
          </p:cNvSpPr>
          <p:nvPr>
            <p:ph sz="half" idx="2"/>
          </p:nvPr>
        </p:nvSpPr>
        <p:spPr>
          <a:xfrm>
            <a:off x="384048" y="1485692"/>
            <a:ext cx="8411609" cy="3951288"/>
          </a:xfrm>
        </p:spPr>
        <p:txBody>
          <a:bodyPr/>
          <a:lstStyle>
            <a:lvl1pPr>
              <a:defRPr sz="2800"/>
            </a:lvl1pPr>
            <a:lvl2pPr>
              <a:defRPr sz="2400"/>
            </a:lvl2pPr>
            <a:lvl3pPr>
              <a:defRPr sz="22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712190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Rectangle 2"/>
          <p:cNvSpPr txBox="1">
            <a:spLocks noChangeArrowheads="1"/>
          </p:cNvSpPr>
          <p:nvPr userDrawn="1"/>
        </p:nvSpPr>
        <p:spPr>
          <a:xfrm>
            <a:off x="533400" y="2819400"/>
            <a:ext cx="8229600" cy="1139825"/>
          </a:xfrm>
          <a:prstGeom prst="rect">
            <a:avLst/>
          </a:prstGeom>
        </p:spPr>
        <p:txBody>
          <a:bodyPr/>
          <a:lstStyle/>
          <a:p>
            <a:pPr algn="ctr" eaLnBrk="1" hangingPunct="1">
              <a:defRPr/>
            </a:pPr>
            <a:r>
              <a:rPr lang="en-US" sz="4400" b="1" dirty="0">
                <a:solidFill>
                  <a:srgbClr val="5D6CB9"/>
                </a:solidFill>
                <a:latin typeface="Arial"/>
                <a:ea typeface="ヒラギノ角ゴ Pro W3" pitchFamily="127" charset="-128"/>
                <a:cs typeface="+mn-cs"/>
              </a:rPr>
              <a:t>End of Chapter </a:t>
            </a:r>
            <a:r>
              <a:rPr lang="en-US" sz="4400" b="1" dirty="0" smtClean="0">
                <a:solidFill>
                  <a:srgbClr val="5D6CB9"/>
                </a:solidFill>
                <a:latin typeface="Arial"/>
                <a:ea typeface="ヒラギノ角ゴ Pro W3" pitchFamily="127" charset="-128"/>
                <a:cs typeface="+mn-cs"/>
              </a:rPr>
              <a:t>4 </a:t>
            </a:r>
            <a:endParaRPr lang="en-US" sz="4400" b="1" kern="0" dirty="0">
              <a:solidFill>
                <a:srgbClr val="5E6EBA"/>
              </a:solidFill>
              <a:latin typeface="Arial"/>
              <a:ea typeface="ＭＳ Ｐゴシック" pitchFamily="34" charset="-128"/>
              <a:cs typeface="+mn-cs"/>
            </a:endParaRPr>
          </a:p>
        </p:txBody>
      </p:sp>
    </p:spTree>
    <p:extLst>
      <p:ext uri="{BB962C8B-B14F-4D97-AF65-F5344CB8AC3E}">
        <p14:creationId xmlns:p14="http://schemas.microsoft.com/office/powerpoint/2010/main" val="2629938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fld id="{DFFEE5C6-A024-C146-966A-834BE8B6C09A}" type="datetime1">
              <a:rPr lang="en-US"/>
              <a:pPr/>
              <a:t>7/17/2017</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391B1F95-3568-C049-9BBA-5B02EE7DD3D4}" type="slidenum">
              <a:rPr lang="en-US"/>
              <a:pPr/>
              <a:t>‹#›</a:t>
            </a:fld>
            <a:endParaRPr lang="en-US"/>
          </a:p>
        </p:txBody>
      </p:sp>
    </p:spTree>
    <p:extLst>
      <p:ext uri="{BB962C8B-B14F-4D97-AF65-F5344CB8AC3E}">
        <p14:creationId xmlns:p14="http://schemas.microsoft.com/office/powerpoint/2010/main" val="316945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fld id="{6214E6FF-1B03-C34C-8453-CAB0F6333406}" type="datetime1">
              <a:rPr lang="en-US"/>
              <a:pPr/>
              <a:t>7/17/2017</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FA3E8AC0-D878-C542-BD5C-FCEC03087F55}" type="slidenum">
              <a:rPr lang="en-US"/>
              <a:pPr/>
              <a:t>‹#›</a:t>
            </a:fld>
            <a:endParaRPr lang="en-US"/>
          </a:p>
        </p:txBody>
      </p:sp>
    </p:spTree>
    <p:extLst>
      <p:ext uri="{BB962C8B-B14F-4D97-AF65-F5344CB8AC3E}">
        <p14:creationId xmlns:p14="http://schemas.microsoft.com/office/powerpoint/2010/main" val="1704219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09944013-5992-CC49-964E-99434A298FFC}" type="datetime1">
              <a:rPr lang="en-US"/>
              <a:pPr/>
              <a:t>7/17/2017</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35AA1FC6-A4F1-5D40-86BC-4B14BB5F280D}" type="slidenum">
              <a:rPr lang="en-US"/>
              <a:pPr/>
              <a:t>‹#›</a:t>
            </a:fld>
            <a:endParaRPr lang="en-US"/>
          </a:p>
        </p:txBody>
      </p:sp>
    </p:spTree>
    <p:extLst>
      <p:ext uri="{BB962C8B-B14F-4D97-AF65-F5344CB8AC3E}">
        <p14:creationId xmlns:p14="http://schemas.microsoft.com/office/powerpoint/2010/main" val="2140531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DB385482-A9D5-3B49-89B8-BE5DB124B9F6}" type="datetime1">
              <a:rPr lang="en-US"/>
              <a:pPr/>
              <a:t>7/17/2017</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0572508-FF72-7D4C-905F-B7A680DC8DAF}" type="slidenum">
              <a:rPr lang="en-US"/>
              <a:pPr/>
              <a:t>‹#›</a:t>
            </a:fld>
            <a:endParaRPr lang="en-US"/>
          </a:p>
        </p:txBody>
      </p:sp>
    </p:spTree>
    <p:extLst>
      <p:ext uri="{BB962C8B-B14F-4D97-AF65-F5344CB8AC3E}">
        <p14:creationId xmlns:p14="http://schemas.microsoft.com/office/powerpoint/2010/main" val="2927612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CC09749-35D2-CE44-9C83-D3D96DD49551}" type="datetime1">
              <a:rPr lang="en-US"/>
              <a:pPr/>
              <a:t>7/17/2017</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AB1EC08-1CB8-AE43-AA3B-9D4A2E72DC85}" type="slidenum">
              <a:rPr lang="en-US"/>
              <a:pPr/>
              <a:t>‹#›</a:t>
            </a:fld>
            <a:endParaRPr lang="en-US"/>
          </a:p>
        </p:txBody>
      </p:sp>
    </p:spTree>
    <p:extLst>
      <p:ext uri="{BB962C8B-B14F-4D97-AF65-F5344CB8AC3E}">
        <p14:creationId xmlns:p14="http://schemas.microsoft.com/office/powerpoint/2010/main" val="229163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6062FF37-9068-504F-AE83-5B7ED5387C1D}" type="datetime1">
              <a:rPr lang="en-US"/>
              <a:pPr/>
              <a:t>7/17/2017</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F4A60C2-CA5F-CB4C-B3B6-C671C01D4629}" type="slidenum">
              <a:rPr lang="en-US"/>
              <a:pPr/>
              <a:t>‹#›</a:t>
            </a:fld>
            <a:endParaRPr lang="en-US"/>
          </a:p>
        </p:txBody>
      </p:sp>
    </p:spTree>
    <p:extLst>
      <p:ext uri="{BB962C8B-B14F-4D97-AF65-F5344CB8AC3E}">
        <p14:creationId xmlns:p14="http://schemas.microsoft.com/office/powerpoint/2010/main" val="907663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9DCC00D5-1C29-5D47-8025-CF2C6E6A864D}" type="datetime1">
              <a:rPr lang="en-US"/>
              <a:pPr/>
              <a:t>7/17/2017</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C279A1D-DB01-0246-AB87-61A85F2794D6}" type="slidenum">
              <a:rPr lang="en-US"/>
              <a:pPr/>
              <a:t>‹#›</a:t>
            </a:fld>
            <a:endParaRPr lang="en-US"/>
          </a:p>
        </p:txBody>
      </p:sp>
    </p:spTree>
    <p:extLst>
      <p:ext uri="{BB962C8B-B14F-4D97-AF65-F5344CB8AC3E}">
        <p14:creationId xmlns:p14="http://schemas.microsoft.com/office/powerpoint/2010/main" val="250631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9092" name="Rectangle 4"/>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sz="1400">
                <a:latin typeface="Arial" charset="0"/>
              </a:defRPr>
            </a:lvl1pPr>
          </a:lstStyle>
          <a:p>
            <a:fld id="{2A422EDC-4A7D-E54A-952E-A4F68B1BD5BE}" type="datetime1">
              <a:rPr lang="en-US"/>
              <a:pPr/>
              <a:t>7/17/2017</a:t>
            </a:fld>
            <a:endParaRPr lang="en-US"/>
          </a:p>
        </p:txBody>
      </p:sp>
      <p:sp>
        <p:nvSpPr>
          <p:cNvPr id="89093" name="Rectangle 5"/>
          <p:cNvSpPr>
            <a:spLocks noGrp="1" noChangeArrowheads="1"/>
          </p:cNvSpPr>
          <p:nvPr>
            <p:ph type="ftr" sz="quarter" idx="3"/>
          </p:nvPr>
        </p:nvSpPr>
        <p:spPr bwMode="auto">
          <a:xfrm>
            <a:off x="3124200" y="6245225"/>
            <a:ext cx="2895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1" hangingPunct="1">
              <a:defRPr sz="1400">
                <a:latin typeface="+mn-lt"/>
                <a:ea typeface="+mn-ea"/>
                <a:cs typeface="+mn-cs"/>
              </a:defRPr>
            </a:lvl1pPr>
          </a:lstStyle>
          <a:p>
            <a:pPr>
              <a:defRPr/>
            </a:pPr>
            <a:endParaRPr lang="en-US"/>
          </a:p>
        </p:txBody>
      </p:sp>
      <p:sp>
        <p:nvSpPr>
          <p:cNvPr id="89094" name="Rectangle 6"/>
          <p:cNvSpPr>
            <a:spLocks noGrp="1" noChangeArrowheads="1"/>
          </p:cNvSpPr>
          <p:nvPr>
            <p:ph type="sldNum" sz="quarter" idx="4"/>
          </p:nvPr>
        </p:nvSpPr>
        <p:spPr bwMode="auto">
          <a:xfrm>
            <a:off x="6553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fld id="{13EB9291-ADD1-AB4A-B370-2319EF87B415}" type="slidenum">
              <a:rPr lang="en-US"/>
              <a:pPr/>
              <a:t>‹#›</a:t>
            </a:fld>
            <a:endParaRPr lang="en-US"/>
          </a:p>
        </p:txBody>
      </p:sp>
      <p:sp>
        <p:nvSpPr>
          <p:cNvPr id="1031" name="Rectangle 5"/>
          <p:cNvSpPr>
            <a:spLocks noChangeArrowheads="1"/>
          </p:cNvSpPr>
          <p:nvPr userDrawn="1"/>
        </p:nvSpPr>
        <p:spPr bwMode="auto">
          <a:xfrm>
            <a:off x="0" y="6553200"/>
            <a:ext cx="1947863"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en-US" sz="900">
                <a:solidFill>
                  <a:srgbClr val="000000"/>
                </a:solidFill>
                <a:latin typeface="Arial" charset="0"/>
              </a:rPr>
              <a:t>© 2017 Pearson Education, Inc. </a:t>
            </a:r>
          </a:p>
        </p:txBody>
      </p:sp>
    </p:spTree>
  </p:cSld>
  <p:clrMap bg1="lt1" tx1="dk1" bg2="lt2" tx2="dk2" accent1="accent1" accent2="accent2" accent3="accent3" accent4="accent4" accent5="accent5" accent6="accent6" hlink="hlink" folHlink="folHlink"/>
  <p:sldLayoutIdLst>
    <p:sldLayoutId id="2147484681" r:id="rId1"/>
    <p:sldLayoutId id="2147484671" r:id="rId2"/>
    <p:sldLayoutId id="2147484672" r:id="rId3"/>
    <p:sldLayoutId id="2147484673" r:id="rId4"/>
    <p:sldLayoutId id="2147484674" r:id="rId5"/>
    <p:sldLayoutId id="2147484675" r:id="rId6"/>
    <p:sldLayoutId id="2147484676" r:id="rId7"/>
    <p:sldLayoutId id="2147484677" r:id="rId8"/>
    <p:sldLayoutId id="2147484678" r:id="rId9"/>
    <p:sldLayoutId id="2147484679" r:id="rId10"/>
    <p:sldLayoutId id="2147484680" r:id="rId11"/>
  </p:sldLayoutIdLst>
  <p:txStyles>
    <p:titleStyle>
      <a:lvl1pPr algn="ctr" rtl="0" eaLnBrk="0" fontAlgn="base" hangingPunct="0">
        <a:spcBef>
          <a:spcPct val="0"/>
        </a:spcBef>
        <a:spcAft>
          <a:spcPct val="0"/>
        </a:spcAft>
        <a:defRPr sz="4400">
          <a:solidFill>
            <a:schemeClr val="tx2"/>
          </a:solidFill>
          <a:latin typeface="+mj-lt"/>
          <a:ea typeface="ヒラギノ角ゴ Pro W3" charset="0"/>
          <a:cs typeface="+mj-cs"/>
        </a:defRPr>
      </a:lvl1pPr>
      <a:lvl2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2pPr>
      <a:lvl3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3pPr>
      <a:lvl4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4pPr>
      <a:lvl5pPr algn="ctr" rtl="0" eaLnBrk="0" fontAlgn="base" hangingPunct="0">
        <a:spcBef>
          <a:spcPct val="0"/>
        </a:spcBef>
        <a:spcAft>
          <a:spcPct val="0"/>
        </a:spcAft>
        <a:defRPr sz="4400">
          <a:solidFill>
            <a:schemeClr val="tx2"/>
          </a:solidFill>
          <a:latin typeface="Arial" charset="0"/>
          <a:ea typeface="ヒラギノ角ゴ Pro W3"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ヒラギノ角ゴ Pro W3"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txBox="1">
            <a:spLocks noChangeArrowheads="1"/>
          </p:cNvSpPr>
          <p:nvPr/>
        </p:nvSpPr>
        <p:spPr bwMode="auto">
          <a:xfrm>
            <a:off x="2362200" y="609600"/>
            <a:ext cx="6629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charset="0"/>
                <a:ea typeface="ヒラギノ角ゴ Pro W3" charset="0"/>
                <a:cs typeface="Arial" charset="0"/>
              </a:defRPr>
            </a:lvl1pPr>
            <a:lvl2pPr>
              <a:defRPr sz="2800">
                <a:solidFill>
                  <a:schemeClr val="tx1"/>
                </a:solidFill>
                <a:latin typeface="Arial" charset="0"/>
                <a:ea typeface="Arial" charset="0"/>
                <a:cs typeface="Arial" charset="0"/>
              </a:defRPr>
            </a:lvl2pPr>
            <a:lvl3pPr>
              <a:defRPr sz="2400">
                <a:solidFill>
                  <a:schemeClr val="tx1"/>
                </a:solidFill>
                <a:latin typeface="Arial" charset="0"/>
                <a:ea typeface="Arial" charset="0"/>
                <a:cs typeface="Arial" charset="0"/>
              </a:defRPr>
            </a:lvl3pPr>
            <a:lvl4pPr>
              <a:defRPr sz="2000">
                <a:solidFill>
                  <a:schemeClr val="tx1"/>
                </a:solidFill>
                <a:latin typeface="Arial" charset="0"/>
                <a:ea typeface="Arial" charset="0"/>
                <a:cs typeface="Arial" charset="0"/>
              </a:defRPr>
            </a:lvl4pPr>
            <a:lvl5pPr>
              <a:defRPr sz="2000">
                <a:solidFill>
                  <a:schemeClr val="tx1"/>
                </a:solidFill>
                <a:latin typeface="Arial" charset="0"/>
                <a:ea typeface="Arial" charset="0"/>
                <a:cs typeface="Arial" charset="0"/>
              </a:defRPr>
            </a:lvl5pPr>
            <a:lvl6pPr eaLnBrk="0" hangingPunct="0">
              <a:defRPr sz="2000">
                <a:solidFill>
                  <a:schemeClr val="tx1"/>
                </a:solidFill>
                <a:latin typeface="Arial" charset="0"/>
                <a:ea typeface="Arial" charset="0"/>
                <a:cs typeface="Arial" charset="0"/>
              </a:defRPr>
            </a:lvl6pPr>
            <a:lvl7pPr eaLnBrk="0" hangingPunct="0">
              <a:defRPr sz="2000">
                <a:solidFill>
                  <a:schemeClr val="tx1"/>
                </a:solidFill>
                <a:latin typeface="Arial" charset="0"/>
                <a:ea typeface="Arial" charset="0"/>
                <a:cs typeface="Arial" charset="0"/>
              </a:defRPr>
            </a:lvl7pPr>
            <a:lvl8pPr eaLnBrk="0" hangingPunct="0">
              <a:defRPr sz="2000">
                <a:solidFill>
                  <a:schemeClr val="tx1"/>
                </a:solidFill>
                <a:latin typeface="Arial" charset="0"/>
                <a:ea typeface="Arial" charset="0"/>
                <a:cs typeface="Arial" charset="0"/>
              </a:defRPr>
            </a:lvl8pPr>
            <a:lvl9pPr eaLnBrk="0" hangingPunct="0">
              <a:defRPr sz="2000">
                <a:solidFill>
                  <a:schemeClr val="tx1"/>
                </a:solidFill>
                <a:latin typeface="Arial" charset="0"/>
                <a:ea typeface="Arial" charset="0"/>
                <a:cs typeface="Arial" charset="0"/>
              </a:defRPr>
            </a:lvl9pPr>
          </a:lstStyle>
          <a:p>
            <a:pPr eaLnBrk="1" hangingPunct="1">
              <a:spcBef>
                <a:spcPts val="1000"/>
              </a:spcBef>
            </a:pPr>
            <a:r>
              <a:rPr lang="en-US" sz="2800" b="1">
                <a:solidFill>
                  <a:schemeClr val="tx2"/>
                </a:solidFill>
              </a:rPr>
              <a:t>World Regions in Global Context:</a:t>
            </a:r>
            <a:br>
              <a:rPr lang="en-US" sz="2800" b="1">
                <a:solidFill>
                  <a:schemeClr val="tx2"/>
                </a:solidFill>
              </a:rPr>
            </a:br>
            <a:r>
              <a:rPr lang="en-US" sz="2800" b="1">
                <a:solidFill>
                  <a:schemeClr val="tx2"/>
                </a:solidFill>
              </a:rPr>
              <a:t>Peoples, Places, and Environments</a:t>
            </a:r>
            <a:endParaRPr lang="en-US" b="1">
              <a:solidFill>
                <a:schemeClr val="tx2"/>
              </a:solidFill>
            </a:endParaRPr>
          </a:p>
          <a:p>
            <a:pPr eaLnBrk="1" hangingPunct="1">
              <a:lnSpc>
                <a:spcPct val="50000"/>
              </a:lnSpc>
              <a:spcBef>
                <a:spcPts val="1000"/>
              </a:spcBef>
            </a:pPr>
            <a:r>
              <a:rPr lang="en-US" sz="1800">
                <a:solidFill>
                  <a:schemeClr val="tx2"/>
                </a:solidFill>
              </a:rPr>
              <a:t>6</a:t>
            </a:r>
            <a:r>
              <a:rPr lang="en-US" sz="1800" baseline="30000">
                <a:solidFill>
                  <a:schemeClr val="tx2"/>
                </a:solidFill>
              </a:rPr>
              <a:t>th</a:t>
            </a:r>
            <a:r>
              <a:rPr lang="en-US" sz="1800">
                <a:solidFill>
                  <a:schemeClr val="tx2"/>
                </a:solidFill>
              </a:rPr>
              <a:t> Edition</a:t>
            </a:r>
            <a:endParaRPr lang="en-US" sz="2400" b="1">
              <a:solidFill>
                <a:schemeClr val="tx2"/>
              </a:solidFill>
            </a:endParaRPr>
          </a:p>
        </p:txBody>
      </p:sp>
      <p:sp>
        <p:nvSpPr>
          <p:cNvPr id="3075" name="Rectangle 3"/>
          <p:cNvSpPr txBox="1">
            <a:spLocks noChangeArrowheads="1"/>
          </p:cNvSpPr>
          <p:nvPr/>
        </p:nvSpPr>
        <p:spPr bwMode="auto">
          <a:xfrm>
            <a:off x="152400" y="2819400"/>
            <a:ext cx="4953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charset="0"/>
                <a:ea typeface="ヒラギノ角ゴ Pro W3" charset="0"/>
                <a:cs typeface="Arial" charset="0"/>
              </a:defRPr>
            </a:lvl1pPr>
            <a:lvl2pPr>
              <a:defRPr sz="2800">
                <a:solidFill>
                  <a:schemeClr val="tx1"/>
                </a:solidFill>
                <a:latin typeface="Arial" charset="0"/>
                <a:ea typeface="Arial" charset="0"/>
                <a:cs typeface="Arial" charset="0"/>
              </a:defRPr>
            </a:lvl2pPr>
            <a:lvl3pPr>
              <a:defRPr sz="2400">
                <a:solidFill>
                  <a:schemeClr val="tx1"/>
                </a:solidFill>
                <a:latin typeface="Arial" charset="0"/>
                <a:ea typeface="Arial" charset="0"/>
                <a:cs typeface="Arial" charset="0"/>
              </a:defRPr>
            </a:lvl3pPr>
            <a:lvl4pPr>
              <a:defRPr sz="2000">
                <a:solidFill>
                  <a:schemeClr val="tx1"/>
                </a:solidFill>
                <a:latin typeface="Arial" charset="0"/>
                <a:ea typeface="Arial" charset="0"/>
                <a:cs typeface="Arial" charset="0"/>
              </a:defRPr>
            </a:lvl4pPr>
            <a:lvl5pPr>
              <a:defRPr sz="2000">
                <a:solidFill>
                  <a:schemeClr val="tx1"/>
                </a:solidFill>
                <a:latin typeface="Arial" charset="0"/>
                <a:ea typeface="Arial" charset="0"/>
                <a:cs typeface="Arial" charset="0"/>
              </a:defRPr>
            </a:lvl5pPr>
            <a:lvl6pPr eaLnBrk="0" hangingPunct="0">
              <a:defRPr sz="2000">
                <a:solidFill>
                  <a:schemeClr val="tx1"/>
                </a:solidFill>
                <a:latin typeface="Arial" charset="0"/>
                <a:ea typeface="Arial" charset="0"/>
                <a:cs typeface="Arial" charset="0"/>
              </a:defRPr>
            </a:lvl6pPr>
            <a:lvl7pPr eaLnBrk="0" hangingPunct="0">
              <a:defRPr sz="2000">
                <a:solidFill>
                  <a:schemeClr val="tx1"/>
                </a:solidFill>
                <a:latin typeface="Arial" charset="0"/>
                <a:ea typeface="Arial" charset="0"/>
                <a:cs typeface="Arial" charset="0"/>
              </a:defRPr>
            </a:lvl7pPr>
            <a:lvl8pPr eaLnBrk="0" hangingPunct="0">
              <a:defRPr sz="2000">
                <a:solidFill>
                  <a:schemeClr val="tx1"/>
                </a:solidFill>
                <a:latin typeface="Arial" charset="0"/>
                <a:ea typeface="Arial" charset="0"/>
                <a:cs typeface="Arial" charset="0"/>
              </a:defRPr>
            </a:lvl8pPr>
            <a:lvl9pPr eaLnBrk="0" hangingPunct="0">
              <a:defRPr sz="2000">
                <a:solidFill>
                  <a:schemeClr val="tx1"/>
                </a:solidFill>
                <a:latin typeface="Arial" charset="0"/>
                <a:ea typeface="Arial" charset="0"/>
                <a:cs typeface="Arial" charset="0"/>
              </a:defRPr>
            </a:lvl9pPr>
          </a:lstStyle>
          <a:p>
            <a:pPr marL="342900" indent="-342900" algn="l" eaLnBrk="1" hangingPunct="1">
              <a:lnSpc>
                <a:spcPct val="80000"/>
              </a:lnSpc>
              <a:spcBef>
                <a:spcPct val="20000"/>
              </a:spcBef>
            </a:pPr>
            <a:r>
              <a:rPr lang="en-US" sz="2800" b="1" dirty="0"/>
              <a:t>Middle East and</a:t>
            </a:r>
          </a:p>
          <a:p>
            <a:pPr marL="342900" indent="-342900" algn="l" eaLnBrk="1" hangingPunct="1">
              <a:lnSpc>
                <a:spcPct val="80000"/>
              </a:lnSpc>
              <a:spcBef>
                <a:spcPct val="20000"/>
              </a:spcBef>
            </a:pPr>
            <a:r>
              <a:rPr lang="en-US" sz="2800" b="1" dirty="0"/>
              <a:t>North Africa</a:t>
            </a:r>
          </a:p>
          <a:p>
            <a:pPr marL="342900" indent="-342900" algn="l" eaLnBrk="1" hangingPunct="1">
              <a:lnSpc>
                <a:spcPct val="80000"/>
              </a:lnSpc>
              <a:spcBef>
                <a:spcPct val="20000"/>
              </a:spcBef>
            </a:pPr>
            <a:endParaRPr lang="en-US" sz="1800" dirty="0" smtClean="0"/>
          </a:p>
          <a:p>
            <a:pPr marL="342900" indent="-342900" algn="l" eaLnBrk="1" hangingPunct="1">
              <a:lnSpc>
                <a:spcPct val="80000"/>
              </a:lnSpc>
              <a:spcBef>
                <a:spcPct val="20000"/>
              </a:spcBef>
            </a:pPr>
            <a:endParaRPr lang="en-US" sz="1800" dirty="0"/>
          </a:p>
          <a:p>
            <a:pPr marL="342900" indent="-342900" algn="l" eaLnBrk="1" hangingPunct="1">
              <a:lnSpc>
                <a:spcPct val="80000"/>
              </a:lnSpc>
              <a:spcBef>
                <a:spcPct val="20000"/>
              </a:spcBef>
            </a:pPr>
            <a:r>
              <a:rPr lang="en-US" sz="1800" b="1" dirty="0"/>
              <a:t>Lectures by:</a:t>
            </a:r>
          </a:p>
          <a:p>
            <a:pPr marL="342900" indent="-342900" algn="l" eaLnBrk="1" hangingPunct="1">
              <a:lnSpc>
                <a:spcPct val="80000"/>
              </a:lnSpc>
              <a:spcBef>
                <a:spcPct val="20000"/>
              </a:spcBef>
            </a:pPr>
            <a:r>
              <a:rPr lang="en-US" sz="1800" dirty="0" smtClean="0">
                <a:latin typeface="Verdana" charset="0"/>
              </a:rPr>
              <a:t>Christa Ann Smith </a:t>
            </a:r>
            <a:endParaRPr lang="en-US" sz="1800" dirty="0"/>
          </a:p>
        </p:txBody>
      </p:sp>
      <p:pic>
        <p:nvPicPr>
          <p:cNvPr id="5" name="Picture 4" descr="MARSTON_Cover.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950673" y="1960602"/>
            <a:ext cx="3965575" cy="448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155448"/>
            <a:ext cx="8302752" cy="677929"/>
          </a:xfrm>
        </p:spPr>
        <p:txBody>
          <a:bodyPr/>
          <a:lstStyle/>
          <a:p>
            <a:r>
              <a:rPr lang="en-US" dirty="0"/>
              <a:t>Learning Outcomes</a:t>
            </a:r>
          </a:p>
        </p:txBody>
      </p:sp>
      <p:sp>
        <p:nvSpPr>
          <p:cNvPr id="3" name="Content Placeholder 2"/>
          <p:cNvSpPr>
            <a:spLocks noGrp="1"/>
          </p:cNvSpPr>
          <p:nvPr>
            <p:ph sz="half" idx="2"/>
          </p:nvPr>
        </p:nvSpPr>
        <p:spPr>
          <a:xfrm>
            <a:off x="384048" y="1127291"/>
            <a:ext cx="8444266" cy="3951288"/>
          </a:xfrm>
        </p:spPr>
        <p:txBody>
          <a:bodyPr/>
          <a:lstStyle/>
          <a:p>
            <a:r>
              <a:rPr lang="en-US" sz="2400" dirty="0"/>
              <a:t>Describe the diversity of physical geographic environments in the Middle East and North Africa</a:t>
            </a:r>
            <a:r>
              <a:rPr lang="en-US" sz="2400" dirty="0" smtClean="0"/>
              <a:t>.</a:t>
            </a:r>
          </a:p>
          <a:p>
            <a:endParaRPr lang="en-US" sz="2000" dirty="0" smtClean="0"/>
          </a:p>
          <a:p>
            <a:r>
              <a:rPr lang="en-US" sz="2400" dirty="0"/>
              <a:t>Evaluate the importance of key resources, such as oil </a:t>
            </a:r>
            <a:r>
              <a:rPr lang="en-US" sz="2400" dirty="0" smtClean="0"/>
              <a:t/>
            </a:r>
            <a:br>
              <a:rPr lang="en-US" sz="2400" dirty="0" smtClean="0"/>
            </a:br>
            <a:r>
              <a:rPr lang="en-US" sz="2400" dirty="0" smtClean="0"/>
              <a:t>and </a:t>
            </a:r>
            <a:r>
              <a:rPr lang="en-US" sz="2400" dirty="0"/>
              <a:t>water.</a:t>
            </a:r>
          </a:p>
          <a:p>
            <a:endParaRPr lang="en-US" sz="2000" dirty="0"/>
          </a:p>
          <a:p>
            <a:r>
              <a:rPr lang="en-US" sz="2400" dirty="0"/>
              <a:t>Summarize the diffusion of cultural and environmental practices, such as religion and agriculture, throughout the region.</a:t>
            </a:r>
          </a:p>
          <a:p>
            <a:endParaRPr lang="en-US" sz="2000" dirty="0"/>
          </a:p>
          <a:p>
            <a:r>
              <a:rPr lang="en-US" sz="2400" dirty="0"/>
              <a:t>Explain the natural and historical factors that contribute to the diverse economies of the Middle East and North Africa, how they vary from country to country, and how they are tied to global and regional processes</a:t>
            </a:r>
            <a:r>
              <a:rPr lang="en-US" sz="2400" dirty="0" smtClean="0"/>
              <a:t>.</a:t>
            </a:r>
            <a:endParaRPr lang="en-US" sz="2400" dirty="0"/>
          </a:p>
        </p:txBody>
      </p:sp>
    </p:spTree>
    <p:extLst>
      <p:ext uri="{BB962C8B-B14F-4D97-AF65-F5344CB8AC3E}">
        <p14:creationId xmlns:p14="http://schemas.microsoft.com/office/powerpoint/2010/main" val="24175856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br>
              <a:rPr lang="en-US" dirty="0"/>
            </a:br>
            <a:endParaRPr lang="en-US" dirty="0"/>
          </a:p>
        </p:txBody>
      </p:sp>
      <p:sp>
        <p:nvSpPr>
          <p:cNvPr id="3" name="Content Placeholder 2"/>
          <p:cNvSpPr>
            <a:spLocks noGrp="1"/>
          </p:cNvSpPr>
          <p:nvPr>
            <p:ph sz="half" idx="2"/>
          </p:nvPr>
        </p:nvSpPr>
        <p:spPr>
          <a:xfrm>
            <a:off x="384048" y="1127291"/>
            <a:ext cx="8444266" cy="3951288"/>
          </a:xfrm>
        </p:spPr>
        <p:txBody>
          <a:bodyPr/>
          <a:lstStyle/>
          <a:p>
            <a:r>
              <a:rPr lang="en-US" sz="2400" dirty="0"/>
              <a:t>Analyze the geopolitical conflicts and tensions that bring instability to the Middle East and North Africa and the relationship between these conflicts and the political history of the region.</a:t>
            </a:r>
          </a:p>
          <a:p>
            <a:endParaRPr lang="en-US" sz="2400" dirty="0"/>
          </a:p>
          <a:p>
            <a:r>
              <a:rPr lang="en-US" sz="2400" dirty="0"/>
              <a:t>Identify the differences in practices of kinship, gender, and religion in the region and how these factors affect the lives of women.</a:t>
            </a:r>
          </a:p>
          <a:p>
            <a:endParaRPr lang="en-US" sz="2400" dirty="0"/>
          </a:p>
          <a:p>
            <a:r>
              <a:rPr lang="en-US" sz="2400" dirty="0"/>
              <a:t>Describe the patterns of migration in the Middle East and North Africa, the push and pull factors that are involved in migration patterns, and the effects these patterns have on the region’s demography.</a:t>
            </a:r>
          </a:p>
        </p:txBody>
      </p:sp>
    </p:spTree>
    <p:extLst>
      <p:ext uri="{BB962C8B-B14F-4D97-AF65-F5344CB8AC3E}">
        <p14:creationId xmlns:p14="http://schemas.microsoft.com/office/powerpoint/2010/main" val="182306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Environment, Society, and Sustainability</a:t>
            </a:r>
          </a:p>
        </p:txBody>
      </p:sp>
      <p:sp>
        <p:nvSpPr>
          <p:cNvPr id="3" name="Content Placeholder 2"/>
          <p:cNvSpPr>
            <a:spLocks noGrp="1"/>
          </p:cNvSpPr>
          <p:nvPr>
            <p:ph sz="half" idx="2"/>
          </p:nvPr>
        </p:nvSpPr>
        <p:spPr>
          <a:xfrm>
            <a:off x="384048" y="1080090"/>
            <a:ext cx="8444266" cy="3951288"/>
          </a:xfrm>
        </p:spPr>
        <p:txBody>
          <a:bodyPr/>
          <a:lstStyle/>
          <a:p>
            <a:r>
              <a:rPr lang="en-US" dirty="0"/>
              <a:t>Environmentally diverse</a:t>
            </a:r>
          </a:p>
          <a:p>
            <a:r>
              <a:rPr lang="en-US" dirty="0"/>
              <a:t>Home of some of the earliest </a:t>
            </a:r>
            <a:r>
              <a:rPr lang="en-US" dirty="0" smtClean="0"/>
              <a:t>agricultural </a:t>
            </a:r>
            <a:r>
              <a:rPr lang="en-US" dirty="0"/>
              <a:t>societies in the world</a:t>
            </a:r>
          </a:p>
          <a:p>
            <a:r>
              <a:rPr lang="en-US" dirty="0"/>
              <a:t>Historically </a:t>
            </a:r>
            <a:r>
              <a:rPr lang="en-US" dirty="0" smtClean="0"/>
              <a:t>significant rivers</a:t>
            </a:r>
            <a:endParaRPr lang="en-US" dirty="0"/>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826803" y="3058379"/>
            <a:ext cx="6143314" cy="3566160"/>
          </a:xfrm>
          <a:prstGeom prst="rect">
            <a:avLst/>
          </a:prstGeom>
        </p:spPr>
      </p:pic>
    </p:spTree>
    <p:extLst>
      <p:ext uri="{BB962C8B-B14F-4D97-AF65-F5344CB8AC3E}">
        <p14:creationId xmlns:p14="http://schemas.microsoft.com/office/powerpoint/2010/main" val="25487998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Climate and Climate Change</a:t>
            </a:r>
          </a:p>
        </p:txBody>
      </p:sp>
      <p:sp>
        <p:nvSpPr>
          <p:cNvPr id="3" name="Content Placeholder 2"/>
          <p:cNvSpPr>
            <a:spLocks noGrp="1"/>
          </p:cNvSpPr>
          <p:nvPr>
            <p:ph sz="half" idx="2"/>
          </p:nvPr>
        </p:nvSpPr>
        <p:spPr>
          <a:xfrm>
            <a:off x="384048" y="1080399"/>
            <a:ext cx="4454170" cy="3951288"/>
          </a:xfrm>
        </p:spPr>
        <p:txBody>
          <a:bodyPr/>
          <a:lstStyle/>
          <a:p>
            <a:r>
              <a:rPr lang="en-US" dirty="0"/>
              <a:t>Dominant climate characteristic is </a:t>
            </a:r>
            <a:r>
              <a:rPr lang="en-US" b="1" dirty="0" smtClean="0"/>
              <a:t>aridity</a:t>
            </a:r>
          </a:p>
          <a:p>
            <a:pPr lvl="1"/>
            <a:r>
              <a:rPr lang="en-US" dirty="0" smtClean="0"/>
              <a:t>three-quarters </a:t>
            </a:r>
            <a:r>
              <a:rPr lang="en-US" dirty="0"/>
              <a:t>of the region receive less </a:t>
            </a:r>
            <a:r>
              <a:rPr lang="en-US" dirty="0" smtClean="0"/>
              <a:t>than </a:t>
            </a:r>
            <a:r>
              <a:rPr lang="en-US" dirty="0"/>
              <a:t>10 inches of rain annually</a:t>
            </a:r>
          </a:p>
          <a:p>
            <a:r>
              <a:rPr lang="en-US" dirty="0"/>
              <a:t>Highland and coastal areas more moderate</a:t>
            </a:r>
          </a:p>
          <a:p>
            <a:pPr lvl="1"/>
            <a:r>
              <a:rPr lang="en-US" dirty="0"/>
              <a:t>thin, deficient soils</a:t>
            </a:r>
          </a:p>
          <a:p>
            <a:r>
              <a:rPr lang="en-US" dirty="0"/>
              <a:t>Mountains</a:t>
            </a:r>
          </a:p>
          <a:p>
            <a:pPr lvl="1"/>
            <a:r>
              <a:rPr lang="en-US" dirty="0"/>
              <a:t>orographic rainfall</a:t>
            </a:r>
          </a:p>
          <a:p>
            <a:pPr lvl="1"/>
            <a:r>
              <a:rPr lang="en-US" b="1" dirty="0"/>
              <a:t>rain shadow</a:t>
            </a:r>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950563" y="827884"/>
            <a:ext cx="4062128" cy="2496312"/>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50563" y="3908473"/>
            <a:ext cx="4073851" cy="2284266"/>
          </a:xfrm>
          <a:prstGeom prst="rect">
            <a:avLst/>
          </a:prstGeom>
        </p:spPr>
      </p:pic>
    </p:spTree>
    <p:extLst>
      <p:ext uri="{BB962C8B-B14F-4D97-AF65-F5344CB8AC3E}">
        <p14:creationId xmlns:p14="http://schemas.microsoft.com/office/powerpoint/2010/main" val="2224402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Climate and Climate Change (cont.)</a:t>
            </a:r>
          </a:p>
        </p:txBody>
      </p:sp>
      <p:sp>
        <p:nvSpPr>
          <p:cNvPr id="3" name="Content Placeholder 2"/>
          <p:cNvSpPr>
            <a:spLocks noGrp="1"/>
          </p:cNvSpPr>
          <p:nvPr>
            <p:ph sz="half" idx="2"/>
          </p:nvPr>
        </p:nvSpPr>
        <p:spPr>
          <a:xfrm>
            <a:off x="384048" y="1080399"/>
            <a:ext cx="8444266" cy="3951288"/>
          </a:xfrm>
        </p:spPr>
        <p:txBody>
          <a:bodyPr/>
          <a:lstStyle/>
          <a:p>
            <a:r>
              <a:rPr lang="en-US" dirty="0"/>
              <a:t>Climatic adaptation</a:t>
            </a:r>
          </a:p>
          <a:p>
            <a:pPr lvl="1"/>
            <a:r>
              <a:rPr lang="en-US" dirty="0"/>
              <a:t>regional architecture</a:t>
            </a:r>
          </a:p>
          <a:p>
            <a:pPr lvl="1"/>
            <a:r>
              <a:rPr lang="en-US" dirty="0"/>
              <a:t>activity patterns</a:t>
            </a:r>
          </a:p>
          <a:p>
            <a:pPr lvl="1"/>
            <a:r>
              <a:rPr lang="en-US" dirty="0"/>
              <a:t>dress</a:t>
            </a:r>
          </a:p>
          <a:p>
            <a:r>
              <a:rPr lang="en-US" dirty="0"/>
              <a:t>Climate change</a:t>
            </a:r>
          </a:p>
          <a:p>
            <a:pPr lvl="1"/>
            <a:r>
              <a:rPr lang="en-US" dirty="0"/>
              <a:t>Kyoto Protocol</a:t>
            </a:r>
          </a:p>
          <a:p>
            <a:pPr lvl="1"/>
            <a:r>
              <a:rPr lang="en-US" b="1" dirty="0"/>
              <a:t>carbon market</a:t>
            </a:r>
          </a:p>
        </p:txBody>
      </p:sp>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38696" y="795059"/>
            <a:ext cx="4267200" cy="3102864"/>
          </a:xfrm>
          <a:prstGeom prst="rect">
            <a:avLst/>
          </a:prstGeom>
        </p:spPr>
      </p:pic>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38696" y="4040899"/>
            <a:ext cx="4267200" cy="2648712"/>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17769" y="4293618"/>
            <a:ext cx="3350846" cy="2261821"/>
          </a:xfrm>
          <a:prstGeom prst="rect">
            <a:avLst/>
          </a:prstGeom>
        </p:spPr>
      </p:pic>
    </p:spTree>
    <p:extLst>
      <p:ext uri="{BB962C8B-B14F-4D97-AF65-F5344CB8AC3E}">
        <p14:creationId xmlns:p14="http://schemas.microsoft.com/office/powerpoint/2010/main" val="6052905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Geological Resources, Risk, and Water</a:t>
            </a:r>
          </a:p>
        </p:txBody>
      </p:sp>
      <p:sp>
        <p:nvSpPr>
          <p:cNvPr id="3" name="Content Placeholder 2"/>
          <p:cNvSpPr>
            <a:spLocks noGrp="1"/>
          </p:cNvSpPr>
          <p:nvPr>
            <p:ph sz="half" idx="2"/>
          </p:nvPr>
        </p:nvSpPr>
        <p:spPr>
          <a:xfrm>
            <a:off x="384048" y="1080399"/>
            <a:ext cx="8444266" cy="3951288"/>
          </a:xfrm>
        </p:spPr>
        <p:txBody>
          <a:bodyPr/>
          <a:lstStyle/>
          <a:p>
            <a:r>
              <a:rPr lang="en-US" dirty="0" smtClean="0"/>
              <a:t>Region home to multiple mountain ranges, two major river systems</a:t>
            </a:r>
            <a:endParaRPr lang="en-US" dirty="0"/>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28404" y="2526292"/>
            <a:ext cx="5238871" cy="3037682"/>
          </a:xfrm>
          <a:prstGeom prst="rect">
            <a:avLst/>
          </a:prstGeom>
        </p:spPr>
      </p:pic>
      <p:pic>
        <p:nvPicPr>
          <p:cNvPr id="7" name="Picture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517818" y="2526292"/>
            <a:ext cx="3480283" cy="3171123"/>
          </a:xfrm>
          <a:prstGeom prst="rect">
            <a:avLst/>
          </a:prstGeom>
        </p:spPr>
      </p:pic>
    </p:spTree>
    <p:extLst>
      <p:ext uri="{BB962C8B-B14F-4D97-AF65-F5344CB8AC3E}">
        <p14:creationId xmlns:p14="http://schemas.microsoft.com/office/powerpoint/2010/main" val="4368942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Geological Resources, Risk, and Water (cont.)</a:t>
            </a:r>
          </a:p>
        </p:txBody>
      </p:sp>
      <p:sp>
        <p:nvSpPr>
          <p:cNvPr id="3" name="Content Placeholder 2"/>
          <p:cNvSpPr>
            <a:spLocks noGrp="1"/>
          </p:cNvSpPr>
          <p:nvPr>
            <p:ph sz="half" idx="2"/>
          </p:nvPr>
        </p:nvSpPr>
        <p:spPr>
          <a:xfrm>
            <a:off x="384048" y="1080399"/>
            <a:ext cx="8444266" cy="3951288"/>
          </a:xfrm>
        </p:spPr>
        <p:txBody>
          <a:bodyPr/>
          <a:lstStyle/>
          <a:p>
            <a:r>
              <a:rPr lang="en-US" dirty="0"/>
              <a:t>Mountain and coastal environments</a:t>
            </a:r>
          </a:p>
          <a:p>
            <a:pPr lvl="1"/>
            <a:r>
              <a:rPr lang="en-US" dirty="0"/>
              <a:t>African, Eurasian, </a:t>
            </a:r>
            <a:r>
              <a:rPr lang="en-US" dirty="0" smtClean="0"/>
              <a:t>and </a:t>
            </a:r>
            <a:r>
              <a:rPr lang="en-US" dirty="0"/>
              <a:t>Arabian plates</a:t>
            </a:r>
          </a:p>
          <a:p>
            <a:pPr lvl="1"/>
            <a:r>
              <a:rPr lang="en-US" dirty="0"/>
              <a:t>earthquake hazard</a:t>
            </a:r>
          </a:p>
          <a:p>
            <a:pPr lvl="1"/>
            <a:r>
              <a:rPr lang="en-US" dirty="0"/>
              <a:t>Turkey, Iran, </a:t>
            </a:r>
            <a:r>
              <a:rPr lang="en-US" dirty="0" smtClean="0"/>
              <a:t>Yemen</a:t>
            </a:r>
            <a:r>
              <a:rPr lang="en-US" dirty="0"/>
              <a:t>, Morocco</a:t>
            </a:r>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04800" y="3207199"/>
            <a:ext cx="8534400" cy="2830186"/>
          </a:xfrm>
          <a:prstGeom prst="rect">
            <a:avLst/>
          </a:prstGeom>
        </p:spPr>
      </p:pic>
    </p:spTree>
    <p:extLst>
      <p:ext uri="{BB962C8B-B14F-4D97-AF65-F5344CB8AC3E}">
        <p14:creationId xmlns:p14="http://schemas.microsoft.com/office/powerpoint/2010/main" val="30769674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Geological Resources, Risk, and Water (cont.)</a:t>
            </a:r>
            <a:br>
              <a:rPr lang="en-US" dirty="0"/>
            </a:br>
            <a:endParaRPr lang="en-US" dirty="0"/>
          </a:p>
        </p:txBody>
      </p:sp>
      <p:sp>
        <p:nvSpPr>
          <p:cNvPr id="3" name="Content Placeholder 2"/>
          <p:cNvSpPr>
            <a:spLocks noGrp="1"/>
          </p:cNvSpPr>
          <p:nvPr>
            <p:ph sz="half" idx="2"/>
          </p:nvPr>
        </p:nvSpPr>
        <p:spPr>
          <a:xfrm>
            <a:off x="384048" y="1080399"/>
            <a:ext cx="8444266" cy="3951288"/>
          </a:xfrm>
        </p:spPr>
        <p:txBody>
          <a:bodyPr/>
          <a:lstStyle/>
          <a:p>
            <a:r>
              <a:rPr lang="en-US" dirty="0"/>
              <a:t>Regions most precious commodity: water </a:t>
            </a:r>
            <a:endParaRPr lang="en-US" dirty="0" smtClean="0"/>
          </a:p>
          <a:p>
            <a:pPr lvl="1"/>
            <a:r>
              <a:rPr lang="en-US" dirty="0" smtClean="0"/>
              <a:t>Nile</a:t>
            </a:r>
            <a:r>
              <a:rPr lang="en-US" dirty="0"/>
              <a:t>, </a:t>
            </a:r>
            <a:r>
              <a:rPr lang="en-US" dirty="0" smtClean="0"/>
              <a:t>Tigris, </a:t>
            </a:r>
            <a:r>
              <a:rPr lang="en-US" dirty="0"/>
              <a:t>and Euphrates</a:t>
            </a:r>
            <a:r>
              <a:rPr lang="en-US" b="1" dirty="0"/>
              <a:t> </a:t>
            </a:r>
            <a:r>
              <a:rPr lang="en-US" dirty="0"/>
              <a:t>Rivers</a:t>
            </a:r>
          </a:p>
          <a:p>
            <a:pPr lvl="1"/>
            <a:r>
              <a:rPr lang="en-US" b="1" dirty="0"/>
              <a:t>Oases</a:t>
            </a:r>
          </a:p>
          <a:p>
            <a:pPr lvl="1"/>
            <a:r>
              <a:rPr lang="en-US" b="1" dirty="0"/>
              <a:t>gravity </a:t>
            </a:r>
            <a:r>
              <a:rPr lang="en-US" b="1" dirty="0" smtClean="0"/>
              <a:t>system</a:t>
            </a:r>
          </a:p>
          <a:p>
            <a:pPr lvl="2"/>
            <a:r>
              <a:rPr lang="en-US" b="1" i="1" dirty="0" err="1" smtClean="0"/>
              <a:t>Qanat</a:t>
            </a:r>
            <a:r>
              <a:rPr lang="en-US" dirty="0"/>
              <a:t>, </a:t>
            </a:r>
            <a:r>
              <a:rPr lang="en-US" i="1" dirty="0" err="1"/>
              <a:t>flaj</a:t>
            </a:r>
            <a:r>
              <a:rPr lang="en-US" dirty="0"/>
              <a:t>, </a:t>
            </a:r>
            <a:r>
              <a:rPr lang="en-US" i="1" dirty="0" err="1"/>
              <a:t>foggara</a:t>
            </a:r>
            <a:endParaRPr lang="en-US" i="1" dirty="0"/>
          </a:p>
          <a:p>
            <a:pPr lvl="1"/>
            <a:r>
              <a:rPr lang="en-US" b="1" dirty="0"/>
              <a:t>desalinization</a:t>
            </a:r>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70324" y="3802259"/>
            <a:ext cx="5151526" cy="2658980"/>
          </a:xfrm>
          <a:prstGeom prst="rect">
            <a:avLst/>
          </a:prstGeom>
        </p:spPr>
      </p:pic>
      <p:pic>
        <p:nvPicPr>
          <p:cNvPr id="7" name="Picture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432612" y="3766660"/>
            <a:ext cx="3651901" cy="2726283"/>
          </a:xfrm>
          <a:prstGeom prst="rect">
            <a:avLst/>
          </a:prstGeom>
        </p:spPr>
      </p:pic>
    </p:spTree>
    <p:extLst>
      <p:ext uri="{BB962C8B-B14F-4D97-AF65-F5344CB8AC3E}">
        <p14:creationId xmlns:p14="http://schemas.microsoft.com/office/powerpoint/2010/main" val="28162986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Geological Resources, Risk, and Water (cont.)</a:t>
            </a:r>
          </a:p>
        </p:txBody>
      </p:sp>
      <p:sp>
        <p:nvSpPr>
          <p:cNvPr id="3" name="Content Placeholder 2"/>
          <p:cNvSpPr>
            <a:spLocks noGrp="1"/>
          </p:cNvSpPr>
          <p:nvPr>
            <p:ph sz="half" idx="2"/>
          </p:nvPr>
        </p:nvSpPr>
        <p:spPr>
          <a:xfrm>
            <a:off x="384048" y="1127291"/>
            <a:ext cx="4449157" cy="3951288"/>
          </a:xfrm>
        </p:spPr>
        <p:txBody>
          <a:bodyPr/>
          <a:lstStyle/>
          <a:p>
            <a:r>
              <a:rPr lang="en-US" sz="2400" b="1" dirty="0"/>
              <a:t>Fossil </a:t>
            </a:r>
            <a:r>
              <a:rPr lang="en-US" sz="2400" b="1" dirty="0" smtClean="0"/>
              <a:t>Fuels</a:t>
            </a:r>
          </a:p>
          <a:p>
            <a:pPr lvl="1"/>
            <a:r>
              <a:rPr lang="en-US" sz="2000" dirty="0" smtClean="0"/>
              <a:t>oil </a:t>
            </a:r>
            <a:r>
              <a:rPr lang="en-US" sz="2000" dirty="0"/>
              <a:t>and natural </a:t>
            </a:r>
            <a:r>
              <a:rPr lang="en-US" sz="2000" dirty="0" smtClean="0"/>
              <a:t>gas</a:t>
            </a:r>
          </a:p>
          <a:p>
            <a:pPr lvl="1"/>
            <a:r>
              <a:rPr lang="en-US" sz="2000" b="1" dirty="0" smtClean="0"/>
              <a:t>petroleum</a:t>
            </a:r>
            <a:endParaRPr lang="en-US" sz="2000" b="1" dirty="0"/>
          </a:p>
          <a:p>
            <a:pPr lvl="1"/>
            <a:r>
              <a:rPr lang="en-US" sz="2000" dirty="0" smtClean="0"/>
              <a:t>invention </a:t>
            </a:r>
            <a:r>
              <a:rPr lang="en-US" sz="2000" dirty="0"/>
              <a:t>of internal combustion engine and </a:t>
            </a:r>
            <a:r>
              <a:rPr lang="en-US" sz="2000" dirty="0" smtClean="0"/>
              <a:t/>
            </a:r>
            <a:br>
              <a:rPr lang="en-US" sz="2000" dirty="0" smtClean="0"/>
            </a:br>
            <a:r>
              <a:rPr lang="en-US" sz="2000" dirty="0" smtClean="0"/>
              <a:t>WW </a:t>
            </a:r>
            <a:r>
              <a:rPr lang="en-US" sz="2000" dirty="0"/>
              <a:t>I </a:t>
            </a:r>
            <a:r>
              <a:rPr lang="en-US" sz="2000" dirty="0" smtClean="0"/>
              <a:t>established </a:t>
            </a:r>
            <a:r>
              <a:rPr lang="en-US" sz="2000" dirty="0"/>
              <a:t>petroleum as </a:t>
            </a:r>
            <a:r>
              <a:rPr lang="en-US" sz="2000" dirty="0" smtClean="0"/>
              <a:t>a </a:t>
            </a:r>
            <a:r>
              <a:rPr lang="en-US" sz="2000" dirty="0"/>
              <a:t>foundational product of </a:t>
            </a:r>
            <a:r>
              <a:rPr lang="en-US" sz="2000" dirty="0" smtClean="0"/>
              <a:t>industrial age</a:t>
            </a:r>
          </a:p>
          <a:p>
            <a:pPr lvl="1"/>
            <a:r>
              <a:rPr lang="en-US" sz="2000" dirty="0" smtClean="0"/>
              <a:t>early </a:t>
            </a:r>
            <a:r>
              <a:rPr lang="en-US" sz="2000" dirty="0"/>
              <a:t>areas: Iran, 1900; Iraq </a:t>
            </a:r>
            <a:r>
              <a:rPr lang="en-US" sz="2000" dirty="0" smtClean="0"/>
              <a:t>1920s; </a:t>
            </a:r>
            <a:r>
              <a:rPr lang="en-US" sz="2000" dirty="0"/>
              <a:t>Bahrain, Saudi </a:t>
            </a:r>
            <a:r>
              <a:rPr lang="en-US" sz="2000" dirty="0" smtClean="0"/>
              <a:t>Arabia,  1930s</a:t>
            </a:r>
            <a:endParaRPr lang="en-US" sz="2000" dirty="0"/>
          </a:p>
          <a:p>
            <a:r>
              <a:rPr lang="en-US" sz="2400" b="1" dirty="0"/>
              <a:t>Organization of Oil Exporting Countries (</a:t>
            </a:r>
            <a:r>
              <a:rPr lang="en-US" sz="2400" b="1" dirty="0" smtClean="0"/>
              <a:t>OPEC)</a:t>
            </a:r>
          </a:p>
          <a:p>
            <a:pPr lvl="1"/>
            <a:r>
              <a:rPr lang="en-US" sz="2000" dirty="0" smtClean="0"/>
              <a:t>oil </a:t>
            </a:r>
            <a:r>
              <a:rPr lang="en-US" sz="2000" dirty="0"/>
              <a:t>crisis</a:t>
            </a:r>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935292" y="828822"/>
            <a:ext cx="4101225" cy="3474720"/>
          </a:xfrm>
          <a:prstGeom prst="rect">
            <a:avLst/>
          </a:prstGeom>
        </p:spPr>
      </p:pic>
      <p:pic>
        <p:nvPicPr>
          <p:cNvPr id="7" name="Picture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100656" y="4655234"/>
            <a:ext cx="4935861" cy="1920240"/>
          </a:xfrm>
          <a:prstGeom prst="rect">
            <a:avLst/>
          </a:prstGeom>
        </p:spPr>
      </p:pic>
    </p:spTree>
    <p:extLst>
      <p:ext uri="{BB962C8B-B14F-4D97-AF65-F5344CB8AC3E}">
        <p14:creationId xmlns:p14="http://schemas.microsoft.com/office/powerpoint/2010/main" val="9925115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Geographies of Indulgence, Desire, and Addiction</a:t>
            </a:r>
            <a:br>
              <a:rPr lang="en-US" dirty="0"/>
            </a:br>
            <a:endParaRPr lang="en-US" dirty="0"/>
          </a:p>
        </p:txBody>
      </p:sp>
      <p:sp>
        <p:nvSpPr>
          <p:cNvPr id="4" name="Content Placeholder 3"/>
          <p:cNvSpPr>
            <a:spLocks noGrp="1"/>
          </p:cNvSpPr>
          <p:nvPr>
            <p:ph sz="half" idx="2"/>
          </p:nvPr>
        </p:nvSpPr>
        <p:spPr>
          <a:xfrm>
            <a:off x="384048" y="1345016"/>
            <a:ext cx="4907043" cy="3951288"/>
          </a:xfrm>
        </p:spPr>
        <p:txBody>
          <a:bodyPr/>
          <a:lstStyle/>
          <a:p>
            <a:r>
              <a:rPr lang="en-US" sz="2600" dirty="0"/>
              <a:t>Luxury cars, such as Bentley, </a:t>
            </a:r>
            <a:r>
              <a:rPr lang="en-US" sz="2600" dirty="0" smtClean="0"/>
              <a:t>saw </a:t>
            </a:r>
            <a:r>
              <a:rPr lang="en-US" sz="2600" dirty="0"/>
              <a:t>rise in sales driven by high </a:t>
            </a:r>
            <a:r>
              <a:rPr lang="en-US" sz="2600" dirty="0" smtClean="0"/>
              <a:t>demand </a:t>
            </a:r>
            <a:r>
              <a:rPr lang="en-US" sz="2600" dirty="0"/>
              <a:t>in Middle East</a:t>
            </a:r>
          </a:p>
          <a:p>
            <a:r>
              <a:rPr lang="en-US" sz="2600" dirty="0"/>
              <a:t>Dubai has highest ratio </a:t>
            </a:r>
            <a:br>
              <a:rPr lang="en-US" sz="2600" dirty="0"/>
            </a:br>
            <a:r>
              <a:rPr lang="en-US" sz="2600" dirty="0" smtClean="0"/>
              <a:t>of </a:t>
            </a:r>
            <a:r>
              <a:rPr lang="en-US" sz="2600" dirty="0"/>
              <a:t>cars to people in </a:t>
            </a:r>
            <a:r>
              <a:rPr lang="en-US" sz="2600" dirty="0" smtClean="0"/>
              <a:t>the world</a:t>
            </a:r>
            <a:endParaRPr lang="en-US" sz="2600" dirty="0"/>
          </a:p>
          <a:p>
            <a:r>
              <a:rPr lang="en-US" sz="2600" dirty="0"/>
              <a:t>Region home to many </a:t>
            </a:r>
            <a:r>
              <a:rPr lang="en-US" sz="2600" dirty="0" smtClean="0"/>
              <a:t/>
            </a:r>
            <a:br>
              <a:rPr lang="en-US" sz="2600" dirty="0" smtClean="0"/>
            </a:br>
            <a:r>
              <a:rPr lang="en-US" sz="2600" dirty="0" smtClean="0"/>
              <a:t>high-end Formula One races</a:t>
            </a:r>
            <a:endParaRPr lang="en-US" sz="2600" dirty="0"/>
          </a:p>
        </p:txBody>
      </p:sp>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43793" y="1362771"/>
            <a:ext cx="3775639" cy="2206052"/>
          </a:xfrm>
          <a:prstGeom prst="rect">
            <a:avLst/>
          </a:prstGeom>
        </p:spPr>
      </p:pic>
      <p:pic>
        <p:nvPicPr>
          <p:cNvPr id="8" name="Picture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080791" y="3824370"/>
            <a:ext cx="3972730" cy="2684867"/>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44387" y="4422654"/>
            <a:ext cx="3247713" cy="2069257"/>
          </a:xfrm>
          <a:prstGeom prst="rect">
            <a:avLst/>
          </a:prstGeom>
        </p:spPr>
      </p:pic>
    </p:spTree>
    <p:extLst>
      <p:ext uri="{BB962C8B-B14F-4D97-AF65-F5344CB8AC3E}">
        <p14:creationId xmlns:p14="http://schemas.microsoft.com/office/powerpoint/2010/main" val="4554579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Ecology, Land, and Environmental Management</a:t>
            </a:r>
          </a:p>
        </p:txBody>
      </p:sp>
      <p:sp>
        <p:nvSpPr>
          <p:cNvPr id="3" name="Content Placeholder 2"/>
          <p:cNvSpPr>
            <a:spLocks noGrp="1"/>
          </p:cNvSpPr>
          <p:nvPr>
            <p:ph sz="half" idx="2"/>
          </p:nvPr>
        </p:nvSpPr>
        <p:spPr>
          <a:xfrm>
            <a:off x="384048" y="1080399"/>
            <a:ext cx="8444266" cy="3951288"/>
          </a:xfrm>
        </p:spPr>
        <p:txBody>
          <a:bodyPr/>
          <a:lstStyle/>
          <a:p>
            <a:r>
              <a:rPr lang="en-US" dirty="0"/>
              <a:t>Deforestation in Turkey, Lebanon, </a:t>
            </a:r>
            <a:r>
              <a:rPr lang="en-US" dirty="0" smtClean="0"/>
              <a:t>Syria, </a:t>
            </a:r>
            <a:r>
              <a:rPr lang="en-US" dirty="0"/>
              <a:t>and Iran</a:t>
            </a:r>
          </a:p>
          <a:p>
            <a:r>
              <a:rPr lang="en-US" dirty="0"/>
              <a:t>Extinctions</a:t>
            </a:r>
          </a:p>
          <a:p>
            <a:pPr lvl="1"/>
            <a:r>
              <a:rPr lang="en-US" dirty="0"/>
              <a:t>leopards</a:t>
            </a:r>
          </a:p>
          <a:p>
            <a:pPr lvl="1"/>
            <a:r>
              <a:rPr lang="en-US" dirty="0"/>
              <a:t>crocodiles</a:t>
            </a:r>
          </a:p>
          <a:p>
            <a:pPr lvl="1"/>
            <a:r>
              <a:rPr lang="en-US" dirty="0" err="1"/>
              <a:t>oryx</a:t>
            </a:r>
            <a:endParaRPr lang="en-US" dirty="0"/>
          </a:p>
          <a:p>
            <a:pPr lvl="1"/>
            <a:r>
              <a:rPr lang="en-US" dirty="0"/>
              <a:t>cheetahs</a:t>
            </a:r>
          </a:p>
          <a:p>
            <a:pPr lvl="1"/>
            <a:r>
              <a:rPr lang="en-US" dirty="0"/>
              <a:t>lions</a:t>
            </a:r>
          </a:p>
          <a:p>
            <a:r>
              <a:rPr lang="en-US" b="1" dirty="0"/>
              <a:t>Desertification</a:t>
            </a:r>
          </a:p>
          <a:p>
            <a:r>
              <a:rPr lang="en-US" b="1" dirty="0"/>
              <a:t>Afforestation</a:t>
            </a: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11508" y="1831866"/>
            <a:ext cx="5304945" cy="3171599"/>
          </a:xfrm>
          <a:prstGeom prst="rect">
            <a:avLst/>
          </a:prstGeom>
        </p:spPr>
      </p:pic>
    </p:spTree>
    <p:extLst>
      <p:ext uri="{BB962C8B-B14F-4D97-AF65-F5344CB8AC3E}">
        <p14:creationId xmlns:p14="http://schemas.microsoft.com/office/powerpoint/2010/main" val="19865463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Economy, and Territory</a:t>
            </a:r>
          </a:p>
        </p:txBody>
      </p:sp>
      <p:sp>
        <p:nvSpPr>
          <p:cNvPr id="3" name="Content Placeholder 2"/>
          <p:cNvSpPr>
            <a:spLocks noGrp="1"/>
          </p:cNvSpPr>
          <p:nvPr>
            <p:ph sz="half" idx="2"/>
          </p:nvPr>
        </p:nvSpPr>
        <p:spPr>
          <a:xfrm>
            <a:off x="384048" y="1080399"/>
            <a:ext cx="4731009" cy="3951288"/>
          </a:xfrm>
        </p:spPr>
        <p:txBody>
          <a:bodyPr/>
          <a:lstStyle/>
          <a:p>
            <a:r>
              <a:rPr lang="en-US" dirty="0"/>
              <a:t>Domestication of plants and </a:t>
            </a:r>
            <a:r>
              <a:rPr lang="en-US" dirty="0" smtClean="0"/>
              <a:t>animals</a:t>
            </a:r>
          </a:p>
          <a:p>
            <a:pPr lvl="1"/>
            <a:r>
              <a:rPr lang="en-US" dirty="0" smtClean="0"/>
              <a:t>10,000 </a:t>
            </a:r>
            <a:r>
              <a:rPr lang="en-US" dirty="0"/>
              <a:t>to 12,000 years ago </a:t>
            </a:r>
            <a:endParaRPr lang="en-US" dirty="0" smtClean="0"/>
          </a:p>
          <a:p>
            <a:pPr lvl="1"/>
            <a:r>
              <a:rPr lang="en-US" dirty="0" smtClean="0"/>
              <a:t>semi-permanent </a:t>
            </a:r>
            <a:r>
              <a:rPr lang="en-US" dirty="0"/>
              <a:t>settlements</a:t>
            </a:r>
          </a:p>
        </p:txBody>
      </p:sp>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047741" y="732448"/>
            <a:ext cx="3916645" cy="2877228"/>
          </a:xfrm>
          <a:prstGeom prst="rect">
            <a:avLst/>
          </a:prstGeom>
        </p:spPr>
      </p:pic>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90777" y="3765217"/>
            <a:ext cx="4230572" cy="2816352"/>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0520" y="3472609"/>
            <a:ext cx="4418827" cy="3108960"/>
          </a:xfrm>
          <a:prstGeom prst="rect">
            <a:avLst/>
          </a:prstGeom>
        </p:spPr>
      </p:pic>
    </p:spTree>
    <p:extLst>
      <p:ext uri="{BB962C8B-B14F-4D97-AF65-F5344CB8AC3E}">
        <p14:creationId xmlns:p14="http://schemas.microsoft.com/office/powerpoint/2010/main" val="22729559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Historical Legacies and Landscapes</a:t>
            </a:r>
          </a:p>
        </p:txBody>
      </p:sp>
      <p:sp>
        <p:nvSpPr>
          <p:cNvPr id="3" name="Content Placeholder 2"/>
          <p:cNvSpPr>
            <a:spLocks noGrp="1"/>
          </p:cNvSpPr>
          <p:nvPr>
            <p:ph sz="half" idx="2"/>
          </p:nvPr>
        </p:nvSpPr>
        <p:spPr>
          <a:xfrm>
            <a:off x="384048" y="1080399"/>
            <a:ext cx="8444266" cy="3951288"/>
          </a:xfrm>
        </p:spPr>
        <p:txBody>
          <a:bodyPr/>
          <a:lstStyle/>
          <a:p>
            <a:r>
              <a:rPr lang="en-US" b="1" dirty="0"/>
              <a:t>Fertile Crescent</a:t>
            </a:r>
            <a:r>
              <a:rPr lang="en-US" dirty="0"/>
              <a:t>: early plant </a:t>
            </a:r>
            <a:r>
              <a:rPr lang="en-US" dirty="0" smtClean="0"/>
              <a:t/>
            </a:r>
            <a:br>
              <a:rPr lang="en-US" dirty="0" smtClean="0"/>
            </a:br>
            <a:r>
              <a:rPr lang="en-US" dirty="0" smtClean="0"/>
              <a:t>and </a:t>
            </a:r>
            <a:r>
              <a:rPr lang="en-US" dirty="0"/>
              <a:t>animal </a:t>
            </a:r>
            <a:r>
              <a:rPr lang="en-US" dirty="0" smtClean="0"/>
              <a:t>domestication</a:t>
            </a:r>
          </a:p>
          <a:p>
            <a:pPr lvl="1"/>
            <a:r>
              <a:rPr lang="en-US" b="1" dirty="0" smtClean="0"/>
              <a:t>wet farming</a:t>
            </a:r>
          </a:p>
          <a:p>
            <a:pPr lvl="1"/>
            <a:r>
              <a:rPr lang="en-US" b="1" dirty="0" smtClean="0"/>
              <a:t>hydraulic </a:t>
            </a:r>
            <a:r>
              <a:rPr lang="en-US" b="1" dirty="0"/>
              <a:t>civilizations</a:t>
            </a:r>
          </a:p>
          <a:p>
            <a:r>
              <a:rPr lang="en-US" dirty="0"/>
              <a:t>Birthplace of </a:t>
            </a:r>
            <a:r>
              <a:rPr lang="en-US" b="1" dirty="0"/>
              <a:t>world religions</a:t>
            </a:r>
            <a:r>
              <a:rPr lang="en-US" dirty="0"/>
              <a:t>: </a:t>
            </a:r>
            <a:r>
              <a:rPr lang="en-US" dirty="0" smtClean="0"/>
              <a:t/>
            </a:r>
            <a:br>
              <a:rPr lang="en-US" dirty="0" smtClean="0"/>
            </a:br>
            <a:r>
              <a:rPr lang="en-US" dirty="0" smtClean="0"/>
              <a:t>Judaism, Christianity</a:t>
            </a:r>
            <a:r>
              <a:rPr lang="en-US" dirty="0"/>
              <a:t>, and Islam</a:t>
            </a:r>
          </a:p>
          <a:p>
            <a:r>
              <a:rPr lang="en-US" dirty="0" smtClean="0"/>
              <a:t>Urbanization</a:t>
            </a:r>
          </a:p>
          <a:p>
            <a:pPr lvl="1"/>
            <a:r>
              <a:rPr lang="en-US" dirty="0" smtClean="0"/>
              <a:t>primary urbanization</a:t>
            </a:r>
          </a:p>
          <a:p>
            <a:pPr lvl="1"/>
            <a:r>
              <a:rPr lang="en-US" dirty="0" smtClean="0"/>
              <a:t>secondary urbanization</a:t>
            </a:r>
          </a:p>
          <a:p>
            <a:pPr lvl="1"/>
            <a:r>
              <a:rPr lang="en-US" dirty="0" smtClean="0"/>
              <a:t>Islamic </a:t>
            </a:r>
            <a:br>
              <a:rPr lang="en-US" dirty="0" smtClean="0"/>
            </a:br>
            <a:r>
              <a:rPr lang="en-US" dirty="0" smtClean="0"/>
              <a:t>cities</a:t>
            </a:r>
            <a:endParaRPr lang="en-US" dirty="0"/>
          </a:p>
        </p:txBody>
      </p:sp>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45773" y="664698"/>
            <a:ext cx="2601621" cy="3538728"/>
          </a:xfrm>
          <a:prstGeom prst="rect">
            <a:avLst/>
          </a:prstGeom>
        </p:spPr>
      </p:pic>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80578" y="4502768"/>
            <a:ext cx="3492691" cy="2157984"/>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224192" y="5183058"/>
            <a:ext cx="3356386" cy="1426464"/>
          </a:xfrm>
          <a:prstGeom prst="rect">
            <a:avLst/>
          </a:prstGeom>
        </p:spPr>
      </p:pic>
    </p:spTree>
    <p:extLst>
      <p:ext uri="{BB962C8B-B14F-4D97-AF65-F5344CB8AC3E}">
        <p14:creationId xmlns:p14="http://schemas.microsoft.com/office/powerpoint/2010/main" val="20654226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Historical Legacies and Landscapes (cont.)</a:t>
            </a:r>
            <a:br>
              <a:rPr lang="en-US" dirty="0"/>
            </a:br>
            <a:endParaRPr lang="en-US" dirty="0"/>
          </a:p>
        </p:txBody>
      </p:sp>
      <p:sp>
        <p:nvSpPr>
          <p:cNvPr id="3" name="Content Placeholder 2"/>
          <p:cNvSpPr>
            <a:spLocks noGrp="1"/>
          </p:cNvSpPr>
          <p:nvPr>
            <p:ph sz="half" idx="2"/>
          </p:nvPr>
        </p:nvSpPr>
        <p:spPr>
          <a:xfrm>
            <a:off x="384048" y="1080399"/>
            <a:ext cx="8444266" cy="3951288"/>
          </a:xfrm>
        </p:spPr>
        <p:txBody>
          <a:bodyPr/>
          <a:lstStyle/>
          <a:p>
            <a:r>
              <a:rPr lang="en-US" dirty="0"/>
              <a:t>Ottoman Empire</a:t>
            </a:r>
          </a:p>
          <a:p>
            <a:pPr lvl="1"/>
            <a:r>
              <a:rPr lang="en-US" b="1" dirty="0" smtClean="0"/>
              <a:t>nationalist </a:t>
            </a:r>
            <a:r>
              <a:rPr lang="en-US" b="1" dirty="0"/>
              <a:t>movements</a:t>
            </a:r>
          </a:p>
          <a:p>
            <a:pPr lvl="1"/>
            <a:r>
              <a:rPr lang="en-US" b="1" dirty="0"/>
              <a:t>mandates</a:t>
            </a:r>
          </a:p>
          <a:p>
            <a:r>
              <a:rPr lang="ja-JP" altLang="en-US" dirty="0"/>
              <a:t>“</a:t>
            </a:r>
            <a:r>
              <a:rPr lang="en-US" altLang="ja-JP" dirty="0"/>
              <a:t>Middle East</a:t>
            </a:r>
            <a:r>
              <a:rPr lang="ja-JP" altLang="en-US" dirty="0"/>
              <a:t>”</a:t>
            </a:r>
            <a:r>
              <a:rPr lang="en-US" altLang="ja-JP" dirty="0"/>
              <a:t>: What</a:t>
            </a:r>
            <a:r>
              <a:rPr lang="ja-JP" altLang="en-US" dirty="0"/>
              <a:t>’</a:t>
            </a:r>
            <a:r>
              <a:rPr lang="en-US" altLang="ja-JP" dirty="0"/>
              <a:t>s in a name?</a:t>
            </a:r>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64209" y="3349284"/>
            <a:ext cx="3750384" cy="2861426"/>
          </a:xfrm>
          <a:prstGeom prst="rect">
            <a:avLst/>
          </a:prstGeom>
        </p:spPr>
      </p:pic>
      <p:pic>
        <p:nvPicPr>
          <p:cNvPr id="7" name="Picture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79631" y="3349284"/>
            <a:ext cx="4949669" cy="2861426"/>
          </a:xfrm>
          <a:prstGeom prst="rect">
            <a:avLst/>
          </a:prstGeom>
        </p:spPr>
      </p:pic>
    </p:spTree>
    <p:extLst>
      <p:ext uri="{BB962C8B-B14F-4D97-AF65-F5344CB8AC3E}">
        <p14:creationId xmlns:p14="http://schemas.microsoft.com/office/powerpoint/2010/main" val="26356639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Economy, Accumulation, and the Production of Inequality</a:t>
            </a:r>
            <a:br>
              <a:rPr lang="en-US" dirty="0"/>
            </a:br>
            <a:endParaRPr lang="en-US" dirty="0"/>
          </a:p>
        </p:txBody>
      </p:sp>
      <p:sp>
        <p:nvSpPr>
          <p:cNvPr id="4" name="Content Placeholder 3"/>
          <p:cNvSpPr>
            <a:spLocks noGrp="1"/>
          </p:cNvSpPr>
          <p:nvPr>
            <p:ph sz="half" idx="2"/>
          </p:nvPr>
        </p:nvSpPr>
        <p:spPr>
          <a:xfrm>
            <a:off x="384048" y="1345016"/>
            <a:ext cx="8411609" cy="3951288"/>
          </a:xfrm>
        </p:spPr>
        <p:txBody>
          <a:bodyPr/>
          <a:lstStyle/>
          <a:p>
            <a:r>
              <a:rPr lang="en-US" dirty="0"/>
              <a:t>Import substitution</a:t>
            </a:r>
          </a:p>
          <a:p>
            <a:r>
              <a:rPr lang="en-US" b="1" dirty="0"/>
              <a:t>Nationalization</a:t>
            </a:r>
          </a:p>
          <a:p>
            <a:r>
              <a:rPr lang="en-US" dirty="0" smtClean="0"/>
              <a:t>Rural-to-urban migration</a:t>
            </a:r>
            <a:endParaRPr lang="en-US" dirty="0"/>
          </a:p>
          <a:p>
            <a:pPr lvl="1"/>
            <a:r>
              <a:rPr lang="en-US" b="1" dirty="0"/>
              <a:t>informal </a:t>
            </a:r>
            <a:r>
              <a:rPr lang="en-US" b="1" dirty="0" smtClean="0"/>
              <a:t/>
            </a:r>
            <a:br>
              <a:rPr lang="en-US" b="1" dirty="0" smtClean="0"/>
            </a:br>
            <a:r>
              <a:rPr lang="en-US" b="1" dirty="0" smtClean="0"/>
              <a:t>economy</a:t>
            </a:r>
            <a:endParaRPr lang="en-US" b="1" dirty="0"/>
          </a:p>
          <a:p>
            <a:r>
              <a:rPr lang="en-US" dirty="0"/>
              <a:t>Oil states</a:t>
            </a:r>
          </a:p>
          <a:p>
            <a:pPr lvl="1"/>
            <a:r>
              <a:rPr lang="en-US" dirty="0"/>
              <a:t>oil dependence</a:t>
            </a:r>
          </a:p>
          <a:p>
            <a:pPr lvl="1"/>
            <a:r>
              <a:rPr lang="en-US" b="1" dirty="0"/>
              <a:t>petrodollars</a:t>
            </a:r>
          </a:p>
          <a:p>
            <a:pPr lvl="1"/>
            <a:r>
              <a:rPr lang="en-US" dirty="0"/>
              <a:t>economic </a:t>
            </a:r>
            <a:r>
              <a:rPr lang="en-US" dirty="0" smtClean="0"/>
              <a:t/>
            </a:r>
            <a:br>
              <a:rPr lang="en-US" dirty="0" smtClean="0"/>
            </a:br>
            <a:r>
              <a:rPr lang="en-US" dirty="0" smtClean="0"/>
              <a:t>diversification</a:t>
            </a:r>
            <a:endParaRPr lang="en-US" dirty="0"/>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587261" y="3091141"/>
            <a:ext cx="5324601" cy="3154680"/>
          </a:xfrm>
          <a:prstGeom prst="rect">
            <a:avLst/>
          </a:prstGeom>
        </p:spPr>
      </p:pic>
    </p:spTree>
    <p:extLst>
      <p:ext uri="{BB962C8B-B14F-4D97-AF65-F5344CB8AC3E}">
        <p14:creationId xmlns:p14="http://schemas.microsoft.com/office/powerpoint/2010/main" val="28925042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Economy, Accumulation, and the Production of Inequality (cont.)</a:t>
            </a:r>
            <a:br>
              <a:rPr lang="en-US" dirty="0"/>
            </a:br>
            <a:endParaRPr lang="en-US" dirty="0"/>
          </a:p>
        </p:txBody>
      </p:sp>
      <p:sp>
        <p:nvSpPr>
          <p:cNvPr id="4" name="Content Placeholder 3"/>
          <p:cNvSpPr>
            <a:spLocks noGrp="1"/>
          </p:cNvSpPr>
          <p:nvPr>
            <p:ph sz="half" idx="2"/>
          </p:nvPr>
        </p:nvSpPr>
        <p:spPr>
          <a:xfrm>
            <a:off x="384048" y="1345016"/>
            <a:ext cx="8411609" cy="3951288"/>
          </a:xfrm>
        </p:spPr>
        <p:txBody>
          <a:bodyPr/>
          <a:lstStyle/>
          <a:p>
            <a:r>
              <a:rPr lang="en-US" dirty="0"/>
              <a:t>Eastern Mediterranean Crescent</a:t>
            </a:r>
          </a:p>
          <a:p>
            <a:pPr lvl="1"/>
            <a:r>
              <a:rPr lang="en-US" dirty="0"/>
              <a:t>Egypt, Lebanon, Israel, Turkey</a:t>
            </a:r>
          </a:p>
          <a:p>
            <a:r>
              <a:rPr lang="en-US" dirty="0"/>
              <a:t>The Maghreb</a:t>
            </a:r>
          </a:p>
          <a:p>
            <a:pPr lvl="1"/>
            <a:r>
              <a:rPr lang="en-US" dirty="0"/>
              <a:t>Morocco, Algeria, Tunisia, Libya</a:t>
            </a:r>
          </a:p>
          <a:p>
            <a:pPr lvl="1"/>
            <a:r>
              <a:rPr lang="en-US" b="1" dirty="0"/>
              <a:t>Union for the Mediterranean</a:t>
            </a:r>
          </a:p>
          <a:p>
            <a:r>
              <a:rPr lang="en-US" dirty="0"/>
              <a:t>Social inequalities</a:t>
            </a: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791201" y="1877100"/>
            <a:ext cx="3154831" cy="2057400"/>
          </a:xfrm>
          <a:prstGeom prst="rect">
            <a:avLst/>
          </a:prstGeom>
        </p:spPr>
      </p:pic>
      <p:pic>
        <p:nvPicPr>
          <p:cNvPr id="7" name="Picture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16524" y="4443045"/>
            <a:ext cx="8534400" cy="1927508"/>
          </a:xfrm>
          <a:prstGeom prst="rect">
            <a:avLst/>
          </a:prstGeom>
        </p:spPr>
      </p:pic>
    </p:spTree>
    <p:extLst>
      <p:ext uri="{BB962C8B-B14F-4D97-AF65-F5344CB8AC3E}">
        <p14:creationId xmlns:p14="http://schemas.microsoft.com/office/powerpoint/2010/main" val="39542954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Territory and Politics</a:t>
            </a:r>
          </a:p>
        </p:txBody>
      </p:sp>
      <p:sp>
        <p:nvSpPr>
          <p:cNvPr id="3" name="Content Placeholder 2"/>
          <p:cNvSpPr>
            <a:spLocks noGrp="1"/>
          </p:cNvSpPr>
          <p:nvPr>
            <p:ph sz="half" idx="2"/>
          </p:nvPr>
        </p:nvSpPr>
        <p:spPr>
          <a:xfrm>
            <a:off x="384048" y="1080399"/>
            <a:ext cx="3877105" cy="3951288"/>
          </a:xfrm>
        </p:spPr>
        <p:txBody>
          <a:bodyPr/>
          <a:lstStyle/>
          <a:p>
            <a:r>
              <a:rPr lang="en-US" dirty="0"/>
              <a:t>Intra-regional conflict</a:t>
            </a:r>
          </a:p>
          <a:p>
            <a:r>
              <a:rPr lang="en-US" dirty="0"/>
              <a:t>Ethnic conflict</a:t>
            </a:r>
          </a:p>
          <a:p>
            <a:pPr lvl="1"/>
            <a:r>
              <a:rPr lang="en-US" dirty="0"/>
              <a:t>Iran (Persians) and Iraq (Arabs)</a:t>
            </a:r>
          </a:p>
          <a:p>
            <a:pPr lvl="1"/>
            <a:r>
              <a:rPr lang="en-US" b="1" dirty="0"/>
              <a:t>Kurds</a:t>
            </a:r>
          </a:p>
          <a:p>
            <a:pPr lvl="1"/>
            <a:r>
              <a:rPr lang="en-US" dirty="0"/>
              <a:t>Sudan</a:t>
            </a:r>
          </a:p>
          <a:p>
            <a:pPr lvl="1"/>
            <a:r>
              <a:rPr lang="en-US" b="1" dirty="0"/>
              <a:t>Janjaweed</a:t>
            </a:r>
          </a:p>
          <a:p>
            <a:pPr lvl="1"/>
            <a:r>
              <a:rPr lang="en-US" b="1" dirty="0"/>
              <a:t>internally displaced </a:t>
            </a:r>
            <a:r>
              <a:rPr lang="en-US" b="1" dirty="0" smtClean="0"/>
              <a:t>persons</a:t>
            </a:r>
            <a:endParaRPr lang="en-US" sz="2800" b="1" dirty="0"/>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255477" y="1306878"/>
            <a:ext cx="4710717" cy="4288536"/>
          </a:xfrm>
          <a:prstGeom prst="rect">
            <a:avLst/>
          </a:prstGeom>
        </p:spPr>
      </p:pic>
    </p:spTree>
    <p:extLst>
      <p:ext uri="{BB962C8B-B14F-4D97-AF65-F5344CB8AC3E}">
        <p14:creationId xmlns:p14="http://schemas.microsoft.com/office/powerpoint/2010/main" val="20243855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Territory and Politics (cont.)</a:t>
            </a:r>
          </a:p>
        </p:txBody>
      </p:sp>
      <p:sp>
        <p:nvSpPr>
          <p:cNvPr id="3" name="Content Placeholder 2"/>
          <p:cNvSpPr>
            <a:spLocks noGrp="1"/>
          </p:cNvSpPr>
          <p:nvPr>
            <p:ph sz="half" idx="2"/>
          </p:nvPr>
        </p:nvSpPr>
        <p:spPr>
          <a:xfrm>
            <a:off x="384048" y="1080399"/>
            <a:ext cx="8444266" cy="3951288"/>
          </a:xfrm>
        </p:spPr>
        <p:txBody>
          <a:bodyPr/>
          <a:lstStyle/>
          <a:p>
            <a:r>
              <a:rPr lang="en-US" dirty="0"/>
              <a:t>U.S. war in Iraq</a:t>
            </a:r>
          </a:p>
          <a:p>
            <a:pPr lvl="1"/>
            <a:r>
              <a:rPr lang="en-US" dirty="0"/>
              <a:t>Saddam Hussein</a:t>
            </a:r>
          </a:p>
          <a:p>
            <a:pPr lvl="1"/>
            <a:r>
              <a:rPr lang="en-US" b="1" dirty="0"/>
              <a:t>weapons of mass </a:t>
            </a:r>
            <a:r>
              <a:rPr lang="en-US" b="1" dirty="0" smtClean="0"/>
              <a:t/>
            </a:r>
            <a:br>
              <a:rPr lang="en-US" b="1" dirty="0" smtClean="0"/>
            </a:br>
            <a:r>
              <a:rPr lang="en-US" b="1" dirty="0" smtClean="0"/>
              <a:t>destruction </a:t>
            </a:r>
            <a:r>
              <a:rPr lang="en-US" b="1" dirty="0"/>
              <a:t>(WMD)</a:t>
            </a:r>
          </a:p>
          <a:p>
            <a:pPr lvl="1"/>
            <a:r>
              <a:rPr lang="en-US" b="1" dirty="0"/>
              <a:t>jihadists</a:t>
            </a:r>
          </a:p>
          <a:p>
            <a:r>
              <a:rPr lang="en-US" dirty="0"/>
              <a:t>Nuclear tensions</a:t>
            </a:r>
          </a:p>
          <a:p>
            <a:r>
              <a:rPr lang="en-US" dirty="0"/>
              <a:t>Rise of ISIS</a:t>
            </a:r>
          </a:p>
          <a:p>
            <a:r>
              <a:rPr lang="en-US" dirty="0"/>
              <a:t>Regional alliances</a:t>
            </a:r>
          </a:p>
          <a:p>
            <a:pPr lvl="1"/>
            <a:r>
              <a:rPr lang="en-US" b="1" dirty="0"/>
              <a:t>Arab League</a:t>
            </a:r>
          </a:p>
          <a:p>
            <a:pPr lvl="1"/>
            <a:r>
              <a:rPr lang="en-US" b="1" dirty="0"/>
              <a:t>Gulf Cooperation </a:t>
            </a:r>
            <a:r>
              <a:rPr lang="en-US" b="1" dirty="0" smtClean="0"/>
              <a:t>Council</a:t>
            </a:r>
            <a:endParaRPr lang="en-US" b="1" dirty="0"/>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603249" y="664502"/>
            <a:ext cx="4358189" cy="4080956"/>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5402" y="4857574"/>
            <a:ext cx="2413881" cy="1883664"/>
          </a:xfrm>
          <a:prstGeom prst="rect">
            <a:avLst/>
          </a:prstGeom>
        </p:spPr>
      </p:pic>
    </p:spTree>
    <p:extLst>
      <p:ext uri="{BB962C8B-B14F-4D97-AF65-F5344CB8AC3E}">
        <p14:creationId xmlns:p14="http://schemas.microsoft.com/office/powerpoint/2010/main" val="37906200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Political Protest, Change, and Repression</a:t>
            </a:r>
          </a:p>
        </p:txBody>
      </p:sp>
      <p:sp>
        <p:nvSpPr>
          <p:cNvPr id="3" name="Content Placeholder 2"/>
          <p:cNvSpPr>
            <a:spLocks noGrp="1"/>
          </p:cNvSpPr>
          <p:nvPr>
            <p:ph sz="half" idx="2"/>
          </p:nvPr>
        </p:nvSpPr>
        <p:spPr>
          <a:xfrm>
            <a:off x="384047" y="1080399"/>
            <a:ext cx="8316069" cy="3951288"/>
          </a:xfrm>
        </p:spPr>
        <p:txBody>
          <a:bodyPr/>
          <a:lstStyle/>
          <a:p>
            <a:r>
              <a:rPr lang="en-US" dirty="0"/>
              <a:t>Arab Spring</a:t>
            </a:r>
          </a:p>
          <a:p>
            <a:pPr lvl="1"/>
            <a:r>
              <a:rPr lang="en-US" dirty="0"/>
              <a:t>Syria</a:t>
            </a:r>
          </a:p>
          <a:p>
            <a:pPr lvl="1"/>
            <a:r>
              <a:rPr lang="en-US" dirty="0"/>
              <a:t>role of social media</a:t>
            </a:r>
          </a:p>
          <a:p>
            <a:pPr lvl="1"/>
            <a:r>
              <a:rPr lang="en-US" dirty="0"/>
              <a:t>democratic </a:t>
            </a:r>
            <a:r>
              <a:rPr lang="en-US" dirty="0" smtClean="0"/>
              <a:t>and economic </a:t>
            </a:r>
            <a:r>
              <a:rPr lang="en-US" dirty="0"/>
              <a:t>reform</a:t>
            </a:r>
          </a:p>
          <a:p>
            <a:pPr lvl="1"/>
            <a:r>
              <a:rPr lang="en-US" dirty="0"/>
              <a:t>rise of </a:t>
            </a:r>
            <a:r>
              <a:rPr lang="en-US" dirty="0" smtClean="0"/>
              <a:t>ISIS</a:t>
            </a:r>
            <a:endParaRPr lang="en-US" dirty="0"/>
          </a:p>
        </p:txBody>
      </p:sp>
      <p:pic>
        <p:nvPicPr>
          <p:cNvPr id="1026" name="Picture 2" descr="H:\53845 Marston_WRGC_6E IRDVD\Working Files 53845\Lecture PPT 53845\Component\Ch04_VG_401.jpg"/>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331652" y="3354733"/>
            <a:ext cx="6542842" cy="3193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60099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Culture and Populations</a:t>
            </a:r>
            <a:br>
              <a:rPr lang="en-US" dirty="0"/>
            </a:br>
            <a:endParaRPr lang="en-US" dirty="0"/>
          </a:p>
        </p:txBody>
      </p:sp>
      <p:sp>
        <p:nvSpPr>
          <p:cNvPr id="3" name="Content Placeholder 2"/>
          <p:cNvSpPr>
            <a:spLocks noGrp="1"/>
          </p:cNvSpPr>
          <p:nvPr>
            <p:ph sz="half" idx="2"/>
          </p:nvPr>
        </p:nvSpPr>
        <p:spPr>
          <a:xfrm>
            <a:off x="384048" y="1080399"/>
            <a:ext cx="8444266" cy="3951288"/>
          </a:xfrm>
        </p:spPr>
        <p:txBody>
          <a:bodyPr/>
          <a:lstStyle/>
          <a:p>
            <a:r>
              <a:rPr lang="en-US" dirty="0"/>
              <a:t>Culturally and demographically diverse </a:t>
            </a:r>
            <a:r>
              <a:rPr lang="en-US" dirty="0" smtClean="0"/>
              <a:t>region</a:t>
            </a:r>
          </a:p>
          <a:p>
            <a:pPr lvl="1"/>
            <a:r>
              <a:rPr lang="en-US" b="1" dirty="0" smtClean="0"/>
              <a:t>secularism</a:t>
            </a:r>
            <a:endParaRPr lang="en-US" b="1" dirty="0"/>
          </a:p>
          <a:p>
            <a:endParaRPr lang="en-US" dirty="0"/>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832318" y="2036300"/>
            <a:ext cx="5335924" cy="4709160"/>
          </a:xfrm>
          <a:prstGeom prst="rect">
            <a:avLst/>
          </a:prstGeom>
        </p:spPr>
      </p:pic>
    </p:spTree>
    <p:extLst>
      <p:ext uri="{BB962C8B-B14F-4D97-AF65-F5344CB8AC3E}">
        <p14:creationId xmlns:p14="http://schemas.microsoft.com/office/powerpoint/2010/main" val="19373354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Religion and Language</a:t>
            </a:r>
            <a:br>
              <a:rPr lang="en-US" dirty="0"/>
            </a:br>
            <a:endParaRPr lang="en-US" dirty="0"/>
          </a:p>
        </p:txBody>
      </p:sp>
      <p:sp>
        <p:nvSpPr>
          <p:cNvPr id="3" name="Content Placeholder 2"/>
          <p:cNvSpPr>
            <a:spLocks noGrp="1"/>
          </p:cNvSpPr>
          <p:nvPr>
            <p:ph sz="half" idx="2"/>
          </p:nvPr>
        </p:nvSpPr>
        <p:spPr>
          <a:xfrm>
            <a:off x="384048" y="1080399"/>
            <a:ext cx="8444266" cy="3951288"/>
          </a:xfrm>
        </p:spPr>
        <p:txBody>
          <a:bodyPr/>
          <a:lstStyle/>
          <a:p>
            <a:r>
              <a:rPr lang="en-US" dirty="0"/>
              <a:t>Religion</a:t>
            </a:r>
          </a:p>
          <a:p>
            <a:pPr lvl="1"/>
            <a:r>
              <a:rPr lang="en-US" dirty="0" smtClean="0"/>
              <a:t>Islam</a:t>
            </a:r>
          </a:p>
          <a:p>
            <a:pPr lvl="2"/>
            <a:r>
              <a:rPr lang="en-US" b="1" dirty="0" err="1" smtClean="0"/>
              <a:t>Qur</a:t>
            </a:r>
            <a:r>
              <a:rPr lang="ja-JP" altLang="en-US" b="1" dirty="0"/>
              <a:t>’</a:t>
            </a:r>
            <a:r>
              <a:rPr lang="en-US" altLang="ja-JP" b="1" dirty="0" smtClean="0"/>
              <a:t>an</a:t>
            </a:r>
            <a:endParaRPr lang="en-US" altLang="ja-JP" b="1" dirty="0"/>
          </a:p>
          <a:p>
            <a:pPr lvl="2"/>
            <a:r>
              <a:rPr lang="en-US" b="1" dirty="0" smtClean="0"/>
              <a:t>Islamism</a:t>
            </a:r>
            <a:endParaRPr lang="en-US" b="1" dirty="0"/>
          </a:p>
          <a:p>
            <a:pPr lvl="2"/>
            <a:r>
              <a:rPr lang="en-US" b="1" dirty="0" smtClean="0"/>
              <a:t>Jihad</a:t>
            </a:r>
            <a:endParaRPr lang="en-US" b="1" dirty="0"/>
          </a:p>
          <a:p>
            <a:pPr lvl="1"/>
            <a:r>
              <a:rPr lang="en-US" dirty="0"/>
              <a:t>Christianity</a:t>
            </a:r>
          </a:p>
          <a:p>
            <a:pPr lvl="1"/>
            <a:r>
              <a:rPr lang="en-US" dirty="0"/>
              <a:t>Judaism</a:t>
            </a:r>
          </a:p>
        </p:txBody>
      </p:sp>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408578" y="617806"/>
            <a:ext cx="3574836" cy="3535828"/>
          </a:xfrm>
          <a:prstGeom prst="rect">
            <a:avLst/>
          </a:prstGeom>
        </p:spPr>
      </p:pic>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33859" y="4218508"/>
            <a:ext cx="2474680" cy="2240280"/>
          </a:xfrm>
          <a:prstGeom prst="rect">
            <a:avLst/>
          </a:prstGeom>
        </p:spPr>
      </p:pic>
      <p:pic>
        <p:nvPicPr>
          <p:cNvPr id="9" name="Picture 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19901" y="4218508"/>
            <a:ext cx="3376095" cy="2240280"/>
          </a:xfrm>
          <a:prstGeom prst="rect">
            <a:avLst/>
          </a:prstGeom>
        </p:spPr>
      </p:pic>
    </p:spTree>
    <p:extLst>
      <p:ext uri="{BB962C8B-B14F-4D97-AF65-F5344CB8AC3E}">
        <p14:creationId xmlns:p14="http://schemas.microsoft.com/office/powerpoint/2010/main" val="20330042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Religion and Language (cont.</a:t>
            </a:r>
            <a:r>
              <a:rPr lang="en-US" b="0" dirty="0"/>
              <a:t>)</a:t>
            </a:r>
          </a:p>
        </p:txBody>
      </p:sp>
      <p:sp>
        <p:nvSpPr>
          <p:cNvPr id="3" name="Content Placeholder 2"/>
          <p:cNvSpPr>
            <a:spLocks noGrp="1"/>
          </p:cNvSpPr>
          <p:nvPr>
            <p:ph sz="half" idx="2"/>
          </p:nvPr>
        </p:nvSpPr>
        <p:spPr>
          <a:xfrm>
            <a:off x="384048" y="1080399"/>
            <a:ext cx="8444266" cy="3951288"/>
          </a:xfrm>
        </p:spPr>
        <p:txBody>
          <a:bodyPr/>
          <a:lstStyle/>
          <a:p>
            <a:r>
              <a:rPr lang="en-US" dirty="0"/>
              <a:t>Three major language </a:t>
            </a:r>
            <a:r>
              <a:rPr lang="en-US" dirty="0" smtClean="0"/>
              <a:t>families</a:t>
            </a:r>
          </a:p>
          <a:p>
            <a:pPr lvl="1"/>
            <a:r>
              <a:rPr lang="en-US" dirty="0" smtClean="0"/>
              <a:t>Semitic</a:t>
            </a:r>
            <a:endParaRPr lang="en-US" dirty="0"/>
          </a:p>
          <a:p>
            <a:pPr lvl="1"/>
            <a:r>
              <a:rPr lang="en-US" dirty="0" smtClean="0"/>
              <a:t>Indo-European</a:t>
            </a:r>
            <a:endParaRPr lang="en-US" dirty="0"/>
          </a:p>
          <a:p>
            <a:pPr lvl="1"/>
            <a:r>
              <a:rPr lang="en-US" dirty="0" smtClean="0"/>
              <a:t>Turkic</a:t>
            </a:r>
            <a:endParaRPr lang="en-US" dirty="0"/>
          </a:p>
        </p:txBody>
      </p:sp>
    </p:spTree>
    <p:extLst>
      <p:ext uri="{BB962C8B-B14F-4D97-AF65-F5344CB8AC3E}">
        <p14:creationId xmlns:p14="http://schemas.microsoft.com/office/powerpoint/2010/main" val="29070282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Cultural Practices, Social Differences, and Identity</a:t>
            </a:r>
          </a:p>
        </p:txBody>
      </p:sp>
      <p:sp>
        <p:nvSpPr>
          <p:cNvPr id="4" name="Content Placeholder 3"/>
          <p:cNvSpPr>
            <a:spLocks noGrp="1"/>
          </p:cNvSpPr>
          <p:nvPr>
            <p:ph sz="half" idx="2"/>
          </p:nvPr>
        </p:nvSpPr>
        <p:spPr>
          <a:xfrm>
            <a:off x="384048" y="1345016"/>
            <a:ext cx="8411609" cy="3951288"/>
          </a:xfrm>
        </p:spPr>
        <p:txBody>
          <a:bodyPr/>
          <a:lstStyle/>
          <a:p>
            <a:r>
              <a:rPr lang="en-US" dirty="0"/>
              <a:t>Cultural </a:t>
            </a:r>
            <a:r>
              <a:rPr lang="en-US" dirty="0" smtClean="0"/>
              <a:t>practice</a:t>
            </a:r>
          </a:p>
          <a:p>
            <a:pPr lvl="1"/>
            <a:r>
              <a:rPr lang="en-US" dirty="0" smtClean="0"/>
              <a:t>food</a:t>
            </a:r>
          </a:p>
          <a:p>
            <a:pPr lvl="2"/>
            <a:r>
              <a:rPr lang="en-US" i="1" dirty="0" smtClean="0"/>
              <a:t>meze</a:t>
            </a:r>
            <a:r>
              <a:rPr lang="en-US" dirty="0" smtClean="0"/>
              <a:t> </a:t>
            </a:r>
            <a:r>
              <a:rPr lang="en-US" dirty="0"/>
              <a:t>dishes</a:t>
            </a:r>
            <a:endParaRPr lang="en-US" sz="1800" dirty="0"/>
          </a:p>
          <a:p>
            <a:pPr lvl="1"/>
            <a:r>
              <a:rPr lang="en-US" dirty="0"/>
              <a:t>the arts</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2739" y="3172733"/>
            <a:ext cx="4476053" cy="3408195"/>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98792" y="1122367"/>
            <a:ext cx="4393992" cy="3063240"/>
          </a:xfrm>
          <a:prstGeom prst="rect">
            <a:avLst/>
          </a:prstGeom>
        </p:spPr>
      </p:pic>
    </p:spTree>
    <p:extLst>
      <p:ext uri="{BB962C8B-B14F-4D97-AF65-F5344CB8AC3E}">
        <p14:creationId xmlns:p14="http://schemas.microsoft.com/office/powerpoint/2010/main" val="2540141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743200" y="4035935"/>
            <a:ext cx="6268162" cy="2642616"/>
          </a:xfrm>
          <a:prstGeom prst="rect">
            <a:avLst/>
          </a:prstGeom>
        </p:spPr>
      </p:pic>
      <p:sp>
        <p:nvSpPr>
          <p:cNvPr id="2" name="Title 1"/>
          <p:cNvSpPr>
            <a:spLocks noGrp="1"/>
          </p:cNvSpPr>
          <p:nvPr>
            <p:ph type="title"/>
          </p:nvPr>
        </p:nvSpPr>
        <p:spPr/>
        <p:txBody>
          <a:bodyPr/>
          <a:lstStyle/>
          <a:p>
            <a:r>
              <a:rPr lang="en-US" dirty="0"/>
              <a:t>Cultural Practices, Social Differences, </a:t>
            </a:r>
            <a:r>
              <a:rPr lang="en-US" dirty="0" smtClean="0"/>
              <a:t>and </a:t>
            </a:r>
            <a:r>
              <a:rPr lang="en-US" dirty="0"/>
              <a:t>Identity (cont.)</a:t>
            </a:r>
          </a:p>
        </p:txBody>
      </p:sp>
      <p:sp>
        <p:nvSpPr>
          <p:cNvPr id="4" name="Content Placeholder 3"/>
          <p:cNvSpPr>
            <a:spLocks noGrp="1"/>
          </p:cNvSpPr>
          <p:nvPr>
            <p:ph sz="half" idx="2"/>
          </p:nvPr>
        </p:nvSpPr>
        <p:spPr>
          <a:xfrm>
            <a:off x="384048" y="1345016"/>
            <a:ext cx="8411609" cy="3951288"/>
          </a:xfrm>
        </p:spPr>
        <p:txBody>
          <a:bodyPr/>
          <a:lstStyle/>
          <a:p>
            <a:r>
              <a:rPr lang="en-US" b="1" dirty="0"/>
              <a:t>Kinship</a:t>
            </a:r>
          </a:p>
          <a:p>
            <a:pPr lvl="1"/>
            <a:r>
              <a:rPr lang="en-US" b="1" dirty="0"/>
              <a:t>tribe</a:t>
            </a:r>
          </a:p>
          <a:p>
            <a:pPr lvl="1"/>
            <a:r>
              <a:rPr lang="en-US" b="1" dirty="0"/>
              <a:t>transhumance</a:t>
            </a:r>
          </a:p>
          <a:p>
            <a:r>
              <a:rPr lang="en-US" dirty="0"/>
              <a:t>Gender</a:t>
            </a:r>
          </a:p>
          <a:p>
            <a:pPr lvl="1"/>
            <a:r>
              <a:rPr lang="en-US" dirty="0"/>
              <a:t>stereotypes</a:t>
            </a:r>
          </a:p>
          <a:p>
            <a:pPr lvl="1"/>
            <a:r>
              <a:rPr lang="en-US" b="1" i="1" dirty="0"/>
              <a:t>chador</a:t>
            </a:r>
            <a:r>
              <a:rPr lang="en-US" b="1" dirty="0"/>
              <a:t> </a:t>
            </a:r>
          </a:p>
          <a:p>
            <a:pPr lvl="1"/>
            <a:r>
              <a:rPr lang="en-US" dirty="0"/>
              <a:t>national politics</a:t>
            </a:r>
          </a:p>
          <a:p>
            <a:pPr lvl="1"/>
            <a:r>
              <a:rPr lang="en-US" dirty="0"/>
              <a:t>sexuality</a:t>
            </a:r>
          </a:p>
        </p:txBody>
      </p:sp>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26523" y="644065"/>
            <a:ext cx="4627841" cy="3325435"/>
          </a:xfrm>
          <a:prstGeom prst="rect">
            <a:avLst/>
          </a:prstGeom>
        </p:spPr>
      </p:pic>
    </p:spTree>
    <p:extLst>
      <p:ext uri="{BB962C8B-B14F-4D97-AF65-F5344CB8AC3E}">
        <p14:creationId xmlns:p14="http://schemas.microsoft.com/office/powerpoint/2010/main" val="1973840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Demography and Urbanization</a:t>
            </a:r>
            <a:br>
              <a:rPr lang="en-US" dirty="0"/>
            </a:br>
            <a:endParaRPr lang="en-US" dirty="0"/>
          </a:p>
        </p:txBody>
      </p:sp>
      <p:sp>
        <p:nvSpPr>
          <p:cNvPr id="3" name="Content Placeholder 2"/>
          <p:cNvSpPr>
            <a:spLocks noGrp="1"/>
          </p:cNvSpPr>
          <p:nvPr>
            <p:ph sz="half" idx="2"/>
          </p:nvPr>
        </p:nvSpPr>
        <p:spPr>
          <a:xfrm>
            <a:off x="384048" y="1080399"/>
            <a:ext cx="8444266" cy="3951288"/>
          </a:xfrm>
        </p:spPr>
        <p:txBody>
          <a:bodyPr/>
          <a:lstStyle/>
          <a:p>
            <a:r>
              <a:rPr lang="en-US" dirty="0"/>
              <a:t>Pull factors</a:t>
            </a:r>
          </a:p>
          <a:p>
            <a:pPr lvl="1"/>
            <a:r>
              <a:rPr lang="en-US" b="1" dirty="0"/>
              <a:t>guest workers</a:t>
            </a:r>
          </a:p>
          <a:p>
            <a:pPr lvl="1"/>
            <a:r>
              <a:rPr lang="en-US" dirty="0"/>
              <a:t>immigration policies</a:t>
            </a:r>
          </a:p>
          <a:p>
            <a:r>
              <a:rPr lang="en-US" dirty="0"/>
              <a:t>Push factors</a:t>
            </a:r>
          </a:p>
          <a:p>
            <a:pPr lvl="1"/>
            <a:r>
              <a:rPr lang="en-US" dirty="0"/>
              <a:t>civil unrest</a:t>
            </a:r>
          </a:p>
          <a:p>
            <a:pPr lvl="1"/>
            <a:r>
              <a:rPr lang="en-US" dirty="0"/>
              <a:t>lack of economic opportunities</a:t>
            </a:r>
          </a:p>
          <a:p>
            <a:r>
              <a:rPr lang="en-US" dirty="0"/>
              <a:t>Cities</a:t>
            </a:r>
          </a:p>
          <a:p>
            <a:pPr lvl="1"/>
            <a:r>
              <a:rPr lang="en-US" dirty="0"/>
              <a:t>rapid growth</a:t>
            </a:r>
          </a:p>
          <a:p>
            <a:pPr lvl="1"/>
            <a:r>
              <a:rPr lang="en-US" dirty="0"/>
              <a:t>housing and </a:t>
            </a:r>
            <a:r>
              <a:rPr lang="en-US" dirty="0" smtClean="0"/>
              <a:t/>
            </a:r>
            <a:br>
              <a:rPr lang="en-US" dirty="0" smtClean="0"/>
            </a:br>
            <a:r>
              <a:rPr lang="en-US" dirty="0" smtClean="0"/>
              <a:t>service </a:t>
            </a:r>
            <a:r>
              <a:rPr lang="en-US" dirty="0"/>
              <a:t>needs </a:t>
            </a:r>
            <a:r>
              <a:rPr lang="en-US" dirty="0" smtClean="0"/>
              <a:t/>
            </a:r>
            <a:br>
              <a:rPr lang="en-US" dirty="0" smtClean="0"/>
            </a:br>
            <a:r>
              <a:rPr lang="en-US" dirty="0" smtClean="0"/>
              <a:t>not </a:t>
            </a:r>
            <a:r>
              <a:rPr lang="en-US" dirty="0"/>
              <a:t>met</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507234" y="763991"/>
            <a:ext cx="4531990" cy="2627807"/>
          </a:xfrm>
          <a:prstGeom prst="rect">
            <a:avLst/>
          </a:prstGeom>
        </p:spPr>
      </p:pic>
      <p:pic>
        <p:nvPicPr>
          <p:cNvPr id="5" name="Picture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170059" y="4139653"/>
            <a:ext cx="5869165" cy="2240280"/>
          </a:xfrm>
          <a:prstGeom prst="rect">
            <a:avLst/>
          </a:prstGeom>
        </p:spPr>
      </p:pic>
    </p:spTree>
    <p:extLst>
      <p:ext uri="{BB962C8B-B14F-4D97-AF65-F5344CB8AC3E}">
        <p14:creationId xmlns:p14="http://schemas.microsoft.com/office/powerpoint/2010/main" val="3751168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Faces of the Region</a:t>
            </a:r>
          </a:p>
        </p:txBody>
      </p:sp>
      <p:sp>
        <p:nvSpPr>
          <p:cNvPr id="3" name="Content Placeholder 2"/>
          <p:cNvSpPr>
            <a:spLocks noGrp="1"/>
          </p:cNvSpPr>
          <p:nvPr>
            <p:ph sz="half" idx="2"/>
          </p:nvPr>
        </p:nvSpPr>
        <p:spPr>
          <a:xfrm>
            <a:off x="384048" y="1080399"/>
            <a:ext cx="8444266" cy="3951288"/>
          </a:xfrm>
        </p:spPr>
        <p:txBody>
          <a:bodyPr/>
          <a:lstStyle/>
          <a:p>
            <a:r>
              <a:rPr lang="en-US" dirty="0"/>
              <a:t>Syrian War refugee </a:t>
            </a:r>
            <a:r>
              <a:rPr lang="en-US" dirty="0" smtClean="0"/>
              <a:t>crisis</a:t>
            </a:r>
          </a:p>
          <a:p>
            <a:pPr lvl="1"/>
            <a:r>
              <a:rPr lang="en-US" dirty="0" smtClean="0"/>
              <a:t>1.6 </a:t>
            </a:r>
            <a:r>
              <a:rPr lang="en-US" dirty="0"/>
              <a:t>million children displaced by the </a:t>
            </a:r>
            <a:r>
              <a:rPr lang="en-US" dirty="0" smtClean="0"/>
              <a:t>war</a:t>
            </a:r>
          </a:p>
          <a:p>
            <a:pPr lvl="1"/>
            <a:r>
              <a:rPr lang="en-US" dirty="0" smtClean="0"/>
              <a:t>many </a:t>
            </a:r>
            <a:r>
              <a:rPr lang="en-US" dirty="0"/>
              <a:t>have fled into neighboring Turkey</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10100" y="3051049"/>
            <a:ext cx="4533900" cy="2176272"/>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8074" y="3051049"/>
            <a:ext cx="4492026" cy="3044952"/>
          </a:xfrm>
          <a:prstGeom prst="rect">
            <a:avLst/>
          </a:prstGeom>
        </p:spPr>
      </p:pic>
    </p:spTree>
    <p:extLst>
      <p:ext uri="{BB962C8B-B14F-4D97-AF65-F5344CB8AC3E}">
        <p14:creationId xmlns:p14="http://schemas.microsoft.com/office/powerpoint/2010/main" val="1483424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Geographies</a:t>
            </a:r>
            <a:br>
              <a:rPr lang="en-US" dirty="0"/>
            </a:br>
            <a:endParaRPr lang="en-US" dirty="0"/>
          </a:p>
        </p:txBody>
      </p:sp>
      <p:sp>
        <p:nvSpPr>
          <p:cNvPr id="3" name="Content Placeholder 2"/>
          <p:cNvSpPr>
            <a:spLocks noGrp="1"/>
          </p:cNvSpPr>
          <p:nvPr>
            <p:ph sz="half" idx="2"/>
          </p:nvPr>
        </p:nvSpPr>
        <p:spPr>
          <a:xfrm>
            <a:off x="384048" y="1080399"/>
            <a:ext cx="8444266" cy="3951288"/>
          </a:xfrm>
        </p:spPr>
        <p:txBody>
          <a:bodyPr/>
          <a:lstStyle/>
          <a:p>
            <a:r>
              <a:rPr lang="en-US" dirty="0"/>
              <a:t>Oil</a:t>
            </a:r>
          </a:p>
          <a:p>
            <a:pPr lvl="1"/>
            <a:r>
              <a:rPr lang="en-US" dirty="0"/>
              <a:t>diminishing supplies</a:t>
            </a:r>
          </a:p>
          <a:p>
            <a:r>
              <a:rPr lang="en-US" dirty="0"/>
              <a:t>Water</a:t>
            </a:r>
          </a:p>
          <a:p>
            <a:pPr lvl="1"/>
            <a:r>
              <a:rPr lang="en-US" dirty="0"/>
              <a:t>sustainability</a:t>
            </a:r>
          </a:p>
          <a:p>
            <a:r>
              <a:rPr lang="en-US" dirty="0"/>
              <a:t>Peace and stability</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468907" y="825305"/>
            <a:ext cx="4509685" cy="2450592"/>
          </a:xfrm>
          <a:prstGeom prst="rect">
            <a:avLst/>
          </a:prstGeom>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435" y="3543300"/>
            <a:ext cx="4232472" cy="2971800"/>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782993" y="3543299"/>
            <a:ext cx="4195599" cy="2996857"/>
          </a:xfrm>
          <a:prstGeom prst="rect">
            <a:avLst/>
          </a:prstGeom>
        </p:spPr>
      </p:pic>
    </p:spTree>
    <p:extLst>
      <p:ext uri="{BB962C8B-B14F-4D97-AF65-F5344CB8AC3E}">
        <p14:creationId xmlns:p14="http://schemas.microsoft.com/office/powerpoint/2010/main" val="2725364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482&quot;&gt;&lt;object type=&quot;3&quot; unique_id=&quot;10483&quot;&gt;&lt;property id=&quot;20148&quot; value=&quot;5&quot;/&gt;&lt;property id=&quot;20300&quot; value=&quot;Slide 1&quot;/&gt;&lt;property id=&quot;20307&quot; value=&quot;256&quot;/&gt;&lt;/object&gt;&lt;object type=&quot;3&quot; unique_id=&quot;10484&quot;&gt;&lt;property id=&quot;20148&quot; value=&quot;5&quot;/&gt;&lt;property id=&quot;20300&quot; value=&quot;Slide 2&quot;/&gt;&lt;property id=&quot;20307&quot; value=&quot;258&quot;/&gt;&lt;/object&gt;&lt;object type=&quot;3&quot; unique_id=&quot;10485&quot;&gt;&lt;property id=&quot;20148&quot; value=&quot;5&quot;/&gt;&lt;property id=&quot;20300&quot; value=&quot;Slide 3&quot;/&gt;&lt;property id=&quot;20307&quot; value=&quot;263&quot;/&gt;&lt;/object&gt;&lt;object type=&quot;3&quot; unique_id=&quot;10486&quot;&gt;&lt;property id=&quot;20148&quot; value=&quot;5&quot;/&gt;&lt;property id=&quot;20300&quot; value=&quot;Slide 4&quot;/&gt;&lt;property id=&quot;20307&quot; value=&quot;264&quot;/&gt;&lt;/object&gt;&lt;object type=&quot;3&quot; unique_id=&quot;10487&quot;&gt;&lt;property id=&quot;20148&quot; value=&quot;5&quot;/&gt;&lt;property id=&quot;20300&quot; value=&quot;Slide 5&quot;/&gt;&lt;property id=&quot;20307&quot; value=&quot;265&quot;/&gt;&lt;/object&gt;&lt;object type=&quot;3&quot; unique_id=&quot;10488&quot;&gt;&lt;property id=&quot;20148&quot; value=&quot;5&quot;/&gt;&lt;property id=&quot;20300&quot; value=&quot;Slide 6&quot;/&gt;&lt;property id=&quot;20307&quot; value=&quot;295&quot;/&gt;&lt;/object&gt;&lt;object type=&quot;3&quot; unique_id=&quot;10489&quot;&gt;&lt;property id=&quot;20148&quot; value=&quot;5&quot;/&gt;&lt;property id=&quot;20300&quot; value=&quot;Slide 7&quot;/&gt;&lt;property id=&quot;20307&quot; value=&quot;296&quot;/&gt;&lt;/object&gt;&lt;object type=&quot;3&quot; unique_id=&quot;10490&quot;&gt;&lt;property id=&quot;20148&quot; value=&quot;5&quot;/&gt;&lt;property id=&quot;20300&quot; value=&quot;Slide 8&quot;/&gt;&lt;property id=&quot;20307&quot; value=&quot;297&quot;/&gt;&lt;/object&gt;&lt;object type=&quot;3&quot; unique_id=&quot;10491&quot;&gt;&lt;property id=&quot;20148&quot; value=&quot;5&quot;/&gt;&lt;property id=&quot;20300&quot; value=&quot;Slide 9&quot;/&gt;&lt;property id=&quot;20307&quot; value=&quot;298&quot;/&gt;&lt;/object&gt;&lt;object type=&quot;3&quot; unique_id=&quot;10492&quot;&gt;&lt;property id=&quot;20148&quot; value=&quot;5&quot;/&gt;&lt;property id=&quot;20300&quot; value=&quot;Slide 10&quot;/&gt;&lt;property id=&quot;20307&quot; value=&quot;271&quot;/&gt;&lt;/object&gt;&lt;object type=&quot;3&quot; unique_id=&quot;10493&quot;&gt;&lt;property id=&quot;20148&quot; value=&quot;5&quot;/&gt;&lt;property id=&quot;20300&quot; value=&quot;Slide 11&quot;/&gt;&lt;property id=&quot;20307&quot; value=&quot;272&quot;/&gt;&lt;/object&gt;&lt;object type=&quot;3&quot; unique_id=&quot;10494&quot;&gt;&lt;property id=&quot;20148&quot; value=&quot;5&quot;/&gt;&lt;property id=&quot;20300&quot; value=&quot;Slide 12&quot;/&gt;&lt;property id=&quot;20307&quot; value=&quot;273&quot;/&gt;&lt;/object&gt;&lt;object type=&quot;3&quot; unique_id=&quot;10495&quot;&gt;&lt;property id=&quot;20148&quot; value=&quot;5&quot;/&gt;&lt;property id=&quot;20300&quot; value=&quot;Slide 13&quot;/&gt;&lt;property id=&quot;20307&quot; value=&quot;299&quot;/&gt;&lt;/object&gt;&lt;object type=&quot;3&quot; unique_id=&quot;10496&quot;&gt;&lt;property id=&quot;20148&quot; value=&quot;5&quot;/&gt;&lt;property id=&quot;20300&quot; value=&quot;Slide 14&quot;/&gt;&lt;property id=&quot;20307&quot; value=&quot;301&quot;/&gt;&lt;/object&gt;&lt;object type=&quot;3&quot; unique_id=&quot;10497&quot;&gt;&lt;property id=&quot;20148&quot; value=&quot;5&quot;/&gt;&lt;property id=&quot;20300&quot; value=&quot;Slide 15&quot;/&gt;&lt;property id=&quot;20307&quot; value=&quot;300&quot;/&gt;&lt;/object&gt;&lt;object type=&quot;3&quot; unique_id=&quot;10498&quot;&gt;&lt;property id=&quot;20148&quot; value=&quot;5&quot;/&gt;&lt;property id=&quot;20300&quot; value=&quot;Slide 16&quot;/&gt;&lt;property id=&quot;20307&quot; value=&quot;276&quot;/&gt;&lt;/object&gt;&lt;object type=&quot;3&quot; unique_id=&quot;10499&quot;&gt;&lt;property id=&quot;20148&quot; value=&quot;5&quot;/&gt;&lt;property id=&quot;20300&quot; value=&quot;Slide 17&quot;/&gt;&lt;property id=&quot;20307&quot; value=&quot;277&quot;/&gt;&lt;/object&gt;&lt;object type=&quot;3&quot; unique_id=&quot;10500&quot;&gt;&lt;property id=&quot;20148&quot; value=&quot;5&quot;/&gt;&lt;property id=&quot;20300&quot; value=&quot;Slide 18&quot;/&gt;&lt;property id=&quot;20307&quot; value=&quot;278&quot;/&gt;&lt;/object&gt;&lt;object type=&quot;3&quot; unique_id=&quot;10501&quot;&gt;&lt;property id=&quot;20148&quot; value=&quot;5&quot;/&gt;&lt;property id=&quot;20300&quot; value=&quot;Slide 19&quot;/&gt;&lt;property id=&quot;20307&quot; value=&quot;302&quot;/&gt;&lt;/object&gt;&lt;object type=&quot;3&quot; unique_id=&quot;10502&quot;&gt;&lt;property id=&quot;20148&quot; value=&quot;5&quot;/&gt;&lt;property id=&quot;20300&quot; value=&quot;Slide 20&quot;/&gt;&lt;property id=&quot;20307&quot; value=&quot;281&quot;/&gt;&lt;/object&gt;&lt;object type=&quot;3&quot; unique_id=&quot;10503&quot;&gt;&lt;property id=&quot;20148&quot; value=&quot;5&quot;/&gt;&lt;property id=&quot;20300&quot; value=&quot;Slide 21&quot;/&gt;&lt;property id=&quot;20307&quot; value=&quot;282&quot;/&gt;&lt;/object&gt;&lt;object type=&quot;3&quot; unique_id=&quot;10504&quot;&gt;&lt;property id=&quot;20148&quot; value=&quot;5&quot;/&gt;&lt;property id=&quot;20300&quot; value=&quot;Slide 22&quot;/&gt;&lt;property id=&quot;20307&quot; value=&quot;275&quot;/&gt;&lt;/object&gt;&lt;object type=&quot;3&quot; unique_id=&quot;10505&quot;&gt;&lt;property id=&quot;20148&quot; value=&quot;5&quot;/&gt;&lt;property id=&quot;20300&quot; value=&quot;Slide 23&quot;/&gt;&lt;property id=&quot;20307&quot; value=&quot;269&quot;/&gt;&lt;/object&gt;&lt;object type=&quot;3&quot; unique_id=&quot;10506&quot;&gt;&lt;property id=&quot;20148&quot; value=&quot;5&quot;/&gt;&lt;property id=&quot;20300&quot; value=&quot;Slide 24&quot;/&gt;&lt;property id=&quot;20307&quot; value=&quot;303&quot;/&gt;&lt;/object&gt;&lt;object type=&quot;3&quot; unique_id=&quot;10507&quot;&gt;&lt;property id=&quot;20148&quot; value=&quot;5&quot;/&gt;&lt;property id=&quot;20300&quot; value=&quot;Slide 25&quot;/&gt;&lt;property id=&quot;20307&quot; value=&quot;283&quot;/&gt;&lt;/object&gt;&lt;object type=&quot;3&quot; unique_id=&quot;10508&quot;&gt;&lt;property id=&quot;20148&quot; value=&quot;5&quot;/&gt;&lt;property id=&quot;20300&quot; value=&quot;Slide 26&quot;/&gt;&lt;property id=&quot;20307&quot; value=&quot;304&quot;/&gt;&lt;/object&gt;&lt;object type=&quot;3&quot; unique_id=&quot;10509&quot;&gt;&lt;property id=&quot;20148&quot; value=&quot;5&quot;/&gt;&lt;property id=&quot;20300&quot; value=&quot;Slide 27&quot;/&gt;&lt;property id=&quot;20307&quot; value=&quot;284&quot;/&gt;&lt;/object&gt;&lt;object type=&quot;3&quot; unique_id=&quot;10510&quot;&gt;&lt;property id=&quot;20148&quot; value=&quot;5&quot;/&gt;&lt;property id=&quot;20300&quot; value=&quot;Slide 28&quot;/&gt;&lt;property id=&quot;20307&quot; value=&quot;285&quot;/&gt;&lt;/object&gt;&lt;object type=&quot;3&quot; unique_id=&quot;10511&quot;&gt;&lt;property id=&quot;20148&quot; value=&quot;5&quot;/&gt;&lt;property id=&quot;20300&quot; value=&quot;Slide 29&quot;/&gt;&lt;property id=&quot;20307&quot; value=&quot;305&quot;/&gt;&lt;/object&gt;&lt;object type=&quot;3&quot; unique_id=&quot;10512&quot;&gt;&lt;property id=&quot;20148&quot; value=&quot;5&quot;/&gt;&lt;property id=&quot;20300&quot; value=&quot;Slide 30&quot;/&gt;&lt;property id=&quot;20307&quot; value=&quot;306&quot;/&gt;&lt;/object&gt;&lt;object type=&quot;3&quot; unique_id=&quot;10513&quot;&gt;&lt;property id=&quot;20148&quot; value=&quot;5&quot;/&gt;&lt;property id=&quot;20300&quot; value=&quot;Slide 31&quot;/&gt;&lt;property id=&quot;20307&quot; value=&quot;291&quot;/&gt;&lt;/object&gt;&lt;object type=&quot;3&quot; unique_id=&quot;10514&quot;&gt;&lt;property id=&quot;20148&quot; value=&quot;5&quot;/&gt;&lt;property id=&quot;20300&quot; value=&quot;Slide 32&quot;/&gt;&lt;property id=&quot;20307&quot; value=&quot;288&quot;/&gt;&lt;/object&gt;&lt;object type=&quot;3&quot; unique_id=&quot;10515&quot;&gt;&lt;property id=&quot;20148&quot; value=&quot;5&quot;/&gt;&lt;property id=&quot;20300&quot; value=&quot;Slide 33&quot;/&gt;&lt;property id=&quot;20307&quot; value=&quot;309&quot;/&gt;&lt;/object&gt;&lt;object type=&quot;3&quot; unique_id=&quot;10516&quot;&gt;&lt;property id=&quot;20148&quot; value=&quot;5&quot;/&gt;&lt;property id=&quot;20300&quot; value=&quot;Slide 34&quot;/&gt;&lt;property id=&quot;20307&quot; value=&quot;289&quot;/&gt;&lt;/object&gt;&lt;object type=&quot;3&quot; unique_id=&quot;10517&quot;&gt;&lt;property id=&quot;20148&quot; value=&quot;5&quot;/&gt;&lt;property id=&quot;20300&quot; value=&quot;Slide 35&quot;/&gt;&lt;property id=&quot;20307&quot; value=&quot;307&quot;/&gt;&lt;/object&gt;&lt;object type=&quot;3&quot; unique_id=&quot;10518&quot;&gt;&lt;property id=&quot;20148&quot; value=&quot;5&quot;/&gt;&lt;property id=&quot;20300&quot; value=&quot;Slide 36&quot;/&gt;&lt;property id=&quot;20307&quot; value=&quot;310&quot;/&gt;&lt;/object&gt;&lt;object type=&quot;3&quot; unique_id=&quot;10519&quot;&gt;&lt;property id=&quot;20148&quot; value=&quot;5&quot;/&gt;&lt;property id=&quot;20300&quot; value=&quot;Slide 37&quot;/&gt;&lt;property id=&quot;20307&quot; value=&quot;294&quot;/&gt;&lt;/object&gt;&lt;object type=&quot;3&quot; unique_id=&quot;10520&quot;&gt;&lt;property id=&quot;20148&quot; value=&quot;5&quot;/&gt;&lt;property id=&quot;20300&quot; value=&quot;Slide 38&quot;/&gt;&lt;property id=&quot;20307&quot; value=&quot;311&quot;/&gt;&lt;/object&gt;&lt;/object&gt;&lt;object type=&quot;8&quot; unique_id=&quot;10560&quot;&gt;&lt;/object&gt;&lt;/object&gt;&lt;/database&gt;"/>
  <p:tag name="MMPROD_NEXTUNIQUEID" val="10018"/>
  <p:tag name="SECTOMILLISECCONVERTED" val="1"/>
</p:tagLst>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7754</TotalTime>
  <Words>659</Words>
  <Application>Microsoft Office PowerPoint</Application>
  <PresentationFormat>On-screen Show (4:3)</PresentationFormat>
  <Paragraphs>188</Paragraphs>
  <Slides>29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ＭＳ Ｐゴシック</vt:lpstr>
      <vt:lpstr>ＭＳ Ｐゴシック</vt:lpstr>
      <vt:lpstr>Arial</vt:lpstr>
      <vt:lpstr>Calibri</vt:lpstr>
      <vt:lpstr>Geneva</vt:lpstr>
      <vt:lpstr>Verdana</vt:lpstr>
      <vt:lpstr>ヒラギノ角ゴ Pro W3</vt:lpstr>
      <vt:lpstr>1_Default Design</vt:lpstr>
      <vt:lpstr>PowerPoint Presentation</vt:lpstr>
      <vt:lpstr>Learning Outcomes</vt:lpstr>
      <vt:lpstr>Learning Outcomes </vt:lpstr>
      <vt:lpstr>Environment, Society, and Sustainability</vt:lpstr>
      <vt:lpstr>Climate and Climate Change</vt:lpstr>
      <vt:lpstr>Climate and Climate Change (cont.)</vt:lpstr>
      <vt:lpstr>Geological Resources, Risk, and Water</vt:lpstr>
      <vt:lpstr>Geological Resources, Risk, and Water (cont.)</vt:lpstr>
      <vt:lpstr>Geological Resources, Risk, and Water (cont.) </vt:lpstr>
      <vt:lpstr>Geological Resources, Risk, and Water (cont.)</vt:lpstr>
      <vt:lpstr>Geographies of Indulgence, Desire, and Addiction </vt:lpstr>
      <vt:lpstr>Ecology, Land, and Environmental Management</vt:lpstr>
      <vt:lpstr>History, Economy, and Territory</vt:lpstr>
      <vt:lpstr>Historical Legacies and Landscapes</vt:lpstr>
      <vt:lpstr>Historical Legacies and Landscapes (cont.) </vt:lpstr>
      <vt:lpstr>Economy, Accumulation, and the Production of Inequality </vt:lpstr>
      <vt:lpstr>Economy, Accumulation, and the Production of Inequality (cont.) </vt:lpstr>
      <vt:lpstr>Territory and Politics</vt:lpstr>
      <vt:lpstr>Territory and Politics (cont.)</vt:lpstr>
      <vt:lpstr>Political Protest, Change, and Repression</vt:lpstr>
      <vt:lpstr>Culture and Populations </vt:lpstr>
      <vt:lpstr>Religion and Language </vt:lpstr>
      <vt:lpstr>Religion and Language (cont.)</vt:lpstr>
      <vt:lpstr>Cultural Practices, Social Differences, and Identity</vt:lpstr>
      <vt:lpstr>Cultural Practices, Social Differences, and Identity (cont.)</vt:lpstr>
      <vt:lpstr>Demography and Urbanization </vt:lpstr>
      <vt:lpstr>Faces of the Region</vt:lpstr>
      <vt:lpstr>Future Geographies </vt:lpstr>
      <vt:lpstr>PowerPoint Presentation</vt:lpstr>
    </vt:vector>
  </TitlesOfParts>
  <Company>NDSU Geoscience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Regions in Global Context: Peoples, Places, and Environments (2nd. ed)  Sallie A. Marston, Paul L. Knox,  &amp; Diana M. Liverman</dc:title>
  <dc:creator>Robert M Arthur</dc:creator>
  <cp:lastModifiedBy>Mandy Norton</cp:lastModifiedBy>
  <cp:revision>780</cp:revision>
  <dcterms:created xsi:type="dcterms:W3CDTF">2013-01-08T10:18:50Z</dcterms:created>
  <dcterms:modified xsi:type="dcterms:W3CDTF">2017-07-17T12:24:58Z</dcterms:modified>
</cp:coreProperties>
</file>