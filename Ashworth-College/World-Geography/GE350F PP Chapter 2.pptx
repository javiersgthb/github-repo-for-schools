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</p:sldMasterIdLst>
  <p:notesMasterIdLst>
    <p:notesMasterId r:id="rId32"/>
  </p:notesMasterIdLst>
  <p:sldIdLst>
    <p:sldId id="256" r:id="rId2"/>
    <p:sldId id="312" r:id="rId3"/>
    <p:sldId id="313" r:id="rId4"/>
    <p:sldId id="314" r:id="rId5"/>
    <p:sldId id="339" r:id="rId6"/>
    <p:sldId id="338" r:id="rId7"/>
    <p:sldId id="337" r:id="rId8"/>
    <p:sldId id="336" r:id="rId9"/>
    <p:sldId id="335" r:id="rId10"/>
    <p:sldId id="334" r:id="rId11"/>
    <p:sldId id="333" r:id="rId12"/>
    <p:sldId id="332" r:id="rId13"/>
    <p:sldId id="331" r:id="rId14"/>
    <p:sldId id="330" r:id="rId15"/>
    <p:sldId id="329" r:id="rId16"/>
    <p:sldId id="328" r:id="rId17"/>
    <p:sldId id="327" r:id="rId18"/>
    <p:sldId id="326" r:id="rId19"/>
    <p:sldId id="325" r:id="rId20"/>
    <p:sldId id="324" r:id="rId21"/>
    <p:sldId id="323" r:id="rId22"/>
    <p:sldId id="322" r:id="rId23"/>
    <p:sldId id="321" r:id="rId24"/>
    <p:sldId id="320" r:id="rId25"/>
    <p:sldId id="319" r:id="rId26"/>
    <p:sldId id="318" r:id="rId27"/>
    <p:sldId id="317" r:id="rId28"/>
    <p:sldId id="316" r:id="rId29"/>
    <p:sldId id="315" r:id="rId30"/>
    <p:sldId id="311" r:id="rId31"/>
  </p:sldIdLst>
  <p:sldSz cx="9144000" cy="6858000" type="screen4x3"/>
  <p:notesSz cx="7315200" cy="9601200"/>
  <p:custDataLst>
    <p:tags r:id="rId33"/>
  </p:custDataLst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ヒラギノ角ゴ Pro W3" charset="0"/>
        <a:cs typeface="ヒラギノ角ゴ Pro W3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34">
          <p15:clr>
            <a:srgbClr val="A4A3A4"/>
          </p15:clr>
        </p15:guide>
        <p15:guide id="2" pos="3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6EBA"/>
    <a:srgbClr val="5B96FA"/>
    <a:srgbClr val="72B0FC"/>
    <a:srgbClr val="207AFC"/>
    <a:srgbClr val="76B5FC"/>
    <a:srgbClr val="750400"/>
    <a:srgbClr val="A5002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4660"/>
  </p:normalViewPr>
  <p:slideViewPr>
    <p:cSldViewPr snapToGrid="0">
      <p:cViewPr varScale="1">
        <p:scale>
          <a:sx n="54" d="100"/>
          <a:sy n="54" d="100"/>
        </p:scale>
        <p:origin x="1315" y="58"/>
      </p:cViewPr>
      <p:guideLst>
        <p:guide orient="horz" pos="934"/>
        <p:guide pos="3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fld id="{FEF5AE24-08F2-5D40-832C-1BDBAD460A83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Verdan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fld id="{74251E3E-1F01-5E47-B35B-00445B403F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77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0"/>
        <a:cs typeface="Geneva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Geneva" pitchFamily="-110" charset="-128"/>
        <a:cs typeface="Geneva" pitchFamily="8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cs typeface="Geneva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BC7BCDD0-1D0D-A342-92CD-58A2B5C93BCA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755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MS PGothic" charset="0"/>
              <a:cs typeface="MS PGothic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  <a:cs typeface="ヒラギノ角ゴ Pro W3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5pPr>
            <a:lvl6pPr marL="25146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6pPr>
            <a:lvl7pPr marL="29718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7pPr>
            <a:lvl8pPr marL="34290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8pPr>
            <a:lvl9pPr marL="3886200" indent="-228600" algn="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ヒラギノ角ゴ Pro W3" charset="0"/>
              </a:defRPr>
            </a:lvl9pPr>
          </a:lstStyle>
          <a:p>
            <a:fld id="{E54641DE-D560-2044-8A3B-1CFBF98D161A}" type="slidenum">
              <a:rPr lang="en-US">
                <a:solidFill>
                  <a:srgbClr val="000000"/>
                </a:solidFill>
                <a:ea typeface="MS PGothic" charset="0"/>
                <a:cs typeface="MS PGothic" charset="0"/>
              </a:rPr>
              <a:pPr/>
              <a:t>30</a:t>
            </a:fld>
            <a:endParaRPr lang="en-US">
              <a:solidFill>
                <a:srgbClr val="000000"/>
              </a:solidFill>
              <a:ea typeface="MS PGothic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369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8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ea typeface="ヒラギノ角ゴ Pro W3" pitchFamily="127" charset="-128"/>
              </a:defRPr>
            </a:lvl9pPr>
          </a:lstStyle>
          <a:p>
            <a:pPr>
              <a:defRPr/>
            </a:pPr>
            <a:endParaRPr lang="en-US" altLang="en-US" sz="1800" smtClean="0">
              <a:latin typeface="Arial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 userDrawn="1"/>
        </p:nvSpPr>
        <p:spPr bwMode="auto">
          <a:xfrm>
            <a:off x="365125" y="-1588"/>
            <a:ext cx="8001000" cy="52228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  <a:defRPr/>
            </a:pPr>
            <a:r>
              <a:rPr lang="en-US" sz="2800" dirty="0" smtClean="0">
                <a:solidFill>
                  <a:schemeClr val="bg1"/>
                </a:solidFill>
                <a:ea typeface="ＭＳ Ｐゴシック" pitchFamily="-106" charset="-128"/>
                <a:cs typeface="ＭＳ Ｐゴシック" pitchFamily="-106" charset="-128"/>
              </a:rPr>
              <a:t>Chapter 2 Lecture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11A8799-5621-0A40-AA76-E7EF0F6B7E83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938624-EA00-5E44-8AC8-F056641D63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83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4048" y="155448"/>
            <a:ext cx="8302752" cy="639209"/>
          </a:xfrm>
        </p:spPr>
        <p:txBody>
          <a:bodyPr anchor="t" anchorCtr="0"/>
          <a:lstStyle>
            <a:lvl1pPr algn="l">
              <a:defRPr sz="2800" b="1">
                <a:solidFill>
                  <a:srgbClr val="5E6EBA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115568"/>
            <a:ext cx="8444266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2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84048" y="155448"/>
            <a:ext cx="8302752" cy="639209"/>
          </a:xfrm>
        </p:spPr>
        <p:txBody>
          <a:bodyPr anchor="t" anchorCtr="0"/>
          <a:lstStyle>
            <a:lvl1pPr algn="l">
              <a:defRPr sz="2800" b="1" baseline="0">
                <a:solidFill>
                  <a:srgbClr val="5E6EBA"/>
                </a:solidFill>
              </a:defRPr>
            </a:lvl1pPr>
          </a:lstStyle>
          <a:p>
            <a:r>
              <a:rPr lang="en-US" dirty="0" smtClean="0"/>
              <a:t>Click to edit Master title style   THIS IS FOR 2 LINE HEADER</a:t>
            </a:r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485692"/>
            <a:ext cx="8411609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9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 userDrawn="1"/>
        </p:nvSpPr>
        <p:spPr>
          <a:xfrm>
            <a:off x="533400" y="2819400"/>
            <a:ext cx="8229600" cy="1139825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sz="4400" b="1" dirty="0">
                <a:solidFill>
                  <a:srgbClr val="5D6CB9"/>
                </a:solidFill>
                <a:latin typeface="Arial"/>
                <a:ea typeface="ヒラギノ角ゴ Pro W3" pitchFamily="127" charset="-128"/>
                <a:cs typeface="+mn-cs"/>
              </a:rPr>
              <a:t>End of Chapter </a:t>
            </a:r>
            <a:r>
              <a:rPr lang="en-US" sz="4400" b="1" dirty="0" smtClean="0">
                <a:solidFill>
                  <a:srgbClr val="5D6CB9"/>
                </a:solidFill>
                <a:latin typeface="Arial"/>
                <a:ea typeface="ヒラギノ角ゴ Pro W3" pitchFamily="127" charset="-128"/>
                <a:cs typeface="+mn-cs"/>
              </a:rPr>
              <a:t>2 </a:t>
            </a:r>
            <a:endParaRPr lang="en-US" sz="4400" b="1" kern="0" dirty="0">
              <a:solidFill>
                <a:srgbClr val="5E6EBA"/>
              </a:solidFill>
              <a:latin typeface="Arial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93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FEE5C6-A024-C146-966A-834BE8B6C09A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1B1F95-3568-C049-9BBA-5B02EE7DD3D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5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14E6FF-1B03-C34C-8453-CAB0F6333406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3E8AC0-D878-C542-BD5C-FCEC03087F5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1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944013-5992-CC49-964E-99434A298FFC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AA1FC6-A4F1-5D40-86BC-4B14BB5F28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3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85482-A9D5-3B49-89B8-BE5DB124B9F6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572508-FF72-7D4C-905F-B7A680DC8DA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1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09749-35D2-CE44-9C83-D3D96DD49551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B1EC08-1CB8-AE43-AA3B-9D4A2E72DC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3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62FF37-9068-504F-AE83-5B7ED5387C1D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4A60C2-CA5F-CB4C-B3B6-C671C01D462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6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CC00D5-1C29-5D47-8025-CF2C6E6A864D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279A1D-DB01-0246-AB87-61A85F2794D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fld id="{2A422EDC-4A7D-E54A-952E-A4F68B1BD5BE}" type="datetime1">
              <a:rPr lang="en-US"/>
              <a:pPr/>
              <a:t>7/17/2017</a:t>
            </a:fld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fld id="{13EB9291-ADD1-AB4A-B370-2319EF87B41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auto">
          <a:xfrm>
            <a:off x="0" y="6553200"/>
            <a:ext cx="19478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Arial" charset="0"/>
              </a:rPr>
              <a:t>© 2017 Pearson Education, Inc.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1" r:id="rId1"/>
    <p:sldLayoutId id="2147484671" r:id="rId2"/>
    <p:sldLayoutId id="2147484672" r:id="rId3"/>
    <p:sldLayoutId id="2147484673" r:id="rId4"/>
    <p:sldLayoutId id="2147484674" r:id="rId5"/>
    <p:sldLayoutId id="2147484675" r:id="rId6"/>
    <p:sldLayoutId id="2147484676" r:id="rId7"/>
    <p:sldLayoutId id="2147484677" r:id="rId8"/>
    <p:sldLayoutId id="2147484678" r:id="rId9"/>
    <p:sldLayoutId id="2147484679" r:id="rId10"/>
    <p:sldLayoutId id="214748468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ヒラギノ角ゴ Pro W3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ヒラギノ角ゴ Pro W3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 txBox="1">
            <a:spLocks noChangeArrowheads="1"/>
          </p:cNvSpPr>
          <p:nvPr/>
        </p:nvSpPr>
        <p:spPr bwMode="auto">
          <a:xfrm>
            <a:off x="2362200" y="609600"/>
            <a:ext cx="6629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ts val="1000"/>
              </a:spcBef>
            </a:pPr>
            <a:r>
              <a:rPr lang="en-US" sz="2800" b="1" dirty="0">
                <a:solidFill>
                  <a:schemeClr val="tx2"/>
                </a:solidFill>
              </a:rPr>
              <a:t>World Regions in Global Context:</a:t>
            </a:r>
            <a:br>
              <a:rPr lang="en-US" sz="2800" b="1" dirty="0">
                <a:solidFill>
                  <a:schemeClr val="tx2"/>
                </a:solidFill>
              </a:rPr>
            </a:br>
            <a:r>
              <a:rPr lang="en-US" sz="2800" b="1" dirty="0">
                <a:solidFill>
                  <a:schemeClr val="tx2"/>
                </a:solidFill>
              </a:rPr>
              <a:t>Peoples, Places, and Environments</a:t>
            </a:r>
            <a:endParaRPr 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50000"/>
              </a:lnSpc>
              <a:spcBef>
                <a:spcPts val="1000"/>
              </a:spcBef>
            </a:pPr>
            <a:r>
              <a:rPr lang="en-US" sz="1800" dirty="0">
                <a:solidFill>
                  <a:schemeClr val="tx2"/>
                </a:solidFill>
              </a:rPr>
              <a:t>6</a:t>
            </a:r>
            <a:r>
              <a:rPr lang="en-US" sz="1800" baseline="30000" dirty="0">
                <a:solidFill>
                  <a:schemeClr val="tx2"/>
                </a:solidFill>
              </a:rPr>
              <a:t>th</a:t>
            </a:r>
            <a:r>
              <a:rPr lang="en-US" sz="1800" dirty="0">
                <a:solidFill>
                  <a:schemeClr val="tx2"/>
                </a:solidFill>
              </a:rPr>
              <a:t> Edition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3075" name="Rectangle 3"/>
          <p:cNvSpPr txBox="1">
            <a:spLocks noChangeArrowheads="1"/>
          </p:cNvSpPr>
          <p:nvPr/>
        </p:nvSpPr>
        <p:spPr bwMode="auto">
          <a:xfrm>
            <a:off x="152400" y="2819400"/>
            <a:ext cx="4953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Arial" charset="0"/>
                <a:ea typeface="ヒラギノ角ゴ Pro W3" charset="0"/>
                <a:cs typeface="Arial" charset="0"/>
              </a:defRPr>
            </a:lvl1pPr>
            <a:lvl2pPr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800" b="1" dirty="0"/>
              <a:t>Europe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 smtClean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endParaRPr lang="en-US" sz="1800" dirty="0"/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b="1" dirty="0"/>
              <a:t>Lectures by:</a:t>
            </a:r>
          </a:p>
          <a:p>
            <a:pPr marL="342900" indent="-342900" algn="l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1800" dirty="0" smtClean="0">
                <a:latin typeface="Verdana" charset="0"/>
              </a:rPr>
              <a:t>Christa Ann Smith </a:t>
            </a:r>
            <a:endParaRPr lang="en-US" sz="1800" dirty="0"/>
          </a:p>
        </p:txBody>
      </p:sp>
      <p:pic>
        <p:nvPicPr>
          <p:cNvPr id="5" name="Picture 4" descr="MARSTON_Cover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41796" y="2013867"/>
            <a:ext cx="3965575" cy="448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155448"/>
            <a:ext cx="8302752" cy="67792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103845"/>
            <a:ext cx="8444266" cy="3951288"/>
          </a:xfrm>
        </p:spPr>
        <p:txBody>
          <a:bodyPr/>
          <a:lstStyle/>
          <a:p>
            <a:r>
              <a:rPr lang="en-US" sz="2600" dirty="0" smtClean="0"/>
              <a:t>Analyze </a:t>
            </a:r>
            <a:r>
              <a:rPr lang="en-US" sz="2600" dirty="0"/>
              <a:t>how Europe’s landscapes developed around regions of distinctive geology, relief, landforms, soils, and vegetation.</a:t>
            </a:r>
          </a:p>
          <a:p>
            <a:endParaRPr lang="en-US" sz="2600" b="1" dirty="0"/>
          </a:p>
          <a:p>
            <a:r>
              <a:rPr lang="en-US" sz="2600" dirty="0"/>
              <a:t>Explain the rise of Europe as a major world region and understand how Europeans established the basis of a worldwide economy.</a:t>
            </a:r>
          </a:p>
          <a:p>
            <a:endParaRPr lang="en-US" sz="2600" b="1" dirty="0"/>
          </a:p>
          <a:p>
            <a:r>
              <a:rPr lang="en-US" sz="2600" dirty="0"/>
              <a:t>Describe the reintegration of Eastern Europe.</a:t>
            </a:r>
          </a:p>
          <a:p>
            <a:endParaRPr lang="en-US" sz="2600" b="1" dirty="0"/>
          </a:p>
          <a:p>
            <a:r>
              <a:rPr lang="en-US" sz="2600" dirty="0"/>
              <a:t>Summarize the importance of the European Union and its policies.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41758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103845"/>
            <a:ext cx="8444266" cy="3951288"/>
          </a:xfrm>
        </p:spPr>
        <p:txBody>
          <a:bodyPr/>
          <a:lstStyle/>
          <a:p>
            <a:r>
              <a:rPr lang="en-US" sz="2600" dirty="0"/>
              <a:t>Identify the principal core regions within Europe.</a:t>
            </a:r>
          </a:p>
          <a:p>
            <a:endParaRPr lang="en-US" sz="2600" dirty="0"/>
          </a:p>
          <a:p>
            <a:r>
              <a:rPr lang="en-US" sz="2600" dirty="0"/>
              <a:t>Assess the importance of language, religion, and ethnicity in shaping ongoing change within Europe.</a:t>
            </a:r>
          </a:p>
          <a:p>
            <a:endParaRPr lang="en-US" sz="2600" dirty="0"/>
          </a:p>
          <a:p>
            <a:r>
              <a:rPr lang="en-US" sz="2600" dirty="0"/>
              <a:t>Describe Europe’s patterns of demographic change and urban development.</a:t>
            </a:r>
          </a:p>
        </p:txBody>
      </p:sp>
    </p:spTree>
    <p:extLst>
      <p:ext uri="{BB962C8B-B14F-4D97-AF65-F5344CB8AC3E}">
        <p14:creationId xmlns:p14="http://schemas.microsoft.com/office/powerpoint/2010/main" val="182306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Environment, Society, and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748114" cy="3951288"/>
          </a:xfrm>
        </p:spPr>
        <p:txBody>
          <a:bodyPr/>
          <a:lstStyle/>
          <a:p>
            <a:r>
              <a:rPr lang="en-US" dirty="0"/>
              <a:t>Central location</a:t>
            </a:r>
          </a:p>
          <a:p>
            <a:r>
              <a:rPr lang="en-US" dirty="0"/>
              <a:t>Peninsulas and </a:t>
            </a:r>
            <a:r>
              <a:rPr lang="en-US" dirty="0" smtClean="0"/>
              <a:t>islands</a:t>
            </a:r>
            <a:endParaRPr lang="en-US" dirty="0"/>
          </a:p>
          <a:p>
            <a:r>
              <a:rPr lang="en-US" dirty="0"/>
              <a:t>Navigable rivers </a:t>
            </a:r>
            <a:endParaRPr lang="en-US" dirty="0" smtClean="0"/>
          </a:p>
          <a:p>
            <a:pPr lvl="1"/>
            <a:r>
              <a:rPr lang="en-US" dirty="0" smtClean="0"/>
              <a:t>Danube</a:t>
            </a:r>
            <a:endParaRPr lang="en-US" dirty="0"/>
          </a:p>
          <a:p>
            <a:pPr lvl="1"/>
            <a:r>
              <a:rPr lang="en-US" dirty="0" smtClean="0"/>
              <a:t>Dnieper</a:t>
            </a:r>
            <a:endParaRPr lang="en-US" dirty="0"/>
          </a:p>
          <a:p>
            <a:pPr lvl="1"/>
            <a:r>
              <a:rPr lang="en-US" dirty="0" smtClean="0"/>
              <a:t>Elbe </a:t>
            </a:r>
            <a:endParaRPr lang="en-US" dirty="0"/>
          </a:p>
          <a:p>
            <a:pPr lvl="1"/>
            <a:r>
              <a:rPr lang="en-US" dirty="0" smtClean="0"/>
              <a:t>Rhine</a:t>
            </a:r>
            <a:endParaRPr lang="en-US" dirty="0"/>
          </a:p>
          <a:p>
            <a:pPr lvl="1"/>
            <a:r>
              <a:rPr lang="en-US" dirty="0" smtClean="0"/>
              <a:t>Seine</a:t>
            </a:r>
            <a:endParaRPr lang="en-US" dirty="0"/>
          </a:p>
          <a:p>
            <a:r>
              <a:rPr lang="en-US" b="1" dirty="0"/>
              <a:t>Watersheds </a:t>
            </a:r>
            <a:r>
              <a:rPr lang="en-US" dirty="0"/>
              <a:t>(drainage areas)</a:t>
            </a:r>
            <a:endParaRPr lang="en-US" b="1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511" y="1295156"/>
            <a:ext cx="5510028" cy="456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5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and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72325" y="1080399"/>
            <a:ext cx="4106929" cy="3951288"/>
          </a:xfrm>
        </p:spPr>
        <p:txBody>
          <a:bodyPr/>
          <a:lstStyle/>
          <a:p>
            <a:r>
              <a:rPr lang="en-US" dirty="0"/>
              <a:t>Northwestern </a:t>
            </a:r>
            <a:r>
              <a:rPr lang="en-US" dirty="0" smtClean="0"/>
              <a:t>Europe</a:t>
            </a:r>
          </a:p>
          <a:p>
            <a:pPr lvl="1"/>
            <a:r>
              <a:rPr lang="en-US" dirty="0" smtClean="0"/>
              <a:t>moderating </a:t>
            </a:r>
            <a:r>
              <a:rPr lang="en-US" dirty="0"/>
              <a:t>effect </a:t>
            </a:r>
            <a:r>
              <a:rPr lang="en-US" dirty="0" smtClean="0"/>
              <a:t>of the </a:t>
            </a:r>
            <a:r>
              <a:rPr lang="en-US" dirty="0"/>
              <a:t>sea</a:t>
            </a:r>
          </a:p>
          <a:p>
            <a:r>
              <a:rPr lang="en-US" dirty="0"/>
              <a:t>Eastern Europe</a:t>
            </a:r>
          </a:p>
          <a:p>
            <a:pPr lvl="1"/>
            <a:r>
              <a:rPr lang="en-US" dirty="0" smtClean="0"/>
              <a:t>seasonal </a:t>
            </a:r>
            <a:r>
              <a:rPr lang="en-US" dirty="0"/>
              <a:t>extremes</a:t>
            </a:r>
          </a:p>
          <a:p>
            <a:r>
              <a:rPr lang="en-US" dirty="0"/>
              <a:t>Mediterranean Europe</a:t>
            </a:r>
          </a:p>
          <a:p>
            <a:pPr lvl="1"/>
            <a:r>
              <a:rPr lang="en-US" dirty="0" smtClean="0"/>
              <a:t>cool </a:t>
            </a:r>
            <a:r>
              <a:rPr lang="en-US" dirty="0"/>
              <a:t>winters and </a:t>
            </a:r>
            <a:r>
              <a:rPr lang="en-US" dirty="0" smtClean="0"/>
              <a:t>hot, </a:t>
            </a:r>
            <a:r>
              <a:rPr lang="en-US" dirty="0"/>
              <a:t>dry summers</a:t>
            </a:r>
          </a:p>
          <a:p>
            <a:r>
              <a:rPr lang="en-US" dirty="0"/>
              <a:t>Climate change</a:t>
            </a:r>
          </a:p>
          <a:p>
            <a:r>
              <a:rPr lang="en-US" b="1" dirty="0"/>
              <a:t>UN Kyoto Protocol</a:t>
            </a:r>
          </a:p>
          <a:p>
            <a:pPr lvl="1"/>
            <a:r>
              <a:rPr lang="en-US" b="1" dirty="0" smtClean="0"/>
              <a:t>Emissions Trading Scheme </a:t>
            </a:r>
            <a:r>
              <a:rPr lang="en-US" b="1" dirty="0"/>
              <a:t>(ETS)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96152" y="1482725"/>
            <a:ext cx="4736123" cy="391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5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Water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412446" cy="3951288"/>
          </a:xfrm>
        </p:spPr>
        <p:txBody>
          <a:bodyPr/>
          <a:lstStyle/>
          <a:p>
            <a:r>
              <a:rPr lang="en-US" dirty="0"/>
              <a:t>Four principal </a:t>
            </a:r>
            <a:r>
              <a:rPr lang="en-US" b="1" dirty="0"/>
              <a:t>physiographic regions</a:t>
            </a:r>
          </a:p>
          <a:p>
            <a:r>
              <a:rPr lang="en-US" dirty="0"/>
              <a:t>Landscape product of centuries of human adaptation</a:t>
            </a:r>
          </a:p>
          <a:p>
            <a:pPr lvl="1"/>
            <a:r>
              <a:rPr lang="en-US" b="1" dirty="0" smtClean="0"/>
              <a:t>aspect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86400" y="957775"/>
            <a:ext cx="5316924" cy="503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6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Water (cont.)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Northwestern Uplands</a:t>
            </a:r>
          </a:p>
          <a:p>
            <a:pPr lvl="1"/>
            <a:r>
              <a:rPr lang="en-US" dirty="0" smtClean="0"/>
              <a:t>oldest </a:t>
            </a:r>
            <a:r>
              <a:rPr lang="en-US" dirty="0"/>
              <a:t>rocks in Europe</a:t>
            </a:r>
          </a:p>
          <a:p>
            <a:pPr lvl="1"/>
            <a:r>
              <a:rPr lang="en-US" b="1" dirty="0" smtClean="0"/>
              <a:t>uplands</a:t>
            </a:r>
            <a:r>
              <a:rPr lang="en-US" dirty="0" smtClean="0"/>
              <a:t> </a:t>
            </a:r>
            <a:r>
              <a:rPr lang="en-US" dirty="0"/>
              <a:t>(high, hilly)</a:t>
            </a:r>
          </a:p>
          <a:p>
            <a:pPr lvl="1"/>
            <a:r>
              <a:rPr lang="en-US" b="1" dirty="0" smtClean="0"/>
              <a:t>cirques</a:t>
            </a:r>
            <a:r>
              <a:rPr lang="en-US" dirty="0" smtClean="0"/>
              <a:t> </a:t>
            </a:r>
            <a:r>
              <a:rPr lang="en-US" dirty="0"/>
              <a:t>(deep, bowl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mountainside </a:t>
            </a:r>
            <a:r>
              <a:rPr lang="en-US" dirty="0"/>
              <a:t>basins)</a:t>
            </a:r>
          </a:p>
          <a:p>
            <a:pPr lvl="1"/>
            <a:r>
              <a:rPr lang="en-US" b="1" dirty="0" smtClean="0"/>
              <a:t>fjords</a:t>
            </a:r>
            <a:endParaRPr lang="en-US" b="1" dirty="0"/>
          </a:p>
          <a:p>
            <a:pPr lvl="1"/>
            <a:r>
              <a:rPr lang="en-US" b="1" dirty="0" smtClean="0"/>
              <a:t>moraines</a:t>
            </a:r>
            <a:endParaRPr lang="en-US" dirty="0"/>
          </a:p>
          <a:p>
            <a:r>
              <a:rPr lang="en-US" dirty="0"/>
              <a:t>Alpine Europe</a:t>
            </a:r>
          </a:p>
          <a:p>
            <a:pPr lvl="1"/>
            <a:r>
              <a:rPr lang="en-US" dirty="0" smtClean="0"/>
              <a:t>agriculture</a:t>
            </a:r>
            <a:endParaRPr lang="en-US" dirty="0"/>
          </a:p>
          <a:p>
            <a:pPr lvl="1"/>
            <a:r>
              <a:rPr lang="en-US" dirty="0" smtClean="0"/>
              <a:t>tourism</a:t>
            </a:r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8075" y="743712"/>
            <a:ext cx="4125113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58074" y="3690424"/>
            <a:ext cx="4125113" cy="278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8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Geological Resources, Risk, and Water (cont.)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Central Plateaus</a:t>
            </a:r>
          </a:p>
          <a:p>
            <a:pPr lvl="1"/>
            <a:r>
              <a:rPr lang="en-US" dirty="0" smtClean="0"/>
              <a:t>Europe’s coal </a:t>
            </a:r>
            <a:r>
              <a:rPr lang="en-US" dirty="0"/>
              <a:t>field</a:t>
            </a:r>
          </a:p>
          <a:p>
            <a:pPr lvl="1"/>
            <a:r>
              <a:rPr lang="en-US" dirty="0" smtClean="0"/>
              <a:t>massif</a:t>
            </a:r>
            <a:endParaRPr lang="en-US" dirty="0"/>
          </a:p>
          <a:p>
            <a:pPr lvl="1"/>
            <a:r>
              <a:rPr lang="en-US" dirty="0" smtClean="0"/>
              <a:t>forests</a:t>
            </a:r>
            <a:endParaRPr lang="en-US" dirty="0"/>
          </a:p>
          <a:p>
            <a:r>
              <a:rPr lang="en-US" dirty="0"/>
              <a:t>North European Lowlands</a:t>
            </a:r>
          </a:p>
          <a:p>
            <a:pPr lvl="1"/>
            <a:r>
              <a:rPr lang="en-US" dirty="0" smtClean="0"/>
              <a:t>flat </a:t>
            </a:r>
            <a:r>
              <a:rPr lang="en-US" dirty="0"/>
              <a:t>or gently undulating </a:t>
            </a:r>
          </a:p>
          <a:p>
            <a:pPr lvl="1"/>
            <a:r>
              <a:rPr lang="en-US" dirty="0" smtClean="0"/>
              <a:t>region </a:t>
            </a:r>
            <a:r>
              <a:rPr lang="en-US" dirty="0"/>
              <a:t>of farming and settlements </a:t>
            </a:r>
          </a:p>
          <a:p>
            <a:pPr lvl="1"/>
            <a:r>
              <a:rPr lang="en-US" b="1" dirty="0" smtClean="0"/>
              <a:t>loess</a:t>
            </a:r>
            <a:endParaRPr lang="en-US" b="1" dirty="0"/>
          </a:p>
          <a:p>
            <a:pPr lvl="1"/>
            <a:r>
              <a:rPr lang="en-US" b="1" dirty="0" smtClean="0"/>
              <a:t>steppe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05066" y="737616"/>
            <a:ext cx="5086534" cy="21181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8400" y="4362625"/>
            <a:ext cx="6553200" cy="227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21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Ecology, Land, and Environmental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Medieval Europe</a:t>
            </a:r>
          </a:p>
          <a:p>
            <a:pPr lvl="1"/>
            <a:r>
              <a:rPr lang="en-US" dirty="0" smtClean="0"/>
              <a:t>significant transformation</a:t>
            </a:r>
            <a:endParaRPr lang="en-US" dirty="0"/>
          </a:p>
          <a:p>
            <a:pPr lvl="1"/>
            <a:r>
              <a:rPr lang="en-US" dirty="0" smtClean="0"/>
              <a:t>drainage </a:t>
            </a:r>
            <a:r>
              <a:rPr lang="en-US" dirty="0"/>
              <a:t>schemes</a:t>
            </a:r>
          </a:p>
          <a:p>
            <a:pPr lvl="1"/>
            <a:r>
              <a:rPr lang="en-US" b="1" dirty="0" smtClean="0"/>
              <a:t>Little </a:t>
            </a:r>
            <a:r>
              <a:rPr lang="en-US" b="1" dirty="0"/>
              <a:t>Ice Age</a:t>
            </a:r>
          </a:p>
          <a:p>
            <a:r>
              <a:rPr lang="en-US" dirty="0"/>
              <a:t>Modern Landscape</a:t>
            </a:r>
          </a:p>
          <a:p>
            <a:pPr lvl="1"/>
            <a:r>
              <a:rPr lang="en-US" b="1" dirty="0" smtClean="0"/>
              <a:t>polders </a:t>
            </a:r>
            <a:r>
              <a:rPr lang="en-US" dirty="0"/>
              <a:t>(</a:t>
            </a:r>
            <a:r>
              <a:rPr lang="en-US" dirty="0" smtClean="0"/>
              <a:t>low-lying areas </a:t>
            </a:r>
            <a:r>
              <a:rPr lang="en-US" dirty="0"/>
              <a:t>reclaimed </a:t>
            </a:r>
            <a:r>
              <a:rPr lang="en-US" dirty="0" smtClean="0"/>
              <a:t>from the </a:t>
            </a:r>
            <a:r>
              <a:rPr lang="en-US" dirty="0"/>
              <a:t>sea</a:t>
            </a:r>
            <a:r>
              <a:rPr lang="en-US" dirty="0" smtClean="0"/>
              <a:t>)</a:t>
            </a:r>
            <a:endParaRPr lang="en-US" b="1" dirty="0"/>
          </a:p>
          <a:p>
            <a:r>
              <a:rPr lang="en-US" dirty="0"/>
              <a:t>Industrialization</a:t>
            </a:r>
          </a:p>
          <a:p>
            <a:pPr lvl="1"/>
            <a:r>
              <a:rPr lang="en-US" dirty="0" smtClean="0"/>
              <a:t>mining</a:t>
            </a:r>
            <a:endParaRPr lang="en-US" dirty="0"/>
          </a:p>
          <a:p>
            <a:pPr lvl="1"/>
            <a:r>
              <a:rPr lang="en-US" dirty="0" smtClean="0"/>
              <a:t>pollution</a:t>
            </a:r>
            <a:endParaRPr lang="en-US" dirty="0"/>
          </a:p>
          <a:p>
            <a:pPr lvl="1"/>
            <a:r>
              <a:rPr lang="en-US" b="1" dirty="0" smtClean="0"/>
              <a:t>acid rain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5012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History, Economy, and Territory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293557" cy="3951288"/>
          </a:xfrm>
        </p:spPr>
        <p:txBody>
          <a:bodyPr/>
          <a:lstStyle/>
          <a:p>
            <a:r>
              <a:rPr lang="en-US" dirty="0"/>
              <a:t>Europe’s foundations laid by Greeks and Romans</a:t>
            </a:r>
          </a:p>
          <a:p>
            <a:pPr lvl="1"/>
            <a:r>
              <a:rPr lang="en-US" dirty="0" smtClean="0"/>
              <a:t>cities</a:t>
            </a:r>
            <a:endParaRPr lang="en-US" dirty="0"/>
          </a:p>
          <a:p>
            <a:pPr lvl="1"/>
            <a:r>
              <a:rPr lang="en-US" dirty="0" smtClean="0"/>
              <a:t>agriculture</a:t>
            </a:r>
            <a:endParaRPr lang="en-US" dirty="0"/>
          </a:p>
          <a:p>
            <a:pPr lvl="1"/>
            <a:r>
              <a:rPr lang="en-US" dirty="0" smtClean="0"/>
              <a:t>self-sufficiency</a:t>
            </a:r>
            <a:endParaRPr lang="en-US" dirty="0"/>
          </a:p>
          <a:p>
            <a:r>
              <a:rPr lang="en-US" dirty="0"/>
              <a:t>Decline of Roman Empire</a:t>
            </a:r>
          </a:p>
          <a:p>
            <a:pPr lvl="1"/>
            <a:r>
              <a:rPr lang="en-US" b="1" dirty="0" smtClean="0"/>
              <a:t>feudal system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9975" y="1807698"/>
            <a:ext cx="5493975" cy="36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5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56185" y="992944"/>
            <a:ext cx="5004581" cy="49368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Legacies and Landscapes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361572" cy="3951288"/>
          </a:xfrm>
        </p:spPr>
        <p:txBody>
          <a:bodyPr/>
          <a:lstStyle/>
          <a:p>
            <a:r>
              <a:rPr lang="en-US" dirty="0"/>
              <a:t>Mercantile capitalism</a:t>
            </a:r>
          </a:p>
          <a:p>
            <a:r>
              <a:rPr lang="en-US" dirty="0"/>
              <a:t>Age of Discovery</a:t>
            </a:r>
          </a:p>
          <a:p>
            <a:pPr lvl="1"/>
            <a:r>
              <a:rPr lang="en-US" dirty="0"/>
              <a:t>innovations in business and technology</a:t>
            </a:r>
          </a:p>
          <a:p>
            <a:pPr lvl="1"/>
            <a:r>
              <a:rPr lang="en-US" dirty="0"/>
              <a:t>geographical knowledge</a:t>
            </a:r>
          </a:p>
          <a:p>
            <a:pPr lvl="1"/>
            <a:r>
              <a:rPr lang="en-US" dirty="0"/>
              <a:t>shift in orientation to the Atlantic</a:t>
            </a:r>
          </a:p>
          <a:p>
            <a:pPr lvl="1"/>
            <a:r>
              <a:rPr lang="en-US" b="1" dirty="0" err="1"/>
              <a:t>entrepôt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044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Legacies and Landscapes (cont.)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Colonization</a:t>
            </a:r>
          </a:p>
          <a:p>
            <a:pPr lvl="1"/>
            <a:r>
              <a:rPr lang="en-US" dirty="0" smtClean="0"/>
              <a:t>resource </a:t>
            </a:r>
            <a:r>
              <a:rPr lang="en-US" dirty="0"/>
              <a:t>extraction</a:t>
            </a:r>
          </a:p>
          <a:p>
            <a:pPr lvl="1"/>
            <a:r>
              <a:rPr lang="en-US" dirty="0" smtClean="0"/>
              <a:t>improvements in navigation </a:t>
            </a:r>
            <a:br>
              <a:rPr lang="en-US" dirty="0" smtClean="0"/>
            </a:br>
            <a:r>
              <a:rPr lang="en-US" dirty="0" smtClean="0"/>
              <a:t>and </a:t>
            </a:r>
            <a:r>
              <a:rPr lang="en-US" dirty="0"/>
              <a:t>weaponry</a:t>
            </a:r>
          </a:p>
          <a:p>
            <a:pPr lvl="1"/>
            <a:r>
              <a:rPr lang="en-US" dirty="0" smtClean="0"/>
              <a:t>rise </a:t>
            </a:r>
            <a:r>
              <a:rPr lang="en-US" dirty="0"/>
              <a:t>in </a:t>
            </a:r>
            <a:r>
              <a:rPr lang="en-US" dirty="0" smtClean="0"/>
              <a:t>industrial capitalism</a:t>
            </a:r>
            <a:endParaRPr lang="en-US" dirty="0"/>
          </a:p>
          <a:p>
            <a:r>
              <a:rPr lang="en-US" dirty="0"/>
              <a:t>Industrialization</a:t>
            </a:r>
          </a:p>
          <a:p>
            <a:pPr lvl="1"/>
            <a:r>
              <a:rPr lang="en-US" b="1" dirty="0" smtClean="0"/>
              <a:t>technology </a:t>
            </a:r>
            <a:r>
              <a:rPr lang="en-US" b="1" dirty="0"/>
              <a:t>systems</a:t>
            </a:r>
          </a:p>
          <a:p>
            <a:pPr lvl="1"/>
            <a:r>
              <a:rPr lang="en-US" b="1" dirty="0" smtClean="0"/>
              <a:t>first </a:t>
            </a:r>
            <a:r>
              <a:rPr lang="en-US" b="1" dirty="0"/>
              <a:t>wave</a:t>
            </a:r>
          </a:p>
          <a:p>
            <a:pPr lvl="1"/>
            <a:r>
              <a:rPr lang="en-US" b="1" dirty="0" smtClean="0"/>
              <a:t>second </a:t>
            </a:r>
            <a:r>
              <a:rPr lang="en-US" b="1" dirty="0"/>
              <a:t>wave</a:t>
            </a:r>
          </a:p>
          <a:p>
            <a:pPr lvl="1"/>
            <a:r>
              <a:rPr lang="en-US" b="1" dirty="0" smtClean="0"/>
              <a:t>third </a:t>
            </a:r>
            <a:r>
              <a:rPr lang="en-US" b="1" dirty="0"/>
              <a:t>wave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76092" y="684200"/>
            <a:ext cx="3841799" cy="39067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67214" y="4591094"/>
            <a:ext cx="3242285" cy="211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0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Legacies and Landscapes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b="1" dirty="0"/>
              <a:t>Imperialism</a:t>
            </a:r>
            <a:r>
              <a:rPr lang="en-US" dirty="0"/>
              <a:t> </a:t>
            </a:r>
            <a:endParaRPr lang="en-US" sz="2400" dirty="0"/>
          </a:p>
          <a:p>
            <a:r>
              <a:rPr lang="en-US" dirty="0"/>
              <a:t>Disruption</a:t>
            </a:r>
          </a:p>
          <a:p>
            <a:pPr lvl="1"/>
            <a:r>
              <a:rPr lang="en-US" dirty="0"/>
              <a:t>WWI</a:t>
            </a:r>
          </a:p>
          <a:p>
            <a:pPr lvl="1"/>
            <a:r>
              <a:rPr lang="en-US" b="1" dirty="0"/>
              <a:t>Great Depression</a:t>
            </a:r>
          </a:p>
          <a:p>
            <a:pPr lvl="1"/>
            <a:r>
              <a:rPr lang="en-US" dirty="0"/>
              <a:t>WWII</a:t>
            </a:r>
          </a:p>
          <a:p>
            <a:r>
              <a:rPr lang="en-US" dirty="0"/>
              <a:t>Rebuilding</a:t>
            </a:r>
          </a:p>
          <a:p>
            <a:pPr lvl="1"/>
            <a:r>
              <a:rPr lang="en-US" b="1" dirty="0"/>
              <a:t>Marshall Plan</a:t>
            </a:r>
          </a:p>
          <a:p>
            <a:pPr lvl="1"/>
            <a:r>
              <a:rPr lang="en-US" b="1" dirty="0"/>
              <a:t>state socialism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0148" y="797107"/>
            <a:ext cx="5093169" cy="26143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2425" y="3592082"/>
            <a:ext cx="5380892" cy="304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5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Legacies and Landscapes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396296" cy="3951288"/>
          </a:xfrm>
        </p:spPr>
        <p:txBody>
          <a:bodyPr/>
          <a:lstStyle/>
          <a:p>
            <a:r>
              <a:rPr lang="en-US" dirty="0"/>
              <a:t>Eastern Europe becomes a </a:t>
            </a:r>
            <a:r>
              <a:rPr lang="en-US" b="1" dirty="0"/>
              <a:t>buffer zone</a:t>
            </a:r>
          </a:p>
          <a:p>
            <a:pPr lvl="1"/>
            <a:r>
              <a:rPr lang="en-US" b="1" dirty="0"/>
              <a:t>Iron Curtain</a:t>
            </a:r>
          </a:p>
          <a:p>
            <a:r>
              <a:rPr lang="en-US" b="1" dirty="0"/>
              <a:t>Satellite states</a:t>
            </a:r>
          </a:p>
          <a:p>
            <a:pPr lvl="1"/>
            <a:r>
              <a:rPr lang="en-US" b="1" dirty="0"/>
              <a:t>command economies</a:t>
            </a:r>
          </a:p>
          <a:p>
            <a:pPr lvl="1"/>
            <a:r>
              <a:rPr lang="en-US" b="1" dirty="0"/>
              <a:t>COMECON</a:t>
            </a:r>
          </a:p>
          <a:p>
            <a:pPr lvl="1"/>
            <a:r>
              <a:rPr lang="en-US" dirty="0"/>
              <a:t>industrial growth, but drab </a:t>
            </a:r>
            <a:r>
              <a:rPr lang="en-US" dirty="0" smtClean="0"/>
              <a:t>cityscapes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9010" y="4314290"/>
            <a:ext cx="3298653" cy="24457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83013" y="705065"/>
            <a:ext cx="3829459" cy="353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3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Legacies and Landscapes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Fall of state socialism</a:t>
            </a:r>
          </a:p>
          <a:p>
            <a:r>
              <a:rPr lang="en-US" dirty="0"/>
              <a:t>Market reforms</a:t>
            </a:r>
          </a:p>
          <a:p>
            <a:r>
              <a:rPr lang="en-US" dirty="0"/>
              <a:t>Reintegration</a:t>
            </a:r>
          </a:p>
          <a:p>
            <a:pPr lvl="1"/>
            <a:r>
              <a:rPr lang="en-US" dirty="0"/>
              <a:t>cheap land and labor has brought in foreign investment</a:t>
            </a:r>
          </a:p>
          <a:p>
            <a:pPr lvl="1"/>
            <a:r>
              <a:rPr lang="en-US" dirty="0"/>
              <a:t>inflation, unemployment, and homelessness appeared quickly</a:t>
            </a:r>
          </a:p>
          <a:p>
            <a:pPr lvl="1"/>
            <a:r>
              <a:rPr lang="en-US" dirty="0"/>
              <a:t>countries still struggling</a:t>
            </a:r>
          </a:p>
          <a:p>
            <a:pPr lvl="1"/>
            <a:r>
              <a:rPr lang="en-US" dirty="0"/>
              <a:t>countries well </a:t>
            </a:r>
            <a:r>
              <a:rPr lang="en-US" dirty="0" smtClean="0"/>
              <a:t>integrated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4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Economy, Accumulation, and the Production of Inequality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9" y="1345016"/>
            <a:ext cx="5183374" cy="3951288"/>
          </a:xfrm>
        </p:spPr>
        <p:txBody>
          <a:bodyPr/>
          <a:lstStyle/>
          <a:p>
            <a:r>
              <a:rPr lang="en-US" dirty="0"/>
              <a:t>35% of world’s exports</a:t>
            </a:r>
          </a:p>
          <a:p>
            <a:r>
              <a:rPr lang="en-US" dirty="0"/>
              <a:t>33% of the world’s </a:t>
            </a:r>
            <a:r>
              <a:rPr lang="en-US" dirty="0" smtClean="0"/>
              <a:t>aggregate gross </a:t>
            </a:r>
            <a:r>
              <a:rPr lang="en-US" dirty="0"/>
              <a:t>national income (GNI)</a:t>
            </a:r>
          </a:p>
          <a:p>
            <a:pPr lvl="1"/>
            <a:r>
              <a:rPr lang="en-US" b="1" dirty="0" smtClean="0"/>
              <a:t>welfare </a:t>
            </a:r>
            <a:r>
              <a:rPr lang="en-US" b="1" dirty="0"/>
              <a:t>state</a:t>
            </a:r>
          </a:p>
          <a:p>
            <a:pPr lvl="1"/>
            <a:r>
              <a:rPr lang="en-US" b="1" dirty="0" smtClean="0"/>
              <a:t>social </a:t>
            </a:r>
            <a:r>
              <a:rPr lang="en-US" b="1" dirty="0"/>
              <a:t>housing</a:t>
            </a:r>
          </a:p>
          <a:p>
            <a:r>
              <a:rPr lang="en-US" b="1" dirty="0"/>
              <a:t>European Union (EU)</a:t>
            </a:r>
          </a:p>
          <a:p>
            <a:pPr lvl="1"/>
            <a:r>
              <a:rPr lang="en-US" b="1" dirty="0" smtClean="0"/>
              <a:t>common agriculture policy</a:t>
            </a:r>
            <a:endParaRPr lang="en-US" b="1" dirty="0"/>
          </a:p>
          <a:p>
            <a:r>
              <a:rPr lang="en-US" b="1" dirty="0"/>
              <a:t>Maastricht Treaty</a:t>
            </a:r>
          </a:p>
          <a:p>
            <a:pPr lvl="1"/>
            <a:r>
              <a:rPr lang="en-US" b="1" dirty="0" smtClean="0"/>
              <a:t>euro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6564" y="730754"/>
            <a:ext cx="2869709" cy="27111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6564" y="3654453"/>
            <a:ext cx="2869709" cy="305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3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464621" cy="3951288"/>
          </a:xfrm>
        </p:spPr>
        <p:txBody>
          <a:bodyPr/>
          <a:lstStyle/>
          <a:p>
            <a:r>
              <a:rPr lang="en-US" dirty="0"/>
              <a:t>Enlightenment</a:t>
            </a:r>
          </a:p>
          <a:p>
            <a:pPr lvl="1"/>
            <a:r>
              <a:rPr lang="en-US" dirty="0" smtClean="0"/>
              <a:t>rise </a:t>
            </a:r>
            <a:r>
              <a:rPr lang="en-US" dirty="0"/>
              <a:t>of </a:t>
            </a:r>
            <a:r>
              <a:rPr lang="en-US" dirty="0" smtClean="0"/>
              <a:t>         nation–states</a:t>
            </a:r>
            <a:endParaRPr lang="en-US" dirty="0"/>
          </a:p>
          <a:p>
            <a:r>
              <a:rPr lang="en-US" dirty="0"/>
              <a:t>Regionalism</a:t>
            </a:r>
          </a:p>
          <a:p>
            <a:pPr lvl="1"/>
            <a:r>
              <a:rPr lang="en-US" dirty="0"/>
              <a:t>ethnic minorities</a:t>
            </a:r>
          </a:p>
          <a:p>
            <a:pPr lvl="1"/>
            <a:r>
              <a:rPr lang="en-US" dirty="0"/>
              <a:t>violence and political autonomy</a:t>
            </a:r>
          </a:p>
          <a:p>
            <a:pPr lvl="1"/>
            <a:r>
              <a:rPr lang="en-US" b="1" dirty="0"/>
              <a:t>irredentism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81160" y="1135265"/>
            <a:ext cx="5163548" cy="372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60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Territory and Politics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623924" cy="3951288"/>
          </a:xfrm>
        </p:spPr>
        <p:txBody>
          <a:bodyPr/>
          <a:lstStyle/>
          <a:p>
            <a:r>
              <a:rPr lang="en-US" dirty="0"/>
              <a:t>Ethnic conflict</a:t>
            </a:r>
          </a:p>
          <a:p>
            <a:pPr lvl="1"/>
            <a:r>
              <a:rPr lang="en-US" b="1" dirty="0"/>
              <a:t>balkanization</a:t>
            </a:r>
          </a:p>
          <a:p>
            <a:pPr lvl="1"/>
            <a:r>
              <a:rPr lang="en-US" b="1" dirty="0"/>
              <a:t>enclaves and exclaves</a:t>
            </a:r>
          </a:p>
          <a:p>
            <a:pPr lvl="1"/>
            <a:r>
              <a:rPr lang="en-US" b="1" dirty="0"/>
              <a:t>ethnic cleansing</a:t>
            </a:r>
          </a:p>
          <a:p>
            <a:pPr lvl="1"/>
            <a:r>
              <a:rPr lang="en-US" dirty="0"/>
              <a:t>Kosovo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34154" y="717167"/>
            <a:ext cx="5417467" cy="564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15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Cultures and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Religion</a:t>
            </a:r>
          </a:p>
          <a:p>
            <a:pPr lvl="1"/>
            <a:r>
              <a:rPr lang="en-US" dirty="0" smtClean="0"/>
              <a:t>Roman </a:t>
            </a:r>
            <a:r>
              <a:rPr lang="en-US" dirty="0"/>
              <a:t>Catholic</a:t>
            </a:r>
          </a:p>
          <a:p>
            <a:pPr lvl="1"/>
            <a:r>
              <a:rPr lang="en-US" dirty="0" smtClean="0"/>
              <a:t>Protestant</a:t>
            </a:r>
            <a:endParaRPr lang="en-US" dirty="0"/>
          </a:p>
          <a:p>
            <a:pPr lvl="1"/>
            <a:r>
              <a:rPr lang="en-US" dirty="0" smtClean="0"/>
              <a:t>immigrants </a:t>
            </a:r>
            <a:r>
              <a:rPr lang="en-US" dirty="0"/>
              <a:t>and Islam</a:t>
            </a:r>
          </a:p>
          <a:p>
            <a:pPr lvl="1"/>
            <a:r>
              <a:rPr lang="en-US" dirty="0" smtClean="0"/>
              <a:t>rise </a:t>
            </a:r>
            <a:r>
              <a:rPr lang="en-US" dirty="0"/>
              <a:t>of secularism</a:t>
            </a:r>
          </a:p>
          <a:p>
            <a:r>
              <a:rPr lang="en-US" dirty="0"/>
              <a:t>Language  </a:t>
            </a:r>
          </a:p>
          <a:p>
            <a:pPr lvl="1"/>
            <a:r>
              <a:rPr lang="en-US" dirty="0" smtClean="0"/>
              <a:t>Romance</a:t>
            </a:r>
            <a:endParaRPr lang="en-US" dirty="0"/>
          </a:p>
          <a:p>
            <a:pPr lvl="1"/>
            <a:r>
              <a:rPr lang="en-US" dirty="0" smtClean="0"/>
              <a:t>Germanic</a:t>
            </a:r>
            <a:endParaRPr lang="en-US" dirty="0"/>
          </a:p>
          <a:p>
            <a:pPr lvl="1"/>
            <a:r>
              <a:rPr lang="en-US" dirty="0" smtClean="0"/>
              <a:t>Slavic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5167" y="817098"/>
            <a:ext cx="4735949" cy="573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2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Cultural Practices, Social Differences, and Identity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048" y="1345016"/>
            <a:ext cx="8411609" cy="3951288"/>
          </a:xfrm>
        </p:spPr>
        <p:txBody>
          <a:bodyPr/>
          <a:lstStyle/>
          <a:p>
            <a:r>
              <a:rPr lang="en-US" dirty="0"/>
              <a:t>Modernity</a:t>
            </a:r>
          </a:p>
          <a:p>
            <a:r>
              <a:rPr lang="en-US" dirty="0"/>
              <a:t>European </a:t>
            </a:r>
            <a:r>
              <a:rPr lang="en-US" dirty="0" smtClean="0"/>
              <a:t>identity</a:t>
            </a:r>
            <a:endParaRPr lang="en-US" dirty="0"/>
          </a:p>
          <a:p>
            <a:pPr lvl="1"/>
            <a:r>
              <a:rPr lang="en-US" dirty="0" smtClean="0"/>
              <a:t>immigration </a:t>
            </a:r>
            <a:r>
              <a:rPr lang="en-US" dirty="0"/>
              <a:t>law</a:t>
            </a:r>
          </a:p>
          <a:p>
            <a:pPr lvl="1"/>
            <a:r>
              <a:rPr lang="en-US" b="1" dirty="0" smtClean="0"/>
              <a:t>xenophobia</a:t>
            </a:r>
            <a:endParaRPr lang="en-US" b="1" dirty="0"/>
          </a:p>
          <a:p>
            <a:r>
              <a:rPr lang="en-US" dirty="0"/>
              <a:t>Women in European </a:t>
            </a:r>
            <a:r>
              <a:rPr lang="en-US" dirty="0" smtClean="0"/>
              <a:t>society</a:t>
            </a:r>
            <a:endParaRPr lang="en-US" dirty="0"/>
          </a:p>
          <a:p>
            <a:pPr lvl="1"/>
            <a:r>
              <a:rPr lang="en-US" dirty="0" smtClean="0"/>
              <a:t>gender </a:t>
            </a:r>
            <a:r>
              <a:rPr lang="en-US" dirty="0"/>
              <a:t>inequality</a:t>
            </a:r>
          </a:p>
          <a:p>
            <a:pPr lvl="1"/>
            <a:r>
              <a:rPr lang="en-US" dirty="0" smtClean="0"/>
              <a:t>income </a:t>
            </a:r>
            <a:r>
              <a:rPr lang="en-US" dirty="0"/>
              <a:t>gaps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14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 and Urbanization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593008" cy="3951288"/>
          </a:xfrm>
        </p:spPr>
        <p:txBody>
          <a:bodyPr/>
          <a:lstStyle/>
          <a:p>
            <a:r>
              <a:rPr lang="en-US" dirty="0"/>
              <a:t>Densely populated</a:t>
            </a:r>
          </a:p>
          <a:p>
            <a:r>
              <a:rPr lang="en-US" dirty="0"/>
              <a:t>Stable growth</a:t>
            </a:r>
          </a:p>
          <a:p>
            <a:r>
              <a:rPr lang="en-US" dirty="0"/>
              <a:t>Baby bust</a:t>
            </a:r>
          </a:p>
          <a:p>
            <a:r>
              <a:rPr lang="en-US" dirty="0"/>
              <a:t>Increased </a:t>
            </a:r>
            <a:r>
              <a:rPr lang="en-US" dirty="0" smtClean="0"/>
              <a:t>life expectancies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44112" y="969498"/>
            <a:ext cx="5045012" cy="48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0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 and Urbanization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7" y="1080399"/>
            <a:ext cx="3910155" cy="3951288"/>
          </a:xfrm>
        </p:spPr>
        <p:txBody>
          <a:bodyPr/>
          <a:lstStyle/>
          <a:p>
            <a:r>
              <a:rPr lang="en-US" dirty="0"/>
              <a:t>European diaspora</a:t>
            </a:r>
          </a:p>
          <a:p>
            <a:r>
              <a:rPr lang="en-US" dirty="0"/>
              <a:t>Migration within Europe</a:t>
            </a:r>
          </a:p>
          <a:p>
            <a:pPr lvl="1"/>
            <a:r>
              <a:rPr lang="en-US" dirty="0"/>
              <a:t>industrialization and conflict</a:t>
            </a:r>
          </a:p>
          <a:p>
            <a:pPr lvl="1"/>
            <a:r>
              <a:rPr lang="en-US" dirty="0"/>
              <a:t>rural to urban</a:t>
            </a:r>
          </a:p>
          <a:p>
            <a:r>
              <a:rPr lang="en-US" dirty="0"/>
              <a:t>Recent migration streams</a:t>
            </a:r>
          </a:p>
          <a:p>
            <a:pPr lvl="1"/>
            <a:r>
              <a:rPr lang="en-US" dirty="0"/>
              <a:t>labor migrants</a:t>
            </a:r>
          </a:p>
          <a:p>
            <a:pPr lvl="1"/>
            <a:r>
              <a:rPr lang="en-US" dirty="0" smtClean="0"/>
              <a:t>war </a:t>
            </a:r>
            <a:r>
              <a:rPr lang="en-US" dirty="0"/>
              <a:t>and persecution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83194" y="729915"/>
            <a:ext cx="4425928" cy="29415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3194" y="3800409"/>
            <a:ext cx="4439865" cy="286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8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Europe’</a:t>
            </a:r>
            <a:r>
              <a:rPr lang="en-US" altLang="ja-JP" dirty="0"/>
              <a:t>s Muslims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Western European cities</a:t>
            </a:r>
          </a:p>
          <a:p>
            <a:pPr lvl="1"/>
            <a:r>
              <a:rPr lang="en-US" dirty="0"/>
              <a:t>migrant workers</a:t>
            </a:r>
          </a:p>
          <a:p>
            <a:pPr lvl="1"/>
            <a:r>
              <a:rPr lang="en-US" dirty="0"/>
              <a:t>asylum seekers</a:t>
            </a:r>
          </a:p>
          <a:p>
            <a:pPr lvl="1"/>
            <a:r>
              <a:rPr lang="en-US" dirty="0"/>
              <a:t>refugees</a:t>
            </a:r>
          </a:p>
          <a:p>
            <a:r>
              <a:rPr lang="en-US" dirty="0"/>
              <a:t>Resistance </a:t>
            </a:r>
            <a:r>
              <a:rPr lang="en-US" dirty="0" smtClean="0"/>
              <a:t>to </a:t>
            </a:r>
            <a:r>
              <a:rPr lang="en-US" dirty="0"/>
              <a:t>cultural assimilation</a:t>
            </a:r>
          </a:p>
          <a:p>
            <a:pPr lvl="1"/>
            <a:r>
              <a:rPr lang="en-US" dirty="0"/>
              <a:t>discrimination</a:t>
            </a:r>
          </a:p>
        </p:txBody>
      </p:sp>
    </p:spTree>
    <p:extLst>
      <p:ext uri="{BB962C8B-B14F-4D97-AF65-F5344CB8AC3E}">
        <p14:creationId xmlns:p14="http://schemas.microsoft.com/office/powerpoint/2010/main" val="190342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Europe’s Towns and 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72325" y="1080399"/>
            <a:ext cx="3993979" cy="3951288"/>
          </a:xfrm>
        </p:spPr>
        <p:txBody>
          <a:bodyPr/>
          <a:lstStyle/>
          <a:p>
            <a:r>
              <a:rPr lang="en-US" dirty="0"/>
              <a:t>Highly urbanized</a:t>
            </a:r>
          </a:p>
          <a:p>
            <a:r>
              <a:rPr lang="en-US" b="1" dirty="0"/>
              <a:t>World cities</a:t>
            </a:r>
          </a:p>
          <a:p>
            <a:r>
              <a:rPr lang="en-US" dirty="0"/>
              <a:t>Traditional market towns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2028" y="1860452"/>
            <a:ext cx="5213018" cy="444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7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Geographies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Coping with aging populations</a:t>
            </a:r>
          </a:p>
          <a:p>
            <a:r>
              <a:rPr lang="en-US" dirty="0"/>
              <a:t>Economics and </a:t>
            </a:r>
            <a:r>
              <a:rPr lang="en-US" dirty="0" smtClean="0"/>
              <a:t>politics </a:t>
            </a:r>
            <a:r>
              <a:rPr lang="en-US" dirty="0"/>
              <a:t>of </a:t>
            </a:r>
            <a:r>
              <a:rPr lang="en-US" dirty="0" smtClean="0"/>
              <a:t>immigration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43893" y="2117418"/>
            <a:ext cx="6424247" cy="440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3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Aging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3085629" cy="3951288"/>
          </a:xfrm>
        </p:spPr>
        <p:txBody>
          <a:bodyPr/>
          <a:lstStyle/>
          <a:p>
            <a:r>
              <a:rPr lang="en-US" dirty="0"/>
              <a:t>Europe has 19 of the world’s 20 oldest countries</a:t>
            </a:r>
          </a:p>
          <a:p>
            <a:r>
              <a:rPr lang="en-US" dirty="0"/>
              <a:t>Old-age dependency ratios increasing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73760" y="1215683"/>
            <a:ext cx="5811626" cy="480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640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Immigration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5053107" cy="3951288"/>
          </a:xfrm>
        </p:spPr>
        <p:txBody>
          <a:bodyPr/>
          <a:lstStyle/>
          <a:p>
            <a:r>
              <a:rPr lang="en-US" dirty="0"/>
              <a:t>North Africa/Middle East </a:t>
            </a:r>
            <a:r>
              <a:rPr lang="en-US" dirty="0" smtClean="0"/>
              <a:t>immigrants</a:t>
            </a:r>
            <a:endParaRPr lang="en-US" dirty="0"/>
          </a:p>
          <a:p>
            <a:r>
              <a:rPr lang="en-US" dirty="0"/>
              <a:t>Growing Muslim population </a:t>
            </a:r>
          </a:p>
          <a:p>
            <a:pPr lvl="1"/>
            <a:r>
              <a:rPr lang="en-US" dirty="0" smtClean="0"/>
              <a:t>social </a:t>
            </a:r>
            <a:r>
              <a:rPr lang="en-US" dirty="0"/>
              <a:t>and cultural conflict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266114"/>
            <a:ext cx="3657600" cy="641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14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EU: Costs of Expansions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8444266" cy="3951288"/>
          </a:xfrm>
        </p:spPr>
        <p:txBody>
          <a:bodyPr/>
          <a:lstStyle/>
          <a:p>
            <a:r>
              <a:rPr lang="en-US" dirty="0"/>
              <a:t>Expansion of EU costly</a:t>
            </a:r>
          </a:p>
          <a:p>
            <a:pPr lvl="1"/>
            <a:r>
              <a:rPr lang="en-US" dirty="0" smtClean="0"/>
              <a:t>EU </a:t>
            </a:r>
            <a:r>
              <a:rPr lang="en-US" dirty="0"/>
              <a:t>subsidies to new </a:t>
            </a:r>
            <a:r>
              <a:rPr lang="en-US" dirty="0" smtClean="0"/>
              <a:t>member countries </a:t>
            </a:r>
            <a:r>
              <a:rPr lang="en-US" dirty="0"/>
              <a:t>account for </a:t>
            </a:r>
            <a:r>
              <a:rPr lang="en-US" dirty="0" smtClean="0"/>
              <a:t>more than 40% of </a:t>
            </a:r>
            <a:r>
              <a:rPr lang="en-US" dirty="0"/>
              <a:t>total budget </a:t>
            </a:r>
          </a:p>
        </p:txBody>
      </p:sp>
    </p:spTree>
    <p:extLst>
      <p:ext uri="{BB962C8B-B14F-4D97-AF65-F5344CB8AC3E}">
        <p14:creationId xmlns:p14="http://schemas.microsoft.com/office/powerpoint/2010/main" val="369582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EU: Problems of Indebtedness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84048" y="1080399"/>
            <a:ext cx="4720387" cy="3951288"/>
          </a:xfrm>
        </p:spPr>
        <p:txBody>
          <a:bodyPr/>
          <a:lstStyle/>
          <a:p>
            <a:r>
              <a:rPr lang="en-US" dirty="0"/>
              <a:t>Weak European countries tied to </a:t>
            </a:r>
            <a:r>
              <a:rPr lang="en-US" dirty="0" smtClean="0"/>
              <a:t>stronger ones </a:t>
            </a:r>
            <a:r>
              <a:rPr lang="en-US" dirty="0"/>
              <a:t>through the Eurozone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13285" y="656492"/>
            <a:ext cx="3451939" cy="61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0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482&quot;&gt;&lt;object type=&quot;3&quot; unique_id=&quot;10483&quot;&gt;&lt;property id=&quot;20148&quot; value=&quot;5&quot;/&gt;&lt;property id=&quot;20300&quot; value=&quot;Slide 1&quot;/&gt;&lt;property id=&quot;20307&quot; value=&quot;256&quot;/&gt;&lt;/object&gt;&lt;object type=&quot;3&quot; unique_id=&quot;10484&quot;&gt;&lt;property id=&quot;20148&quot; value=&quot;5&quot;/&gt;&lt;property id=&quot;20300&quot; value=&quot;Slide 2&quot;/&gt;&lt;property id=&quot;20307&quot; value=&quot;258&quot;/&gt;&lt;/object&gt;&lt;object type=&quot;3&quot; unique_id=&quot;10485&quot;&gt;&lt;property id=&quot;20148&quot; value=&quot;5&quot;/&gt;&lt;property id=&quot;20300&quot; value=&quot;Slide 3&quot;/&gt;&lt;property id=&quot;20307&quot; value=&quot;263&quot;/&gt;&lt;/object&gt;&lt;object type=&quot;3&quot; unique_id=&quot;10486&quot;&gt;&lt;property id=&quot;20148&quot; value=&quot;5&quot;/&gt;&lt;property id=&quot;20300&quot; value=&quot;Slide 4&quot;/&gt;&lt;property id=&quot;20307&quot; value=&quot;264&quot;/&gt;&lt;/object&gt;&lt;object type=&quot;3&quot; unique_id=&quot;10487&quot;&gt;&lt;property id=&quot;20148&quot; value=&quot;5&quot;/&gt;&lt;property id=&quot;20300&quot; value=&quot;Slide 5&quot;/&gt;&lt;property id=&quot;20307&quot; value=&quot;265&quot;/&gt;&lt;/object&gt;&lt;object type=&quot;3&quot; unique_id=&quot;10488&quot;&gt;&lt;property id=&quot;20148&quot; value=&quot;5&quot;/&gt;&lt;property id=&quot;20300&quot; value=&quot;Slide 6&quot;/&gt;&lt;property id=&quot;20307&quot; value=&quot;295&quot;/&gt;&lt;/object&gt;&lt;object type=&quot;3&quot; unique_id=&quot;10489&quot;&gt;&lt;property id=&quot;20148&quot; value=&quot;5&quot;/&gt;&lt;property id=&quot;20300&quot; value=&quot;Slide 7&quot;/&gt;&lt;property id=&quot;20307&quot; value=&quot;296&quot;/&gt;&lt;/object&gt;&lt;object type=&quot;3&quot; unique_id=&quot;10490&quot;&gt;&lt;property id=&quot;20148&quot; value=&quot;5&quot;/&gt;&lt;property id=&quot;20300&quot; value=&quot;Slide 8&quot;/&gt;&lt;property id=&quot;20307&quot; value=&quot;297&quot;/&gt;&lt;/object&gt;&lt;object type=&quot;3&quot; unique_id=&quot;10491&quot;&gt;&lt;property id=&quot;20148&quot; value=&quot;5&quot;/&gt;&lt;property id=&quot;20300&quot; value=&quot;Slide 9&quot;/&gt;&lt;property id=&quot;20307&quot; value=&quot;298&quot;/&gt;&lt;/object&gt;&lt;object type=&quot;3&quot; unique_id=&quot;10492&quot;&gt;&lt;property id=&quot;20148&quot; value=&quot;5&quot;/&gt;&lt;property id=&quot;20300&quot; value=&quot;Slide 10&quot;/&gt;&lt;property id=&quot;20307&quot; value=&quot;271&quot;/&gt;&lt;/object&gt;&lt;object type=&quot;3&quot; unique_id=&quot;10493&quot;&gt;&lt;property id=&quot;20148&quot; value=&quot;5&quot;/&gt;&lt;property id=&quot;20300&quot; value=&quot;Slide 11&quot;/&gt;&lt;property id=&quot;20307&quot; value=&quot;272&quot;/&gt;&lt;/object&gt;&lt;object type=&quot;3&quot; unique_id=&quot;10494&quot;&gt;&lt;property id=&quot;20148&quot; value=&quot;5&quot;/&gt;&lt;property id=&quot;20300&quot; value=&quot;Slide 12&quot;/&gt;&lt;property id=&quot;20307&quot; value=&quot;273&quot;/&gt;&lt;/object&gt;&lt;object type=&quot;3&quot; unique_id=&quot;10495&quot;&gt;&lt;property id=&quot;20148&quot; value=&quot;5&quot;/&gt;&lt;property id=&quot;20300&quot; value=&quot;Slide 13&quot;/&gt;&lt;property id=&quot;20307&quot; value=&quot;299&quot;/&gt;&lt;/object&gt;&lt;object type=&quot;3&quot; unique_id=&quot;10496&quot;&gt;&lt;property id=&quot;20148&quot; value=&quot;5&quot;/&gt;&lt;property id=&quot;20300&quot; value=&quot;Slide 14&quot;/&gt;&lt;property id=&quot;20307&quot; value=&quot;301&quot;/&gt;&lt;/object&gt;&lt;object type=&quot;3&quot; unique_id=&quot;10497&quot;&gt;&lt;property id=&quot;20148&quot; value=&quot;5&quot;/&gt;&lt;property id=&quot;20300&quot; value=&quot;Slide 15&quot;/&gt;&lt;property id=&quot;20307&quot; value=&quot;300&quot;/&gt;&lt;/object&gt;&lt;object type=&quot;3&quot; unique_id=&quot;10498&quot;&gt;&lt;property id=&quot;20148&quot; value=&quot;5&quot;/&gt;&lt;property id=&quot;20300&quot; value=&quot;Slide 16&quot;/&gt;&lt;property id=&quot;20307&quot; value=&quot;276&quot;/&gt;&lt;/object&gt;&lt;object type=&quot;3&quot; unique_id=&quot;10499&quot;&gt;&lt;property id=&quot;20148&quot; value=&quot;5&quot;/&gt;&lt;property id=&quot;20300&quot; value=&quot;Slide 17&quot;/&gt;&lt;property id=&quot;20307&quot; value=&quot;277&quot;/&gt;&lt;/object&gt;&lt;object type=&quot;3&quot; unique_id=&quot;10500&quot;&gt;&lt;property id=&quot;20148&quot; value=&quot;5&quot;/&gt;&lt;property id=&quot;20300&quot; value=&quot;Slide 18&quot;/&gt;&lt;property id=&quot;20307&quot; value=&quot;278&quot;/&gt;&lt;/object&gt;&lt;object type=&quot;3&quot; unique_id=&quot;10501&quot;&gt;&lt;property id=&quot;20148&quot; value=&quot;5&quot;/&gt;&lt;property id=&quot;20300&quot; value=&quot;Slide 19&quot;/&gt;&lt;property id=&quot;20307&quot; value=&quot;302&quot;/&gt;&lt;/object&gt;&lt;object type=&quot;3&quot; unique_id=&quot;10502&quot;&gt;&lt;property id=&quot;20148&quot; value=&quot;5&quot;/&gt;&lt;property id=&quot;20300&quot; value=&quot;Slide 20&quot;/&gt;&lt;property id=&quot;20307&quot; value=&quot;281&quot;/&gt;&lt;/object&gt;&lt;object type=&quot;3&quot; unique_id=&quot;10503&quot;&gt;&lt;property id=&quot;20148&quot; value=&quot;5&quot;/&gt;&lt;property id=&quot;20300&quot; value=&quot;Slide 21&quot;/&gt;&lt;property id=&quot;20307&quot; value=&quot;282&quot;/&gt;&lt;/object&gt;&lt;object type=&quot;3&quot; unique_id=&quot;10504&quot;&gt;&lt;property id=&quot;20148&quot; value=&quot;5&quot;/&gt;&lt;property id=&quot;20300&quot; value=&quot;Slide 22&quot;/&gt;&lt;property id=&quot;20307&quot; value=&quot;275&quot;/&gt;&lt;/object&gt;&lt;object type=&quot;3&quot; unique_id=&quot;10505&quot;&gt;&lt;property id=&quot;20148&quot; value=&quot;5&quot;/&gt;&lt;property id=&quot;20300&quot; value=&quot;Slide 23&quot;/&gt;&lt;property id=&quot;20307&quot; value=&quot;269&quot;/&gt;&lt;/object&gt;&lt;object type=&quot;3&quot; unique_id=&quot;10506&quot;&gt;&lt;property id=&quot;20148&quot; value=&quot;5&quot;/&gt;&lt;property id=&quot;20300&quot; value=&quot;Slide 24&quot;/&gt;&lt;property id=&quot;20307&quot; value=&quot;303&quot;/&gt;&lt;/object&gt;&lt;object type=&quot;3&quot; unique_id=&quot;10507&quot;&gt;&lt;property id=&quot;20148&quot; value=&quot;5&quot;/&gt;&lt;property id=&quot;20300&quot; value=&quot;Slide 25&quot;/&gt;&lt;property id=&quot;20307&quot; value=&quot;283&quot;/&gt;&lt;/object&gt;&lt;object type=&quot;3&quot; unique_id=&quot;10508&quot;&gt;&lt;property id=&quot;20148&quot; value=&quot;5&quot;/&gt;&lt;property id=&quot;20300&quot; value=&quot;Slide 26&quot;/&gt;&lt;property id=&quot;20307&quot; value=&quot;304&quot;/&gt;&lt;/object&gt;&lt;object type=&quot;3&quot; unique_id=&quot;10509&quot;&gt;&lt;property id=&quot;20148&quot; value=&quot;5&quot;/&gt;&lt;property id=&quot;20300&quot; value=&quot;Slide 27&quot;/&gt;&lt;property id=&quot;20307&quot; value=&quot;284&quot;/&gt;&lt;/object&gt;&lt;object type=&quot;3&quot; unique_id=&quot;10510&quot;&gt;&lt;property id=&quot;20148&quot; value=&quot;5&quot;/&gt;&lt;property id=&quot;20300&quot; value=&quot;Slide 28&quot;/&gt;&lt;property id=&quot;20307&quot; value=&quot;285&quot;/&gt;&lt;/object&gt;&lt;object type=&quot;3&quot; unique_id=&quot;10511&quot;&gt;&lt;property id=&quot;20148&quot; value=&quot;5&quot;/&gt;&lt;property id=&quot;20300&quot; value=&quot;Slide 29&quot;/&gt;&lt;property id=&quot;20307&quot; value=&quot;305&quot;/&gt;&lt;/object&gt;&lt;object type=&quot;3&quot; unique_id=&quot;10512&quot;&gt;&lt;property id=&quot;20148&quot; value=&quot;5&quot;/&gt;&lt;property id=&quot;20300&quot; value=&quot;Slide 30&quot;/&gt;&lt;property id=&quot;20307&quot; value=&quot;306&quot;/&gt;&lt;/object&gt;&lt;object type=&quot;3&quot; unique_id=&quot;10513&quot;&gt;&lt;property id=&quot;20148&quot; value=&quot;5&quot;/&gt;&lt;property id=&quot;20300&quot; value=&quot;Slide 31&quot;/&gt;&lt;property id=&quot;20307&quot; value=&quot;291&quot;/&gt;&lt;/object&gt;&lt;object type=&quot;3&quot; unique_id=&quot;10514&quot;&gt;&lt;property id=&quot;20148&quot; value=&quot;5&quot;/&gt;&lt;property id=&quot;20300&quot; value=&quot;Slide 32&quot;/&gt;&lt;property id=&quot;20307&quot; value=&quot;288&quot;/&gt;&lt;/object&gt;&lt;object type=&quot;3&quot; unique_id=&quot;10515&quot;&gt;&lt;property id=&quot;20148&quot; value=&quot;5&quot;/&gt;&lt;property id=&quot;20300&quot; value=&quot;Slide 33&quot;/&gt;&lt;property id=&quot;20307&quot; value=&quot;309&quot;/&gt;&lt;/object&gt;&lt;object type=&quot;3&quot; unique_id=&quot;10516&quot;&gt;&lt;property id=&quot;20148&quot; value=&quot;5&quot;/&gt;&lt;property id=&quot;20300&quot; value=&quot;Slide 34&quot;/&gt;&lt;property id=&quot;20307&quot; value=&quot;289&quot;/&gt;&lt;/object&gt;&lt;object type=&quot;3&quot; unique_id=&quot;10517&quot;&gt;&lt;property id=&quot;20148&quot; value=&quot;5&quot;/&gt;&lt;property id=&quot;20300&quot; value=&quot;Slide 35&quot;/&gt;&lt;property id=&quot;20307&quot; value=&quot;307&quot;/&gt;&lt;/object&gt;&lt;object type=&quot;3&quot; unique_id=&quot;10518&quot;&gt;&lt;property id=&quot;20148&quot; value=&quot;5&quot;/&gt;&lt;property id=&quot;20300&quot; value=&quot;Slide 36&quot;/&gt;&lt;property id=&quot;20307&quot; value=&quot;310&quot;/&gt;&lt;/object&gt;&lt;object type=&quot;3&quot; unique_id=&quot;10519&quot;&gt;&lt;property id=&quot;20148&quot; value=&quot;5&quot;/&gt;&lt;property id=&quot;20300&quot; value=&quot;Slide 37&quot;/&gt;&lt;property id=&quot;20307&quot; value=&quot;294&quot;/&gt;&lt;/object&gt;&lt;object type=&quot;3&quot; unique_id=&quot;10520&quot;&gt;&lt;property id=&quot;20148&quot; value=&quot;5&quot;/&gt;&lt;property id=&quot;20300&quot; value=&quot;Slide 38&quot;/&gt;&lt;property id=&quot;20307&quot; value=&quot;311&quot;/&gt;&lt;/object&gt;&lt;/object&gt;&lt;object type=&quot;8&quot; unique_id=&quot;10560&quot;&gt;&lt;/object&gt;&lt;/object&gt;&lt;/database&gt;"/>
  <p:tag name="MMPROD_NEXTUNIQUEID" val="10018"/>
  <p:tag name="SECTOMILLISECCONVERTED" val="1"/>
</p:tagLst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7656</TotalTime>
  <Words>625</Words>
  <Application>Microsoft Office PowerPoint</Application>
  <PresentationFormat>On-screen Show (4:3)</PresentationFormat>
  <Paragraphs>205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ＭＳ Ｐゴシック</vt:lpstr>
      <vt:lpstr>ＭＳ Ｐゴシック</vt:lpstr>
      <vt:lpstr>Arial</vt:lpstr>
      <vt:lpstr>Calibri</vt:lpstr>
      <vt:lpstr>Geneva</vt:lpstr>
      <vt:lpstr>Verdana</vt:lpstr>
      <vt:lpstr>ヒラギノ角ゴ Pro W3</vt:lpstr>
      <vt:lpstr>1_Default Design</vt:lpstr>
      <vt:lpstr>PowerPoint Presentation</vt:lpstr>
      <vt:lpstr>Learning Outcomes</vt:lpstr>
      <vt:lpstr>Learning Outcomes </vt:lpstr>
      <vt:lpstr>Environment, Society, and Sustainability</vt:lpstr>
      <vt:lpstr>Climate and Climate Change</vt:lpstr>
      <vt:lpstr>Geological Resources, Risk, and Water </vt:lpstr>
      <vt:lpstr>Geological Resources, Risk, and Water (cont.) </vt:lpstr>
      <vt:lpstr>Geological Resources, Risk, and Water (cont.) </vt:lpstr>
      <vt:lpstr>Ecology, Land, and Environmental Management</vt:lpstr>
      <vt:lpstr>History, Economy, and Territory</vt:lpstr>
      <vt:lpstr>Historical Legacies and Landscapes</vt:lpstr>
      <vt:lpstr>Historical Legacies and Landscapes (cont.)</vt:lpstr>
      <vt:lpstr>Historical Legacies and Landscapes (cont.)</vt:lpstr>
      <vt:lpstr>Historical Legacies and Landscapes (cont.)</vt:lpstr>
      <vt:lpstr>Historical Legacies and Landscapes (cont.)</vt:lpstr>
      <vt:lpstr>Economy, Accumulation, and the Production of Inequality</vt:lpstr>
      <vt:lpstr>Territory and Politics</vt:lpstr>
      <vt:lpstr>Territory and Politics (cont.)</vt:lpstr>
      <vt:lpstr>Cultures and Populations</vt:lpstr>
      <vt:lpstr>Cultural Practices, Social Differences, and Identity</vt:lpstr>
      <vt:lpstr>Demography and Urbanization</vt:lpstr>
      <vt:lpstr>Demography and Urbanization (cont.)</vt:lpstr>
      <vt:lpstr>Europe’s Muslims</vt:lpstr>
      <vt:lpstr>Europe’s Towns and Cities</vt:lpstr>
      <vt:lpstr>Future Geographies</vt:lpstr>
      <vt:lpstr>Coping with Aging Populations</vt:lpstr>
      <vt:lpstr>Coping with Immigration</vt:lpstr>
      <vt:lpstr>The EU: Costs of Expansions</vt:lpstr>
      <vt:lpstr>The EU: Problems of Indebtedness</vt:lpstr>
      <vt:lpstr>PowerPoint Presentation</vt:lpstr>
    </vt:vector>
  </TitlesOfParts>
  <Company>NDSU Geoscience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Regions in Global Context: Peoples, Places, and Environments (2nd. ed)  Sallie A. Marston, Paul L. Knox,  &amp; Diana M. Liverman</dc:title>
  <dc:creator>Robert M Arthur</dc:creator>
  <cp:lastModifiedBy>Mandy Norton</cp:lastModifiedBy>
  <cp:revision>784</cp:revision>
  <dcterms:created xsi:type="dcterms:W3CDTF">2013-01-08T10:18:50Z</dcterms:created>
  <dcterms:modified xsi:type="dcterms:W3CDTF">2017-07-17T12:23:25Z</dcterms:modified>
</cp:coreProperties>
</file>