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notesMasterIdLst>
    <p:notesMasterId r:id="rId45"/>
  </p:notesMasterIdLst>
  <p:sldIdLst>
    <p:sldId id="257" r:id="rId3"/>
    <p:sldId id="256"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4" r:id="rId20"/>
    <p:sldId id="273" r:id="rId21"/>
    <p:sldId id="280" r:id="rId22"/>
    <p:sldId id="275" r:id="rId23"/>
    <p:sldId id="276" r:id="rId24"/>
    <p:sldId id="277" r:id="rId25"/>
    <p:sldId id="278" r:id="rId26"/>
    <p:sldId id="279" r:id="rId27"/>
    <p:sldId id="281" r:id="rId28"/>
    <p:sldId id="282" r:id="rId29"/>
    <p:sldId id="286" r:id="rId30"/>
    <p:sldId id="288" r:id="rId31"/>
    <p:sldId id="289" r:id="rId32"/>
    <p:sldId id="283" r:id="rId33"/>
    <p:sldId id="296" r:id="rId34"/>
    <p:sldId id="284" r:id="rId35"/>
    <p:sldId id="285" r:id="rId36"/>
    <p:sldId id="290" r:id="rId37"/>
    <p:sldId id="291" r:id="rId38"/>
    <p:sldId id="297" r:id="rId39"/>
    <p:sldId id="298" r:id="rId40"/>
    <p:sldId id="292" r:id="rId41"/>
    <p:sldId id="294" r:id="rId42"/>
    <p:sldId id="295" r:id="rId43"/>
    <p:sldId id="293"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763" autoAdjust="0"/>
  </p:normalViewPr>
  <p:slideViewPr>
    <p:cSldViewPr>
      <p:cViewPr varScale="1">
        <p:scale>
          <a:sx n="73" d="100"/>
          <a:sy n="73" d="100"/>
        </p:scale>
        <p:origin x="-1637" y="-67"/>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24F9427-0C58-4DA6-B0C9-ED3482F684B0}" type="datetimeFigureOut">
              <a:rPr lang="en-US" smtClean="0"/>
              <a:t>4/6/2016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3BF8FA4-4DBD-42C8-8D05-8A046B008BB4}" type="slidenum">
              <a:rPr lang="en-US" smtClean="0"/>
              <a:t>‹#›</a:t>
            </a:fld>
            <a:endParaRPr lang="en-US" dirty="0"/>
          </a:p>
        </p:txBody>
      </p:sp>
    </p:spTree>
    <p:extLst>
      <p:ext uri="{BB962C8B-B14F-4D97-AF65-F5344CB8AC3E}">
        <p14:creationId xmlns:p14="http://schemas.microsoft.com/office/powerpoint/2010/main" val="411676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For a better classroom presentation flow, the order of some topics in this lecture outline differs slightly from the order of topics in the text and, where this occurs, some figures and tables are out of numerical order.</a:t>
            </a:r>
            <a:endParaRPr lang="en-US" dirty="0"/>
          </a:p>
        </p:txBody>
      </p:sp>
      <p:sp>
        <p:nvSpPr>
          <p:cNvPr id="4" name="Slide Number Placeholder 3"/>
          <p:cNvSpPr>
            <a:spLocks noGrp="1"/>
          </p:cNvSpPr>
          <p:nvPr>
            <p:ph type="sldNum" sz="quarter" idx="10"/>
          </p:nvPr>
        </p:nvSpPr>
        <p:spPr/>
        <p:txBody>
          <a:bodyPr/>
          <a:lstStyle/>
          <a:p>
            <a:fld id="{A3BF8FA4-4DBD-42C8-8D05-8A046B008BB4}" type="slidenum">
              <a:rPr lang="en-US" smtClean="0"/>
              <a:t>1</a:t>
            </a:fld>
            <a:endParaRPr lang="en-US" dirty="0"/>
          </a:p>
        </p:txBody>
      </p:sp>
    </p:spTree>
    <p:extLst>
      <p:ext uri="{BB962C8B-B14F-4D97-AF65-F5344CB8AC3E}">
        <p14:creationId xmlns:p14="http://schemas.microsoft.com/office/powerpoint/2010/main" val="96274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Melanesia is a region in the</a:t>
            </a:r>
            <a:r>
              <a:rPr lang="en-US" baseline="0" dirty="0" smtClean="0"/>
              <a:t> </a:t>
            </a:r>
            <a:r>
              <a:rPr lang="en-US" dirty="0" smtClean="0"/>
              <a:t>South Pacific that includes</a:t>
            </a:r>
            <a:r>
              <a:rPr lang="en-US" baseline="0" dirty="0" smtClean="0"/>
              <a:t> </a:t>
            </a:r>
            <a:r>
              <a:rPr lang="en-US" dirty="0" smtClean="0"/>
              <a:t>the independent states of</a:t>
            </a:r>
            <a:r>
              <a:rPr lang="en-US" baseline="0" dirty="0" smtClean="0"/>
              <a:t> </a:t>
            </a:r>
            <a:r>
              <a:rPr lang="en-US" dirty="0" smtClean="0"/>
              <a:t>Papua New Guinea, the</a:t>
            </a:r>
            <a:r>
              <a:rPr lang="en-US" baseline="0" dirty="0" smtClean="0"/>
              <a:t> </a:t>
            </a:r>
            <a:r>
              <a:rPr lang="en-US" dirty="0" smtClean="0"/>
              <a:t>Republic of Vanuatu, the</a:t>
            </a:r>
            <a:r>
              <a:rPr lang="en-US" baseline="0" dirty="0" smtClean="0"/>
              <a:t> </a:t>
            </a:r>
            <a:r>
              <a:rPr lang="en-US" dirty="0" smtClean="0"/>
              <a:t>Solomon Islands, and Fiji as</a:t>
            </a:r>
            <a:r>
              <a:rPr lang="en-US" baseline="0" dirty="0" smtClean="0"/>
              <a:t> </a:t>
            </a:r>
            <a:r>
              <a:rPr lang="en-US" dirty="0" smtClean="0"/>
              <a:t>well as many islands that are</a:t>
            </a:r>
            <a:r>
              <a:rPr lang="en-US" baseline="0" dirty="0" smtClean="0"/>
              <a:t> </a:t>
            </a:r>
            <a:r>
              <a:rPr lang="en-US" dirty="0" smtClean="0"/>
              <a:t>controlled by other countries.</a:t>
            </a:r>
            <a:r>
              <a:rPr lang="en-US" baseline="0" dirty="0" smtClean="0"/>
              <a:t> </a:t>
            </a:r>
            <a:r>
              <a:rPr lang="en-US" dirty="0" smtClean="0"/>
              <a:t>It also encompasses the</a:t>
            </a:r>
            <a:r>
              <a:rPr lang="en-US" baseline="0" dirty="0" smtClean="0"/>
              <a:t> </a:t>
            </a:r>
            <a:r>
              <a:rPr lang="en-US" dirty="0" smtClean="0"/>
              <a:t>western part of the island</a:t>
            </a:r>
            <a:r>
              <a:rPr lang="en-US" baseline="0" dirty="0" smtClean="0"/>
              <a:t> </a:t>
            </a:r>
            <a:r>
              <a:rPr lang="en-US" dirty="0" smtClean="0"/>
              <a:t>of New Guinea, which is</a:t>
            </a:r>
            <a:r>
              <a:rPr lang="en-US" baseline="0" dirty="0" smtClean="0"/>
              <a:t> </a:t>
            </a:r>
            <a:r>
              <a:rPr lang="en-US" dirty="0" smtClean="0"/>
              <a:t>controlled by Indonesia,</a:t>
            </a:r>
            <a:r>
              <a:rPr lang="en-US" baseline="0" dirty="0" smtClean="0"/>
              <a:t> </a:t>
            </a:r>
            <a:r>
              <a:rPr lang="en-US" dirty="0" smtClean="0"/>
              <a:t>and islands to the west of it, though the people there do</a:t>
            </a:r>
            <a:r>
              <a:rPr lang="en-US" baseline="0" dirty="0" smtClean="0"/>
              <a:t> </a:t>
            </a:r>
            <a:r>
              <a:rPr lang="en-US" dirty="0" smtClean="0"/>
              <a:t>not identify themselves as</a:t>
            </a:r>
            <a:r>
              <a:rPr lang="en-US" baseline="0" dirty="0" smtClean="0"/>
              <a:t> </a:t>
            </a:r>
            <a:r>
              <a:rPr lang="en-US" dirty="0" smtClean="0"/>
              <a:t>Melanesians.</a:t>
            </a:r>
            <a:endParaRPr lang="en-US" dirty="0"/>
          </a:p>
        </p:txBody>
      </p:sp>
      <p:sp>
        <p:nvSpPr>
          <p:cNvPr id="4" name="Slide Number Placeholder 3"/>
          <p:cNvSpPr>
            <a:spLocks noGrp="1"/>
          </p:cNvSpPr>
          <p:nvPr>
            <p:ph type="sldNum" sz="quarter" idx="10"/>
          </p:nvPr>
        </p:nvSpPr>
        <p:spPr/>
        <p:txBody>
          <a:bodyPr/>
          <a:lstStyle/>
          <a:p>
            <a:fld id="{A3BF8FA4-4DBD-42C8-8D05-8A046B008BB4}" type="slidenum">
              <a:rPr lang="en-US" smtClean="0"/>
              <a:t>10</a:t>
            </a:fld>
            <a:endParaRPr lang="en-US" dirty="0"/>
          </a:p>
        </p:txBody>
      </p:sp>
    </p:spTree>
    <p:extLst>
      <p:ext uri="{BB962C8B-B14F-4D97-AF65-F5344CB8AC3E}">
        <p14:creationId xmlns:p14="http://schemas.microsoft.com/office/powerpoint/2010/main" val="16429964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Napoleon Chagnon in the field with two</a:t>
            </a:r>
            <a:r>
              <a:rPr lang="en-US" baseline="0" dirty="0" smtClean="0"/>
              <a:t> </a:t>
            </a:r>
            <a:r>
              <a:rPr lang="en-US" dirty="0" smtClean="0"/>
              <a:t>Yanomami men, 1995. Chagnon distributed</a:t>
            </a:r>
            <a:r>
              <a:rPr lang="en-US" baseline="0" dirty="0" smtClean="0"/>
              <a:t> </a:t>
            </a:r>
            <a:r>
              <a:rPr lang="en-US" dirty="0" smtClean="0"/>
              <a:t>goods such as steel axes and tobacco to</a:t>
            </a:r>
            <a:r>
              <a:rPr lang="en-US" baseline="0" dirty="0" smtClean="0"/>
              <a:t> </a:t>
            </a:r>
            <a:r>
              <a:rPr lang="en-US" dirty="0" smtClean="0"/>
              <a:t>the Yanomami to gain their cooperation in</a:t>
            </a:r>
            <a:r>
              <a:rPr lang="en-US" baseline="0" dirty="0" smtClean="0"/>
              <a:t> </a:t>
            </a:r>
            <a:r>
              <a:rPr lang="en-US" dirty="0" smtClean="0"/>
              <a:t>his research.</a:t>
            </a:r>
            <a:endParaRPr lang="en-US" dirty="0"/>
          </a:p>
        </p:txBody>
      </p:sp>
      <p:sp>
        <p:nvSpPr>
          <p:cNvPr id="4" name="Slide Number Placeholder 3"/>
          <p:cNvSpPr>
            <a:spLocks noGrp="1"/>
          </p:cNvSpPr>
          <p:nvPr>
            <p:ph type="sldNum" sz="quarter" idx="10"/>
          </p:nvPr>
        </p:nvSpPr>
        <p:spPr/>
        <p:txBody>
          <a:bodyPr/>
          <a:lstStyle/>
          <a:p>
            <a:fld id="{A3BF8FA4-4DBD-42C8-8D05-8A046B008BB4}" type="slidenum">
              <a:rPr lang="en-US" smtClean="0"/>
              <a:t>32</a:t>
            </a:fld>
            <a:endParaRPr lang="en-US" dirty="0"/>
          </a:p>
        </p:txBody>
      </p:sp>
    </p:spTree>
    <p:extLst>
      <p:ext uri="{BB962C8B-B14F-4D97-AF65-F5344CB8AC3E}">
        <p14:creationId xmlns:p14="http://schemas.microsoft.com/office/powerpoint/2010/main" val="14079479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Commonwealth of Puerto Rico is a U.S. territory with</a:t>
            </a:r>
            <a:r>
              <a:rPr lang="en-US" baseline="0" dirty="0" smtClean="0"/>
              <a:t> </a:t>
            </a:r>
            <a:r>
              <a:rPr lang="en-US" dirty="0" smtClean="0"/>
              <a:t>commonwealth status. The indigenous population of the island,</a:t>
            </a:r>
            <a:r>
              <a:rPr lang="en-US" baseline="0" dirty="0" smtClean="0"/>
              <a:t> </a:t>
            </a:r>
            <a:r>
              <a:rPr lang="en-US" dirty="0" smtClean="0"/>
              <a:t>the Tainos, is extinct. Analysis of DNA of current inhabitants of</a:t>
            </a:r>
            <a:r>
              <a:rPr lang="en-US" baseline="0" dirty="0" smtClean="0"/>
              <a:t> </a:t>
            </a:r>
            <a:r>
              <a:rPr lang="en-US" dirty="0" smtClean="0"/>
              <a:t>Puerto Rico reveals a mixed ancestry, including the Taino, Spanish</a:t>
            </a:r>
            <a:r>
              <a:rPr lang="en-US" baseline="0" dirty="0" smtClean="0"/>
              <a:t> </a:t>
            </a:r>
            <a:r>
              <a:rPr lang="en-US" dirty="0" smtClean="0"/>
              <a:t>colonialists, and Africans who came to the island as slaves. The</a:t>
            </a:r>
            <a:r>
              <a:rPr lang="en-US" baseline="0" dirty="0" smtClean="0"/>
              <a:t> </a:t>
            </a:r>
            <a:r>
              <a:rPr lang="en-US" dirty="0" smtClean="0"/>
              <a:t>economy is based on agriculture, and sugarcane is the main crop.</a:t>
            </a:r>
            <a:r>
              <a:rPr lang="en-US" baseline="0" dirty="0" smtClean="0"/>
              <a:t> </a:t>
            </a:r>
            <a:r>
              <a:rPr lang="en-US" dirty="0" smtClean="0"/>
              <a:t>Tourism is also important, as are remittances. Official languages are</a:t>
            </a:r>
            <a:r>
              <a:rPr lang="en-US" baseline="0" dirty="0" smtClean="0"/>
              <a:t> </a:t>
            </a:r>
            <a:r>
              <a:rPr lang="en-US" dirty="0" smtClean="0"/>
              <a:t>Spanish and English. Roman Catholicism is the dominant religion,</a:t>
            </a:r>
            <a:r>
              <a:rPr lang="en-US" baseline="0" dirty="0" smtClean="0"/>
              <a:t> </a:t>
            </a:r>
            <a:r>
              <a:rPr lang="en-US" dirty="0" smtClean="0"/>
              <a:t>although Protestantism is increasing.</a:t>
            </a:r>
            <a:endParaRPr lang="en-US" dirty="0"/>
          </a:p>
        </p:txBody>
      </p:sp>
      <p:sp>
        <p:nvSpPr>
          <p:cNvPr id="4" name="Slide Number Placeholder 3"/>
          <p:cNvSpPr>
            <a:spLocks noGrp="1"/>
          </p:cNvSpPr>
          <p:nvPr>
            <p:ph type="sldNum" sz="quarter" idx="10"/>
          </p:nvPr>
        </p:nvSpPr>
        <p:spPr/>
        <p:txBody>
          <a:bodyPr/>
          <a:lstStyle/>
          <a:p>
            <a:fld id="{A3BF8FA4-4DBD-42C8-8D05-8A046B008BB4}" type="slidenum">
              <a:rPr lang="en-US" smtClean="0"/>
              <a:t>37</a:t>
            </a:fld>
            <a:endParaRPr lang="en-US" dirty="0"/>
          </a:p>
        </p:txBody>
      </p:sp>
    </p:spTree>
    <p:extLst>
      <p:ext uri="{BB962C8B-B14F-4D97-AF65-F5344CB8AC3E}">
        <p14:creationId xmlns:p14="http://schemas.microsoft.com/office/powerpoint/2010/main" val="18077890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3BF8FA4-4DBD-42C8-8D05-8A046B008BB4}" type="slidenum">
              <a:rPr lang="en-US" smtClean="0"/>
              <a:t>38</a:t>
            </a:fld>
            <a:endParaRPr lang="en-US" dirty="0"/>
          </a:p>
        </p:txBody>
      </p:sp>
    </p:spTree>
    <p:extLst>
      <p:ext uri="{BB962C8B-B14F-4D97-AF65-F5344CB8AC3E}">
        <p14:creationId xmlns:p14="http://schemas.microsoft.com/office/powerpoint/2010/main" val="6275382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Kurdistan includes parts of Iran, Iraq, Syria, Turkey, and Armenia. About half of all Kurds live in Turkey.</a:t>
            </a:r>
            <a:endParaRPr lang="en-US" dirty="0"/>
          </a:p>
        </p:txBody>
      </p:sp>
      <p:sp>
        <p:nvSpPr>
          <p:cNvPr id="4" name="Slide Number Placeholder 3"/>
          <p:cNvSpPr>
            <a:spLocks noGrp="1"/>
          </p:cNvSpPr>
          <p:nvPr>
            <p:ph type="sldNum" sz="quarter" idx="10"/>
          </p:nvPr>
        </p:nvSpPr>
        <p:spPr/>
        <p:txBody>
          <a:bodyPr/>
          <a:lstStyle/>
          <a:p>
            <a:fld id="{A3BF8FA4-4DBD-42C8-8D05-8A046B008BB4}" type="slidenum">
              <a:rPr lang="en-US" smtClean="0"/>
              <a:t>41</a:t>
            </a:fld>
            <a:endParaRPr lang="en-US" dirty="0"/>
          </a:p>
        </p:txBody>
      </p:sp>
    </p:spTree>
    <p:extLst>
      <p:ext uri="{BB962C8B-B14F-4D97-AF65-F5344CB8AC3E}">
        <p14:creationId xmlns:p14="http://schemas.microsoft.com/office/powerpoint/2010/main" val="2055056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3"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44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4"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Tree>
    <p:extLst>
      <p:ext uri="{BB962C8B-B14F-4D97-AF65-F5344CB8AC3E}">
        <p14:creationId xmlns:p14="http://schemas.microsoft.com/office/powerpoint/2010/main" val="3806056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Tree>
    <p:extLst>
      <p:ext uri="{BB962C8B-B14F-4D97-AF65-F5344CB8AC3E}">
        <p14:creationId xmlns:p14="http://schemas.microsoft.com/office/powerpoint/2010/main" val="1255095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4/6/2016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4140190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4/6/2016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678048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4/6/2016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571841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4/6/2016</a:t>
            </a:fld>
            <a:endParaRPr lang="en-US" dirty="0"/>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90677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4/6/2016</a:t>
            </a:fld>
            <a:endParaRPr lang="en-US" dirty="0"/>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3758911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4/6/2016</a:t>
            </a:fld>
            <a:endParaRPr lang="en-US" dirty="0"/>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64310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4/6/2016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421055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10" Type="http://schemas.openxmlformats.org/officeDocument/2006/relationships/image" Target="../media/image2.emf"/><Relationship Id="rId4" Type="http://schemas.openxmlformats.org/officeDocument/2006/relationships/slideLayout" Target="../slideLayouts/slideLayout5.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37650" cy="457200"/>
            <a:chOff x="0" y="6511925"/>
            <a:chExt cx="9137650" cy="430213"/>
          </a:xfrm>
          <a:solidFill>
            <a:schemeClr val="accent1">
              <a:lumMod val="75000"/>
            </a:schemeClr>
          </a:solidFill>
        </p:grpSpPr>
        <p:pic>
          <p:nvPicPr>
            <p:cNvPr id="8" name="Always Learning Logo" descr="Pearson: Always Learning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black">
            <a:xfrm>
              <a:off x="0" y="6511926"/>
              <a:ext cx="1660525" cy="430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9" name="Pearson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10" name="Copyright" descr="Copyright 2015, 2012, 2009"/>
            <p:cNvSpPr txBox="1">
              <a:spLocks noChangeArrowheads="1"/>
            </p:cNvSpPr>
            <p:nvPr/>
          </p:nvSpPr>
          <p:spPr bwMode="auto">
            <a:xfrm>
              <a:off x="1600200" y="6511926"/>
              <a:ext cx="6130132"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ctr">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Copyright © 2017,</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2013, 2011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
        <p:nvSpPr>
          <p:cNvPr id="13" name="Title 10"/>
          <p:cNvSpPr txBox="1">
            <a:spLocks/>
          </p:cNvSpPr>
          <p:nvPr/>
        </p:nvSpPr>
        <p:spPr>
          <a:xfrm>
            <a:off x="457200" y="215372"/>
            <a:ext cx="8229600" cy="601058"/>
          </a:xfrm>
          <a:prstGeom prst="rect">
            <a:avLst/>
          </a:prstGeom>
        </p:spPr>
        <p:txBody>
          <a:bodyPr anchor="t"/>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400" dirty="0" smtClean="0">
                <a:solidFill>
                  <a:schemeClr val="bg1"/>
                </a:solidFill>
              </a:rPr>
              <a:t>Cultural</a:t>
            </a:r>
            <a:r>
              <a:rPr lang="en-US" sz="4400" baseline="0" dirty="0" smtClean="0">
                <a:solidFill>
                  <a:schemeClr val="bg1"/>
                </a:solidFill>
              </a:rPr>
              <a:t> Anthropology</a:t>
            </a:r>
            <a:endParaRPr lang="en-US" sz="4400" dirty="0">
              <a:solidFill>
                <a:schemeClr val="bg1"/>
              </a:solidFill>
            </a:endParaRPr>
          </a:p>
        </p:txBody>
      </p:sp>
      <p:sp>
        <p:nvSpPr>
          <p:cNvPr id="14" name="Text Placeholder 6"/>
          <p:cNvSpPr txBox="1">
            <a:spLocks/>
          </p:cNvSpPr>
          <p:nvPr/>
        </p:nvSpPr>
        <p:spPr>
          <a:xfrm>
            <a:off x="457200" y="816430"/>
            <a:ext cx="8229600" cy="478970"/>
          </a:xfrm>
          <a:prstGeom prst="rect">
            <a:avLst/>
          </a:prstGeom>
        </p:spPr>
        <p:txBody>
          <a:bodyPr>
            <a:noAutofit/>
          </a:bodyPr>
          <a:lstStyle>
            <a:lvl1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1pPr>
            <a:lvl2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2pPr>
            <a:lvl3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3pPr>
            <a:lvl4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4pPr>
            <a:lvl5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5pPr>
            <a:lvl6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6pPr>
            <a:lvl7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7pPr>
            <a:lvl8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8pPr>
            <a:lvl9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9pPr>
          </a:lstStyle>
          <a:p>
            <a:r>
              <a:rPr lang="en-US" dirty="0" smtClean="0"/>
              <a:t>Eighth</a:t>
            </a:r>
            <a:r>
              <a:rPr lang="en-US" baseline="0" dirty="0" smtClean="0"/>
              <a:t> </a:t>
            </a:r>
            <a:r>
              <a:rPr lang="en-US" dirty="0" smtClean="0"/>
              <a:t>Edition</a:t>
            </a:r>
            <a:endParaRPr lang="en-US" dirty="0"/>
          </a:p>
        </p:txBody>
      </p:sp>
    </p:spTree>
    <p:extLst>
      <p:ext uri="{BB962C8B-B14F-4D97-AF65-F5344CB8AC3E}">
        <p14:creationId xmlns:p14="http://schemas.microsoft.com/office/powerpoint/2010/main" val="3671177032"/>
      </p:ext>
    </p:extLst>
  </p:cSld>
  <p:clrMap bg1="lt1" tx1="dk1" bg2="lt2" tx2="dk2" accent1="accent1" accent2="accent2" accent3="accent3" accent4="accent4" accent5="accent5" accent6="accent6" hlink="hlink" folHlink="folHlink"/>
  <p:sldLayoutIdLst>
    <p:sldLayoutId id="2147483672"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44000" cy="457200"/>
            <a:chOff x="0" y="6511925"/>
            <a:chExt cx="9137650" cy="430213"/>
          </a:xfrm>
          <a:solidFill>
            <a:schemeClr val="accent1">
              <a:lumMod val="75000"/>
            </a:schemeClr>
          </a:solidFill>
        </p:grpSpPr>
        <p:pic>
          <p:nvPicPr>
            <p:cNvPr id="8" name="Pearson Logo"/>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9" name="Copyright" descr="Copyright 2015, 2012, 2009"/>
            <p:cNvSpPr txBox="1">
              <a:spLocks noChangeArrowheads="1"/>
            </p:cNvSpPr>
            <p:nvPr/>
          </p:nvSpPr>
          <p:spPr bwMode="auto">
            <a:xfrm>
              <a:off x="0" y="6511926"/>
              <a:ext cx="7696200"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l">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Copyright © 2017, 2013, 2011 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Tree>
    <p:extLst>
      <p:ext uri="{BB962C8B-B14F-4D97-AF65-F5344CB8AC3E}">
        <p14:creationId xmlns:p14="http://schemas.microsoft.com/office/powerpoint/2010/main" val="3622156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ctr"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r>
              <a:rPr lang="en-US" dirty="0" smtClean="0"/>
              <a:t>Chapter 10</a:t>
            </a:r>
            <a:endParaRPr lang="en-US" dirty="0"/>
          </a:p>
        </p:txBody>
      </p:sp>
      <p:sp>
        <p:nvSpPr>
          <p:cNvPr id="3" name="Text Placeholder 2"/>
          <p:cNvSpPr>
            <a:spLocks noGrp="1"/>
          </p:cNvSpPr>
          <p:nvPr>
            <p:ph type="body" sz="quarter" idx="15"/>
          </p:nvPr>
        </p:nvSpPr>
        <p:spPr/>
        <p:txBody>
          <a:bodyPr/>
          <a:lstStyle/>
          <a:p>
            <a:r>
              <a:rPr lang="en-US" dirty="0" smtClean="0"/>
              <a:t>Power, Politics, and Social Order</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600200"/>
            <a:ext cx="3679722" cy="4562855"/>
          </a:xfrm>
          <a:prstGeom prst="rect">
            <a:avLst/>
          </a:prstGeom>
        </p:spPr>
      </p:pic>
    </p:spTree>
    <p:extLst>
      <p:ext uri="{BB962C8B-B14F-4D97-AF65-F5344CB8AC3E}">
        <p14:creationId xmlns:p14="http://schemas.microsoft.com/office/powerpoint/2010/main" val="24361857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Learning Objectives</a:t>
            </a:r>
            <a:endParaRPr lang="en-US" dirty="0"/>
          </a:p>
        </p:txBody>
      </p:sp>
      <p:sp>
        <p:nvSpPr>
          <p:cNvPr id="5" name="Content Placeholder 4"/>
          <p:cNvSpPr>
            <a:spLocks noGrp="1"/>
          </p:cNvSpPr>
          <p:nvPr>
            <p:ph idx="1"/>
          </p:nvPr>
        </p:nvSpPr>
        <p:spPr/>
        <p:txBody>
          <a:bodyPr/>
          <a:lstStyle/>
          <a:p>
            <a:pPr marL="0" indent="0">
              <a:buNone/>
            </a:pPr>
            <a:r>
              <a:rPr lang="en-US" dirty="0" smtClean="0">
                <a:solidFill>
                  <a:schemeClr val="tx2"/>
                </a:solidFill>
              </a:rPr>
              <a:t>10.1</a:t>
            </a:r>
            <a:r>
              <a:rPr lang="en-US" dirty="0" smtClean="0"/>
              <a:t> Recognize how anthropologists define and study public power.</a:t>
            </a:r>
          </a:p>
          <a:p>
            <a:endParaRPr lang="en-US" dirty="0"/>
          </a:p>
          <a:p>
            <a:pPr marL="0" indent="0">
              <a:buNone/>
            </a:pPr>
            <a:r>
              <a:rPr lang="en-US" dirty="0" smtClean="0">
                <a:solidFill>
                  <a:schemeClr val="tx2"/>
                </a:solidFill>
              </a:rPr>
              <a:t>10.2</a:t>
            </a:r>
            <a:r>
              <a:rPr lang="en-US" dirty="0" smtClean="0"/>
              <a:t> Identify ways that cultures maintain social order and address conflict.</a:t>
            </a:r>
          </a:p>
          <a:p>
            <a:endParaRPr lang="en-US" dirty="0"/>
          </a:p>
          <a:p>
            <a:pPr marL="0" indent="0">
              <a:buNone/>
            </a:pPr>
            <a:r>
              <a:rPr lang="en-US" dirty="0" smtClean="0">
                <a:solidFill>
                  <a:schemeClr val="tx2"/>
                </a:solidFill>
              </a:rPr>
              <a:t>10.3</a:t>
            </a:r>
            <a:r>
              <a:rPr lang="en-US" dirty="0" smtClean="0"/>
              <a:t> Illustrate changes in public power and social control.</a:t>
            </a:r>
            <a:endParaRPr lang="en-US" dirty="0"/>
          </a:p>
        </p:txBody>
      </p:sp>
    </p:spTree>
    <p:extLst>
      <p:ext uri="{BB962C8B-B14F-4D97-AF65-F5344CB8AC3E}">
        <p14:creationId xmlns:p14="http://schemas.microsoft.com/office/powerpoint/2010/main" val="25449066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sz="3600" dirty="0" smtClean="0"/>
              <a:t>Public Power: Political Organization and Leadership </a:t>
            </a:r>
            <a:r>
              <a:rPr lang="en-US" sz="3100" dirty="0" smtClean="0"/>
              <a:t>(1 of 3)</a:t>
            </a:r>
            <a:br>
              <a:rPr lang="en-US" sz="3100" dirty="0" smtClean="0"/>
            </a:br>
            <a:r>
              <a:rPr lang="en-US" sz="2200" dirty="0" smtClean="0"/>
              <a:t>10.1 Recognize how anthropologists define and study public power.</a:t>
            </a:r>
            <a:endParaRPr lang="en-US" sz="2200" dirty="0"/>
          </a:p>
        </p:txBody>
      </p:sp>
      <p:sp>
        <p:nvSpPr>
          <p:cNvPr id="3" name="Content Placeholder 2"/>
          <p:cNvSpPr>
            <a:spLocks noGrp="1"/>
          </p:cNvSpPr>
          <p:nvPr>
            <p:ph idx="1"/>
          </p:nvPr>
        </p:nvSpPr>
        <p:spPr/>
        <p:txBody>
          <a:bodyPr>
            <a:normAutofit fontScale="92500" lnSpcReduction="10000"/>
          </a:bodyPr>
          <a:lstStyle/>
          <a:p>
            <a:r>
              <a:rPr lang="en-US" dirty="0" smtClean="0"/>
              <a:t>The scope of political anthropology</a:t>
            </a:r>
          </a:p>
          <a:p>
            <a:pPr lvl="1"/>
            <a:r>
              <a:rPr lang="en-US" dirty="0" smtClean="0"/>
              <a:t>Who </a:t>
            </a:r>
            <a:r>
              <a:rPr lang="en-US" dirty="0"/>
              <a:t>has power and who does not</a:t>
            </a:r>
          </a:p>
          <a:p>
            <a:pPr lvl="1"/>
            <a:r>
              <a:rPr lang="en-US" dirty="0"/>
              <a:t>Degrees of power</a:t>
            </a:r>
          </a:p>
          <a:p>
            <a:pPr lvl="1"/>
            <a:r>
              <a:rPr lang="en-US" dirty="0"/>
              <a:t>Bases of power</a:t>
            </a:r>
          </a:p>
          <a:p>
            <a:pPr lvl="1"/>
            <a:r>
              <a:rPr lang="en-US" dirty="0"/>
              <a:t>Abuses of power</a:t>
            </a:r>
          </a:p>
          <a:p>
            <a:pPr lvl="1"/>
            <a:r>
              <a:rPr lang="en-US" dirty="0"/>
              <a:t>Political organization and government</a:t>
            </a:r>
          </a:p>
          <a:p>
            <a:pPr lvl="1"/>
            <a:r>
              <a:rPr lang="en-US" dirty="0"/>
              <a:t>Political leadership roles</a:t>
            </a:r>
          </a:p>
          <a:p>
            <a:pPr lvl="1"/>
            <a:r>
              <a:rPr lang="en-US" dirty="0"/>
              <a:t>Relationships between political and religious power</a:t>
            </a:r>
          </a:p>
          <a:p>
            <a:pPr lvl="1"/>
            <a:r>
              <a:rPr lang="en-US" dirty="0" smtClean="0"/>
              <a:t>Changes </a:t>
            </a:r>
            <a:r>
              <a:rPr lang="en-US" dirty="0"/>
              <a:t>in political organization and power relationships through globalization and media</a:t>
            </a:r>
          </a:p>
          <a:p>
            <a:endParaRPr lang="en-US" dirty="0"/>
          </a:p>
        </p:txBody>
      </p:sp>
    </p:spTree>
    <p:extLst>
      <p:ext uri="{BB962C8B-B14F-4D97-AF65-F5344CB8AC3E}">
        <p14:creationId xmlns:p14="http://schemas.microsoft.com/office/powerpoint/2010/main" val="27784481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Public Power: Political Organization and Leadership </a:t>
            </a:r>
            <a:r>
              <a:rPr lang="en-US" sz="3100" dirty="0" smtClean="0"/>
              <a:t>(2 </a:t>
            </a:r>
            <a:r>
              <a:rPr lang="en-US" sz="3100" dirty="0"/>
              <a:t>of 3)</a:t>
            </a:r>
          </a:p>
        </p:txBody>
      </p:sp>
      <p:sp>
        <p:nvSpPr>
          <p:cNvPr id="3" name="Content Placeholder 2"/>
          <p:cNvSpPr>
            <a:spLocks noGrp="1"/>
          </p:cNvSpPr>
          <p:nvPr>
            <p:ph idx="1"/>
          </p:nvPr>
        </p:nvSpPr>
        <p:spPr/>
        <p:txBody>
          <a:bodyPr>
            <a:normAutofit/>
          </a:bodyPr>
          <a:lstStyle/>
          <a:p>
            <a:r>
              <a:rPr lang="en-US" dirty="0" smtClean="0"/>
              <a:t>Three aspects of political leadership</a:t>
            </a:r>
          </a:p>
          <a:p>
            <a:pPr lvl="1"/>
            <a:r>
              <a:rPr lang="en-US" dirty="0"/>
              <a:t>Power: the ability to bring about results, often through the possession or use of forceful means</a:t>
            </a:r>
          </a:p>
          <a:p>
            <a:pPr lvl="1"/>
            <a:r>
              <a:rPr lang="en-US" dirty="0"/>
              <a:t>Authority: the right to take certain forms of action</a:t>
            </a:r>
          </a:p>
          <a:p>
            <a:pPr lvl="1"/>
            <a:r>
              <a:rPr lang="en-US" dirty="0"/>
              <a:t>Influence: the ability to achieve a desired end by exerting social or moral pressure on someone or some group</a:t>
            </a:r>
          </a:p>
          <a:p>
            <a:endParaRPr lang="en-US" dirty="0"/>
          </a:p>
        </p:txBody>
      </p:sp>
    </p:spTree>
    <p:extLst>
      <p:ext uri="{BB962C8B-B14F-4D97-AF65-F5344CB8AC3E}">
        <p14:creationId xmlns:p14="http://schemas.microsoft.com/office/powerpoint/2010/main" val="20032312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Public Power: Political Organization and Leadership </a:t>
            </a:r>
            <a:r>
              <a:rPr lang="en-US" sz="3100" dirty="0" smtClean="0"/>
              <a:t>(3 </a:t>
            </a:r>
            <a:r>
              <a:rPr lang="en-US" sz="3100" dirty="0"/>
              <a:t>of 3)</a:t>
            </a:r>
          </a:p>
        </p:txBody>
      </p:sp>
      <p:sp>
        <p:nvSpPr>
          <p:cNvPr id="3" name="Content Placeholder 2"/>
          <p:cNvSpPr>
            <a:spLocks noGrp="1"/>
          </p:cNvSpPr>
          <p:nvPr>
            <p:ph idx="1"/>
          </p:nvPr>
        </p:nvSpPr>
        <p:spPr/>
        <p:txBody>
          <a:bodyPr/>
          <a:lstStyle/>
          <a:p>
            <a:r>
              <a:rPr lang="en-US" dirty="0" smtClean="0"/>
              <a:t>Types of political organization</a:t>
            </a:r>
          </a:p>
          <a:p>
            <a:pPr lvl="1"/>
            <a:r>
              <a:rPr lang="en-US" dirty="0" smtClean="0"/>
              <a:t>Bands</a:t>
            </a:r>
          </a:p>
          <a:p>
            <a:pPr lvl="1"/>
            <a:r>
              <a:rPr lang="en-US" dirty="0" smtClean="0"/>
              <a:t>Tribes</a:t>
            </a:r>
          </a:p>
          <a:p>
            <a:pPr lvl="1"/>
            <a:r>
              <a:rPr lang="en-US" dirty="0" smtClean="0"/>
              <a:t>Chiefdoms</a:t>
            </a:r>
          </a:p>
          <a:p>
            <a:pPr lvl="1"/>
            <a:r>
              <a:rPr lang="en-US" dirty="0" smtClean="0"/>
              <a:t>States</a:t>
            </a:r>
            <a:endParaRPr lang="en-US" dirty="0"/>
          </a:p>
        </p:txBody>
      </p:sp>
    </p:spTree>
    <p:extLst>
      <p:ext uri="{BB962C8B-B14F-4D97-AF65-F5344CB8AC3E}">
        <p14:creationId xmlns:p14="http://schemas.microsoft.com/office/powerpoint/2010/main" val="18608456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Bands </a:t>
            </a:r>
            <a:r>
              <a:rPr lang="en-US" sz="2800" dirty="0" smtClean="0"/>
              <a:t>(1 of 2)</a:t>
            </a:r>
            <a:endParaRPr lang="en-US" sz="2800" dirty="0"/>
          </a:p>
        </p:txBody>
      </p:sp>
      <p:sp>
        <p:nvSpPr>
          <p:cNvPr id="3" name="Content Placeholder 2"/>
          <p:cNvSpPr>
            <a:spLocks noGrp="1"/>
          </p:cNvSpPr>
          <p:nvPr>
            <p:ph idx="1"/>
          </p:nvPr>
        </p:nvSpPr>
        <p:spPr/>
        <p:txBody>
          <a:bodyPr/>
          <a:lstStyle/>
          <a:p>
            <a:r>
              <a:rPr lang="en-US" dirty="0"/>
              <a:t>Foraging groups</a:t>
            </a:r>
          </a:p>
          <a:p>
            <a:r>
              <a:rPr lang="en-US" dirty="0"/>
              <a:t>Between 20 and a few hundred people; everyone knows one another and are kin</a:t>
            </a:r>
          </a:p>
          <a:p>
            <a:r>
              <a:rPr lang="en-US" dirty="0"/>
              <a:t>Membership is flexible</a:t>
            </a:r>
          </a:p>
          <a:p>
            <a:r>
              <a:rPr lang="en-US" dirty="0"/>
              <a:t>Leader is “first among equals”</a:t>
            </a:r>
          </a:p>
          <a:p>
            <a:r>
              <a:rPr lang="en-US" dirty="0"/>
              <a:t>Leader </a:t>
            </a:r>
            <a:r>
              <a:rPr lang="en-US" dirty="0" smtClean="0"/>
              <a:t>has influence</a:t>
            </a:r>
            <a:r>
              <a:rPr lang="en-US" dirty="0"/>
              <a:t>, perhaps authority, but no power</a:t>
            </a:r>
          </a:p>
          <a:p>
            <a:endParaRPr lang="en-US" dirty="0"/>
          </a:p>
        </p:txBody>
      </p:sp>
    </p:spTree>
    <p:extLst>
      <p:ext uri="{BB962C8B-B14F-4D97-AF65-F5344CB8AC3E}">
        <p14:creationId xmlns:p14="http://schemas.microsoft.com/office/powerpoint/2010/main" val="7509589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Bands </a:t>
            </a:r>
            <a:r>
              <a:rPr lang="en-US" sz="2800" dirty="0" smtClean="0"/>
              <a:t>(2 </a:t>
            </a:r>
            <a:r>
              <a:rPr lang="en-US" sz="2800" dirty="0"/>
              <a:t>of 2)</a:t>
            </a:r>
          </a:p>
        </p:txBody>
      </p:sp>
      <p:sp>
        <p:nvSpPr>
          <p:cNvPr id="3" name="Content Placeholder 2"/>
          <p:cNvSpPr>
            <a:spLocks noGrp="1"/>
          </p:cNvSpPr>
          <p:nvPr>
            <p:ph idx="1"/>
          </p:nvPr>
        </p:nvSpPr>
        <p:spPr/>
        <p:txBody>
          <a:bodyPr/>
          <a:lstStyle/>
          <a:p>
            <a:r>
              <a:rPr lang="en-US" dirty="0" smtClean="0"/>
              <a:t>Do bands have “politics”?</a:t>
            </a:r>
          </a:p>
          <a:p>
            <a:pPr lvl="1"/>
            <a:r>
              <a:rPr lang="en-US" dirty="0" smtClean="0"/>
              <a:t>Not </a:t>
            </a:r>
            <a:r>
              <a:rPr lang="en-US" dirty="0"/>
              <a:t>in a formal </a:t>
            </a:r>
            <a:r>
              <a:rPr lang="en-US" dirty="0" smtClean="0"/>
              <a:t>sense</a:t>
            </a:r>
            <a:endParaRPr lang="en-US" dirty="0"/>
          </a:p>
          <a:p>
            <a:pPr lvl="2"/>
            <a:r>
              <a:rPr lang="en-US" dirty="0" smtClean="0"/>
              <a:t>Leadership </a:t>
            </a:r>
            <a:r>
              <a:rPr lang="en-US" dirty="0"/>
              <a:t>roles are not formalized </a:t>
            </a:r>
          </a:p>
          <a:p>
            <a:pPr lvl="2"/>
            <a:r>
              <a:rPr lang="en-US" dirty="0" smtClean="0"/>
              <a:t>No </a:t>
            </a:r>
            <a:r>
              <a:rPr lang="en-US" dirty="0"/>
              <a:t>marks of political membership exist </a:t>
            </a:r>
          </a:p>
          <a:p>
            <a:pPr lvl="1"/>
            <a:r>
              <a:rPr lang="en-US" dirty="0"/>
              <a:t>But bands can and do make decisions as a </a:t>
            </a:r>
            <a:r>
              <a:rPr lang="en-US" dirty="0" smtClean="0"/>
              <a:t>group </a:t>
            </a:r>
            <a:endParaRPr lang="en-US" dirty="0"/>
          </a:p>
          <a:p>
            <a:pPr lvl="2"/>
            <a:r>
              <a:rPr lang="en-US" dirty="0" smtClean="0"/>
              <a:t>When </a:t>
            </a:r>
            <a:r>
              <a:rPr lang="en-US" dirty="0"/>
              <a:t>to migrate </a:t>
            </a:r>
          </a:p>
          <a:p>
            <a:pPr lvl="2"/>
            <a:r>
              <a:rPr lang="en-US" dirty="0" smtClean="0"/>
              <a:t>How </a:t>
            </a:r>
            <a:r>
              <a:rPr lang="en-US" dirty="0"/>
              <a:t>to deal with internal and external threats</a:t>
            </a:r>
          </a:p>
          <a:p>
            <a:endParaRPr lang="en-US" dirty="0"/>
          </a:p>
        </p:txBody>
      </p:sp>
    </p:spTree>
    <p:extLst>
      <p:ext uri="{BB962C8B-B14F-4D97-AF65-F5344CB8AC3E}">
        <p14:creationId xmlns:p14="http://schemas.microsoft.com/office/powerpoint/2010/main" val="18518755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Tribes </a:t>
            </a:r>
            <a:r>
              <a:rPr lang="en-US" sz="2800" dirty="0" smtClean="0"/>
              <a:t>(1 of 3)</a:t>
            </a:r>
            <a:endParaRPr lang="en-US" sz="2800" dirty="0"/>
          </a:p>
        </p:txBody>
      </p:sp>
      <p:sp>
        <p:nvSpPr>
          <p:cNvPr id="3" name="Content Placeholder 2"/>
          <p:cNvSpPr>
            <a:spLocks noGrp="1"/>
          </p:cNvSpPr>
          <p:nvPr>
            <p:ph idx="1"/>
          </p:nvPr>
        </p:nvSpPr>
        <p:spPr/>
        <p:txBody>
          <a:bodyPr>
            <a:normAutofit fontScale="92500" lnSpcReduction="10000"/>
          </a:bodyPr>
          <a:lstStyle/>
          <a:p>
            <a:r>
              <a:rPr lang="en-US" dirty="0"/>
              <a:t>Associated with horticulture and pastoralism</a:t>
            </a:r>
          </a:p>
          <a:p>
            <a:r>
              <a:rPr lang="en-US" dirty="0"/>
              <a:t>Comprise several </a:t>
            </a:r>
            <a:r>
              <a:rPr lang="en-US" dirty="0" smtClean="0"/>
              <a:t>bands with </a:t>
            </a:r>
            <a:r>
              <a:rPr lang="en-US" dirty="0"/>
              <a:t>similar lifestyle, language, and territory</a:t>
            </a:r>
          </a:p>
          <a:p>
            <a:r>
              <a:rPr lang="en-US" dirty="0" smtClean="0"/>
              <a:t>Members </a:t>
            </a:r>
            <a:r>
              <a:rPr lang="en-US" dirty="0"/>
              <a:t>know each other and are related</a:t>
            </a:r>
          </a:p>
          <a:p>
            <a:r>
              <a:rPr lang="en-US" dirty="0"/>
              <a:t>Leadership combines both achieved and ascribed status</a:t>
            </a:r>
          </a:p>
          <a:p>
            <a:r>
              <a:rPr lang="en-US" dirty="0"/>
              <a:t>Leader (“headman”) resolves conflict</a:t>
            </a:r>
          </a:p>
          <a:p>
            <a:r>
              <a:rPr lang="en-US" dirty="0"/>
              <a:t>Leader relies on influence and authority, sometimes power </a:t>
            </a:r>
          </a:p>
          <a:p>
            <a:endParaRPr lang="en-US" dirty="0"/>
          </a:p>
        </p:txBody>
      </p:sp>
    </p:spTree>
    <p:extLst>
      <p:ext uri="{BB962C8B-B14F-4D97-AF65-F5344CB8AC3E}">
        <p14:creationId xmlns:p14="http://schemas.microsoft.com/office/powerpoint/2010/main" val="34919904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Tribes </a:t>
            </a:r>
            <a:r>
              <a:rPr lang="en-US" sz="2800" dirty="0" smtClean="0"/>
              <a:t>(2 of 3)</a:t>
            </a:r>
            <a:endParaRPr lang="en-US" sz="2800" dirty="0"/>
          </a:p>
        </p:txBody>
      </p:sp>
      <p:sp>
        <p:nvSpPr>
          <p:cNvPr id="3" name="Content Placeholder 2"/>
          <p:cNvSpPr>
            <a:spLocks noGrp="1"/>
          </p:cNvSpPr>
          <p:nvPr>
            <p:ph idx="1"/>
          </p:nvPr>
        </p:nvSpPr>
        <p:spPr/>
        <p:txBody>
          <a:bodyPr/>
          <a:lstStyle/>
          <a:p>
            <a:r>
              <a:rPr lang="en-US" dirty="0" smtClean="0"/>
              <a:t>Big-Man/Big-Woman Leadership</a:t>
            </a:r>
          </a:p>
          <a:p>
            <a:pPr lvl="1"/>
            <a:r>
              <a:rPr lang="en-US" dirty="0" smtClean="0"/>
              <a:t>Category </a:t>
            </a:r>
            <a:r>
              <a:rPr lang="en-US" dirty="0"/>
              <a:t>of political organization midway between tribes and chiefdoms</a:t>
            </a:r>
          </a:p>
          <a:p>
            <a:pPr lvl="1"/>
            <a:r>
              <a:rPr lang="en-US" dirty="0"/>
              <a:t>Personality, favor-based political groupings</a:t>
            </a:r>
          </a:p>
          <a:p>
            <a:pPr lvl="1"/>
            <a:r>
              <a:rPr lang="en-US" dirty="0"/>
              <a:t>Heavy responsibilities in regulating internal and external affairs</a:t>
            </a:r>
          </a:p>
          <a:p>
            <a:pPr lvl="1"/>
            <a:r>
              <a:rPr lang="en-US" dirty="0"/>
              <a:t>Leadership is mainly achieved </a:t>
            </a:r>
          </a:p>
          <a:p>
            <a:pPr lvl="1"/>
            <a:r>
              <a:rPr lang="en-US" dirty="0"/>
              <a:t>Common in Melanesia, the South Pacific</a:t>
            </a:r>
          </a:p>
          <a:p>
            <a:endParaRPr lang="en-US" dirty="0"/>
          </a:p>
        </p:txBody>
      </p:sp>
    </p:spTree>
    <p:extLst>
      <p:ext uri="{BB962C8B-B14F-4D97-AF65-F5344CB8AC3E}">
        <p14:creationId xmlns:p14="http://schemas.microsoft.com/office/powerpoint/2010/main" val="36849535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10.2 Melanesia</a:t>
            </a:r>
            <a:endParaRPr lang="en-US" dirty="0"/>
          </a:p>
        </p:txBody>
      </p:sp>
      <p:pic>
        <p:nvPicPr>
          <p:cNvPr id="4" name="Content Placeholder 3" descr="A map of Melanesia shows that it includes Papua New Guinea, parts of Indonesia, Admiralty Islands (PNG), Bismark Archipelago (PNG), Solomon Islands, Louisiade Islands (PNG), Vanuatu, New Caledonia (France), Fiji, and Norfolk Island (Australia). An inset globe shows the area is in the South Pacific."/>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57230" y="1544773"/>
            <a:ext cx="5534170" cy="4779827"/>
          </a:xfrm>
        </p:spPr>
      </p:pic>
    </p:spTree>
    <p:extLst>
      <p:ext uri="{BB962C8B-B14F-4D97-AF65-F5344CB8AC3E}">
        <p14:creationId xmlns:p14="http://schemas.microsoft.com/office/powerpoint/2010/main" val="424327901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Tribes </a:t>
            </a:r>
            <a:r>
              <a:rPr lang="en-US" sz="2800" dirty="0" smtClean="0"/>
              <a:t>(3 of 3)</a:t>
            </a:r>
            <a:endParaRPr lang="en-US" sz="2800" dirty="0"/>
          </a:p>
        </p:txBody>
      </p:sp>
      <p:sp>
        <p:nvSpPr>
          <p:cNvPr id="3" name="Content Placeholder 2"/>
          <p:cNvSpPr>
            <a:spLocks noGrp="1"/>
          </p:cNvSpPr>
          <p:nvPr>
            <p:ph idx="1"/>
          </p:nvPr>
        </p:nvSpPr>
        <p:spPr/>
        <p:txBody>
          <a:bodyPr>
            <a:normAutofit lnSpcReduction="10000"/>
          </a:bodyPr>
          <a:lstStyle/>
          <a:p>
            <a:r>
              <a:rPr lang="en-US" dirty="0" smtClean="0"/>
              <a:t>Big-Man/Big Woman Leadership</a:t>
            </a:r>
          </a:p>
          <a:p>
            <a:pPr lvl="1"/>
            <a:r>
              <a:rPr lang="en-US" dirty="0" smtClean="0"/>
              <a:t>Making </a:t>
            </a:r>
            <a:r>
              <a:rPr lang="en-US" dirty="0"/>
              <a:t>m</a:t>
            </a:r>
            <a:r>
              <a:rPr lang="en-US" dirty="0" smtClean="0"/>
              <a:t>oka</a:t>
            </a:r>
          </a:p>
          <a:p>
            <a:pPr lvl="2"/>
            <a:r>
              <a:rPr lang="en-US" dirty="0"/>
              <a:t>Moka is the term for large public </a:t>
            </a:r>
            <a:r>
              <a:rPr lang="en-US" dirty="0" smtClean="0"/>
              <a:t>feasts, </a:t>
            </a:r>
            <a:r>
              <a:rPr lang="en-US" dirty="0"/>
              <a:t>with political motives, in highland Papua New Guinea</a:t>
            </a:r>
          </a:p>
          <a:p>
            <a:pPr lvl="2"/>
            <a:r>
              <a:rPr lang="en-US" dirty="0"/>
              <a:t>They are a key part of big-man politics throughout Melanesia</a:t>
            </a:r>
          </a:p>
          <a:p>
            <a:pPr lvl="2"/>
            <a:r>
              <a:rPr lang="en-US" dirty="0"/>
              <a:t>Leaders plan for years, sometimes, about how many pigs and other valuables they will give away at the moka</a:t>
            </a:r>
          </a:p>
          <a:p>
            <a:pPr lvl="2"/>
            <a:r>
              <a:rPr lang="en-US" dirty="0"/>
              <a:t>Mokas depend on followers’ support and reinforce and build a leader’s status</a:t>
            </a:r>
          </a:p>
          <a:p>
            <a:pPr marL="914400" lvl="2" indent="0">
              <a:buNone/>
            </a:pPr>
            <a:endParaRPr lang="en-US" dirty="0"/>
          </a:p>
        </p:txBody>
      </p:sp>
    </p:spTree>
    <p:extLst>
      <p:ext uri="{BB962C8B-B14F-4D97-AF65-F5344CB8AC3E}">
        <p14:creationId xmlns:p14="http://schemas.microsoft.com/office/powerpoint/2010/main" val="31039482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Chiefdoms</a:t>
            </a:r>
            <a:endParaRPr lang="en-US" dirty="0"/>
          </a:p>
        </p:txBody>
      </p:sp>
      <p:sp>
        <p:nvSpPr>
          <p:cNvPr id="3" name="Content Placeholder 2"/>
          <p:cNvSpPr>
            <a:spLocks noGrp="1"/>
          </p:cNvSpPr>
          <p:nvPr>
            <p:ph idx="1"/>
          </p:nvPr>
        </p:nvSpPr>
        <p:spPr>
          <a:xfrm>
            <a:off x="457200" y="1447800"/>
            <a:ext cx="8229600" cy="4525963"/>
          </a:xfrm>
        </p:spPr>
        <p:txBody>
          <a:bodyPr>
            <a:noAutofit/>
          </a:bodyPr>
          <a:lstStyle/>
          <a:p>
            <a:r>
              <a:rPr lang="en-US" sz="2800" dirty="0"/>
              <a:t>Permanently allied tribes and villages under one leader</a:t>
            </a:r>
          </a:p>
          <a:p>
            <a:r>
              <a:rPr lang="en-US" sz="2800" dirty="0"/>
              <a:t>More centralized and socially complex</a:t>
            </a:r>
          </a:p>
          <a:p>
            <a:r>
              <a:rPr lang="en-US" sz="2800" dirty="0"/>
              <a:t>Heritable systems of social rank and economic stratification</a:t>
            </a:r>
          </a:p>
          <a:p>
            <a:r>
              <a:rPr lang="en-US" sz="2800" dirty="0"/>
              <a:t>Chiefship is an “office” that must be filled at all times</a:t>
            </a:r>
          </a:p>
          <a:p>
            <a:r>
              <a:rPr lang="en-US" sz="2800" dirty="0"/>
              <a:t>Achievement is measured in terms of personal leadership skills, </a:t>
            </a:r>
            <a:r>
              <a:rPr lang="en-US" sz="2800" dirty="0" smtClean="0"/>
              <a:t>charisma, </a:t>
            </a:r>
            <a:r>
              <a:rPr lang="en-US" sz="2800" dirty="0"/>
              <a:t>and accumulated wealth</a:t>
            </a:r>
          </a:p>
          <a:p>
            <a:r>
              <a:rPr lang="en-US" sz="2800" dirty="0"/>
              <a:t>Confederacies are formed when chiefdoms are </a:t>
            </a:r>
            <a:r>
              <a:rPr lang="en-US" sz="2800" dirty="0" smtClean="0"/>
              <a:t>joined</a:t>
            </a:r>
            <a:endParaRPr lang="en-US" sz="2800" dirty="0"/>
          </a:p>
        </p:txBody>
      </p:sp>
    </p:spTree>
    <p:extLst>
      <p:ext uri="{BB962C8B-B14F-4D97-AF65-F5344CB8AC3E}">
        <p14:creationId xmlns:p14="http://schemas.microsoft.com/office/powerpoint/2010/main" val="14085547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States </a:t>
            </a:r>
            <a:r>
              <a:rPr lang="en-US" sz="2800" dirty="0" smtClean="0"/>
              <a:t>(1 of 4)</a:t>
            </a:r>
            <a:endParaRPr lang="en-US" sz="2800" dirty="0"/>
          </a:p>
        </p:txBody>
      </p:sp>
      <p:sp>
        <p:nvSpPr>
          <p:cNvPr id="3" name="Content Placeholder 2"/>
          <p:cNvSpPr>
            <a:spLocks noGrp="1"/>
          </p:cNvSpPr>
          <p:nvPr>
            <p:ph idx="1"/>
          </p:nvPr>
        </p:nvSpPr>
        <p:spPr/>
        <p:txBody>
          <a:bodyPr/>
          <a:lstStyle/>
          <a:p>
            <a:r>
              <a:rPr lang="en-US" dirty="0" smtClean="0"/>
              <a:t>Centralized political unit encompassing </a:t>
            </a:r>
            <a:r>
              <a:rPr lang="en-US" dirty="0"/>
              <a:t>many </a:t>
            </a:r>
            <a:r>
              <a:rPr lang="en-US" dirty="0" smtClean="0"/>
              <a:t>communities</a:t>
            </a:r>
          </a:p>
          <a:p>
            <a:r>
              <a:rPr lang="en-US" dirty="0"/>
              <a:t>B</a:t>
            </a:r>
            <a:r>
              <a:rPr lang="en-US" dirty="0" smtClean="0"/>
              <a:t>ureaucratic structure </a:t>
            </a:r>
          </a:p>
          <a:p>
            <a:r>
              <a:rPr lang="en-US" dirty="0"/>
              <a:t>L</a:t>
            </a:r>
            <a:r>
              <a:rPr lang="en-US" dirty="0" smtClean="0"/>
              <a:t>eaders possess </a:t>
            </a:r>
            <a:r>
              <a:rPr lang="en-US" dirty="0"/>
              <a:t>coercive power</a:t>
            </a:r>
          </a:p>
          <a:p>
            <a:pPr marL="0" indent="0">
              <a:buNone/>
            </a:pPr>
            <a:endParaRPr lang="en-US" dirty="0"/>
          </a:p>
        </p:txBody>
      </p:sp>
    </p:spTree>
    <p:extLst>
      <p:ext uri="{BB962C8B-B14F-4D97-AF65-F5344CB8AC3E}">
        <p14:creationId xmlns:p14="http://schemas.microsoft.com/office/powerpoint/2010/main" val="294069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States </a:t>
            </a:r>
            <a:r>
              <a:rPr lang="en-US" sz="2800" dirty="0" smtClean="0"/>
              <a:t>(2 </a:t>
            </a:r>
            <a:r>
              <a:rPr lang="en-US" sz="2800" dirty="0"/>
              <a:t>of 4)</a:t>
            </a:r>
          </a:p>
        </p:txBody>
      </p:sp>
      <p:sp>
        <p:nvSpPr>
          <p:cNvPr id="3" name="Content Placeholder 2"/>
          <p:cNvSpPr>
            <a:spLocks noGrp="1"/>
          </p:cNvSpPr>
          <p:nvPr>
            <p:ph idx="1"/>
          </p:nvPr>
        </p:nvSpPr>
        <p:spPr/>
        <p:txBody>
          <a:bodyPr>
            <a:normAutofit fontScale="92500" lnSpcReduction="10000"/>
          </a:bodyPr>
          <a:lstStyle/>
          <a:p>
            <a:r>
              <a:rPr lang="en-US" dirty="0" smtClean="0"/>
              <a:t>State Powers and Roles</a:t>
            </a:r>
          </a:p>
          <a:p>
            <a:pPr lvl="1"/>
            <a:r>
              <a:rPr lang="en-US" dirty="0" smtClean="0"/>
              <a:t>Engage </a:t>
            </a:r>
            <a:r>
              <a:rPr lang="en-US" dirty="0"/>
              <a:t>in international relations</a:t>
            </a:r>
          </a:p>
          <a:p>
            <a:pPr lvl="1"/>
            <a:r>
              <a:rPr lang="en-US" dirty="0"/>
              <a:t>Monopolize the use of force and maintain law and order</a:t>
            </a:r>
          </a:p>
          <a:p>
            <a:pPr lvl="1"/>
            <a:r>
              <a:rPr lang="en-US" dirty="0"/>
              <a:t>Maintain standing armies</a:t>
            </a:r>
          </a:p>
          <a:p>
            <a:pPr lvl="1"/>
            <a:r>
              <a:rPr lang="en-US" dirty="0"/>
              <a:t>Define citizenship, rights, and responsibilities</a:t>
            </a:r>
          </a:p>
          <a:p>
            <a:pPr lvl="1"/>
            <a:r>
              <a:rPr lang="en-US" dirty="0"/>
              <a:t>Keep track of citizens (census)</a:t>
            </a:r>
          </a:p>
          <a:p>
            <a:pPr lvl="1"/>
            <a:r>
              <a:rPr lang="en-US" dirty="0"/>
              <a:t>Taxation, in-kind or cash</a:t>
            </a:r>
          </a:p>
          <a:p>
            <a:pPr lvl="1"/>
            <a:r>
              <a:rPr lang="en-US" dirty="0"/>
              <a:t>Control and manipulate information</a:t>
            </a:r>
          </a:p>
          <a:p>
            <a:pPr lvl="1"/>
            <a:r>
              <a:rPr lang="en-US" dirty="0"/>
              <a:t>Provide social services</a:t>
            </a:r>
          </a:p>
          <a:p>
            <a:endParaRPr lang="en-US" dirty="0"/>
          </a:p>
        </p:txBody>
      </p:sp>
    </p:spTree>
    <p:extLst>
      <p:ext uri="{BB962C8B-B14F-4D97-AF65-F5344CB8AC3E}">
        <p14:creationId xmlns:p14="http://schemas.microsoft.com/office/powerpoint/2010/main" val="376439263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States </a:t>
            </a:r>
            <a:r>
              <a:rPr lang="en-US" sz="2800" dirty="0" smtClean="0"/>
              <a:t>(3 </a:t>
            </a:r>
            <a:r>
              <a:rPr lang="en-US" sz="2800" dirty="0"/>
              <a:t>of 4)</a:t>
            </a:r>
          </a:p>
        </p:txBody>
      </p:sp>
      <p:sp>
        <p:nvSpPr>
          <p:cNvPr id="3" name="Content Placeholder 2"/>
          <p:cNvSpPr>
            <a:spLocks noGrp="1"/>
          </p:cNvSpPr>
          <p:nvPr>
            <p:ph idx="1"/>
          </p:nvPr>
        </p:nvSpPr>
        <p:spPr/>
        <p:txBody>
          <a:bodyPr/>
          <a:lstStyle/>
          <a:p>
            <a:r>
              <a:rPr lang="en-US" dirty="0" smtClean="0"/>
              <a:t>Symbols of State Power</a:t>
            </a:r>
          </a:p>
          <a:p>
            <a:pPr lvl="1"/>
            <a:r>
              <a:rPr lang="en-US" dirty="0"/>
              <a:t>May connect leaders to deities</a:t>
            </a:r>
          </a:p>
          <a:p>
            <a:pPr lvl="1"/>
            <a:r>
              <a:rPr lang="en-US" dirty="0"/>
              <a:t>Leaders may have special dress, housing, food, modes of transportation, </a:t>
            </a:r>
            <a:r>
              <a:rPr lang="en-US" dirty="0" smtClean="0"/>
              <a:t>etc. that </a:t>
            </a:r>
            <a:r>
              <a:rPr lang="en-US" dirty="0"/>
              <a:t>distinguish them from the general populace (compare with the complete lack of such symbols in bands</a:t>
            </a:r>
            <a:r>
              <a:rPr lang="en-US" dirty="0" smtClean="0"/>
              <a:t>)</a:t>
            </a:r>
            <a:endParaRPr lang="en-US" dirty="0"/>
          </a:p>
        </p:txBody>
      </p:sp>
    </p:spTree>
    <p:extLst>
      <p:ext uri="{BB962C8B-B14F-4D97-AF65-F5344CB8AC3E}">
        <p14:creationId xmlns:p14="http://schemas.microsoft.com/office/powerpoint/2010/main" val="413970000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States </a:t>
            </a:r>
            <a:r>
              <a:rPr lang="en-US" sz="2800" dirty="0" smtClean="0"/>
              <a:t>(4 </a:t>
            </a:r>
            <a:r>
              <a:rPr lang="en-US" sz="2800" dirty="0"/>
              <a:t>of 4)</a:t>
            </a:r>
          </a:p>
        </p:txBody>
      </p:sp>
      <p:sp>
        <p:nvSpPr>
          <p:cNvPr id="3" name="Content Placeholder 2"/>
          <p:cNvSpPr>
            <a:spLocks noGrp="1"/>
          </p:cNvSpPr>
          <p:nvPr>
            <p:ph idx="1"/>
          </p:nvPr>
        </p:nvSpPr>
        <p:spPr/>
        <p:txBody>
          <a:bodyPr/>
          <a:lstStyle/>
          <a:p>
            <a:r>
              <a:rPr lang="en-US" dirty="0" smtClean="0"/>
              <a:t>Gender and Leadership in States</a:t>
            </a:r>
          </a:p>
          <a:p>
            <a:pPr lvl="1"/>
            <a:r>
              <a:rPr lang="en-US" dirty="0"/>
              <a:t>Most contemporary states are hierarchical and patriarchal, to different degrees</a:t>
            </a:r>
          </a:p>
          <a:p>
            <a:pPr lvl="1"/>
            <a:r>
              <a:rPr lang="en-US" dirty="0"/>
              <a:t>Highest rates of women’s political participation in the Nordic states</a:t>
            </a:r>
          </a:p>
          <a:p>
            <a:pPr lvl="1"/>
            <a:r>
              <a:rPr lang="en-US" dirty="0"/>
              <a:t>Women’s political roles often indirect or tied to kinship</a:t>
            </a:r>
          </a:p>
          <a:p>
            <a:endParaRPr lang="en-US" dirty="0"/>
          </a:p>
        </p:txBody>
      </p:sp>
    </p:spTree>
    <p:extLst>
      <p:ext uri="{BB962C8B-B14F-4D97-AF65-F5344CB8AC3E}">
        <p14:creationId xmlns:p14="http://schemas.microsoft.com/office/powerpoint/2010/main" val="29252128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600" dirty="0" smtClean="0"/>
              <a:t>Social Order and Social Conflict</a:t>
            </a:r>
            <a:r>
              <a:rPr lang="en-US" sz="3200" dirty="0" smtClean="0"/>
              <a:t/>
            </a:r>
            <a:br>
              <a:rPr lang="en-US" sz="3200" dirty="0" smtClean="0"/>
            </a:br>
            <a:r>
              <a:rPr lang="en-US" sz="2400" dirty="0" smtClean="0"/>
              <a:t>10.2 Identify ways that cultures maintain social order and address conflict.</a:t>
            </a:r>
            <a:endParaRPr lang="en-US" sz="2400" dirty="0"/>
          </a:p>
        </p:txBody>
      </p:sp>
      <p:sp>
        <p:nvSpPr>
          <p:cNvPr id="3" name="Content Placeholder 2"/>
          <p:cNvSpPr>
            <a:spLocks noGrp="1"/>
          </p:cNvSpPr>
          <p:nvPr>
            <p:ph idx="1"/>
          </p:nvPr>
        </p:nvSpPr>
        <p:spPr/>
        <p:txBody>
          <a:bodyPr/>
          <a:lstStyle/>
          <a:p>
            <a:r>
              <a:rPr lang="en-US" dirty="0"/>
              <a:t>Social control is the process by which people maintain orderly life in groups</a:t>
            </a:r>
          </a:p>
          <a:p>
            <a:r>
              <a:rPr lang="en-US" dirty="0"/>
              <a:t>Culturally defined rules and ways to ensure that people follow the rules</a:t>
            </a:r>
          </a:p>
          <a:p>
            <a:r>
              <a:rPr lang="en-US" dirty="0"/>
              <a:t>All cultures have some form of social </a:t>
            </a:r>
            <a:r>
              <a:rPr lang="en-US" dirty="0" smtClean="0"/>
              <a:t>control; vary </a:t>
            </a:r>
            <a:r>
              <a:rPr lang="en-US" dirty="0"/>
              <a:t>in </a:t>
            </a:r>
            <a:r>
              <a:rPr lang="en-US" dirty="0" smtClean="0"/>
              <a:t>formality</a:t>
            </a:r>
            <a:endParaRPr lang="en-US" dirty="0"/>
          </a:p>
        </p:txBody>
      </p:sp>
    </p:spTree>
    <p:extLst>
      <p:ext uri="{BB962C8B-B14F-4D97-AF65-F5344CB8AC3E}">
        <p14:creationId xmlns:p14="http://schemas.microsoft.com/office/powerpoint/2010/main" val="9554596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Norms and Laws</a:t>
            </a:r>
            <a:endParaRPr lang="en-US" dirty="0"/>
          </a:p>
        </p:txBody>
      </p:sp>
      <p:sp>
        <p:nvSpPr>
          <p:cNvPr id="3" name="Content Placeholder 2"/>
          <p:cNvSpPr>
            <a:spLocks noGrp="1"/>
          </p:cNvSpPr>
          <p:nvPr>
            <p:ph idx="1"/>
          </p:nvPr>
        </p:nvSpPr>
        <p:spPr/>
        <p:txBody>
          <a:bodyPr>
            <a:normAutofit/>
          </a:bodyPr>
          <a:lstStyle/>
          <a:p>
            <a:r>
              <a:rPr lang="en-US" dirty="0"/>
              <a:t>Social </a:t>
            </a:r>
            <a:r>
              <a:rPr lang="en-US" dirty="0" smtClean="0"/>
              <a:t>norm: a </a:t>
            </a:r>
            <a:r>
              <a:rPr lang="en-US" dirty="0"/>
              <a:t>generally agreed-upon standard for how </a:t>
            </a:r>
            <a:r>
              <a:rPr lang="en-US" dirty="0" smtClean="0"/>
              <a:t>people should </a:t>
            </a:r>
            <a:r>
              <a:rPr lang="en-US" dirty="0"/>
              <a:t>behave, usually unwritten and learned </a:t>
            </a:r>
            <a:r>
              <a:rPr lang="en-US" dirty="0" smtClean="0"/>
              <a:t>unconsciously</a:t>
            </a:r>
          </a:p>
          <a:p>
            <a:endParaRPr lang="en-US" dirty="0"/>
          </a:p>
          <a:p>
            <a:r>
              <a:rPr lang="en-US" dirty="0"/>
              <a:t>Law: a binding rule created through enactment or custom </a:t>
            </a:r>
            <a:r>
              <a:rPr lang="en-US" dirty="0" smtClean="0"/>
              <a:t>that defines </a:t>
            </a:r>
            <a:r>
              <a:rPr lang="en-US" dirty="0"/>
              <a:t>right and reasonable behavior and is enforceable by </a:t>
            </a:r>
            <a:r>
              <a:rPr lang="en-US" dirty="0" smtClean="0"/>
              <a:t>the threat </a:t>
            </a:r>
            <a:r>
              <a:rPr lang="en-US" dirty="0"/>
              <a:t>of </a:t>
            </a:r>
            <a:r>
              <a:rPr lang="en-US" dirty="0" smtClean="0"/>
              <a:t>punishment</a:t>
            </a:r>
          </a:p>
          <a:p>
            <a:pPr marL="0" indent="0">
              <a:buNone/>
            </a:pPr>
            <a:endParaRPr lang="en-US" dirty="0"/>
          </a:p>
        </p:txBody>
      </p:sp>
    </p:spTree>
    <p:extLst>
      <p:ext uri="{BB962C8B-B14F-4D97-AF65-F5344CB8AC3E}">
        <p14:creationId xmlns:p14="http://schemas.microsoft.com/office/powerpoint/2010/main" val="66933395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Systems of Social Control </a:t>
            </a:r>
            <a:r>
              <a:rPr lang="en-US" sz="2800" dirty="0" smtClean="0"/>
              <a:t>(1 of 12)</a:t>
            </a:r>
            <a:endParaRPr lang="en-US" sz="2800" dirty="0"/>
          </a:p>
        </p:txBody>
      </p:sp>
      <p:sp>
        <p:nvSpPr>
          <p:cNvPr id="3" name="Content Placeholder 2"/>
          <p:cNvSpPr>
            <a:spLocks noGrp="1"/>
          </p:cNvSpPr>
          <p:nvPr>
            <p:ph idx="1"/>
          </p:nvPr>
        </p:nvSpPr>
        <p:spPr/>
        <p:txBody>
          <a:bodyPr/>
          <a:lstStyle/>
          <a:p>
            <a:r>
              <a:rPr lang="en-US" dirty="0"/>
              <a:t>Systems of social control vary depending on social scale</a:t>
            </a:r>
          </a:p>
          <a:p>
            <a:pPr lvl="1"/>
            <a:r>
              <a:rPr lang="en-US" dirty="0"/>
              <a:t>In small-scale, face-to-face groups, social control is less formal and more likely to be based only on norms</a:t>
            </a:r>
          </a:p>
          <a:p>
            <a:pPr lvl="1"/>
            <a:r>
              <a:rPr lang="en-US" dirty="0"/>
              <a:t>In large-scale societies, norms regulate daily life but so do laws; punishment for violation of laws can be </a:t>
            </a:r>
            <a:r>
              <a:rPr lang="en-US" dirty="0" smtClean="0"/>
              <a:t>serious, </a:t>
            </a:r>
            <a:r>
              <a:rPr lang="en-US" dirty="0"/>
              <a:t>including death</a:t>
            </a:r>
          </a:p>
          <a:p>
            <a:endParaRPr lang="en-US" dirty="0"/>
          </a:p>
        </p:txBody>
      </p:sp>
    </p:spTree>
    <p:extLst>
      <p:ext uri="{BB962C8B-B14F-4D97-AF65-F5344CB8AC3E}">
        <p14:creationId xmlns:p14="http://schemas.microsoft.com/office/powerpoint/2010/main" val="22764291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of Social Control </a:t>
            </a:r>
            <a:r>
              <a:rPr lang="en-US" sz="2800" dirty="0" smtClean="0"/>
              <a:t>(2 </a:t>
            </a:r>
            <a:r>
              <a:rPr lang="en-US" sz="2800" dirty="0"/>
              <a:t>of 12)</a:t>
            </a:r>
          </a:p>
        </p:txBody>
      </p:sp>
      <p:sp>
        <p:nvSpPr>
          <p:cNvPr id="3" name="Content Placeholder 2"/>
          <p:cNvSpPr>
            <a:spLocks noGrp="1"/>
          </p:cNvSpPr>
          <p:nvPr>
            <p:ph idx="1"/>
          </p:nvPr>
        </p:nvSpPr>
        <p:spPr/>
        <p:txBody>
          <a:bodyPr/>
          <a:lstStyle/>
          <a:p>
            <a:r>
              <a:rPr lang="en-US" dirty="0" smtClean="0"/>
              <a:t>Social Control in Small-Scale Societies</a:t>
            </a:r>
          </a:p>
          <a:p>
            <a:pPr lvl="1"/>
            <a:r>
              <a:rPr lang="en-US" dirty="0" smtClean="0"/>
              <a:t>Disputes handled at the interpersonal level</a:t>
            </a:r>
          </a:p>
          <a:p>
            <a:pPr lvl="1"/>
            <a:r>
              <a:rPr lang="en-US" dirty="0" smtClean="0"/>
              <a:t>Groups may punish an individual with shaming, ridicule, or ostracism</a:t>
            </a:r>
          </a:p>
          <a:p>
            <a:pPr lvl="1"/>
            <a:r>
              <a:rPr lang="en-US" dirty="0" smtClean="0"/>
              <a:t>Emphasis on restoring order rather than punishment</a:t>
            </a:r>
            <a:endParaRPr lang="en-US" dirty="0"/>
          </a:p>
        </p:txBody>
      </p:sp>
    </p:spTree>
    <p:extLst>
      <p:ext uri="{BB962C8B-B14F-4D97-AF65-F5344CB8AC3E}">
        <p14:creationId xmlns:p14="http://schemas.microsoft.com/office/powerpoint/2010/main" val="181314905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of Social Control </a:t>
            </a:r>
            <a:r>
              <a:rPr lang="en-US" sz="2800" dirty="0" smtClean="0"/>
              <a:t>(3 </a:t>
            </a:r>
            <a:r>
              <a:rPr lang="en-US" sz="2800" dirty="0"/>
              <a:t>of 12)</a:t>
            </a:r>
          </a:p>
        </p:txBody>
      </p:sp>
      <p:sp>
        <p:nvSpPr>
          <p:cNvPr id="3" name="Content Placeholder 2"/>
          <p:cNvSpPr>
            <a:spLocks noGrp="1"/>
          </p:cNvSpPr>
          <p:nvPr>
            <p:ph idx="1"/>
          </p:nvPr>
        </p:nvSpPr>
        <p:spPr/>
        <p:txBody>
          <a:bodyPr>
            <a:normAutofit lnSpcReduction="10000"/>
          </a:bodyPr>
          <a:lstStyle/>
          <a:p>
            <a:r>
              <a:rPr lang="en-US" dirty="0" smtClean="0"/>
              <a:t>Social Control in States</a:t>
            </a:r>
          </a:p>
          <a:p>
            <a:pPr lvl="1"/>
            <a:r>
              <a:rPr lang="en-US" dirty="0" smtClean="0"/>
              <a:t>Increased </a:t>
            </a:r>
            <a:r>
              <a:rPr lang="en-US" dirty="0"/>
              <a:t>specialization of roles involved in social control</a:t>
            </a:r>
          </a:p>
          <a:p>
            <a:pPr lvl="1"/>
            <a:r>
              <a:rPr lang="en-US" dirty="0"/>
              <a:t>Formal trials and courts</a:t>
            </a:r>
          </a:p>
          <a:p>
            <a:pPr lvl="1"/>
            <a:r>
              <a:rPr lang="en-US" dirty="0"/>
              <a:t>Power-enforced forms of punishment, such as prisons and the death </a:t>
            </a:r>
            <a:r>
              <a:rPr lang="en-US" dirty="0" smtClean="0"/>
              <a:t>penalty</a:t>
            </a:r>
          </a:p>
          <a:p>
            <a:pPr lvl="1"/>
            <a:r>
              <a:rPr lang="en-US" dirty="0" smtClean="0"/>
              <a:t>Require specialized roles, including:</a:t>
            </a:r>
          </a:p>
          <a:p>
            <a:pPr lvl="2"/>
            <a:r>
              <a:rPr lang="en-US" dirty="0" smtClean="0"/>
              <a:t>Police</a:t>
            </a:r>
          </a:p>
          <a:p>
            <a:pPr lvl="2"/>
            <a:r>
              <a:rPr lang="en-US" dirty="0" smtClean="0"/>
              <a:t>Lawyers</a:t>
            </a:r>
          </a:p>
          <a:p>
            <a:pPr lvl="2"/>
            <a:r>
              <a:rPr lang="en-US" dirty="0" smtClean="0"/>
              <a:t>Judges</a:t>
            </a:r>
            <a:endParaRPr lang="en-US" dirty="0"/>
          </a:p>
          <a:p>
            <a:endParaRPr lang="en-US" dirty="0"/>
          </a:p>
        </p:txBody>
      </p:sp>
    </p:spTree>
    <p:extLst>
      <p:ext uri="{BB962C8B-B14F-4D97-AF65-F5344CB8AC3E}">
        <p14:creationId xmlns:p14="http://schemas.microsoft.com/office/powerpoint/2010/main" val="301023186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of Social Control </a:t>
            </a:r>
            <a:r>
              <a:rPr lang="en-US" sz="2800" dirty="0" smtClean="0"/>
              <a:t>(4 </a:t>
            </a:r>
            <a:r>
              <a:rPr lang="en-US" sz="2800" dirty="0"/>
              <a:t>of 12)</a:t>
            </a:r>
          </a:p>
        </p:txBody>
      </p:sp>
      <p:sp>
        <p:nvSpPr>
          <p:cNvPr id="3" name="Content Placeholder 2"/>
          <p:cNvSpPr>
            <a:spLocks noGrp="1"/>
          </p:cNvSpPr>
          <p:nvPr>
            <p:ph idx="1"/>
          </p:nvPr>
        </p:nvSpPr>
        <p:spPr/>
        <p:txBody>
          <a:bodyPr/>
          <a:lstStyle/>
          <a:p>
            <a:r>
              <a:rPr lang="en-US" dirty="0" smtClean="0"/>
              <a:t>Policing</a:t>
            </a:r>
            <a:endParaRPr lang="en-US" dirty="0"/>
          </a:p>
          <a:p>
            <a:pPr lvl="1"/>
            <a:r>
              <a:rPr lang="en-US" dirty="0" smtClean="0"/>
              <a:t>A </a:t>
            </a:r>
            <a:r>
              <a:rPr lang="en-US" dirty="0"/>
              <a:t>form of social control that includes surveillance and the threat of punishment </a:t>
            </a:r>
          </a:p>
          <a:p>
            <a:pPr lvl="1"/>
            <a:r>
              <a:rPr lang="en-US" dirty="0"/>
              <a:t>Police discover, report, and investigate crimes</a:t>
            </a:r>
          </a:p>
          <a:p>
            <a:pPr lvl="1"/>
            <a:r>
              <a:rPr lang="en-US" dirty="0"/>
              <a:t>They are associated with states</a:t>
            </a:r>
          </a:p>
          <a:p>
            <a:pPr lvl="1"/>
            <a:r>
              <a:rPr lang="en-US" dirty="0" smtClean="0"/>
              <a:t>Example: policing and crime rates in Japan</a:t>
            </a:r>
            <a:endParaRPr lang="en-US" dirty="0"/>
          </a:p>
        </p:txBody>
      </p:sp>
    </p:spTree>
    <p:extLst>
      <p:ext uri="{BB962C8B-B14F-4D97-AF65-F5344CB8AC3E}">
        <p14:creationId xmlns:p14="http://schemas.microsoft.com/office/powerpoint/2010/main" val="201246244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of Social Control </a:t>
            </a:r>
            <a:r>
              <a:rPr lang="en-US" sz="2800" dirty="0" smtClean="0"/>
              <a:t>(5 </a:t>
            </a:r>
            <a:r>
              <a:rPr lang="en-US" sz="2800" dirty="0"/>
              <a:t>of 12)</a:t>
            </a:r>
          </a:p>
        </p:txBody>
      </p:sp>
      <p:sp>
        <p:nvSpPr>
          <p:cNvPr id="3" name="Content Placeholder 2"/>
          <p:cNvSpPr>
            <a:spLocks noGrp="1"/>
          </p:cNvSpPr>
          <p:nvPr>
            <p:ph idx="1"/>
          </p:nvPr>
        </p:nvSpPr>
        <p:spPr/>
        <p:txBody>
          <a:bodyPr>
            <a:normAutofit/>
          </a:bodyPr>
          <a:lstStyle/>
          <a:p>
            <a:r>
              <a:rPr lang="en-US" dirty="0" smtClean="0"/>
              <a:t>Trials and Courts</a:t>
            </a:r>
          </a:p>
          <a:p>
            <a:pPr lvl="1"/>
            <a:r>
              <a:rPr lang="en-US" dirty="0" smtClean="0"/>
              <a:t>Trial </a:t>
            </a:r>
            <a:r>
              <a:rPr lang="en-US" dirty="0"/>
              <a:t>by ordeal: a way of judging guilt or innocence by putting the accused person through a test that is often painful</a:t>
            </a:r>
          </a:p>
          <a:p>
            <a:pPr lvl="1"/>
            <a:r>
              <a:rPr lang="en-US" dirty="0"/>
              <a:t>Court system used in many contemporary societies</a:t>
            </a:r>
          </a:p>
          <a:p>
            <a:pPr lvl="2"/>
            <a:r>
              <a:rPr lang="en-US" dirty="0"/>
              <a:t>Goal is to ensure justice and fairness</a:t>
            </a:r>
          </a:p>
          <a:p>
            <a:pPr lvl="2"/>
            <a:r>
              <a:rPr lang="en-US" dirty="0"/>
              <a:t>Biases (such as racial, ethnic, gender) affect the achievement of the goal</a:t>
            </a:r>
          </a:p>
          <a:p>
            <a:endParaRPr lang="en-US" dirty="0"/>
          </a:p>
        </p:txBody>
      </p:sp>
    </p:spTree>
    <p:extLst>
      <p:ext uri="{BB962C8B-B14F-4D97-AF65-F5344CB8AC3E}">
        <p14:creationId xmlns:p14="http://schemas.microsoft.com/office/powerpoint/2010/main" val="16317508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of Social Control </a:t>
            </a:r>
            <a:r>
              <a:rPr lang="en-US" sz="2800" dirty="0" smtClean="0"/>
              <a:t>(6 </a:t>
            </a:r>
            <a:r>
              <a:rPr lang="en-US" sz="2800" dirty="0"/>
              <a:t>of 12)</a:t>
            </a:r>
          </a:p>
        </p:txBody>
      </p:sp>
      <p:sp>
        <p:nvSpPr>
          <p:cNvPr id="3" name="Content Placeholder 2"/>
          <p:cNvSpPr>
            <a:spLocks noGrp="1"/>
          </p:cNvSpPr>
          <p:nvPr>
            <p:ph idx="1"/>
          </p:nvPr>
        </p:nvSpPr>
        <p:spPr/>
        <p:txBody>
          <a:bodyPr>
            <a:normAutofit/>
          </a:bodyPr>
          <a:lstStyle/>
          <a:p>
            <a:r>
              <a:rPr lang="en-US" dirty="0" smtClean="0"/>
              <a:t>Prisons and the Death Penalty</a:t>
            </a:r>
          </a:p>
          <a:p>
            <a:pPr lvl="1"/>
            <a:r>
              <a:rPr lang="en-US" dirty="0" smtClean="0"/>
              <a:t>The </a:t>
            </a:r>
            <a:r>
              <a:rPr lang="en-US" dirty="0"/>
              <a:t>prison, as a place where people are forcibly detained as a form of punishment, has a long history</a:t>
            </a:r>
          </a:p>
          <a:p>
            <a:pPr lvl="1"/>
            <a:r>
              <a:rPr lang="en-US" dirty="0"/>
              <a:t>The </a:t>
            </a:r>
            <a:r>
              <a:rPr lang="en-US" dirty="0" smtClean="0"/>
              <a:t>United States </a:t>
            </a:r>
            <a:r>
              <a:rPr lang="en-US" dirty="0"/>
              <a:t>imprisons more people than any other country in </a:t>
            </a:r>
            <a:r>
              <a:rPr lang="en-US"/>
              <a:t>the </a:t>
            </a:r>
            <a:r>
              <a:rPr lang="en-US" smtClean="0"/>
              <a:t>world</a:t>
            </a:r>
          </a:p>
          <a:p>
            <a:pPr lvl="1"/>
            <a:r>
              <a:rPr lang="en-US" smtClean="0"/>
              <a:t>Executions </a:t>
            </a:r>
            <a:r>
              <a:rPr lang="en-US" dirty="0"/>
              <a:t>communicate a political message to the general populace about the state’s power and strength</a:t>
            </a:r>
          </a:p>
          <a:p>
            <a:endParaRPr lang="en-US" dirty="0"/>
          </a:p>
        </p:txBody>
      </p:sp>
    </p:spTree>
    <p:extLst>
      <p:ext uri="{BB962C8B-B14F-4D97-AF65-F5344CB8AC3E}">
        <p14:creationId xmlns:p14="http://schemas.microsoft.com/office/powerpoint/2010/main" val="112910946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of Social Control </a:t>
            </a:r>
            <a:r>
              <a:rPr lang="en-US" sz="2800" dirty="0" smtClean="0"/>
              <a:t>(7 </a:t>
            </a:r>
            <a:r>
              <a:rPr lang="en-US" sz="2800" dirty="0"/>
              <a:t>of 12)</a:t>
            </a:r>
          </a:p>
        </p:txBody>
      </p:sp>
      <p:sp>
        <p:nvSpPr>
          <p:cNvPr id="3" name="Content Placeholder 2"/>
          <p:cNvSpPr>
            <a:spLocks noGrp="1"/>
          </p:cNvSpPr>
          <p:nvPr>
            <p:ph idx="1"/>
          </p:nvPr>
        </p:nvSpPr>
        <p:spPr/>
        <p:txBody>
          <a:bodyPr/>
          <a:lstStyle/>
          <a:p>
            <a:r>
              <a:rPr lang="en-US" dirty="0" smtClean="0"/>
              <a:t>Social Inequality and the Law</a:t>
            </a:r>
          </a:p>
          <a:p>
            <a:pPr lvl="1"/>
            <a:r>
              <a:rPr lang="en-US" dirty="0" smtClean="0"/>
              <a:t>Critical </a:t>
            </a:r>
            <a:r>
              <a:rPr lang="en-US" dirty="0"/>
              <a:t>legal anthropologists examine the role of law in maintaining power relationships through discrimination</a:t>
            </a:r>
          </a:p>
          <a:p>
            <a:pPr lvl="1"/>
            <a:r>
              <a:rPr lang="en-US" dirty="0"/>
              <a:t>Concern with social justice: concept of fairness based on social equality that seeks to ensure entitlements and opportunities for disadvantaged members of society</a:t>
            </a:r>
          </a:p>
          <a:p>
            <a:endParaRPr lang="en-US" dirty="0"/>
          </a:p>
        </p:txBody>
      </p:sp>
    </p:spTree>
    <p:extLst>
      <p:ext uri="{BB962C8B-B14F-4D97-AF65-F5344CB8AC3E}">
        <p14:creationId xmlns:p14="http://schemas.microsoft.com/office/powerpoint/2010/main" val="309724166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of Social Control </a:t>
            </a:r>
            <a:r>
              <a:rPr lang="en-US" sz="2800" dirty="0" smtClean="0"/>
              <a:t>(8 </a:t>
            </a:r>
            <a:r>
              <a:rPr lang="en-US" sz="2800" dirty="0"/>
              <a:t>of 12)</a:t>
            </a:r>
          </a:p>
        </p:txBody>
      </p:sp>
      <p:sp>
        <p:nvSpPr>
          <p:cNvPr id="3" name="Content Placeholder 2"/>
          <p:cNvSpPr>
            <a:spLocks noGrp="1"/>
          </p:cNvSpPr>
          <p:nvPr>
            <p:ph idx="1"/>
          </p:nvPr>
        </p:nvSpPr>
        <p:spPr/>
        <p:txBody>
          <a:bodyPr/>
          <a:lstStyle/>
          <a:p>
            <a:r>
              <a:rPr lang="en-US" dirty="0" smtClean="0"/>
              <a:t>Case study: </a:t>
            </a:r>
            <a:r>
              <a:rPr lang="en-US" dirty="0"/>
              <a:t>r</a:t>
            </a:r>
            <a:r>
              <a:rPr lang="en-US" dirty="0" smtClean="0"/>
              <a:t>acial/ethnic </a:t>
            </a:r>
            <a:r>
              <a:rPr lang="en-US" dirty="0"/>
              <a:t>d</a:t>
            </a:r>
            <a:r>
              <a:rPr lang="en-US" dirty="0" smtClean="0"/>
              <a:t>iscrimination in Australia</a:t>
            </a:r>
          </a:p>
          <a:p>
            <a:pPr lvl="1"/>
            <a:r>
              <a:rPr lang="en-US" dirty="0"/>
              <a:t>Comparison of treatment of youth who are White and youth who are indigenous Australian </a:t>
            </a:r>
          </a:p>
          <a:p>
            <a:pPr lvl="1"/>
            <a:r>
              <a:rPr lang="en-US" dirty="0"/>
              <a:t>Tracking what happened to youth in each category following “apprehension” </a:t>
            </a:r>
          </a:p>
          <a:p>
            <a:pPr lvl="1"/>
            <a:r>
              <a:rPr lang="en-US" dirty="0"/>
              <a:t>At each step of the way, indigenous youth experienced a harsher process </a:t>
            </a:r>
            <a:r>
              <a:rPr lang="en-US" dirty="0" smtClean="0"/>
              <a:t>that </a:t>
            </a:r>
            <a:r>
              <a:rPr lang="en-US" dirty="0"/>
              <a:t>took them to a less favorable outcome</a:t>
            </a:r>
          </a:p>
          <a:p>
            <a:pPr lvl="1"/>
            <a:endParaRPr lang="en-US" dirty="0"/>
          </a:p>
        </p:txBody>
      </p:sp>
    </p:spTree>
    <p:extLst>
      <p:ext uri="{BB962C8B-B14F-4D97-AF65-F5344CB8AC3E}">
        <p14:creationId xmlns:p14="http://schemas.microsoft.com/office/powerpoint/2010/main" val="113364436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of Social Control </a:t>
            </a:r>
            <a:r>
              <a:rPr lang="en-US" sz="2800" dirty="0" smtClean="0"/>
              <a:t>(9 </a:t>
            </a:r>
            <a:r>
              <a:rPr lang="en-US" sz="2800" dirty="0"/>
              <a:t>of 12)</a:t>
            </a:r>
          </a:p>
        </p:txBody>
      </p:sp>
      <p:sp>
        <p:nvSpPr>
          <p:cNvPr id="3" name="Content Placeholder 2"/>
          <p:cNvSpPr>
            <a:spLocks noGrp="1"/>
          </p:cNvSpPr>
          <p:nvPr>
            <p:ph idx="1"/>
          </p:nvPr>
        </p:nvSpPr>
        <p:spPr/>
        <p:txBody>
          <a:bodyPr/>
          <a:lstStyle/>
          <a:p>
            <a:r>
              <a:rPr lang="en-US" dirty="0"/>
              <a:t>All societies experience conflict with other groups and societies, though to different degrees</a:t>
            </a:r>
          </a:p>
          <a:p>
            <a:r>
              <a:rPr lang="en-US" dirty="0"/>
              <a:t>Varieties of conflict include:</a:t>
            </a:r>
          </a:p>
          <a:p>
            <a:pPr lvl="1"/>
            <a:r>
              <a:rPr lang="en-US" dirty="0"/>
              <a:t>Ethnic conflict</a:t>
            </a:r>
          </a:p>
          <a:p>
            <a:pPr lvl="2"/>
            <a:r>
              <a:rPr lang="en-US" dirty="0" smtClean="0"/>
              <a:t>Sectarian conflict</a:t>
            </a:r>
          </a:p>
          <a:p>
            <a:pPr lvl="1"/>
            <a:r>
              <a:rPr lang="en-US" dirty="0" smtClean="0"/>
              <a:t>War</a:t>
            </a:r>
          </a:p>
          <a:p>
            <a:pPr lvl="2"/>
            <a:r>
              <a:rPr lang="en-US" dirty="0" smtClean="0"/>
              <a:t>Global-local conflict</a:t>
            </a:r>
            <a:endParaRPr lang="en-US" dirty="0"/>
          </a:p>
          <a:p>
            <a:pPr lvl="1"/>
            <a:endParaRPr lang="en-US" dirty="0"/>
          </a:p>
        </p:txBody>
      </p:sp>
    </p:spTree>
    <p:extLst>
      <p:ext uri="{BB962C8B-B14F-4D97-AF65-F5344CB8AC3E}">
        <p14:creationId xmlns:p14="http://schemas.microsoft.com/office/powerpoint/2010/main" val="106721341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of Social Control </a:t>
            </a:r>
            <a:r>
              <a:rPr lang="en-US" sz="2800" dirty="0" smtClean="0"/>
              <a:t>(10 </a:t>
            </a:r>
            <a:r>
              <a:rPr lang="en-US" sz="2800" dirty="0"/>
              <a:t>of 12)</a:t>
            </a:r>
          </a:p>
        </p:txBody>
      </p:sp>
      <p:sp>
        <p:nvSpPr>
          <p:cNvPr id="3" name="Content Placeholder 2"/>
          <p:cNvSpPr>
            <a:spLocks noGrp="1"/>
          </p:cNvSpPr>
          <p:nvPr>
            <p:ph idx="1"/>
          </p:nvPr>
        </p:nvSpPr>
        <p:spPr/>
        <p:txBody>
          <a:bodyPr>
            <a:normAutofit lnSpcReduction="10000"/>
          </a:bodyPr>
          <a:lstStyle/>
          <a:p>
            <a:r>
              <a:rPr lang="en-US" dirty="0" smtClean="0"/>
              <a:t>Ethnic Conflict</a:t>
            </a:r>
          </a:p>
          <a:p>
            <a:pPr lvl="1"/>
            <a:r>
              <a:rPr lang="en-US" dirty="0" smtClean="0"/>
              <a:t>Ethnic </a:t>
            </a:r>
            <a:r>
              <a:rPr lang="en-US" dirty="0"/>
              <a:t>identities commit people to a cause</a:t>
            </a:r>
          </a:p>
          <a:p>
            <a:pPr lvl="1"/>
            <a:r>
              <a:rPr lang="en-US" dirty="0"/>
              <a:t>Deeper issues often </a:t>
            </a:r>
            <a:r>
              <a:rPr lang="en-US" dirty="0" smtClean="0"/>
              <a:t>exist, </a:t>
            </a:r>
            <a:r>
              <a:rPr lang="en-US" dirty="0"/>
              <a:t>such as claims to material resources</a:t>
            </a:r>
          </a:p>
          <a:p>
            <a:pPr lvl="2"/>
            <a:r>
              <a:rPr lang="en-US" dirty="0"/>
              <a:t>Water</a:t>
            </a:r>
          </a:p>
          <a:p>
            <a:pPr lvl="2"/>
            <a:r>
              <a:rPr lang="en-US" dirty="0"/>
              <a:t>Oil, </a:t>
            </a:r>
            <a:r>
              <a:rPr lang="en-US" dirty="0" smtClean="0"/>
              <a:t>gas</a:t>
            </a:r>
          </a:p>
          <a:p>
            <a:pPr lvl="1"/>
            <a:r>
              <a:rPr lang="en-US" dirty="0"/>
              <a:t>Sectarian </a:t>
            </a:r>
            <a:r>
              <a:rPr lang="en-US" dirty="0" smtClean="0"/>
              <a:t>conflict</a:t>
            </a:r>
            <a:endParaRPr lang="en-US" dirty="0"/>
          </a:p>
          <a:p>
            <a:pPr lvl="2"/>
            <a:r>
              <a:rPr lang="en-US" dirty="0"/>
              <a:t>Conflict based on perceived differences between divisions or sects within a religion</a:t>
            </a:r>
          </a:p>
          <a:p>
            <a:pPr lvl="2"/>
            <a:r>
              <a:rPr lang="en-US" dirty="0" smtClean="0"/>
              <a:t>Often </a:t>
            </a:r>
            <a:r>
              <a:rPr lang="en-US" dirty="0"/>
              <a:t>tied to/overlapping with ethnic conflict</a:t>
            </a:r>
          </a:p>
          <a:p>
            <a:pPr lvl="1"/>
            <a:endParaRPr lang="en-US" dirty="0"/>
          </a:p>
          <a:p>
            <a:endParaRPr lang="en-US" dirty="0"/>
          </a:p>
        </p:txBody>
      </p:sp>
    </p:spTree>
    <p:extLst>
      <p:ext uri="{BB962C8B-B14F-4D97-AF65-F5344CB8AC3E}">
        <p14:creationId xmlns:p14="http://schemas.microsoft.com/office/powerpoint/2010/main" val="350408719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of Social Control </a:t>
            </a:r>
            <a:r>
              <a:rPr lang="en-US" sz="2800" dirty="0"/>
              <a:t>(</a:t>
            </a:r>
            <a:r>
              <a:rPr lang="en-US" sz="2800" dirty="0" smtClean="0"/>
              <a:t>11 </a:t>
            </a:r>
            <a:r>
              <a:rPr lang="en-US" sz="2800" dirty="0"/>
              <a:t>of 12)</a:t>
            </a:r>
          </a:p>
        </p:txBody>
      </p:sp>
      <p:sp>
        <p:nvSpPr>
          <p:cNvPr id="3" name="Content Placeholder 2"/>
          <p:cNvSpPr>
            <a:spLocks noGrp="1"/>
          </p:cNvSpPr>
          <p:nvPr>
            <p:ph idx="1"/>
          </p:nvPr>
        </p:nvSpPr>
        <p:spPr/>
        <p:txBody>
          <a:bodyPr/>
          <a:lstStyle/>
          <a:p>
            <a:r>
              <a:rPr lang="en-US" dirty="0" smtClean="0"/>
              <a:t>War</a:t>
            </a:r>
          </a:p>
          <a:p>
            <a:pPr lvl="1"/>
            <a:r>
              <a:rPr lang="en-US" dirty="0" smtClean="0"/>
              <a:t>Organized </a:t>
            </a:r>
            <a:r>
              <a:rPr lang="en-US" dirty="0"/>
              <a:t>group action directed against another group and involving lethal </a:t>
            </a:r>
            <a:r>
              <a:rPr lang="en-US" dirty="0" smtClean="0"/>
              <a:t>force</a:t>
            </a:r>
            <a:endParaRPr lang="en-US" dirty="0"/>
          </a:p>
          <a:p>
            <a:pPr lvl="1"/>
            <a:r>
              <a:rPr lang="en-US" dirty="0" smtClean="0"/>
              <a:t>Cultural </a:t>
            </a:r>
            <a:r>
              <a:rPr lang="en-US" dirty="0"/>
              <a:t>variation in </a:t>
            </a:r>
            <a:r>
              <a:rPr lang="en-US" dirty="0" smtClean="0"/>
              <a:t>warlike </a:t>
            </a:r>
            <a:r>
              <a:rPr lang="en-US" dirty="0"/>
              <a:t>conflicts, from those involving mainly symbolic conflict to those in which mass death is the goal </a:t>
            </a:r>
          </a:p>
          <a:p>
            <a:endParaRPr lang="en-US" dirty="0"/>
          </a:p>
        </p:txBody>
      </p:sp>
    </p:spTree>
    <p:extLst>
      <p:ext uri="{BB962C8B-B14F-4D97-AF65-F5344CB8AC3E}">
        <p14:creationId xmlns:p14="http://schemas.microsoft.com/office/powerpoint/2010/main" val="23556782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Systems of Social Control </a:t>
            </a:r>
            <a:r>
              <a:rPr lang="en-US" sz="2800" dirty="0"/>
              <a:t>(</a:t>
            </a:r>
            <a:r>
              <a:rPr lang="en-US" sz="2800" dirty="0" smtClean="0"/>
              <a:t>12 of </a:t>
            </a:r>
            <a:r>
              <a:rPr lang="en-US" sz="2800" dirty="0"/>
              <a:t>12)</a:t>
            </a:r>
          </a:p>
        </p:txBody>
      </p:sp>
      <p:sp>
        <p:nvSpPr>
          <p:cNvPr id="3" name="Content Placeholder 2"/>
          <p:cNvSpPr>
            <a:spLocks noGrp="1"/>
          </p:cNvSpPr>
          <p:nvPr>
            <p:ph idx="1"/>
          </p:nvPr>
        </p:nvSpPr>
        <p:spPr/>
        <p:txBody>
          <a:bodyPr>
            <a:normAutofit lnSpcReduction="10000"/>
          </a:bodyPr>
          <a:lstStyle/>
          <a:p>
            <a:r>
              <a:rPr lang="en-US" dirty="0" smtClean="0"/>
              <a:t>Global-Local Conflicts</a:t>
            </a:r>
          </a:p>
          <a:p>
            <a:pPr lvl="1"/>
            <a:r>
              <a:rPr lang="en-US" dirty="0" smtClean="0"/>
              <a:t>Between non-parallel entities </a:t>
            </a:r>
          </a:p>
          <a:p>
            <a:pPr lvl="1"/>
            <a:r>
              <a:rPr lang="en-US" dirty="0" smtClean="0"/>
              <a:t>Colonial</a:t>
            </a:r>
            <a:endParaRPr lang="en-US" dirty="0"/>
          </a:p>
          <a:p>
            <a:pPr lvl="2"/>
            <a:r>
              <a:rPr lang="en-US" dirty="0" smtClean="0"/>
              <a:t>Many examples of powerful states engaged in conflict with local populations of other countries to secure resources</a:t>
            </a:r>
            <a:endParaRPr lang="en-US" dirty="0"/>
          </a:p>
          <a:p>
            <a:pPr lvl="1"/>
            <a:r>
              <a:rPr lang="en-US" dirty="0" smtClean="0"/>
              <a:t>Corporate</a:t>
            </a:r>
          </a:p>
          <a:p>
            <a:pPr lvl="2"/>
            <a:r>
              <a:rPr lang="en-US" dirty="0"/>
              <a:t>M</a:t>
            </a:r>
            <a:r>
              <a:rPr lang="en-US" dirty="0" smtClean="0"/>
              <a:t>ultinational </a:t>
            </a:r>
            <a:r>
              <a:rPr lang="en-US" dirty="0"/>
              <a:t>businesses in conflict with local communities</a:t>
            </a:r>
          </a:p>
          <a:p>
            <a:pPr lvl="2"/>
            <a:r>
              <a:rPr lang="en-US" dirty="0" smtClean="0"/>
              <a:t>A result has been attention to </a:t>
            </a:r>
            <a:r>
              <a:rPr lang="en-US" dirty="0"/>
              <a:t>corporate social responsibility to reduce such conflicts</a:t>
            </a:r>
          </a:p>
          <a:p>
            <a:endParaRPr lang="en-US" dirty="0"/>
          </a:p>
        </p:txBody>
      </p:sp>
    </p:spTree>
    <p:extLst>
      <p:ext uri="{BB962C8B-B14F-4D97-AF65-F5344CB8AC3E}">
        <p14:creationId xmlns:p14="http://schemas.microsoft.com/office/powerpoint/2010/main" val="248638882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600" dirty="0" smtClean="0"/>
              <a:t>Think Like an Anthropologist: </a:t>
            </a:r>
            <a:br>
              <a:rPr lang="en-US" sz="3600" dirty="0" smtClean="0"/>
            </a:br>
            <a:r>
              <a:rPr lang="en-US" sz="3600" dirty="0" smtClean="0"/>
              <a:t>Yanomami, the “Fierce People”? </a:t>
            </a:r>
            <a:r>
              <a:rPr lang="en-US" sz="2800" dirty="0" smtClean="0"/>
              <a:t>(1 of 4)</a:t>
            </a:r>
            <a:endParaRPr lang="en-US" sz="2800" dirty="0"/>
          </a:p>
        </p:txBody>
      </p:sp>
      <p:sp>
        <p:nvSpPr>
          <p:cNvPr id="3" name="Content Placeholder 2"/>
          <p:cNvSpPr>
            <a:spLocks noGrp="1"/>
          </p:cNvSpPr>
          <p:nvPr>
            <p:ph idx="1"/>
          </p:nvPr>
        </p:nvSpPr>
        <p:spPr/>
        <p:txBody>
          <a:bodyPr>
            <a:normAutofit fontScale="92500"/>
          </a:bodyPr>
          <a:lstStyle/>
          <a:p>
            <a:r>
              <a:rPr lang="en-US" dirty="0"/>
              <a:t>Horticultural people of the Amazonian rainforest</a:t>
            </a:r>
          </a:p>
          <a:p>
            <a:r>
              <a:rPr lang="en-US" dirty="0" smtClean="0"/>
              <a:t>Studied since the 1960s by Napoleon Chagnon, who describes in writings and films a culture with high levels of violence related to:</a:t>
            </a:r>
          </a:p>
          <a:p>
            <a:pPr lvl="1"/>
            <a:r>
              <a:rPr lang="en-US" dirty="0" smtClean="0"/>
              <a:t>The </a:t>
            </a:r>
            <a:r>
              <a:rPr lang="en-US" i="1" dirty="0" smtClean="0"/>
              <a:t>waiteri</a:t>
            </a:r>
            <a:r>
              <a:rPr lang="en-US" dirty="0" smtClean="0"/>
              <a:t> complex, a set of attitudes and behaviors that stresses aggression</a:t>
            </a:r>
          </a:p>
          <a:p>
            <a:pPr lvl="1"/>
            <a:r>
              <a:rPr lang="en-US" dirty="0" smtClean="0"/>
              <a:t>The need to raid other villages to obtain wives (a biological, Darwinian explanation)</a:t>
            </a:r>
            <a:endParaRPr lang="en-US" dirty="0"/>
          </a:p>
        </p:txBody>
      </p:sp>
    </p:spTree>
    <p:extLst>
      <p:ext uri="{BB962C8B-B14F-4D97-AF65-F5344CB8AC3E}">
        <p14:creationId xmlns:p14="http://schemas.microsoft.com/office/powerpoint/2010/main" val="143846039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600" dirty="0"/>
              <a:t>Think Like an Anthropologist: </a:t>
            </a:r>
            <a:r>
              <a:rPr lang="en-US" sz="3600" dirty="0" smtClean="0"/>
              <a:t/>
            </a:r>
            <a:br>
              <a:rPr lang="en-US" sz="3600" dirty="0" smtClean="0"/>
            </a:br>
            <a:r>
              <a:rPr lang="en-US" sz="3600" dirty="0" smtClean="0"/>
              <a:t>Yanomami</a:t>
            </a:r>
            <a:r>
              <a:rPr lang="en-US" sz="3600" dirty="0"/>
              <a:t>, the “Fierce People”? </a:t>
            </a:r>
            <a:r>
              <a:rPr lang="en-US" sz="2800" dirty="0" smtClean="0"/>
              <a:t>(2 </a:t>
            </a:r>
            <a:r>
              <a:rPr lang="en-US" sz="2800" dirty="0"/>
              <a:t>of 4)</a:t>
            </a:r>
          </a:p>
        </p:txBody>
      </p:sp>
      <p:pic>
        <p:nvPicPr>
          <p:cNvPr id="4" name="Content Placeholder 3" descr="A photo shows two Yanomami men, carrying arrows and a trunk-like container, walking with Napoleon Chagnon."/>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743200" y="1447799"/>
            <a:ext cx="3886200" cy="4848935"/>
          </a:xfrm>
        </p:spPr>
      </p:pic>
    </p:spTree>
    <p:extLst>
      <p:ext uri="{BB962C8B-B14F-4D97-AF65-F5344CB8AC3E}">
        <p14:creationId xmlns:p14="http://schemas.microsoft.com/office/powerpoint/2010/main" val="11774544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600" dirty="0"/>
              <a:t>Think Like an Anthropologist: </a:t>
            </a:r>
            <a:r>
              <a:rPr lang="en-US" sz="3600" dirty="0" smtClean="0"/>
              <a:t/>
            </a:r>
            <a:br>
              <a:rPr lang="en-US" sz="3600" dirty="0" smtClean="0"/>
            </a:br>
            <a:r>
              <a:rPr lang="en-US" sz="3600" dirty="0" smtClean="0"/>
              <a:t>Yanomami</a:t>
            </a:r>
            <a:r>
              <a:rPr lang="en-US" sz="3600" dirty="0"/>
              <a:t>, the “Fierce People”? </a:t>
            </a:r>
            <a:r>
              <a:rPr lang="en-US" sz="2800" dirty="0" smtClean="0"/>
              <a:t>(3 </a:t>
            </a:r>
            <a:r>
              <a:rPr lang="en-US" sz="2800" dirty="0"/>
              <a:t>of 4</a:t>
            </a:r>
            <a:r>
              <a:rPr lang="en-US" sz="2800" dirty="0" smtClean="0"/>
              <a:t>)</a:t>
            </a:r>
            <a:endParaRPr lang="en-US" sz="2800" dirty="0"/>
          </a:p>
        </p:txBody>
      </p:sp>
      <p:sp>
        <p:nvSpPr>
          <p:cNvPr id="3" name="Content Placeholder 2"/>
          <p:cNvSpPr>
            <a:spLocks noGrp="1"/>
          </p:cNvSpPr>
          <p:nvPr>
            <p:ph idx="1"/>
          </p:nvPr>
        </p:nvSpPr>
        <p:spPr/>
        <p:txBody>
          <a:bodyPr>
            <a:normAutofit/>
          </a:bodyPr>
          <a:lstStyle/>
          <a:p>
            <a:r>
              <a:rPr lang="en-US" dirty="0"/>
              <a:t>Two other </a:t>
            </a:r>
            <a:r>
              <a:rPr lang="en-US" dirty="0" smtClean="0"/>
              <a:t>explanations for Yanomami </a:t>
            </a:r>
            <a:r>
              <a:rPr lang="en-US" dirty="0"/>
              <a:t>violence and warfare: </a:t>
            </a:r>
          </a:p>
          <a:p>
            <a:pPr lvl="1"/>
            <a:r>
              <a:rPr lang="en-US" dirty="0" smtClean="0"/>
              <a:t>Cultural </a:t>
            </a:r>
            <a:r>
              <a:rPr lang="en-US" dirty="0"/>
              <a:t>materialist perspective: protein scarcity and population dynamics are the underlying cause of Yanomami warfare</a:t>
            </a:r>
          </a:p>
          <a:p>
            <a:pPr lvl="1"/>
            <a:r>
              <a:rPr lang="en-US" dirty="0" smtClean="0"/>
              <a:t>Historical </a:t>
            </a:r>
            <a:r>
              <a:rPr lang="en-US" dirty="0"/>
              <a:t>view: intensified Western presence during the preceding 100 years caused the high levels of violence </a:t>
            </a:r>
          </a:p>
          <a:p>
            <a:endParaRPr lang="en-US" dirty="0"/>
          </a:p>
        </p:txBody>
      </p:sp>
    </p:spTree>
    <p:extLst>
      <p:ext uri="{BB962C8B-B14F-4D97-AF65-F5344CB8AC3E}">
        <p14:creationId xmlns:p14="http://schemas.microsoft.com/office/powerpoint/2010/main" val="249107054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600" dirty="0"/>
              <a:t>Think Like an Anthropologist: </a:t>
            </a:r>
            <a:r>
              <a:rPr lang="en-US" sz="3600" dirty="0" smtClean="0"/>
              <a:t/>
            </a:r>
            <a:br>
              <a:rPr lang="en-US" sz="3600" dirty="0" smtClean="0"/>
            </a:br>
            <a:r>
              <a:rPr lang="en-US" sz="3600" dirty="0" smtClean="0"/>
              <a:t>Yanomami</a:t>
            </a:r>
            <a:r>
              <a:rPr lang="en-US" sz="3600" dirty="0"/>
              <a:t>, the “Fierce People”? </a:t>
            </a:r>
            <a:r>
              <a:rPr lang="en-US" sz="2800" dirty="0" smtClean="0"/>
              <a:t>(4 </a:t>
            </a:r>
            <a:r>
              <a:rPr lang="en-US" sz="2800" dirty="0"/>
              <a:t>of </a:t>
            </a:r>
            <a:r>
              <a:rPr lang="en-US" sz="2800" dirty="0" smtClean="0"/>
              <a:t>4)</a:t>
            </a:r>
            <a:endParaRPr lang="en-US" sz="2800" dirty="0"/>
          </a:p>
        </p:txBody>
      </p:sp>
      <p:sp>
        <p:nvSpPr>
          <p:cNvPr id="3" name="Content Placeholder 2"/>
          <p:cNvSpPr>
            <a:spLocks noGrp="1"/>
          </p:cNvSpPr>
          <p:nvPr>
            <p:ph idx="1"/>
          </p:nvPr>
        </p:nvSpPr>
        <p:spPr/>
        <p:txBody>
          <a:bodyPr>
            <a:normAutofit lnSpcReduction="10000"/>
          </a:bodyPr>
          <a:lstStyle/>
          <a:p>
            <a:r>
              <a:rPr lang="en-US" dirty="0"/>
              <a:t>Ethical questions raised by a journalist, Patrick Tierney:</a:t>
            </a:r>
          </a:p>
          <a:p>
            <a:pPr lvl="1"/>
            <a:r>
              <a:rPr lang="en-US" dirty="0"/>
              <a:t>Chagnon and other U.S. researchers may have contributed </a:t>
            </a:r>
            <a:r>
              <a:rPr lang="en-US" dirty="0" smtClean="0"/>
              <a:t>indirectly to the </a:t>
            </a:r>
            <a:r>
              <a:rPr lang="en-US" dirty="0"/>
              <a:t>high levels of violence </a:t>
            </a:r>
            <a:r>
              <a:rPr lang="en-US" dirty="0" smtClean="0"/>
              <a:t>by </a:t>
            </a:r>
            <a:r>
              <a:rPr lang="en-US" dirty="0"/>
              <a:t>their presence, by giving many trade goods, by asking people to stage violence for their films</a:t>
            </a:r>
          </a:p>
          <a:p>
            <a:pPr lvl="1"/>
            <a:r>
              <a:rPr lang="en-US" dirty="0"/>
              <a:t>A task force of the American Anthropological Association dismissed charges that Chagnon triggered or staged the violence </a:t>
            </a:r>
          </a:p>
          <a:p>
            <a:endParaRPr lang="en-US" dirty="0"/>
          </a:p>
        </p:txBody>
      </p:sp>
    </p:spTree>
    <p:extLst>
      <p:ext uri="{BB962C8B-B14F-4D97-AF65-F5344CB8AC3E}">
        <p14:creationId xmlns:p14="http://schemas.microsoft.com/office/powerpoint/2010/main" val="61712520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600" dirty="0" smtClean="0"/>
              <a:t>Changing Public Power and Social Control</a:t>
            </a:r>
            <a:r>
              <a:rPr lang="en-US" sz="3200" dirty="0" smtClean="0"/>
              <a:t/>
            </a:r>
            <a:br>
              <a:rPr lang="en-US" sz="3200" dirty="0" smtClean="0"/>
            </a:br>
            <a:r>
              <a:rPr lang="en-US" sz="2400" dirty="0" smtClean="0"/>
              <a:t>10.3 Illustrate changes in public power and social control.</a:t>
            </a:r>
            <a:endParaRPr lang="en-US" sz="2400" dirty="0"/>
          </a:p>
        </p:txBody>
      </p:sp>
      <p:sp>
        <p:nvSpPr>
          <p:cNvPr id="3" name="Content Placeholder 2"/>
          <p:cNvSpPr>
            <a:spLocks noGrp="1"/>
          </p:cNvSpPr>
          <p:nvPr>
            <p:ph idx="1"/>
          </p:nvPr>
        </p:nvSpPr>
        <p:spPr/>
        <p:txBody>
          <a:bodyPr/>
          <a:lstStyle/>
          <a:p>
            <a:endParaRPr lang="en-US" dirty="0" smtClean="0"/>
          </a:p>
          <a:p>
            <a:r>
              <a:rPr lang="en-US" dirty="0" smtClean="0"/>
              <a:t>Nations and Transnational Nations</a:t>
            </a:r>
          </a:p>
          <a:p>
            <a:endParaRPr lang="en-US" dirty="0" smtClean="0"/>
          </a:p>
          <a:p>
            <a:r>
              <a:rPr lang="en-US" dirty="0" smtClean="0"/>
              <a:t>Democratization</a:t>
            </a:r>
          </a:p>
          <a:p>
            <a:endParaRPr lang="en-US" dirty="0" smtClean="0"/>
          </a:p>
          <a:p>
            <a:r>
              <a:rPr lang="en-US" dirty="0" smtClean="0"/>
              <a:t>The United Nations and International Peacekeeping</a:t>
            </a:r>
            <a:endParaRPr lang="en-US" dirty="0"/>
          </a:p>
        </p:txBody>
      </p:sp>
    </p:spTree>
    <p:extLst>
      <p:ext uri="{BB962C8B-B14F-4D97-AF65-F5344CB8AC3E}">
        <p14:creationId xmlns:p14="http://schemas.microsoft.com/office/powerpoint/2010/main" val="428093169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Nations and Transnational Nations</a:t>
            </a:r>
            <a:endParaRPr lang="en-US" dirty="0"/>
          </a:p>
        </p:txBody>
      </p:sp>
      <p:sp>
        <p:nvSpPr>
          <p:cNvPr id="3" name="Content Placeholder 2"/>
          <p:cNvSpPr>
            <a:spLocks noGrp="1"/>
          </p:cNvSpPr>
          <p:nvPr>
            <p:ph idx="1"/>
          </p:nvPr>
        </p:nvSpPr>
        <p:spPr/>
        <p:txBody>
          <a:bodyPr>
            <a:normAutofit fontScale="92500" lnSpcReduction="20000"/>
          </a:bodyPr>
          <a:lstStyle/>
          <a:p>
            <a:r>
              <a:rPr lang="en-US" dirty="0"/>
              <a:t>What is a “nation”? Different definitions exist:</a:t>
            </a:r>
          </a:p>
          <a:p>
            <a:pPr lvl="1"/>
            <a:r>
              <a:rPr lang="en-US" dirty="0"/>
              <a:t>A group of people who share a language, culture, territorial base, political organization, and history</a:t>
            </a:r>
          </a:p>
          <a:p>
            <a:pPr lvl="2"/>
            <a:r>
              <a:rPr lang="en-US" dirty="0"/>
              <a:t>U.S. would not be considered a nation under this definition</a:t>
            </a:r>
          </a:p>
          <a:p>
            <a:r>
              <a:rPr lang="en-US" dirty="0"/>
              <a:t>Nations and other groups </a:t>
            </a:r>
            <a:r>
              <a:rPr lang="en-US" dirty="0" smtClean="0"/>
              <a:t>constitute </a:t>
            </a:r>
            <a:r>
              <a:rPr lang="en-US" dirty="0"/>
              <a:t>a political threat to state stability and control: Kurds, Maya, Tamils, </a:t>
            </a:r>
            <a:r>
              <a:rPr lang="en-US" dirty="0" smtClean="0"/>
              <a:t>Tibetans</a:t>
            </a:r>
          </a:p>
          <a:p>
            <a:r>
              <a:rPr lang="en-US" dirty="0" smtClean="0"/>
              <a:t>Transnational nations: contemporary migration may cause a culture to be associated with multiple states</a:t>
            </a:r>
          </a:p>
          <a:p>
            <a:pPr lvl="1"/>
            <a:r>
              <a:rPr lang="en-US" dirty="0" smtClean="0"/>
              <a:t>Example: Puerto Rico</a:t>
            </a:r>
            <a:endParaRPr lang="en-US" dirty="0"/>
          </a:p>
          <a:p>
            <a:endParaRPr lang="en-US" dirty="0"/>
          </a:p>
        </p:txBody>
      </p:sp>
    </p:spTree>
    <p:extLst>
      <p:ext uri="{BB962C8B-B14F-4D97-AF65-F5344CB8AC3E}">
        <p14:creationId xmlns:p14="http://schemas.microsoft.com/office/powerpoint/2010/main" val="75192264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10.6 Puerto Rico</a:t>
            </a:r>
            <a:endParaRPr lang="en-US" dirty="0"/>
          </a:p>
        </p:txBody>
      </p:sp>
      <p:pic>
        <p:nvPicPr>
          <p:cNvPr id="4" name="Content Placeholder 3" descr="A map shows Puerto Rico and its capital city of San Juan on its northern (Atlantic Ocean) coast; its southern coast is on the Caribbean Sea. Two inset maps show the area is in the vicinity of Cuba, Jamaica, Haiti, and the Dominican Republic."/>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048000" y="1524000"/>
            <a:ext cx="3124200" cy="4757227"/>
          </a:xfrm>
        </p:spPr>
      </p:pic>
    </p:spTree>
    <p:extLst>
      <p:ext uri="{BB962C8B-B14F-4D97-AF65-F5344CB8AC3E}">
        <p14:creationId xmlns:p14="http://schemas.microsoft.com/office/powerpoint/2010/main" val="323549935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200" dirty="0" smtClean="0"/>
              <a:t>Anthropology Works: Advocacy Anthropology and Community Activism in Papua New Guinea</a:t>
            </a:r>
            <a:endParaRPr lang="en-US" sz="3200" dirty="0"/>
          </a:p>
        </p:txBody>
      </p:sp>
      <p:sp>
        <p:nvSpPr>
          <p:cNvPr id="3" name="Content Placeholder 2"/>
          <p:cNvSpPr>
            <a:spLocks noGrp="1"/>
          </p:cNvSpPr>
          <p:nvPr>
            <p:ph idx="1"/>
          </p:nvPr>
        </p:nvSpPr>
        <p:spPr/>
        <p:txBody>
          <a:bodyPr/>
          <a:lstStyle/>
          <a:p>
            <a:r>
              <a:rPr lang="en-US" dirty="0"/>
              <a:t>Cultural anthropology knowledge put to use for indigenous peoples</a:t>
            </a:r>
          </a:p>
          <a:p>
            <a:r>
              <a:rPr lang="en-US" dirty="0"/>
              <a:t>Yonggom environment and livelihood damaged by large mining project in Ok Tedi, PNG</a:t>
            </a:r>
          </a:p>
          <a:p>
            <a:r>
              <a:rPr lang="en-US" dirty="0"/>
              <a:t>New roles </a:t>
            </a:r>
            <a:r>
              <a:rPr lang="en-US"/>
              <a:t>of </a:t>
            </a:r>
            <a:r>
              <a:rPr lang="en-US" smtClean="0"/>
              <a:t>anthropologists </a:t>
            </a:r>
            <a:r>
              <a:rPr lang="en-US"/>
              <a:t>as </a:t>
            </a:r>
            <a:r>
              <a:rPr lang="en-US" smtClean="0"/>
              <a:t>collaborators </a:t>
            </a:r>
            <a:r>
              <a:rPr lang="en-US" dirty="0"/>
              <a:t>with the people studied </a:t>
            </a:r>
            <a:r>
              <a:rPr lang="en-US"/>
              <a:t>and </a:t>
            </a:r>
            <a:r>
              <a:rPr lang="en-US" smtClean="0"/>
              <a:t>advocates </a:t>
            </a:r>
            <a:r>
              <a:rPr lang="en-US" dirty="0"/>
              <a:t>on their behalf with outside institutions</a:t>
            </a:r>
          </a:p>
          <a:p>
            <a:endParaRPr lang="en-US" dirty="0"/>
          </a:p>
        </p:txBody>
      </p:sp>
    </p:spTree>
    <p:extLst>
      <p:ext uri="{BB962C8B-B14F-4D97-AF65-F5344CB8AC3E}">
        <p14:creationId xmlns:p14="http://schemas.microsoft.com/office/powerpoint/2010/main" val="401870342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Democratization</a:t>
            </a:r>
            <a:endParaRPr lang="en-US" dirty="0"/>
          </a:p>
        </p:txBody>
      </p:sp>
      <p:sp>
        <p:nvSpPr>
          <p:cNvPr id="3" name="Content Placeholder 2"/>
          <p:cNvSpPr>
            <a:spLocks noGrp="1"/>
          </p:cNvSpPr>
          <p:nvPr>
            <p:ph idx="1"/>
          </p:nvPr>
        </p:nvSpPr>
        <p:spPr/>
        <p:txBody>
          <a:bodyPr>
            <a:normAutofit lnSpcReduction="10000"/>
          </a:bodyPr>
          <a:lstStyle/>
          <a:p>
            <a:r>
              <a:rPr lang="en-US" dirty="0"/>
              <a:t>Process of transformation from an authoritarian regime to a democratic regime</a:t>
            </a:r>
          </a:p>
          <a:p>
            <a:pPr lvl="1"/>
            <a:r>
              <a:rPr lang="en-US" dirty="0"/>
              <a:t>End of torture</a:t>
            </a:r>
          </a:p>
          <a:p>
            <a:pPr lvl="1"/>
            <a:r>
              <a:rPr lang="en-US" dirty="0"/>
              <a:t>Liberation of political prisoners</a:t>
            </a:r>
          </a:p>
          <a:p>
            <a:pPr lvl="1"/>
            <a:r>
              <a:rPr lang="en-US" dirty="0"/>
              <a:t>Lifting of censorship</a:t>
            </a:r>
          </a:p>
          <a:p>
            <a:pPr lvl="1"/>
            <a:r>
              <a:rPr lang="en-US" dirty="0"/>
              <a:t>Toleration of some opposition</a:t>
            </a:r>
          </a:p>
          <a:p>
            <a:r>
              <a:rPr lang="en-US" dirty="0"/>
              <a:t>This transition is </a:t>
            </a:r>
            <a:r>
              <a:rPr lang="en-US" dirty="0" smtClean="0"/>
              <a:t>most difficult </a:t>
            </a:r>
            <a:r>
              <a:rPr lang="en-US" dirty="0"/>
              <a:t>when the change is from highly authoritarian socialist regimes</a:t>
            </a:r>
          </a:p>
          <a:p>
            <a:endParaRPr lang="en-US" dirty="0"/>
          </a:p>
        </p:txBody>
      </p:sp>
    </p:spTree>
    <p:extLst>
      <p:ext uri="{BB962C8B-B14F-4D97-AF65-F5344CB8AC3E}">
        <p14:creationId xmlns:p14="http://schemas.microsoft.com/office/powerpoint/2010/main" val="340514060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Culturama: Kurds of the Middle East</a:t>
            </a:r>
            <a:endParaRPr lang="en-US" dirty="0"/>
          </a:p>
        </p:txBody>
      </p:sp>
      <p:sp>
        <p:nvSpPr>
          <p:cNvPr id="3" name="Content Placeholder 2"/>
          <p:cNvSpPr>
            <a:spLocks noGrp="1"/>
          </p:cNvSpPr>
          <p:nvPr>
            <p:ph idx="1"/>
          </p:nvPr>
        </p:nvSpPr>
        <p:spPr/>
        <p:txBody>
          <a:bodyPr>
            <a:normAutofit fontScale="85000" lnSpcReduction="20000"/>
          </a:bodyPr>
          <a:lstStyle/>
          <a:p>
            <a:r>
              <a:rPr lang="en-US" dirty="0"/>
              <a:t>Ethnic group of 20 </a:t>
            </a:r>
            <a:r>
              <a:rPr lang="en-US" dirty="0" smtClean="0"/>
              <a:t>to </a:t>
            </a:r>
            <a:r>
              <a:rPr lang="en-US" dirty="0"/>
              <a:t>30 million people</a:t>
            </a:r>
          </a:p>
          <a:p>
            <a:r>
              <a:rPr lang="en-US" dirty="0"/>
              <a:t>Most speak a dialect of Kurdish</a:t>
            </a:r>
          </a:p>
          <a:p>
            <a:r>
              <a:rPr lang="en-US" dirty="0"/>
              <a:t>Majority are Sunni Muslim</a:t>
            </a:r>
          </a:p>
          <a:p>
            <a:r>
              <a:rPr lang="en-US" dirty="0"/>
              <a:t>Strongly patrilineal</a:t>
            </a:r>
          </a:p>
          <a:p>
            <a:r>
              <a:rPr lang="en-US" dirty="0"/>
              <a:t>Home region, Kurdistan, extends from Turkey into Iran, Iraq, and Syria</a:t>
            </a:r>
          </a:p>
          <a:p>
            <a:r>
              <a:rPr lang="en-US" dirty="0"/>
              <a:t>Before WWI many Kurds were full-time pastoralists, herding sheep and goats</a:t>
            </a:r>
          </a:p>
          <a:p>
            <a:r>
              <a:rPr lang="en-US" dirty="0"/>
              <a:t>After WWI and the creation of new countries (Iraq, Syria, and Kuwait) Kurdish herders were unable to follow traditional grazing because of the new borders</a:t>
            </a:r>
          </a:p>
          <a:p>
            <a:endParaRPr lang="en-US" dirty="0"/>
          </a:p>
        </p:txBody>
      </p:sp>
    </p:spTree>
    <p:extLst>
      <p:ext uri="{BB962C8B-B14F-4D97-AF65-F5344CB8AC3E}">
        <p14:creationId xmlns:p14="http://schemas.microsoft.com/office/powerpoint/2010/main" val="153377355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Map 10.5 Kurdish Region </a:t>
            </a:r>
            <a:br>
              <a:rPr lang="en-US" dirty="0" smtClean="0"/>
            </a:br>
            <a:r>
              <a:rPr lang="en-US" dirty="0" smtClean="0"/>
              <a:t>in the Middle East</a:t>
            </a:r>
            <a:endParaRPr lang="en-US" dirty="0"/>
          </a:p>
        </p:txBody>
      </p:sp>
      <p:pic>
        <p:nvPicPr>
          <p:cNvPr id="4" name="Content Placeholder 3" descr="A map shows the Kurdish region straddling sections of southeastern Turkey, northern Syria and Iraq, and western Iran. An inset globe shows the area is in the Middle East."/>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738290" y="1484093"/>
            <a:ext cx="3814910" cy="4764307"/>
          </a:xfrm>
        </p:spPr>
      </p:pic>
    </p:spTree>
    <p:extLst>
      <p:ext uri="{BB962C8B-B14F-4D97-AF65-F5344CB8AC3E}">
        <p14:creationId xmlns:p14="http://schemas.microsoft.com/office/powerpoint/2010/main" val="175086664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The United Nations and International Peacekeeping</a:t>
            </a:r>
            <a:endParaRPr lang="en-US" dirty="0"/>
          </a:p>
        </p:txBody>
      </p:sp>
      <p:sp>
        <p:nvSpPr>
          <p:cNvPr id="3" name="Content Placeholder 2"/>
          <p:cNvSpPr>
            <a:spLocks noGrp="1"/>
          </p:cNvSpPr>
          <p:nvPr>
            <p:ph idx="1"/>
          </p:nvPr>
        </p:nvSpPr>
        <p:spPr/>
        <p:txBody>
          <a:bodyPr>
            <a:normAutofit/>
          </a:bodyPr>
          <a:lstStyle/>
          <a:p>
            <a:r>
              <a:rPr lang="en-US" dirty="0" smtClean="0"/>
              <a:t>UN provides a forum for dispute resolution</a:t>
            </a:r>
          </a:p>
          <a:p>
            <a:r>
              <a:rPr lang="en-US" dirty="0" smtClean="0"/>
              <a:t>Other NGOs and grassroots organizations may facilitate peacekeeping with initiatives that bridge group interests</a:t>
            </a:r>
            <a:endParaRPr lang="en-US" dirty="0"/>
          </a:p>
          <a:p>
            <a:r>
              <a:rPr lang="en-US" dirty="0" smtClean="0"/>
              <a:t>Pessimistic view </a:t>
            </a:r>
            <a:r>
              <a:rPr lang="en-US" dirty="0"/>
              <a:t>(</a:t>
            </a:r>
            <a:r>
              <a:rPr lang="en-US" dirty="0" smtClean="0"/>
              <a:t>Robert Carneiro)</a:t>
            </a:r>
          </a:p>
          <a:p>
            <a:pPr lvl="1"/>
            <a:r>
              <a:rPr lang="en-US" dirty="0" smtClean="0"/>
              <a:t> Warfare has no </a:t>
            </a:r>
            <a:r>
              <a:rPr lang="en-US" dirty="0"/>
              <a:t>logical end within the world system of states</a:t>
            </a:r>
          </a:p>
          <a:p>
            <a:pPr marL="0" indent="0">
              <a:buNone/>
            </a:pPr>
            <a:endParaRPr lang="en-US" dirty="0"/>
          </a:p>
        </p:txBody>
      </p:sp>
    </p:spTree>
    <p:extLst>
      <p:ext uri="{BB962C8B-B14F-4D97-AF65-F5344CB8AC3E}">
        <p14:creationId xmlns:p14="http://schemas.microsoft.com/office/powerpoint/2010/main" val="1482633494"/>
      </p:ext>
    </p:extLst>
  </p:cSld>
  <p:clrMapOvr>
    <a:masterClrMapping/>
  </p:clrMapOvr>
  <p:timing>
    <p:tnLst>
      <p:par>
        <p:cTn id="1" dur="indefinite" restart="never" nodeType="tmRoot"/>
      </p:par>
    </p:tnLst>
  </p:timing>
</p:sld>
</file>

<file path=ppt/theme/theme1.xml><?xml version="1.0" encoding="utf-8"?>
<a:theme xmlns:a="http://schemas.openxmlformats.org/drawingml/2006/main" name="Beebe8e_PPT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Beebe8e_PPT_master</Template>
  <TotalTime>323</TotalTime>
  <Words>2164</Words>
  <Application>Microsoft Office PowerPoint</Application>
  <PresentationFormat>On-screen Show (4:3)</PresentationFormat>
  <Paragraphs>240</Paragraphs>
  <Slides>42</Slides>
  <Notes>6</Notes>
  <HiddenSlides>0</HiddenSlides>
  <MMClips>0</MMClips>
  <ScaleCrop>false</ScaleCrop>
  <HeadingPairs>
    <vt:vector size="4" baseType="variant">
      <vt:variant>
        <vt:lpstr>Theme</vt:lpstr>
      </vt:variant>
      <vt:variant>
        <vt:i4>2</vt:i4>
      </vt:variant>
      <vt:variant>
        <vt:lpstr>Slide Titles</vt:lpstr>
      </vt:variant>
      <vt:variant>
        <vt:i4>42</vt:i4>
      </vt:variant>
    </vt:vector>
  </HeadingPairs>
  <TitlesOfParts>
    <vt:vector size="44" baseType="lpstr">
      <vt:lpstr>Beebe8e_PPT_master</vt:lpstr>
      <vt:lpstr>Office Theme</vt:lpstr>
      <vt:lpstr>PowerPoint Presentation</vt:lpstr>
      <vt:lpstr>Learning Objectives</vt:lpstr>
      <vt:lpstr>Public Power: Political Organization and Leadership (1 of 3) 10.1 Recognize how anthropologists define and study public power.</vt:lpstr>
      <vt:lpstr>Public Power: Political Organization and Leadership (2 of 3)</vt:lpstr>
      <vt:lpstr>Public Power: Political Organization and Leadership (3 of 3)</vt:lpstr>
      <vt:lpstr>Bands (1 of 2)</vt:lpstr>
      <vt:lpstr>Bands (2 of 2)</vt:lpstr>
      <vt:lpstr>Tribes (1 of 3)</vt:lpstr>
      <vt:lpstr>Tribes (2 of 3)</vt:lpstr>
      <vt:lpstr>Map 10.2 Melanesia</vt:lpstr>
      <vt:lpstr>Tribes (3 of 3)</vt:lpstr>
      <vt:lpstr>Chiefdoms</vt:lpstr>
      <vt:lpstr>States (1 of 4)</vt:lpstr>
      <vt:lpstr>States (2 of 4)</vt:lpstr>
      <vt:lpstr>States (3 of 4)</vt:lpstr>
      <vt:lpstr>States (4 of 4)</vt:lpstr>
      <vt:lpstr>Social Order and Social Conflict 10.2 Identify ways that cultures maintain social order and address conflict.</vt:lpstr>
      <vt:lpstr>Norms and Laws</vt:lpstr>
      <vt:lpstr>Systems of Social Control (1 of 12)</vt:lpstr>
      <vt:lpstr>Systems of Social Control (2 of 12)</vt:lpstr>
      <vt:lpstr>Systems of Social Control (3 of 12)</vt:lpstr>
      <vt:lpstr>Systems of Social Control (4 of 12)</vt:lpstr>
      <vt:lpstr>Systems of Social Control (5 of 12)</vt:lpstr>
      <vt:lpstr>Systems of Social Control (6 of 12)</vt:lpstr>
      <vt:lpstr>Systems of Social Control (7 of 12)</vt:lpstr>
      <vt:lpstr>Systems of Social Control (8 of 12)</vt:lpstr>
      <vt:lpstr>Systems of Social Control (9 of 12)</vt:lpstr>
      <vt:lpstr>Systems of Social Control (10 of 12)</vt:lpstr>
      <vt:lpstr>Systems of Social Control (11 of 12)</vt:lpstr>
      <vt:lpstr>Systems of Social Control (12 of 12)</vt:lpstr>
      <vt:lpstr>Think Like an Anthropologist:  Yanomami, the “Fierce People”? (1 of 4)</vt:lpstr>
      <vt:lpstr>Think Like an Anthropologist:  Yanomami, the “Fierce People”? (2 of 4)</vt:lpstr>
      <vt:lpstr>Think Like an Anthropologist:  Yanomami, the “Fierce People”? (3 of 4)</vt:lpstr>
      <vt:lpstr>Think Like an Anthropologist:  Yanomami, the “Fierce People”? (4 of 4)</vt:lpstr>
      <vt:lpstr>Changing Public Power and Social Control 10.3 Illustrate changes in public power and social control.</vt:lpstr>
      <vt:lpstr>Nations and Transnational Nations</vt:lpstr>
      <vt:lpstr>Map 10.6 Puerto Rico</vt:lpstr>
      <vt:lpstr>Anthropology Works: Advocacy Anthropology and Community Activism in Papua New Guinea</vt:lpstr>
      <vt:lpstr>Democratization</vt:lpstr>
      <vt:lpstr>Culturama: Kurds of the Middle East</vt:lpstr>
      <vt:lpstr>Map 10.5 Kurdish Region  in the Middle East</vt:lpstr>
      <vt:lpstr>The United Nations and International Peacekeeping</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Megan</dc:creator>
  <cp:lastModifiedBy>JH</cp:lastModifiedBy>
  <cp:revision>32</cp:revision>
  <dcterms:created xsi:type="dcterms:W3CDTF">2015-09-18T14:54:36Z</dcterms:created>
  <dcterms:modified xsi:type="dcterms:W3CDTF">2016-04-06T14:22:27Z</dcterms:modified>
</cp:coreProperties>
</file>