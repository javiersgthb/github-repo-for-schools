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4"/>
  </p:notesMasterIdLst>
  <p:sldIdLst>
    <p:sldId id="257" r:id="rId3"/>
    <p:sldId id="256" r:id="rId4"/>
    <p:sldId id="259" r:id="rId5"/>
    <p:sldId id="258" r:id="rId6"/>
    <p:sldId id="260" r:id="rId7"/>
    <p:sldId id="261" r:id="rId8"/>
    <p:sldId id="262" r:id="rId9"/>
    <p:sldId id="263" r:id="rId10"/>
    <p:sldId id="264" r:id="rId11"/>
    <p:sldId id="266" r:id="rId12"/>
    <p:sldId id="265"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96" r:id="rId29"/>
    <p:sldId id="282" r:id="rId30"/>
    <p:sldId id="283" r:id="rId31"/>
    <p:sldId id="284" r:id="rId32"/>
    <p:sldId id="285" r:id="rId33"/>
    <p:sldId id="288" r:id="rId34"/>
    <p:sldId id="290" r:id="rId35"/>
    <p:sldId id="286" r:id="rId36"/>
    <p:sldId id="287" r:id="rId37"/>
    <p:sldId id="289" r:id="rId38"/>
    <p:sldId id="291" r:id="rId39"/>
    <p:sldId id="292" r:id="rId40"/>
    <p:sldId id="293" r:id="rId41"/>
    <p:sldId id="294" r:id="rId42"/>
    <p:sldId id="295"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521" autoAdjust="0"/>
  </p:normalViewPr>
  <p:slideViewPr>
    <p:cSldViewPr>
      <p:cViewPr>
        <p:scale>
          <a:sx n="99" d="100"/>
          <a:sy n="99" d="100"/>
        </p:scale>
        <p:origin x="-893" y="-5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DE94DF-C5A9-4BD3-83B3-9F69CBB46897}" type="datetimeFigureOut">
              <a:rPr lang="en-US" smtClean="0"/>
              <a:t>4/6/2016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995B7A-C38C-4462-8A30-2EFEED90D962}" type="slidenum">
              <a:rPr lang="en-US" smtClean="0"/>
              <a:t>‹#›</a:t>
            </a:fld>
            <a:endParaRPr lang="en-US" dirty="0"/>
          </a:p>
        </p:txBody>
      </p:sp>
    </p:spTree>
    <p:extLst>
      <p:ext uri="{BB962C8B-B14F-4D97-AF65-F5344CB8AC3E}">
        <p14:creationId xmlns:p14="http://schemas.microsoft.com/office/powerpoint/2010/main" val="3207611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For a better classroom presentation flow, the order of some topics in this lecture outline differs slightly from the order of topics in the text and, where this occurs, some figures and tables are out of numerical order.</a:t>
            </a:r>
            <a:endParaRPr lang="en-US" dirty="0"/>
          </a:p>
        </p:txBody>
      </p:sp>
      <p:sp>
        <p:nvSpPr>
          <p:cNvPr id="4" name="Slide Number Placeholder 3"/>
          <p:cNvSpPr>
            <a:spLocks noGrp="1"/>
          </p:cNvSpPr>
          <p:nvPr>
            <p:ph type="sldNum" sz="quarter" idx="10"/>
          </p:nvPr>
        </p:nvSpPr>
        <p:spPr/>
        <p:txBody>
          <a:bodyPr/>
          <a:lstStyle/>
          <a:p>
            <a:fld id="{51995B7A-C38C-4462-8A30-2EFEED90D962}" type="slidenum">
              <a:rPr lang="en-US" smtClean="0"/>
              <a:t>1</a:t>
            </a:fld>
            <a:endParaRPr lang="en-US" dirty="0"/>
          </a:p>
        </p:txBody>
      </p:sp>
    </p:spTree>
    <p:extLst>
      <p:ext uri="{BB962C8B-B14F-4D97-AF65-F5344CB8AC3E}">
        <p14:creationId xmlns:p14="http://schemas.microsoft.com/office/powerpoint/2010/main" val="2828455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People’s Republic of Bangladesh is located on a deltaic</a:t>
            </a:r>
            <a:r>
              <a:rPr lang="en-US" baseline="0" dirty="0" smtClean="0"/>
              <a:t> </a:t>
            </a:r>
            <a:r>
              <a:rPr lang="en-US" dirty="0" smtClean="0"/>
              <a:t>floodplain with rich soil and risk of flooding. One of the world’s most</a:t>
            </a:r>
            <a:r>
              <a:rPr lang="en-US" baseline="0" dirty="0" smtClean="0"/>
              <a:t> </a:t>
            </a:r>
            <a:r>
              <a:rPr lang="en-US" dirty="0" smtClean="0"/>
              <a:t>densely populated countries, Bangladesh has around 160 million</a:t>
            </a:r>
            <a:r>
              <a:rPr lang="en-US" baseline="0" dirty="0" smtClean="0"/>
              <a:t> </a:t>
            </a:r>
            <a:r>
              <a:rPr lang="en-US" dirty="0" smtClean="0"/>
              <a:t>people living in an area about the size of the state of Wisconsin.</a:t>
            </a:r>
            <a:r>
              <a:rPr lang="en-US" baseline="0" dirty="0" smtClean="0"/>
              <a:t> </a:t>
            </a:r>
            <a:r>
              <a:rPr lang="en-US" dirty="0" smtClean="0"/>
              <a:t>Bangladesh is the world’s third largest Muslim-majority country and</a:t>
            </a:r>
            <a:r>
              <a:rPr lang="en-US" baseline="0" dirty="0" smtClean="0"/>
              <a:t> </a:t>
            </a:r>
            <a:r>
              <a:rPr lang="en-US" dirty="0" smtClean="0"/>
              <a:t>the eighth largest country in the world in terms of population.</a:t>
            </a:r>
            <a:endParaRPr lang="en-US" dirty="0"/>
          </a:p>
        </p:txBody>
      </p:sp>
      <p:sp>
        <p:nvSpPr>
          <p:cNvPr id="4" name="Slide Number Placeholder 3"/>
          <p:cNvSpPr>
            <a:spLocks noGrp="1"/>
          </p:cNvSpPr>
          <p:nvPr>
            <p:ph type="sldNum" sz="quarter" idx="10"/>
          </p:nvPr>
        </p:nvSpPr>
        <p:spPr/>
        <p:txBody>
          <a:bodyPr/>
          <a:lstStyle/>
          <a:p>
            <a:fld id="{51995B7A-C38C-4462-8A30-2EFEED90D962}" type="slidenum">
              <a:rPr lang="en-US" smtClean="0"/>
              <a:t>7</a:t>
            </a:fld>
            <a:endParaRPr lang="en-US" dirty="0"/>
          </a:p>
        </p:txBody>
      </p:sp>
    </p:spTree>
    <p:extLst>
      <p:ext uri="{BB962C8B-B14F-4D97-AF65-F5344CB8AC3E}">
        <p14:creationId xmlns:p14="http://schemas.microsoft.com/office/powerpoint/2010/main" val="3041592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1995B7A-C38C-4462-8A30-2EFEED90D962}" type="slidenum">
              <a:rPr lang="en-US" smtClean="0"/>
              <a:t>9</a:t>
            </a:fld>
            <a:endParaRPr lang="en-US" dirty="0"/>
          </a:p>
        </p:txBody>
      </p:sp>
    </p:spTree>
    <p:extLst>
      <p:ext uri="{BB962C8B-B14F-4D97-AF65-F5344CB8AC3E}">
        <p14:creationId xmlns:p14="http://schemas.microsoft.com/office/powerpoint/2010/main" val="2652740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ethnically and linguistically diverse countries of the Caribbean</a:t>
            </a:r>
            <a:r>
              <a:rPr lang="en-US" baseline="0" dirty="0" smtClean="0"/>
              <a:t> </a:t>
            </a:r>
            <a:r>
              <a:rPr lang="en-US" dirty="0" smtClean="0"/>
              <a:t>region of South America include Guyana, Suriname, and French</a:t>
            </a:r>
            <a:r>
              <a:rPr lang="en-US" baseline="0" dirty="0" smtClean="0"/>
              <a:t> </a:t>
            </a:r>
            <a:r>
              <a:rPr lang="en-US" dirty="0" smtClean="0"/>
              <a:t>Guiana. Guyana, or the Co-operative Republic of Guyana, is the</a:t>
            </a:r>
            <a:r>
              <a:rPr lang="en-US" baseline="0" dirty="0" smtClean="0"/>
              <a:t> </a:t>
            </a:r>
            <a:r>
              <a:rPr lang="en-US" dirty="0" smtClean="0"/>
              <a:t>only South American country whose official language is English.</a:t>
            </a:r>
            <a:r>
              <a:rPr lang="en-US" baseline="0" dirty="0" smtClean="0"/>
              <a:t> </a:t>
            </a:r>
            <a:r>
              <a:rPr lang="en-US" dirty="0" smtClean="0"/>
              <a:t>Other languages are Hindi, Wai Wai, and Arawak. Its population is over 700,000. The Republiek Suriname, or Suriname, was formerly</a:t>
            </a:r>
            <a:r>
              <a:rPr lang="en-US" baseline="0" dirty="0" smtClean="0"/>
              <a:t> </a:t>
            </a:r>
            <a:r>
              <a:rPr lang="en-US" dirty="0" smtClean="0"/>
              <a:t>a colony of the Netherlands and is the smallest independent state</a:t>
            </a:r>
            <a:r>
              <a:rPr lang="en-US" baseline="0" dirty="0" smtClean="0"/>
              <a:t> </a:t>
            </a:r>
            <a:r>
              <a:rPr lang="en-US" dirty="0" smtClean="0"/>
              <a:t>in South America. Its population is 570,000. Dutch is the official</a:t>
            </a:r>
            <a:r>
              <a:rPr lang="en-US" baseline="0" dirty="0" smtClean="0"/>
              <a:t> </a:t>
            </a:r>
            <a:r>
              <a:rPr lang="en-US" dirty="0" smtClean="0"/>
              <a:t>language, but most Surinamese also speak Sranan Tongo, or</a:t>
            </a:r>
            <a:r>
              <a:rPr lang="en-US" baseline="0" dirty="0" smtClean="0"/>
              <a:t> </a:t>
            </a:r>
            <a:r>
              <a:rPr lang="en-US" dirty="0" smtClean="0"/>
              <a:t>Surinaams, a mixture of Dutch, English, Portuguese, French, and</a:t>
            </a:r>
            <a:r>
              <a:rPr lang="en-US" baseline="0" dirty="0" smtClean="0"/>
              <a:t> </a:t>
            </a:r>
            <a:r>
              <a:rPr lang="en-US" dirty="0" smtClean="0"/>
              <a:t>local languages. French Guiana is an overseas department of France</a:t>
            </a:r>
            <a:r>
              <a:rPr lang="en-US" baseline="0" dirty="0" smtClean="0"/>
              <a:t> </a:t>
            </a:r>
            <a:r>
              <a:rPr lang="en-US" dirty="0" smtClean="0"/>
              <a:t>and is thus part of the European Union. The smallest political unit</a:t>
            </a:r>
            <a:r>
              <a:rPr lang="en-US" baseline="0" dirty="0" smtClean="0"/>
              <a:t> </a:t>
            </a:r>
            <a:r>
              <a:rPr lang="en-US" dirty="0" smtClean="0"/>
              <a:t>in South America, its population is 260,000. Its official language</a:t>
            </a:r>
            <a:r>
              <a:rPr lang="en-US" baseline="0" dirty="0" smtClean="0"/>
              <a:t> </a:t>
            </a:r>
            <a:r>
              <a:rPr lang="en-US" dirty="0" smtClean="0"/>
              <a:t>is French, but several other languages are spoken, including</a:t>
            </a:r>
            <a:r>
              <a:rPr lang="en-US" baseline="0" dirty="0" smtClean="0"/>
              <a:t> </a:t>
            </a:r>
            <a:r>
              <a:rPr lang="en-US" dirty="0" smtClean="0"/>
              <a:t>indigenous Arawak and Carib.</a:t>
            </a:r>
            <a:endParaRPr lang="en-US" dirty="0"/>
          </a:p>
        </p:txBody>
      </p:sp>
      <p:sp>
        <p:nvSpPr>
          <p:cNvPr id="4" name="Slide Number Placeholder 3"/>
          <p:cNvSpPr>
            <a:spLocks noGrp="1"/>
          </p:cNvSpPr>
          <p:nvPr>
            <p:ph type="sldNum" sz="quarter" idx="10"/>
          </p:nvPr>
        </p:nvSpPr>
        <p:spPr/>
        <p:txBody>
          <a:bodyPr/>
          <a:lstStyle/>
          <a:p>
            <a:fld id="{51995B7A-C38C-4462-8A30-2EFEED90D962}" type="slidenum">
              <a:rPr lang="en-US" smtClean="0"/>
              <a:t>10</a:t>
            </a:fld>
            <a:endParaRPr lang="en-US" dirty="0"/>
          </a:p>
        </p:txBody>
      </p:sp>
    </p:spTree>
    <p:extLst>
      <p:ext uri="{BB962C8B-B14F-4D97-AF65-F5344CB8AC3E}">
        <p14:creationId xmlns:p14="http://schemas.microsoft.com/office/powerpoint/2010/main" val="791912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This country consists of nearly 1,000 islands. Its capital, Honiara, is located on the island of Guadalcanal. The population is nearly 600,000. Most of the people earn a living through small-scale farming and fishing. Commercial exploitation of local timber has led to severe deforestation. Over 70 languages are spoken, and an additional four have recently gone extinct. Most people are Christian, mainly Anglican. The Solomons were the site of some of the bitterest fighting during World War II.</a:t>
            </a:r>
            <a:endParaRPr lang="en-US" dirty="0"/>
          </a:p>
        </p:txBody>
      </p:sp>
      <p:sp>
        <p:nvSpPr>
          <p:cNvPr id="4" name="Slide Number Placeholder 3"/>
          <p:cNvSpPr>
            <a:spLocks noGrp="1"/>
          </p:cNvSpPr>
          <p:nvPr>
            <p:ph type="sldNum" sz="quarter" idx="10"/>
          </p:nvPr>
        </p:nvSpPr>
        <p:spPr/>
        <p:txBody>
          <a:bodyPr/>
          <a:lstStyle/>
          <a:p>
            <a:fld id="{51995B7A-C38C-4462-8A30-2EFEED90D962}" type="slidenum">
              <a:rPr lang="en-US" smtClean="0"/>
              <a:t>18</a:t>
            </a:fld>
            <a:endParaRPr lang="en-US" dirty="0"/>
          </a:p>
        </p:txBody>
      </p:sp>
    </p:spTree>
    <p:extLst>
      <p:ext uri="{BB962C8B-B14F-4D97-AF65-F5344CB8AC3E}">
        <p14:creationId xmlns:p14="http://schemas.microsoft.com/office/powerpoint/2010/main" val="2878254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Guna are an indigenous people who live mainly in the eastern</a:t>
            </a:r>
            <a:r>
              <a:rPr lang="en-US" baseline="0" dirty="0" smtClean="0"/>
              <a:t> </a:t>
            </a:r>
            <a:r>
              <a:rPr lang="en-US" dirty="0" smtClean="0"/>
              <a:t>coastal region of Panama, including its offshore islands. Some live</a:t>
            </a:r>
            <a:r>
              <a:rPr lang="en-US" baseline="0" dirty="0" smtClean="0"/>
              <a:t> </a:t>
            </a:r>
            <a:r>
              <a:rPr lang="en-US" dirty="0" smtClean="0"/>
              <a:t>in cities, and a few live in villages in neighboring Colombia. The</a:t>
            </a:r>
            <a:r>
              <a:rPr lang="en-US" baseline="0" dirty="0" smtClean="0"/>
              <a:t> </a:t>
            </a:r>
            <a:r>
              <a:rPr lang="en-US" dirty="0" smtClean="0"/>
              <a:t>Guna population is around 150,000. Farming, fishing, and tourism</a:t>
            </a:r>
            <a:r>
              <a:rPr lang="en-US" baseline="0" dirty="0" smtClean="0"/>
              <a:t> </a:t>
            </a:r>
            <a:r>
              <a:rPr lang="en-US" dirty="0" smtClean="0"/>
              <a:t>are important parts of the economy. Each community has its own</a:t>
            </a:r>
            <a:r>
              <a:rPr lang="en-US" baseline="0" dirty="0" smtClean="0"/>
              <a:t> </a:t>
            </a:r>
            <a:r>
              <a:rPr lang="en-US" dirty="0" smtClean="0"/>
              <a:t>political organization, and the Guna as a whole are organized into the</a:t>
            </a:r>
            <a:r>
              <a:rPr lang="en-US" baseline="0" dirty="0" smtClean="0"/>
              <a:t> </a:t>
            </a:r>
            <a:r>
              <a:rPr lang="en-US" dirty="0" smtClean="0"/>
              <a:t>Kuna General Congress. Most speak Guna, or Dulegaya (“People’s</a:t>
            </a:r>
            <a:r>
              <a:rPr lang="en-US" baseline="0" dirty="0" smtClean="0"/>
              <a:t> </a:t>
            </a:r>
            <a:r>
              <a:rPr lang="en-US" dirty="0" smtClean="0"/>
              <a:t>Language”), and Spanish. They follow traditional religious practices,</a:t>
            </a:r>
            <a:r>
              <a:rPr lang="en-US" baseline="0" dirty="0" smtClean="0"/>
              <a:t> </a:t>
            </a:r>
            <a:r>
              <a:rPr lang="en-US" dirty="0" smtClean="0"/>
              <a:t>often with a mixture of Christian elements.</a:t>
            </a:r>
            <a:endParaRPr lang="en-US" dirty="0"/>
          </a:p>
        </p:txBody>
      </p:sp>
      <p:sp>
        <p:nvSpPr>
          <p:cNvPr id="4" name="Slide Number Placeholder 3"/>
          <p:cNvSpPr>
            <a:spLocks noGrp="1"/>
          </p:cNvSpPr>
          <p:nvPr>
            <p:ph type="sldNum" sz="quarter" idx="10"/>
          </p:nvPr>
        </p:nvSpPr>
        <p:spPr/>
        <p:txBody>
          <a:bodyPr/>
          <a:lstStyle/>
          <a:p>
            <a:fld id="{51995B7A-C38C-4462-8A30-2EFEED90D962}" type="slidenum">
              <a:rPr lang="en-US" smtClean="0"/>
              <a:t>23</a:t>
            </a:fld>
            <a:endParaRPr lang="en-US" dirty="0"/>
          </a:p>
        </p:txBody>
      </p:sp>
    </p:spTree>
    <p:extLst>
      <p:ext uri="{BB962C8B-B14F-4D97-AF65-F5344CB8AC3E}">
        <p14:creationId xmlns:p14="http://schemas.microsoft.com/office/powerpoint/2010/main" val="3012045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Salvatore Ferragamo headquarters in Firenze (Florence), Italy.</a:t>
            </a:r>
            <a:r>
              <a:rPr lang="en-US" baseline="0" dirty="0" smtClean="0"/>
              <a:t> </a:t>
            </a:r>
            <a:r>
              <a:rPr lang="en-US" dirty="0" smtClean="0"/>
              <a:t>Top brand names such as Ferragamo are highly sought after by consumers</a:t>
            </a:r>
            <a:r>
              <a:rPr lang="en-US" baseline="0" dirty="0" smtClean="0"/>
              <a:t> </a:t>
            </a:r>
            <a:r>
              <a:rPr lang="en-US" dirty="0" smtClean="0"/>
              <a:t>internationally who can afford to buy these luxury goods.</a:t>
            </a:r>
          </a:p>
        </p:txBody>
      </p:sp>
      <p:sp>
        <p:nvSpPr>
          <p:cNvPr id="4" name="Slide Number Placeholder 3"/>
          <p:cNvSpPr>
            <a:spLocks noGrp="1"/>
          </p:cNvSpPr>
          <p:nvPr>
            <p:ph type="sldNum" sz="quarter" idx="10"/>
          </p:nvPr>
        </p:nvSpPr>
        <p:spPr/>
        <p:txBody>
          <a:bodyPr/>
          <a:lstStyle/>
          <a:p>
            <a:fld id="{51995B7A-C38C-4462-8A30-2EFEED90D962}" type="slidenum">
              <a:rPr lang="en-US" smtClean="0"/>
              <a:t>27</a:t>
            </a:fld>
            <a:endParaRPr lang="en-US" dirty="0"/>
          </a:p>
        </p:txBody>
      </p:sp>
    </p:spTree>
    <p:extLst>
      <p:ext uri="{BB962C8B-B14F-4D97-AF65-F5344CB8AC3E}">
        <p14:creationId xmlns:p14="http://schemas.microsoft.com/office/powerpoint/2010/main" val="2769933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1995B7A-C38C-4462-8A30-2EFEED90D962}" type="slidenum">
              <a:rPr lang="en-US" smtClean="0"/>
              <a:t>28</a:t>
            </a:fld>
            <a:endParaRPr lang="en-US" dirty="0"/>
          </a:p>
        </p:txBody>
      </p:sp>
    </p:spTree>
    <p:extLst>
      <p:ext uri="{BB962C8B-B14F-4D97-AF65-F5344CB8AC3E}">
        <p14:creationId xmlns:p14="http://schemas.microsoft.com/office/powerpoint/2010/main" val="2199730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Republic of South Africa experienced the highest level of colonial</a:t>
            </a:r>
            <a:r>
              <a:rPr lang="en-US" baseline="0" dirty="0" smtClean="0"/>
              <a:t> </a:t>
            </a:r>
            <a:r>
              <a:rPr lang="en-US" dirty="0" smtClean="0"/>
              <a:t>immigration of any African country. Its rich mineral wealth attracted</a:t>
            </a:r>
            <a:r>
              <a:rPr lang="en-US" baseline="0" dirty="0" smtClean="0"/>
              <a:t> </a:t>
            </a:r>
            <a:r>
              <a:rPr lang="en-US" dirty="0" smtClean="0"/>
              <a:t>interest from global powers throughout the Cold War era. Of its</a:t>
            </a:r>
            <a:r>
              <a:rPr lang="en-US" baseline="0" dirty="0" smtClean="0"/>
              <a:t> </a:t>
            </a:r>
            <a:r>
              <a:rPr lang="en-US" dirty="0" smtClean="0"/>
              <a:t>population of 52 million, 80 percent are Black South Africans. The</a:t>
            </a:r>
            <a:r>
              <a:rPr lang="en-US" baseline="0" dirty="0" smtClean="0"/>
              <a:t> </a:t>
            </a:r>
            <a:r>
              <a:rPr lang="en-US" dirty="0" smtClean="0"/>
              <a:t>rest are of mixed ethnic backgrounds and referred to as “Coloureds,” Indian (from India), or White, who are mainly descendants of colonial</a:t>
            </a:r>
            <a:r>
              <a:rPr lang="en-US" baseline="0" dirty="0" smtClean="0"/>
              <a:t> </a:t>
            </a:r>
            <a:r>
              <a:rPr lang="en-US" dirty="0" smtClean="0"/>
              <a:t>immigrants. South Africa has 11 official languages, and it recognizes</a:t>
            </a:r>
            <a:r>
              <a:rPr lang="en-US" baseline="0" dirty="0" smtClean="0"/>
              <a:t> </a:t>
            </a:r>
            <a:r>
              <a:rPr lang="en-US" dirty="0" smtClean="0"/>
              <a:t>eight nonofficial languages. Afrikaans and English are the major</a:t>
            </a:r>
            <a:r>
              <a:rPr lang="en-US" baseline="0" dirty="0" smtClean="0"/>
              <a:t> </a:t>
            </a:r>
            <a:r>
              <a:rPr lang="en-US" dirty="0" smtClean="0"/>
              <a:t>languages of the administration. Nonofficial languages include those</a:t>
            </a:r>
            <a:r>
              <a:rPr lang="en-US" baseline="0" dirty="0" smtClean="0"/>
              <a:t> </a:t>
            </a:r>
            <a:r>
              <a:rPr lang="en-US" dirty="0" smtClean="0"/>
              <a:t>of the San and other indigenous peoples.</a:t>
            </a:r>
            <a:endParaRPr lang="en-US" dirty="0"/>
          </a:p>
        </p:txBody>
      </p:sp>
      <p:sp>
        <p:nvSpPr>
          <p:cNvPr id="4" name="Slide Number Placeholder 3"/>
          <p:cNvSpPr>
            <a:spLocks noGrp="1"/>
          </p:cNvSpPr>
          <p:nvPr>
            <p:ph type="sldNum" sz="quarter" idx="10"/>
          </p:nvPr>
        </p:nvSpPr>
        <p:spPr/>
        <p:txBody>
          <a:bodyPr/>
          <a:lstStyle/>
          <a:p>
            <a:fld id="{51995B7A-C38C-4462-8A30-2EFEED90D962}" type="slidenum">
              <a:rPr lang="en-US" smtClean="0"/>
              <a:t>30</a:t>
            </a:fld>
            <a:endParaRPr lang="en-US" dirty="0"/>
          </a:p>
        </p:txBody>
      </p:sp>
    </p:spTree>
    <p:extLst>
      <p:ext uri="{BB962C8B-B14F-4D97-AF65-F5344CB8AC3E}">
        <p14:creationId xmlns:p14="http://schemas.microsoft.com/office/powerpoint/2010/main" val="2202650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Romania has the highest number of</a:t>
            </a:r>
            <a:r>
              <a:rPr lang="en-US" baseline="0" dirty="0" smtClean="0"/>
              <a:t> </a:t>
            </a:r>
            <a:r>
              <a:rPr lang="en-US" dirty="0" smtClean="0"/>
              <a:t>Roma of any country in the world,</a:t>
            </a:r>
            <a:r>
              <a:rPr lang="en-US" baseline="0" dirty="0" smtClean="0"/>
              <a:t> </a:t>
            </a:r>
            <a:r>
              <a:rPr lang="en-US" dirty="0" smtClean="0"/>
              <a:t>between one and two million. Macedonia</a:t>
            </a:r>
            <a:r>
              <a:rPr lang="en-US" baseline="0" dirty="0" smtClean="0"/>
              <a:t> </a:t>
            </a:r>
            <a:r>
              <a:rPr lang="en-US" dirty="0" smtClean="0"/>
              <a:t>has the highest percentage of Roma in</a:t>
            </a:r>
            <a:r>
              <a:rPr lang="en-US" baseline="0" dirty="0" smtClean="0"/>
              <a:t> </a:t>
            </a:r>
            <a:r>
              <a:rPr lang="en-US" dirty="0" smtClean="0"/>
              <a:t>its population.</a:t>
            </a:r>
            <a:endParaRPr lang="en-US" dirty="0"/>
          </a:p>
        </p:txBody>
      </p:sp>
      <p:sp>
        <p:nvSpPr>
          <p:cNvPr id="4" name="Slide Number Placeholder 3"/>
          <p:cNvSpPr>
            <a:spLocks noGrp="1"/>
          </p:cNvSpPr>
          <p:nvPr>
            <p:ph type="sldNum" sz="quarter" idx="10"/>
          </p:nvPr>
        </p:nvSpPr>
        <p:spPr/>
        <p:txBody>
          <a:bodyPr/>
          <a:lstStyle/>
          <a:p>
            <a:fld id="{51995B7A-C38C-4462-8A30-2EFEED90D962}" type="slidenum">
              <a:rPr lang="en-US" smtClean="0"/>
              <a:t>36</a:t>
            </a:fld>
            <a:endParaRPr lang="en-US" dirty="0"/>
          </a:p>
        </p:txBody>
      </p:sp>
    </p:spTree>
    <p:extLst>
      <p:ext uri="{BB962C8B-B14F-4D97-AF65-F5344CB8AC3E}">
        <p14:creationId xmlns:p14="http://schemas.microsoft.com/office/powerpoint/2010/main" val="4257305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image" Target="../media/image2.emf"/><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9</a:t>
            </a:r>
            <a:endParaRPr lang="en-US" dirty="0"/>
          </a:p>
        </p:txBody>
      </p:sp>
      <p:sp>
        <p:nvSpPr>
          <p:cNvPr id="3" name="Text Placeholder 2"/>
          <p:cNvSpPr>
            <a:spLocks noGrp="1"/>
          </p:cNvSpPr>
          <p:nvPr>
            <p:ph type="body" sz="quarter" idx="15"/>
          </p:nvPr>
        </p:nvSpPr>
        <p:spPr/>
        <p:txBody>
          <a:bodyPr/>
          <a:lstStyle/>
          <a:p>
            <a:r>
              <a:rPr lang="en-US" dirty="0" smtClean="0"/>
              <a:t>Social Groups and Social Stratification</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tx2"/>
                </a:solidFill>
              </a:rPr>
              <a:t>9.1</a:t>
            </a:r>
            <a:r>
              <a:rPr lang="en-US" dirty="0" smtClean="0"/>
              <a:t> Explain what social groups are.</a:t>
            </a:r>
          </a:p>
          <a:p>
            <a:endParaRPr lang="en-US" dirty="0">
              <a:solidFill>
                <a:schemeClr val="tx2"/>
              </a:solidFill>
            </a:endParaRPr>
          </a:p>
          <a:p>
            <a:pPr marL="0" indent="0">
              <a:buNone/>
            </a:pPr>
            <a:r>
              <a:rPr lang="en-US" dirty="0" smtClean="0">
                <a:solidFill>
                  <a:schemeClr val="tx2"/>
                </a:solidFill>
              </a:rPr>
              <a:t>9.2</a:t>
            </a:r>
            <a:r>
              <a:rPr lang="en-US" dirty="0" smtClean="0"/>
              <a:t> Define what is included in the term social stratification.</a:t>
            </a:r>
          </a:p>
          <a:p>
            <a:endParaRPr lang="en-US" dirty="0">
              <a:solidFill>
                <a:schemeClr val="tx2"/>
              </a:solidFill>
            </a:endParaRPr>
          </a:p>
          <a:p>
            <a:pPr marL="0" indent="0">
              <a:buNone/>
            </a:pPr>
            <a:r>
              <a:rPr lang="en-US" dirty="0" smtClean="0">
                <a:solidFill>
                  <a:schemeClr val="tx2"/>
                </a:solidFill>
              </a:rPr>
              <a:t>9.3 </a:t>
            </a:r>
            <a:r>
              <a:rPr lang="en-US" dirty="0" smtClean="0"/>
              <a:t>Discuss the concept of civil society.</a:t>
            </a:r>
            <a:endParaRPr lang="en-US" dirty="0">
              <a:solidFill>
                <a:schemeClr val="tx2"/>
              </a:solidFill>
            </a:endParaRPr>
          </a:p>
        </p:txBody>
      </p:sp>
    </p:spTree>
    <p:extLst>
      <p:ext uri="{BB962C8B-B14F-4D97-AF65-F5344CB8AC3E}">
        <p14:creationId xmlns:p14="http://schemas.microsoft.com/office/powerpoint/2010/main" val="25449066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Social Groups </a:t>
            </a:r>
            <a:r>
              <a:rPr lang="en-US" sz="3100" dirty="0" smtClean="0"/>
              <a:t>(1 of 4)</a:t>
            </a:r>
            <a:br>
              <a:rPr lang="en-US" sz="3100" dirty="0" smtClean="0"/>
            </a:br>
            <a:r>
              <a:rPr lang="en-US" sz="2700" dirty="0" smtClean="0"/>
              <a:t>9.1 Explain what social groups are.</a:t>
            </a:r>
            <a:endParaRPr lang="en-US" sz="2700" dirty="0"/>
          </a:p>
        </p:txBody>
      </p:sp>
      <p:sp>
        <p:nvSpPr>
          <p:cNvPr id="3" name="Content Placeholder 2"/>
          <p:cNvSpPr>
            <a:spLocks noGrp="1"/>
          </p:cNvSpPr>
          <p:nvPr>
            <p:ph idx="1"/>
          </p:nvPr>
        </p:nvSpPr>
        <p:spPr/>
        <p:txBody>
          <a:bodyPr>
            <a:normAutofit/>
          </a:bodyPr>
          <a:lstStyle/>
          <a:p>
            <a:r>
              <a:rPr lang="en-US" dirty="0" smtClean="0"/>
              <a:t>Friendship</a:t>
            </a:r>
          </a:p>
          <a:p>
            <a:endParaRPr lang="en-US" dirty="0"/>
          </a:p>
          <a:p>
            <a:r>
              <a:rPr lang="en-US" dirty="0" smtClean="0"/>
              <a:t>Clubs and Fraternities/Sororities</a:t>
            </a:r>
          </a:p>
          <a:p>
            <a:endParaRPr lang="en-US" dirty="0" smtClean="0"/>
          </a:p>
          <a:p>
            <a:r>
              <a:rPr lang="en-US" dirty="0" smtClean="0"/>
              <a:t>Cooperatives</a:t>
            </a:r>
          </a:p>
          <a:p>
            <a:endParaRPr lang="en-US" dirty="0"/>
          </a:p>
          <a:p>
            <a:r>
              <a:rPr lang="en-US" dirty="0" smtClean="0"/>
              <a:t>Self-Help Groups</a:t>
            </a:r>
            <a:endParaRPr lang="en-US" dirty="0"/>
          </a:p>
        </p:txBody>
      </p:sp>
    </p:spTree>
    <p:extLst>
      <p:ext uri="{BB962C8B-B14F-4D97-AF65-F5344CB8AC3E}">
        <p14:creationId xmlns:p14="http://schemas.microsoft.com/office/powerpoint/2010/main" val="30501353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Groups </a:t>
            </a:r>
            <a:r>
              <a:rPr lang="en-US" sz="2800" dirty="0" smtClean="0"/>
              <a:t>(2 of 4)</a:t>
            </a:r>
            <a:endParaRPr lang="en-US" sz="2800" dirty="0"/>
          </a:p>
        </p:txBody>
      </p:sp>
      <p:sp>
        <p:nvSpPr>
          <p:cNvPr id="3" name="Content Placeholder 2"/>
          <p:cNvSpPr>
            <a:spLocks noGrp="1"/>
          </p:cNvSpPr>
          <p:nvPr>
            <p:ph idx="1"/>
          </p:nvPr>
        </p:nvSpPr>
        <p:spPr/>
        <p:txBody>
          <a:bodyPr/>
          <a:lstStyle/>
          <a:p>
            <a:r>
              <a:rPr lang="en-US" dirty="0" smtClean="0"/>
              <a:t>What </a:t>
            </a:r>
            <a:r>
              <a:rPr lang="en-US" dirty="0"/>
              <a:t>is a social group?</a:t>
            </a:r>
          </a:p>
          <a:p>
            <a:pPr lvl="1"/>
            <a:r>
              <a:rPr lang="en-US" dirty="0"/>
              <a:t>A</a:t>
            </a:r>
            <a:r>
              <a:rPr lang="en-US" dirty="0" smtClean="0"/>
              <a:t> </a:t>
            </a:r>
            <a:r>
              <a:rPr lang="en-US" dirty="0"/>
              <a:t>cluster of people beyond the domestic unit who are usually related to each other on grounds other than </a:t>
            </a:r>
            <a:r>
              <a:rPr lang="en-US" dirty="0" smtClean="0"/>
              <a:t>kinship</a:t>
            </a:r>
            <a:endParaRPr lang="en-US" dirty="0"/>
          </a:p>
          <a:p>
            <a:endParaRPr lang="en-US" dirty="0"/>
          </a:p>
        </p:txBody>
      </p:sp>
    </p:spTree>
    <p:extLst>
      <p:ext uri="{BB962C8B-B14F-4D97-AF65-F5344CB8AC3E}">
        <p14:creationId xmlns:p14="http://schemas.microsoft.com/office/powerpoint/2010/main" val="27784481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Groups </a:t>
            </a:r>
            <a:r>
              <a:rPr lang="en-US" sz="2800" dirty="0" smtClean="0"/>
              <a:t>(3 of 4)</a:t>
            </a:r>
            <a:endParaRPr lang="en-US" sz="2800" dirty="0"/>
          </a:p>
        </p:txBody>
      </p:sp>
      <p:sp>
        <p:nvSpPr>
          <p:cNvPr id="3" name="Content Placeholder 2"/>
          <p:cNvSpPr>
            <a:spLocks noGrp="1"/>
          </p:cNvSpPr>
          <p:nvPr>
            <p:ph idx="1"/>
          </p:nvPr>
        </p:nvSpPr>
        <p:spPr/>
        <p:txBody>
          <a:bodyPr/>
          <a:lstStyle/>
          <a:p>
            <a:r>
              <a:rPr lang="en-US" dirty="0" smtClean="0"/>
              <a:t>Two kinds of social groups:</a:t>
            </a:r>
          </a:p>
          <a:p>
            <a:pPr lvl="1"/>
            <a:r>
              <a:rPr lang="en-US" dirty="0"/>
              <a:t>Primary social group: people who interact with each other and know each other personally</a:t>
            </a:r>
          </a:p>
          <a:p>
            <a:pPr lvl="1"/>
            <a:r>
              <a:rPr lang="en-US" dirty="0" smtClean="0"/>
              <a:t>Secondary </a:t>
            </a:r>
            <a:r>
              <a:rPr lang="en-US" dirty="0"/>
              <a:t>social group: people who identify with each other on some basis but who may never meet each other or know each other personally</a:t>
            </a:r>
          </a:p>
          <a:p>
            <a:pPr lvl="1"/>
            <a:endParaRPr lang="en-US" dirty="0"/>
          </a:p>
        </p:txBody>
      </p:sp>
    </p:spTree>
    <p:extLst>
      <p:ext uri="{BB962C8B-B14F-4D97-AF65-F5344CB8AC3E}">
        <p14:creationId xmlns:p14="http://schemas.microsoft.com/office/powerpoint/2010/main" val="42519539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Groups </a:t>
            </a:r>
            <a:r>
              <a:rPr lang="en-US" sz="2800" dirty="0" smtClean="0"/>
              <a:t>(4 of 4)</a:t>
            </a:r>
            <a:endParaRPr lang="en-US" sz="2800" dirty="0"/>
          </a:p>
        </p:txBody>
      </p:sp>
      <p:sp>
        <p:nvSpPr>
          <p:cNvPr id="3" name="Content Placeholder 2"/>
          <p:cNvSpPr>
            <a:spLocks noGrp="1"/>
          </p:cNvSpPr>
          <p:nvPr>
            <p:ph idx="1"/>
          </p:nvPr>
        </p:nvSpPr>
        <p:spPr/>
        <p:txBody>
          <a:bodyPr>
            <a:normAutofit/>
          </a:bodyPr>
          <a:lstStyle/>
          <a:p>
            <a:r>
              <a:rPr lang="en-US" dirty="0" smtClean="0"/>
              <a:t>Degrees </a:t>
            </a:r>
            <a:r>
              <a:rPr lang="en-US" dirty="0"/>
              <a:t>of </a:t>
            </a:r>
            <a:r>
              <a:rPr lang="en-US" dirty="0" smtClean="0"/>
              <a:t>formality/informality</a:t>
            </a:r>
            <a:endParaRPr lang="en-US" dirty="0"/>
          </a:p>
          <a:p>
            <a:r>
              <a:rPr lang="en-US" dirty="0"/>
              <a:t>Connections to modes of livelihood:</a:t>
            </a:r>
          </a:p>
          <a:p>
            <a:pPr lvl="1"/>
            <a:r>
              <a:rPr lang="en-US" dirty="0"/>
              <a:t>Foragers </a:t>
            </a:r>
            <a:r>
              <a:rPr lang="en-US" dirty="0" smtClean="0"/>
              <a:t>have </a:t>
            </a:r>
            <a:r>
              <a:rPr lang="en-US" dirty="0"/>
              <a:t>fewer forms of social groups than other modes</a:t>
            </a:r>
          </a:p>
          <a:p>
            <a:pPr lvl="1"/>
            <a:r>
              <a:rPr lang="en-US" dirty="0"/>
              <a:t>Industrial/digital economy societies have a wide variety, perhaps compensating for less </a:t>
            </a:r>
            <a:r>
              <a:rPr lang="en-US" dirty="0" smtClean="0"/>
              <a:t>important </a:t>
            </a:r>
            <a:r>
              <a:rPr lang="en-US" dirty="0"/>
              <a:t>role of </a:t>
            </a:r>
            <a:r>
              <a:rPr lang="en-US" dirty="0" smtClean="0"/>
              <a:t>kinship</a:t>
            </a:r>
          </a:p>
          <a:p>
            <a:r>
              <a:rPr lang="en-US" dirty="0" smtClean="0"/>
              <a:t>Example: Grameen Bank in Bangladesh</a:t>
            </a:r>
          </a:p>
          <a:p>
            <a:endParaRPr lang="en-US" dirty="0"/>
          </a:p>
          <a:p>
            <a:endParaRPr lang="en-US" dirty="0"/>
          </a:p>
        </p:txBody>
      </p:sp>
    </p:spTree>
    <p:extLst>
      <p:ext uri="{BB962C8B-B14F-4D97-AF65-F5344CB8AC3E}">
        <p14:creationId xmlns:p14="http://schemas.microsoft.com/office/powerpoint/2010/main" val="11174824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9.1 Bangladesh</a:t>
            </a:r>
            <a:endParaRPr lang="en-US" dirty="0"/>
          </a:p>
        </p:txBody>
      </p:sp>
      <p:pic>
        <p:nvPicPr>
          <p:cNvPr id="4" name="Content Placeholder 3" descr="A map shows Bangladesh and its capital city of Dhaka, near the mouth of the Ganges River. Bangladesh is surrounded by India except for a short border with Myanmar (Burma) to the southeast. The Bay of Bengal is to the south. An inset globe shows the area is in southern Asia.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76890" y="1600200"/>
            <a:ext cx="4190219" cy="4525963"/>
          </a:xfrm>
        </p:spPr>
      </p:pic>
    </p:spTree>
    <p:extLst>
      <p:ext uri="{BB962C8B-B14F-4D97-AF65-F5344CB8AC3E}">
        <p14:creationId xmlns:p14="http://schemas.microsoft.com/office/powerpoint/2010/main" val="5598409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Friendship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a:t>What is </a:t>
            </a:r>
            <a:r>
              <a:rPr lang="en-US" dirty="0" smtClean="0"/>
              <a:t>friendship?</a:t>
            </a:r>
            <a:endParaRPr lang="en-US" dirty="0"/>
          </a:p>
          <a:p>
            <a:pPr lvl="1"/>
            <a:r>
              <a:rPr lang="en-US" dirty="0"/>
              <a:t>Close social ties between at least two people, usually informal, voluntary, </a:t>
            </a:r>
            <a:r>
              <a:rPr lang="en-US" dirty="0" smtClean="0"/>
              <a:t>and, traditionally, </a:t>
            </a:r>
            <a:r>
              <a:rPr lang="en-US" dirty="0"/>
              <a:t>involving face-to-face </a:t>
            </a:r>
            <a:r>
              <a:rPr lang="en-US" dirty="0" smtClean="0"/>
              <a:t>interaction (new communications technology challenges that characteristic)</a:t>
            </a:r>
            <a:endParaRPr lang="en-US" dirty="0"/>
          </a:p>
        </p:txBody>
      </p:sp>
    </p:spTree>
    <p:extLst>
      <p:ext uri="{BB962C8B-B14F-4D97-AF65-F5344CB8AC3E}">
        <p14:creationId xmlns:p14="http://schemas.microsoft.com/office/powerpoint/2010/main" val="17600723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Friendship </a:t>
            </a:r>
            <a:r>
              <a:rPr lang="en-US" sz="2800" dirty="0" smtClean="0"/>
              <a:t>(2 of 2)</a:t>
            </a:r>
            <a:endParaRPr lang="en-US" sz="2800" dirty="0"/>
          </a:p>
        </p:txBody>
      </p:sp>
      <p:sp>
        <p:nvSpPr>
          <p:cNvPr id="3" name="Content Placeholder 2"/>
          <p:cNvSpPr>
            <a:spLocks noGrp="1"/>
          </p:cNvSpPr>
          <p:nvPr>
            <p:ph idx="1"/>
          </p:nvPr>
        </p:nvSpPr>
        <p:spPr/>
        <p:txBody>
          <a:bodyPr>
            <a:normAutofit/>
          </a:bodyPr>
          <a:lstStyle/>
          <a:p>
            <a:r>
              <a:rPr lang="en-US" dirty="0" smtClean="0"/>
              <a:t>May contribute to economic security</a:t>
            </a:r>
          </a:p>
          <a:p>
            <a:pPr lvl="1"/>
            <a:r>
              <a:rPr lang="en-US" dirty="0" smtClean="0"/>
              <a:t>Example: research by Carol Stack</a:t>
            </a:r>
          </a:p>
          <a:p>
            <a:r>
              <a:rPr lang="en-US" dirty="0" smtClean="0"/>
              <a:t>Related to microcultural factors: gender, age, class, ethnicity, and institutions</a:t>
            </a:r>
          </a:p>
          <a:p>
            <a:r>
              <a:rPr lang="en-US" dirty="0" smtClean="0"/>
              <a:t>Maintained through balanced exchange</a:t>
            </a:r>
          </a:p>
          <a:p>
            <a:pPr lvl="1"/>
            <a:r>
              <a:rPr lang="en-US" dirty="0" smtClean="0"/>
              <a:t>Example: swapping stories in Guyana</a:t>
            </a:r>
          </a:p>
          <a:p>
            <a:r>
              <a:rPr lang="en-US" dirty="0" smtClean="0"/>
              <a:t>Usually between social equals</a:t>
            </a:r>
            <a:endParaRPr lang="en-US" dirty="0"/>
          </a:p>
        </p:txBody>
      </p:sp>
    </p:spTree>
    <p:extLst>
      <p:ext uri="{BB962C8B-B14F-4D97-AF65-F5344CB8AC3E}">
        <p14:creationId xmlns:p14="http://schemas.microsoft.com/office/powerpoint/2010/main" val="30597146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Map 9.2 Caribbean Countries of South America</a:t>
            </a:r>
            <a:endParaRPr lang="en-US" sz="3200" dirty="0"/>
          </a:p>
        </p:txBody>
      </p:sp>
      <p:pic>
        <p:nvPicPr>
          <p:cNvPr id="4" name="Content Placeholder 3" descr="A map shows the following Caribbean countries and their capital cities, from west to east: Venezuela, Trinidad and Tobago (Port-of-Spain), Guyana (Georgetown), Suriname (Paramaribo), and French Guiana (Cayenne). An inset globe shows the area is in northeastern South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669713" y="1524000"/>
            <a:ext cx="5950287" cy="4765081"/>
          </a:xfrm>
        </p:spPr>
      </p:pic>
    </p:spTree>
    <p:extLst>
      <p:ext uri="{BB962C8B-B14F-4D97-AF65-F5344CB8AC3E}">
        <p14:creationId xmlns:p14="http://schemas.microsoft.com/office/powerpoint/2010/main" val="30991323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Think Like an Anthropologist: </a:t>
            </a:r>
            <a:br>
              <a:rPr lang="en-US" dirty="0" smtClean="0"/>
            </a:br>
            <a:r>
              <a:rPr lang="en-US" dirty="0" smtClean="0"/>
              <a:t>Making Friends</a:t>
            </a:r>
            <a:endParaRPr lang="en-US" dirty="0"/>
          </a:p>
        </p:txBody>
      </p:sp>
      <p:sp>
        <p:nvSpPr>
          <p:cNvPr id="3" name="Content Placeholder 2"/>
          <p:cNvSpPr>
            <a:spLocks noGrp="1"/>
          </p:cNvSpPr>
          <p:nvPr>
            <p:ph idx="1"/>
          </p:nvPr>
        </p:nvSpPr>
        <p:spPr/>
        <p:txBody>
          <a:bodyPr>
            <a:normAutofit fontScale="92500" lnSpcReduction="20000"/>
          </a:bodyPr>
          <a:lstStyle/>
          <a:p>
            <a:r>
              <a:rPr lang="en-US" dirty="0"/>
              <a:t>In Andalucia, southern Spain, men’s and women’s work roles shape their friendship patterns</a:t>
            </a:r>
          </a:p>
          <a:p>
            <a:r>
              <a:rPr lang="en-US" dirty="0"/>
              <a:t>For men, an amigo is a casual friend and this friendship is maintained in bars</a:t>
            </a:r>
          </a:p>
          <a:p>
            <a:r>
              <a:rPr lang="en-US" dirty="0"/>
              <a:t>An amigo(a) </a:t>
            </a:r>
            <a:r>
              <a:rPr lang="en-US" dirty="0" smtClean="0"/>
              <a:t>de </a:t>
            </a:r>
            <a:r>
              <a:rPr lang="en-US" dirty="0"/>
              <a:t>verdad is a “true friend”</a:t>
            </a:r>
          </a:p>
          <a:p>
            <a:r>
              <a:rPr lang="en-US" dirty="0"/>
              <a:t>Men have more true friends than women do</a:t>
            </a:r>
          </a:p>
          <a:p>
            <a:r>
              <a:rPr lang="en-US" dirty="0"/>
              <a:t>Food for Thought: What categories of friends do you have? Are friends in some categories “closer” or “truer” than others? What is the basis of close friendship?</a:t>
            </a:r>
          </a:p>
          <a:p>
            <a:endParaRPr lang="en-US" dirty="0"/>
          </a:p>
        </p:txBody>
      </p:sp>
    </p:spTree>
    <p:extLst>
      <p:ext uri="{BB962C8B-B14F-4D97-AF65-F5344CB8AC3E}">
        <p14:creationId xmlns:p14="http://schemas.microsoft.com/office/powerpoint/2010/main" val="33044770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Clubs and Fraternities/Sororities </a:t>
            </a:r>
            <a:r>
              <a:rPr lang="en-US" sz="2800" dirty="0" smtClean="0"/>
              <a:t>(1 of 8)</a:t>
            </a:r>
            <a:endParaRPr lang="en-US" sz="2800" dirty="0"/>
          </a:p>
        </p:txBody>
      </p:sp>
      <p:sp>
        <p:nvSpPr>
          <p:cNvPr id="3" name="Content Placeholder 2"/>
          <p:cNvSpPr>
            <a:spLocks noGrp="1"/>
          </p:cNvSpPr>
          <p:nvPr>
            <p:ph idx="1"/>
          </p:nvPr>
        </p:nvSpPr>
        <p:spPr/>
        <p:txBody>
          <a:bodyPr/>
          <a:lstStyle/>
          <a:p>
            <a:r>
              <a:rPr lang="en-US" dirty="0"/>
              <a:t>Definition: social groups that define membership in terms of a sense of shared identity and objectives</a:t>
            </a:r>
          </a:p>
          <a:p>
            <a:r>
              <a:rPr lang="en-US" dirty="0"/>
              <a:t>Mainly include people of same ethnic heritage</a:t>
            </a:r>
          </a:p>
          <a:p>
            <a:r>
              <a:rPr lang="en-US" dirty="0"/>
              <a:t>Provide social and psychological support to members but have political and economic functions, too (connections, networking, jobs)</a:t>
            </a:r>
          </a:p>
          <a:p>
            <a:endParaRPr lang="en-US" dirty="0"/>
          </a:p>
        </p:txBody>
      </p:sp>
    </p:spTree>
    <p:extLst>
      <p:ext uri="{BB962C8B-B14F-4D97-AF65-F5344CB8AC3E}">
        <p14:creationId xmlns:p14="http://schemas.microsoft.com/office/powerpoint/2010/main" val="15574033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Clubs and Fraternities/Sororities </a:t>
            </a:r>
            <a:r>
              <a:rPr lang="en-US" sz="2800" dirty="0" smtClean="0"/>
              <a:t>(2 </a:t>
            </a:r>
            <a:r>
              <a:rPr lang="en-US" sz="2800" dirty="0"/>
              <a:t>of </a:t>
            </a:r>
            <a:r>
              <a:rPr lang="en-US" sz="2800" dirty="0" smtClean="0"/>
              <a:t>8)</a:t>
            </a:r>
            <a:endParaRPr lang="en-US" sz="2800" dirty="0"/>
          </a:p>
        </p:txBody>
      </p:sp>
      <p:sp>
        <p:nvSpPr>
          <p:cNvPr id="3" name="Content Placeholder 2"/>
          <p:cNvSpPr>
            <a:spLocks noGrp="1"/>
          </p:cNvSpPr>
          <p:nvPr>
            <p:ph idx="1"/>
          </p:nvPr>
        </p:nvSpPr>
        <p:spPr/>
        <p:txBody>
          <a:bodyPr/>
          <a:lstStyle/>
          <a:p>
            <a:r>
              <a:rPr lang="en-US" dirty="0"/>
              <a:t>College fraternities and sororities in North America (the “Greek </a:t>
            </a:r>
            <a:r>
              <a:rPr lang="en-US" dirty="0" smtClean="0"/>
              <a:t>system</a:t>
            </a:r>
            <a:r>
              <a:rPr lang="en-US" dirty="0"/>
              <a:t>”) are highly selective and serve a variety of functions, such as entertainment, </a:t>
            </a:r>
            <a:r>
              <a:rPr lang="en-US" dirty="0" smtClean="0"/>
              <a:t>matchmaking</a:t>
            </a:r>
            <a:r>
              <a:rPr lang="en-US" dirty="0"/>
              <a:t>, and social service</a:t>
            </a:r>
          </a:p>
          <a:p>
            <a:endParaRPr lang="en-US" dirty="0"/>
          </a:p>
        </p:txBody>
      </p:sp>
    </p:spTree>
    <p:extLst>
      <p:ext uri="{BB962C8B-B14F-4D97-AF65-F5344CB8AC3E}">
        <p14:creationId xmlns:p14="http://schemas.microsoft.com/office/powerpoint/2010/main" val="25059200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Clubs and Fraternities/Sororities </a:t>
            </a:r>
            <a:r>
              <a:rPr lang="en-US" sz="2800" dirty="0" smtClean="0"/>
              <a:t>(3 </a:t>
            </a:r>
            <a:r>
              <a:rPr lang="en-US" sz="2800" dirty="0"/>
              <a:t>of </a:t>
            </a:r>
            <a:r>
              <a:rPr lang="en-US" sz="2800" dirty="0" smtClean="0"/>
              <a:t>8)</a:t>
            </a:r>
            <a:endParaRPr lang="en-US" sz="2800" dirty="0"/>
          </a:p>
        </p:txBody>
      </p:sp>
      <p:sp>
        <p:nvSpPr>
          <p:cNvPr id="3" name="Content Placeholder 2"/>
          <p:cNvSpPr>
            <a:spLocks noGrp="1"/>
          </p:cNvSpPr>
          <p:nvPr>
            <p:ph idx="1"/>
          </p:nvPr>
        </p:nvSpPr>
        <p:spPr/>
        <p:txBody>
          <a:bodyPr/>
          <a:lstStyle/>
          <a:p>
            <a:r>
              <a:rPr lang="en-US" dirty="0" smtClean="0"/>
              <a:t>Peggy Sanday’s study of gang </a:t>
            </a:r>
            <a:r>
              <a:rPr lang="en-US" dirty="0"/>
              <a:t>r</a:t>
            </a:r>
            <a:r>
              <a:rPr lang="en-US" dirty="0" smtClean="0"/>
              <a:t>ape in U.S. fraternities</a:t>
            </a:r>
          </a:p>
          <a:p>
            <a:pPr lvl="1"/>
            <a:r>
              <a:rPr lang="en-US" dirty="0" smtClean="0"/>
              <a:t>Study </a:t>
            </a:r>
            <a:r>
              <a:rPr lang="en-US" dirty="0"/>
              <a:t>of initiation rituals and male bonding in an </a:t>
            </a:r>
            <a:r>
              <a:rPr lang="en-US" dirty="0" smtClean="0"/>
              <a:t>Ivy </a:t>
            </a:r>
            <a:r>
              <a:rPr lang="en-US" dirty="0"/>
              <a:t>L</a:t>
            </a:r>
            <a:r>
              <a:rPr lang="en-US" dirty="0" smtClean="0"/>
              <a:t>eague </a:t>
            </a:r>
            <a:r>
              <a:rPr lang="en-US" dirty="0"/>
              <a:t>university of the U.S. northeast</a:t>
            </a:r>
          </a:p>
          <a:p>
            <a:pPr lvl="1"/>
            <a:r>
              <a:rPr lang="en-US" dirty="0"/>
              <a:t>Not characteristic of all U.S. fraternities</a:t>
            </a:r>
          </a:p>
          <a:p>
            <a:pPr lvl="1"/>
            <a:r>
              <a:rPr lang="en-US" dirty="0"/>
              <a:t>In some, ritual of the “train” in which a woman is gang-raped by the brothers</a:t>
            </a:r>
          </a:p>
        </p:txBody>
      </p:sp>
    </p:spTree>
    <p:extLst>
      <p:ext uri="{BB962C8B-B14F-4D97-AF65-F5344CB8AC3E}">
        <p14:creationId xmlns:p14="http://schemas.microsoft.com/office/powerpoint/2010/main" val="4928990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Clubs and Fraternities/Sororities </a:t>
            </a:r>
            <a:r>
              <a:rPr lang="en-US" sz="2800" dirty="0" smtClean="0"/>
              <a:t>(4 </a:t>
            </a:r>
            <a:r>
              <a:rPr lang="en-US" sz="2800" dirty="0"/>
              <a:t>of </a:t>
            </a:r>
            <a:r>
              <a:rPr lang="en-US" sz="2800" dirty="0" smtClean="0"/>
              <a:t>8)</a:t>
            </a:r>
            <a:endParaRPr lang="en-US" sz="2800" dirty="0"/>
          </a:p>
        </p:txBody>
      </p:sp>
      <p:sp>
        <p:nvSpPr>
          <p:cNvPr id="3" name="Content Placeholder 2"/>
          <p:cNvSpPr>
            <a:spLocks noGrp="1"/>
          </p:cNvSpPr>
          <p:nvPr>
            <p:ph idx="1"/>
          </p:nvPr>
        </p:nvSpPr>
        <p:spPr/>
        <p:txBody>
          <a:bodyPr/>
          <a:lstStyle/>
          <a:p>
            <a:r>
              <a:rPr lang="en-US" dirty="0" smtClean="0"/>
              <a:t>Men’s houses and gynophobia</a:t>
            </a:r>
          </a:p>
          <a:p>
            <a:pPr lvl="1"/>
            <a:r>
              <a:rPr lang="en-US" dirty="0" smtClean="0"/>
              <a:t>Separate </a:t>
            </a:r>
            <a:r>
              <a:rPr lang="en-US" dirty="0"/>
              <a:t>“men’s houses” exist in many </a:t>
            </a:r>
            <a:r>
              <a:rPr lang="en-US" dirty="0" smtClean="0"/>
              <a:t>cultures</a:t>
            </a:r>
          </a:p>
          <a:p>
            <a:pPr lvl="1"/>
            <a:r>
              <a:rPr lang="en-US" dirty="0" smtClean="0"/>
              <a:t>Example: some indigenous Amazonian groups</a:t>
            </a:r>
            <a:endParaRPr lang="en-US" dirty="0"/>
          </a:p>
          <a:p>
            <a:pPr lvl="1"/>
            <a:r>
              <a:rPr lang="en-US" dirty="0"/>
              <a:t>Women who look into the men’s house are punished by gang rape</a:t>
            </a:r>
          </a:p>
          <a:p>
            <a:pPr lvl="1"/>
            <a:r>
              <a:rPr lang="en-US" dirty="0"/>
              <a:t>Interpretation: related to cultures that value male aggressiveness</a:t>
            </a:r>
          </a:p>
          <a:p>
            <a:endParaRPr lang="en-US" dirty="0"/>
          </a:p>
        </p:txBody>
      </p:sp>
    </p:spTree>
    <p:extLst>
      <p:ext uri="{BB962C8B-B14F-4D97-AF65-F5344CB8AC3E}">
        <p14:creationId xmlns:p14="http://schemas.microsoft.com/office/powerpoint/2010/main" val="16025440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Clubs and Fraternities/Sororities </a:t>
            </a:r>
            <a:r>
              <a:rPr lang="en-US" sz="2800" dirty="0" smtClean="0"/>
              <a:t>(5 </a:t>
            </a:r>
            <a:r>
              <a:rPr lang="en-US" sz="2800" dirty="0"/>
              <a:t>of 8</a:t>
            </a:r>
            <a:r>
              <a:rPr lang="en-US" sz="2800" dirty="0" smtClean="0"/>
              <a:t>)</a:t>
            </a:r>
            <a:endParaRPr lang="en-US" sz="2800" dirty="0"/>
          </a:p>
        </p:txBody>
      </p:sp>
      <p:sp>
        <p:nvSpPr>
          <p:cNvPr id="3" name="Content Placeholder 2"/>
          <p:cNvSpPr>
            <a:spLocks noGrp="1"/>
          </p:cNvSpPr>
          <p:nvPr>
            <p:ph idx="1"/>
          </p:nvPr>
        </p:nvSpPr>
        <p:spPr/>
        <p:txBody>
          <a:bodyPr/>
          <a:lstStyle/>
          <a:p>
            <a:r>
              <a:rPr lang="en-US" dirty="0" smtClean="0"/>
              <a:t>Countercultural groups</a:t>
            </a:r>
          </a:p>
          <a:p>
            <a:pPr lvl="1"/>
            <a:r>
              <a:rPr lang="en-US" dirty="0"/>
              <a:t>Groups formed by people outside the “mainstream” who resist conforming to the dominant cultural pattern</a:t>
            </a:r>
          </a:p>
          <a:p>
            <a:pPr lvl="1"/>
            <a:r>
              <a:rPr lang="en-US" dirty="0"/>
              <a:t>Members desire to be identified with a special group</a:t>
            </a:r>
          </a:p>
          <a:p>
            <a:pPr lvl="2"/>
            <a:r>
              <a:rPr lang="en-US" dirty="0"/>
              <a:t>Y</a:t>
            </a:r>
            <a:r>
              <a:rPr lang="en-US" dirty="0" smtClean="0"/>
              <a:t>outh </a:t>
            </a:r>
            <a:r>
              <a:rPr lang="en-US" dirty="0"/>
              <a:t>gangs</a:t>
            </a:r>
          </a:p>
          <a:p>
            <a:pPr lvl="2"/>
            <a:r>
              <a:rPr lang="en-US" dirty="0"/>
              <a:t>B</a:t>
            </a:r>
            <a:r>
              <a:rPr lang="en-US" dirty="0" smtClean="0"/>
              <a:t>ody </a:t>
            </a:r>
            <a:r>
              <a:rPr lang="en-US" dirty="0"/>
              <a:t>modification groups</a:t>
            </a:r>
          </a:p>
          <a:p>
            <a:endParaRPr lang="en-US" dirty="0"/>
          </a:p>
        </p:txBody>
      </p:sp>
    </p:spTree>
    <p:extLst>
      <p:ext uri="{BB962C8B-B14F-4D97-AF65-F5344CB8AC3E}">
        <p14:creationId xmlns:p14="http://schemas.microsoft.com/office/powerpoint/2010/main" val="14575201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Clubs and Fraternities/Sororities </a:t>
            </a:r>
            <a:r>
              <a:rPr lang="en-US" sz="2800" dirty="0" smtClean="0"/>
              <a:t>(6 </a:t>
            </a:r>
            <a:r>
              <a:rPr lang="en-US" sz="2800" dirty="0"/>
              <a:t>of </a:t>
            </a:r>
            <a:r>
              <a:rPr lang="en-US" sz="2800" dirty="0" smtClean="0"/>
              <a:t>8)</a:t>
            </a:r>
            <a:endParaRPr lang="en-US" sz="2800" dirty="0"/>
          </a:p>
        </p:txBody>
      </p:sp>
      <p:sp>
        <p:nvSpPr>
          <p:cNvPr id="3" name="Content Placeholder 2"/>
          <p:cNvSpPr>
            <a:spLocks noGrp="1"/>
          </p:cNvSpPr>
          <p:nvPr>
            <p:ph idx="1"/>
          </p:nvPr>
        </p:nvSpPr>
        <p:spPr/>
        <p:txBody>
          <a:bodyPr/>
          <a:lstStyle/>
          <a:p>
            <a:r>
              <a:rPr lang="en-US" dirty="0" smtClean="0"/>
              <a:t>Youth gangs</a:t>
            </a:r>
          </a:p>
          <a:p>
            <a:pPr lvl="1"/>
            <a:r>
              <a:rPr lang="en-US" dirty="0"/>
              <a:t>Refers to a group of young people found mainly in urban areas</a:t>
            </a:r>
          </a:p>
          <a:p>
            <a:pPr lvl="1"/>
            <a:r>
              <a:rPr lang="en-US" dirty="0"/>
              <a:t>Often considered to be a social problem by mainstream society</a:t>
            </a:r>
          </a:p>
          <a:p>
            <a:pPr lvl="1"/>
            <a:r>
              <a:rPr lang="en-US" dirty="0"/>
              <a:t>Variation in terms of how organized and goals</a:t>
            </a:r>
          </a:p>
          <a:p>
            <a:pPr lvl="1"/>
            <a:r>
              <a:rPr lang="en-US" dirty="0"/>
              <a:t>Most/all have rituals of initiation and symbols of membership such as clothing, “colors,” </a:t>
            </a:r>
            <a:r>
              <a:rPr lang="en-US" dirty="0" smtClean="0"/>
              <a:t>tattoos</a:t>
            </a:r>
          </a:p>
          <a:p>
            <a:pPr lvl="1"/>
            <a:r>
              <a:rPr lang="en-US" dirty="0" smtClean="0"/>
              <a:t>Example: Masta Liu of Honiara, Solomon Islands</a:t>
            </a:r>
            <a:endParaRPr lang="en-US" dirty="0"/>
          </a:p>
        </p:txBody>
      </p:sp>
    </p:spTree>
    <p:extLst>
      <p:ext uri="{BB962C8B-B14F-4D97-AF65-F5344CB8AC3E}">
        <p14:creationId xmlns:p14="http://schemas.microsoft.com/office/powerpoint/2010/main" val="2887107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9.3 The Solomon Islands</a:t>
            </a:r>
            <a:endParaRPr lang="en-US" dirty="0"/>
          </a:p>
        </p:txBody>
      </p:sp>
      <p:pic>
        <p:nvPicPr>
          <p:cNvPr id="4" name="Content Placeholder 3" descr="A map shows the dozen or so Solomon Islands, the two largest being Guadalcanal (with the capital city of Honiara) and Malaita. Close by to the north in the Solomon Sea is the island of Bougainville, part of Papua New Guinea. Two inset maps show the area is northeast of Australia.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80408" y="1524000"/>
            <a:ext cx="2939392" cy="4699610"/>
          </a:xfrm>
        </p:spPr>
      </p:pic>
    </p:spTree>
    <p:extLst>
      <p:ext uri="{BB962C8B-B14F-4D97-AF65-F5344CB8AC3E}">
        <p14:creationId xmlns:p14="http://schemas.microsoft.com/office/powerpoint/2010/main" val="33929805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Clubs and Fraternities/Sororities </a:t>
            </a:r>
            <a:r>
              <a:rPr lang="en-US" sz="2800" dirty="0" smtClean="0"/>
              <a:t>(7 </a:t>
            </a:r>
            <a:r>
              <a:rPr lang="en-US" sz="2800" dirty="0"/>
              <a:t>of 8)</a:t>
            </a:r>
          </a:p>
        </p:txBody>
      </p:sp>
      <p:sp>
        <p:nvSpPr>
          <p:cNvPr id="3" name="Content Placeholder 2"/>
          <p:cNvSpPr>
            <a:spLocks noGrp="1"/>
          </p:cNvSpPr>
          <p:nvPr>
            <p:ph idx="1"/>
          </p:nvPr>
        </p:nvSpPr>
        <p:spPr/>
        <p:txBody>
          <a:bodyPr/>
          <a:lstStyle/>
          <a:p>
            <a:r>
              <a:rPr lang="en-US" dirty="0" smtClean="0"/>
              <a:t>Study of youth gangs in the United States</a:t>
            </a:r>
          </a:p>
          <a:p>
            <a:pPr lvl="1"/>
            <a:r>
              <a:rPr lang="en-US" dirty="0" smtClean="0"/>
              <a:t>Found </a:t>
            </a:r>
            <a:r>
              <a:rPr lang="en-US" dirty="0"/>
              <a:t>that personalities of youth gang members have five characteristics:</a:t>
            </a:r>
          </a:p>
          <a:p>
            <a:pPr lvl="2"/>
            <a:r>
              <a:rPr lang="en-US" dirty="0"/>
              <a:t>Intense competitiveness</a:t>
            </a:r>
          </a:p>
          <a:p>
            <a:pPr lvl="2"/>
            <a:r>
              <a:rPr lang="en-US" dirty="0"/>
              <a:t>Mistrust of others</a:t>
            </a:r>
          </a:p>
          <a:p>
            <a:pPr lvl="2"/>
            <a:r>
              <a:rPr lang="en-US" dirty="0"/>
              <a:t>Self-reliance</a:t>
            </a:r>
          </a:p>
          <a:p>
            <a:pPr lvl="2"/>
            <a:r>
              <a:rPr lang="en-US" dirty="0"/>
              <a:t>Social isolation</a:t>
            </a:r>
          </a:p>
          <a:p>
            <a:pPr lvl="2"/>
            <a:r>
              <a:rPr lang="en-US" dirty="0"/>
              <a:t>Strong survival instinct</a:t>
            </a:r>
          </a:p>
          <a:p>
            <a:pPr lvl="1"/>
            <a:endParaRPr lang="en-US" dirty="0"/>
          </a:p>
        </p:txBody>
      </p:sp>
    </p:spTree>
    <p:extLst>
      <p:ext uri="{BB962C8B-B14F-4D97-AF65-F5344CB8AC3E}">
        <p14:creationId xmlns:p14="http://schemas.microsoft.com/office/powerpoint/2010/main" val="39929897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Clubs and Fraternities/Sororities </a:t>
            </a:r>
            <a:r>
              <a:rPr lang="en-US" sz="2800" dirty="0" smtClean="0"/>
              <a:t>(8 </a:t>
            </a:r>
            <a:r>
              <a:rPr lang="en-US" sz="2800" dirty="0"/>
              <a:t>of 8)</a:t>
            </a:r>
          </a:p>
        </p:txBody>
      </p:sp>
      <p:sp>
        <p:nvSpPr>
          <p:cNvPr id="3" name="Content Placeholder 2"/>
          <p:cNvSpPr>
            <a:spLocks noGrp="1"/>
          </p:cNvSpPr>
          <p:nvPr>
            <p:ph idx="1"/>
          </p:nvPr>
        </p:nvSpPr>
        <p:spPr/>
        <p:txBody>
          <a:bodyPr/>
          <a:lstStyle/>
          <a:p>
            <a:r>
              <a:rPr lang="en-US" dirty="0" smtClean="0"/>
              <a:t>Structurist view of youth gangs:</a:t>
            </a:r>
          </a:p>
          <a:p>
            <a:pPr lvl="1"/>
            <a:r>
              <a:rPr lang="en-US" dirty="0" smtClean="0"/>
              <a:t>Personality characteristics the result of poverty</a:t>
            </a:r>
          </a:p>
          <a:p>
            <a:pPr lvl="1"/>
            <a:r>
              <a:rPr lang="en-US" dirty="0" smtClean="0"/>
              <a:t>Youth </a:t>
            </a:r>
            <a:r>
              <a:rPr lang="en-US" dirty="0"/>
              <a:t>gang members join gangs because they want the same things as members of mainstream groups (such as fraternities and sororities), but they do not have access to those legal pathways to success</a:t>
            </a:r>
          </a:p>
          <a:p>
            <a:pPr lvl="1"/>
            <a:endParaRPr lang="en-US" dirty="0"/>
          </a:p>
        </p:txBody>
      </p:sp>
    </p:spTree>
    <p:extLst>
      <p:ext uri="{BB962C8B-B14F-4D97-AF65-F5344CB8AC3E}">
        <p14:creationId xmlns:p14="http://schemas.microsoft.com/office/powerpoint/2010/main" val="33856732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Cooperatives </a:t>
            </a:r>
            <a:r>
              <a:rPr lang="en-US" sz="2800" dirty="0" smtClean="0"/>
              <a:t>(1 of </a:t>
            </a:r>
            <a:r>
              <a:rPr lang="en-US" sz="2800" dirty="0"/>
              <a:t>2</a:t>
            </a:r>
            <a:r>
              <a:rPr lang="en-US" sz="2800" dirty="0" smtClean="0"/>
              <a:t>)</a:t>
            </a:r>
            <a:endParaRPr lang="en-US" sz="2800" dirty="0"/>
          </a:p>
        </p:txBody>
      </p:sp>
      <p:sp>
        <p:nvSpPr>
          <p:cNvPr id="3" name="Content Placeholder 2"/>
          <p:cNvSpPr>
            <a:spLocks noGrp="1"/>
          </p:cNvSpPr>
          <p:nvPr>
            <p:ph idx="1"/>
          </p:nvPr>
        </p:nvSpPr>
        <p:spPr/>
        <p:txBody>
          <a:bodyPr/>
          <a:lstStyle/>
          <a:p>
            <a:r>
              <a:rPr lang="en-US" dirty="0"/>
              <a:t>A form of economic group in which surpluses are shared among the members</a:t>
            </a:r>
          </a:p>
          <a:p>
            <a:r>
              <a:rPr lang="en-US" dirty="0" smtClean="0"/>
              <a:t>One </a:t>
            </a:r>
            <a:r>
              <a:rPr lang="en-US" dirty="0"/>
              <a:t>person, one vote</a:t>
            </a:r>
          </a:p>
          <a:p>
            <a:r>
              <a:rPr lang="en-US" dirty="0" smtClean="0"/>
              <a:t>Agricultural </a:t>
            </a:r>
            <a:r>
              <a:rPr lang="en-US" dirty="0"/>
              <a:t>and credit cooperatives the most common forms worldwide</a:t>
            </a:r>
          </a:p>
          <a:p>
            <a:endParaRPr lang="en-US" dirty="0"/>
          </a:p>
        </p:txBody>
      </p:sp>
    </p:spTree>
    <p:extLst>
      <p:ext uri="{BB962C8B-B14F-4D97-AF65-F5344CB8AC3E}">
        <p14:creationId xmlns:p14="http://schemas.microsoft.com/office/powerpoint/2010/main" val="15367880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Cooperatives </a:t>
            </a:r>
            <a:r>
              <a:rPr lang="en-US" sz="2800" dirty="0" smtClean="0"/>
              <a:t>(2 of </a:t>
            </a:r>
            <a:r>
              <a:rPr lang="en-US" sz="2800" dirty="0"/>
              <a:t>2</a:t>
            </a:r>
            <a:r>
              <a:rPr lang="en-US" sz="2800" dirty="0" smtClean="0"/>
              <a:t>)</a:t>
            </a:r>
            <a:endParaRPr lang="en-US" sz="2800" dirty="0"/>
          </a:p>
        </p:txBody>
      </p:sp>
      <p:sp>
        <p:nvSpPr>
          <p:cNvPr id="3" name="Content Placeholder 2"/>
          <p:cNvSpPr>
            <a:spLocks noGrp="1"/>
          </p:cNvSpPr>
          <p:nvPr>
            <p:ph idx="1"/>
          </p:nvPr>
        </p:nvSpPr>
        <p:spPr/>
        <p:txBody>
          <a:bodyPr/>
          <a:lstStyle/>
          <a:p>
            <a:r>
              <a:rPr lang="en-US" dirty="0" smtClean="0"/>
              <a:t>Example: study </a:t>
            </a:r>
            <a:r>
              <a:rPr lang="en-US" dirty="0"/>
              <a:t>of cooperatives related to production and sale of </a:t>
            </a:r>
            <a:r>
              <a:rPr lang="en-US" i="1" dirty="0"/>
              <a:t>molas</a:t>
            </a:r>
          </a:p>
          <a:p>
            <a:pPr lvl="1"/>
            <a:r>
              <a:rPr lang="en-US" dirty="0"/>
              <a:t>G</a:t>
            </a:r>
            <a:r>
              <a:rPr lang="en-US" dirty="0" smtClean="0"/>
              <a:t>una </a:t>
            </a:r>
            <a:r>
              <a:rPr lang="en-US" dirty="0"/>
              <a:t>people of Panama</a:t>
            </a:r>
          </a:p>
          <a:p>
            <a:pPr lvl="1"/>
            <a:r>
              <a:rPr lang="en-US" dirty="0"/>
              <a:t>Helps promote steadier earnings</a:t>
            </a:r>
          </a:p>
          <a:p>
            <a:pPr lvl="1"/>
            <a:r>
              <a:rPr lang="en-US" dirty="0"/>
              <a:t>Also serves as a consumer’s cooperative</a:t>
            </a:r>
          </a:p>
          <a:p>
            <a:endParaRPr lang="en-US" dirty="0"/>
          </a:p>
        </p:txBody>
      </p:sp>
    </p:spTree>
    <p:extLst>
      <p:ext uri="{BB962C8B-B14F-4D97-AF65-F5344CB8AC3E}">
        <p14:creationId xmlns:p14="http://schemas.microsoft.com/office/powerpoint/2010/main" val="34232321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9.4 Guna Region in Panama</a:t>
            </a:r>
            <a:endParaRPr lang="en-US" dirty="0"/>
          </a:p>
        </p:txBody>
      </p:sp>
      <p:pic>
        <p:nvPicPr>
          <p:cNvPr id="4" name="Content Placeholder 3" descr="A map shows the Guna Region along Panama’s eastern Caribbean Sea coast, near the San Blas Islands. The map also shows Panama’s capital city of Panama, and its neighbors Costa Rica to the west and Colombia to the east. An inset globe shows the area is in Central America.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05000" y="1600200"/>
            <a:ext cx="5163494" cy="4649512"/>
          </a:xfrm>
        </p:spPr>
      </p:pic>
    </p:spTree>
    <p:extLst>
      <p:ext uri="{BB962C8B-B14F-4D97-AF65-F5344CB8AC3E}">
        <p14:creationId xmlns:p14="http://schemas.microsoft.com/office/powerpoint/2010/main" val="20959042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Self-Help Groups</a:t>
            </a:r>
            <a:endParaRPr lang="en-US" dirty="0"/>
          </a:p>
        </p:txBody>
      </p:sp>
      <p:sp>
        <p:nvSpPr>
          <p:cNvPr id="3" name="Content Placeholder 2"/>
          <p:cNvSpPr>
            <a:spLocks noGrp="1"/>
          </p:cNvSpPr>
          <p:nvPr>
            <p:ph idx="1"/>
          </p:nvPr>
        </p:nvSpPr>
        <p:spPr/>
        <p:txBody>
          <a:bodyPr/>
          <a:lstStyle/>
          <a:p>
            <a:r>
              <a:rPr lang="en-US" dirty="0"/>
              <a:t>Formed to achieve personal goals</a:t>
            </a:r>
          </a:p>
          <a:p>
            <a:r>
              <a:rPr lang="en-US" dirty="0"/>
              <a:t>Varieties and numbers have proliferated in recent years</a:t>
            </a:r>
          </a:p>
          <a:p>
            <a:r>
              <a:rPr lang="en-US" dirty="0"/>
              <a:t>Rituals of solidarity</a:t>
            </a:r>
          </a:p>
          <a:p>
            <a:r>
              <a:rPr lang="en-US" dirty="0" smtClean="0"/>
              <a:t>Example: study </a:t>
            </a:r>
            <a:r>
              <a:rPr lang="en-US" dirty="0"/>
              <a:t>of Alcoholics Anonymous among </a:t>
            </a:r>
            <a:r>
              <a:rPr lang="en-US" dirty="0" smtClean="0"/>
              <a:t>working-class </a:t>
            </a:r>
            <a:r>
              <a:rPr lang="en-US" dirty="0"/>
              <a:t>men in Mexico City</a:t>
            </a:r>
          </a:p>
          <a:p>
            <a:endParaRPr lang="en-US" dirty="0"/>
          </a:p>
        </p:txBody>
      </p:sp>
    </p:spTree>
    <p:extLst>
      <p:ext uri="{BB962C8B-B14F-4D97-AF65-F5344CB8AC3E}">
        <p14:creationId xmlns:p14="http://schemas.microsoft.com/office/powerpoint/2010/main" val="24533904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Social Stratification</a:t>
            </a:r>
            <a:br>
              <a:rPr lang="en-US" dirty="0" smtClean="0"/>
            </a:br>
            <a:r>
              <a:rPr lang="en-US" sz="2700" dirty="0" smtClean="0"/>
              <a:t>9.2 Define what is included in the term social stratification.</a:t>
            </a:r>
            <a:endParaRPr lang="en-US" sz="2700" dirty="0"/>
          </a:p>
        </p:txBody>
      </p:sp>
      <p:sp>
        <p:nvSpPr>
          <p:cNvPr id="3" name="Content Placeholder 2"/>
          <p:cNvSpPr>
            <a:spLocks noGrp="1"/>
          </p:cNvSpPr>
          <p:nvPr>
            <p:ph idx="1"/>
          </p:nvPr>
        </p:nvSpPr>
        <p:spPr/>
        <p:txBody>
          <a:bodyPr/>
          <a:lstStyle/>
          <a:p>
            <a:r>
              <a:rPr lang="en-US" dirty="0" smtClean="0"/>
              <a:t>Status: a person’s (or group’s) </a:t>
            </a:r>
            <a:r>
              <a:rPr lang="en-US" dirty="0"/>
              <a:t>position, or standing, in </a:t>
            </a:r>
            <a:r>
              <a:rPr lang="en-US" dirty="0" smtClean="0"/>
              <a:t>society</a:t>
            </a:r>
          </a:p>
          <a:p>
            <a:pPr lvl="1"/>
            <a:endParaRPr lang="en-US" dirty="0" smtClean="0"/>
          </a:p>
          <a:p>
            <a:r>
              <a:rPr lang="en-US" dirty="0" smtClean="0"/>
              <a:t>Achieved Status: Class</a:t>
            </a:r>
          </a:p>
          <a:p>
            <a:endParaRPr lang="en-US" dirty="0" smtClean="0"/>
          </a:p>
          <a:p>
            <a:r>
              <a:rPr lang="en-US" dirty="0" smtClean="0"/>
              <a:t>Ascribed Status: “Race,” Ethnicity, Gender, and Caste</a:t>
            </a:r>
            <a:endParaRPr lang="en-US" dirty="0"/>
          </a:p>
        </p:txBody>
      </p:sp>
    </p:spTree>
    <p:extLst>
      <p:ext uri="{BB962C8B-B14F-4D97-AF65-F5344CB8AC3E}">
        <p14:creationId xmlns:p14="http://schemas.microsoft.com/office/powerpoint/2010/main" val="28583044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Achieved Status: Class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a:t>A person’s or group’s position in society defined in economic terms, as “achieved” by the individual</a:t>
            </a:r>
          </a:p>
          <a:p>
            <a:r>
              <a:rPr lang="en-US" dirty="0"/>
              <a:t>Examples of class-based groups: labor unions, exclusive clubs</a:t>
            </a:r>
          </a:p>
          <a:p>
            <a:r>
              <a:rPr lang="en-US" dirty="0"/>
              <a:t>Is class sometimes not achieved, but born into?</a:t>
            </a:r>
          </a:p>
          <a:p>
            <a:r>
              <a:rPr lang="en-US" dirty="0"/>
              <a:t>U.S. value of meritocratic individualism</a:t>
            </a:r>
          </a:p>
        </p:txBody>
      </p:sp>
    </p:spTree>
    <p:extLst>
      <p:ext uri="{BB962C8B-B14F-4D97-AF65-F5344CB8AC3E}">
        <p14:creationId xmlns:p14="http://schemas.microsoft.com/office/powerpoint/2010/main" val="32021124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Achieved Status: </a:t>
            </a:r>
            <a:r>
              <a:rPr lang="en-US" dirty="0" smtClean="0"/>
              <a:t>Class </a:t>
            </a:r>
            <a:r>
              <a:rPr lang="en-US" sz="2800" dirty="0" smtClean="0"/>
              <a:t>(2 of 2)</a:t>
            </a:r>
            <a:endParaRPr lang="en-US" sz="2800" dirty="0"/>
          </a:p>
        </p:txBody>
      </p:sp>
      <p:pic>
        <p:nvPicPr>
          <p:cNvPr id="4" name="Content Placeholder 3" descr="A photo shows a display window at Salvatore Ferragamo headquarters featuring a luxury handbag and stylish women’s shoes."/>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94067" y="1600200"/>
            <a:ext cx="2955865" cy="4525963"/>
          </a:xfrm>
        </p:spPr>
      </p:pic>
    </p:spTree>
    <p:extLst>
      <p:ext uri="{BB962C8B-B14F-4D97-AF65-F5344CB8AC3E}">
        <p14:creationId xmlns:p14="http://schemas.microsoft.com/office/powerpoint/2010/main" val="16200967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Ascribed Status: “</a:t>
            </a:r>
            <a:r>
              <a:rPr lang="en-US" dirty="0" smtClean="0"/>
              <a:t>Race,” </a:t>
            </a:r>
            <a:r>
              <a:rPr lang="en-US" dirty="0"/>
              <a:t>Ethnicity, Gender, and </a:t>
            </a:r>
            <a:r>
              <a:rPr lang="en-US" dirty="0" smtClean="0"/>
              <a:t>Caste </a:t>
            </a:r>
            <a:r>
              <a:rPr lang="en-US" sz="3100" dirty="0" smtClean="0"/>
              <a:t>(1 of 5)</a:t>
            </a:r>
            <a:endParaRPr lang="en-US" sz="3100" dirty="0"/>
          </a:p>
        </p:txBody>
      </p:sp>
      <p:sp>
        <p:nvSpPr>
          <p:cNvPr id="3" name="Content Placeholder 2"/>
          <p:cNvSpPr>
            <a:spLocks noGrp="1"/>
          </p:cNvSpPr>
          <p:nvPr>
            <p:ph idx="1"/>
          </p:nvPr>
        </p:nvSpPr>
        <p:spPr/>
        <p:txBody>
          <a:bodyPr>
            <a:normAutofit lnSpcReduction="10000"/>
          </a:bodyPr>
          <a:lstStyle/>
          <a:p>
            <a:r>
              <a:rPr lang="en-US" dirty="0"/>
              <a:t>Systems of social stratification based on divisions of people into unequally ranked groups</a:t>
            </a:r>
          </a:p>
          <a:p>
            <a:r>
              <a:rPr lang="en-US" dirty="0"/>
              <a:t>Each system has local </a:t>
            </a:r>
            <a:r>
              <a:rPr lang="en-US" dirty="0" smtClean="0"/>
              <a:t>features</a:t>
            </a:r>
            <a:endParaRPr lang="en-US" dirty="0"/>
          </a:p>
          <a:p>
            <a:pPr lvl="1"/>
            <a:r>
              <a:rPr lang="en-US" dirty="0" smtClean="0"/>
              <a:t>Example: </a:t>
            </a:r>
            <a:r>
              <a:rPr lang="en-US" dirty="0"/>
              <a:t>Central and South America, the concept of mestizaje: “racial” mixture</a:t>
            </a:r>
          </a:p>
          <a:p>
            <a:r>
              <a:rPr lang="en-US" dirty="0"/>
              <a:t>Must know the local system of categories to understand the dynamics of inequality that go with them</a:t>
            </a:r>
          </a:p>
          <a:p>
            <a:endParaRPr lang="en-US" dirty="0"/>
          </a:p>
        </p:txBody>
      </p:sp>
    </p:spTree>
    <p:extLst>
      <p:ext uri="{BB962C8B-B14F-4D97-AF65-F5344CB8AC3E}">
        <p14:creationId xmlns:p14="http://schemas.microsoft.com/office/powerpoint/2010/main" val="36045233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Ascribed Status: “</a:t>
            </a:r>
            <a:r>
              <a:rPr lang="en-US" dirty="0" smtClean="0"/>
              <a:t>Race,” </a:t>
            </a:r>
            <a:r>
              <a:rPr lang="en-US" dirty="0"/>
              <a:t>Ethnicity, Gender, and Caste </a:t>
            </a:r>
            <a:r>
              <a:rPr lang="en-US" sz="3100" dirty="0" smtClean="0"/>
              <a:t>(2 </a:t>
            </a:r>
            <a:r>
              <a:rPr lang="en-US" sz="3100" dirty="0"/>
              <a:t>of </a:t>
            </a:r>
            <a:r>
              <a:rPr lang="en-US" sz="3100" dirty="0" smtClean="0"/>
              <a:t>5)</a:t>
            </a:r>
            <a:endParaRPr lang="en-US" sz="3100" dirty="0"/>
          </a:p>
        </p:txBody>
      </p:sp>
      <p:sp>
        <p:nvSpPr>
          <p:cNvPr id="3" name="Content Placeholder 2"/>
          <p:cNvSpPr>
            <a:spLocks noGrp="1"/>
          </p:cNvSpPr>
          <p:nvPr>
            <p:ph idx="1"/>
          </p:nvPr>
        </p:nvSpPr>
        <p:spPr/>
        <p:txBody>
          <a:bodyPr/>
          <a:lstStyle/>
          <a:p>
            <a:r>
              <a:rPr lang="en-US" dirty="0" smtClean="0"/>
              <a:t>“Race”</a:t>
            </a:r>
          </a:p>
          <a:p>
            <a:pPr lvl="1"/>
            <a:r>
              <a:rPr lang="en-US" dirty="0"/>
              <a:t>Recent form (past few centuries) of social inequality</a:t>
            </a:r>
          </a:p>
          <a:p>
            <a:pPr lvl="1"/>
            <a:r>
              <a:rPr lang="en-US" dirty="0"/>
              <a:t>Unequal meeting of two formerly separate groups through colonization, slavery, and other large-group movements</a:t>
            </a:r>
          </a:p>
          <a:p>
            <a:pPr lvl="1"/>
            <a:r>
              <a:rPr lang="en-US" dirty="0"/>
              <a:t>Not a biological </a:t>
            </a:r>
            <a:r>
              <a:rPr lang="en-US" dirty="0" smtClean="0"/>
              <a:t>reality</a:t>
            </a:r>
          </a:p>
          <a:p>
            <a:pPr lvl="1"/>
            <a:r>
              <a:rPr lang="en-US" dirty="0" smtClean="0"/>
              <a:t>Example: apartheid in South Africa</a:t>
            </a:r>
            <a:endParaRPr lang="en-US" dirty="0"/>
          </a:p>
        </p:txBody>
      </p:sp>
    </p:spTree>
    <p:extLst>
      <p:ext uri="{BB962C8B-B14F-4D97-AF65-F5344CB8AC3E}">
        <p14:creationId xmlns:p14="http://schemas.microsoft.com/office/powerpoint/2010/main" val="4142041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9.5 South Africa</a:t>
            </a:r>
            <a:endParaRPr lang="en-US" dirty="0"/>
          </a:p>
        </p:txBody>
      </p:sp>
      <p:pic>
        <p:nvPicPr>
          <p:cNvPr id="4" name="Content Placeholder 3" descr="A map of South Africa shows the capital city of Pretoria as well as Johannesburg and the port city of Cape Town. Two countries, Lesotho and Swaziland, are landlocked by South Africa. Namibia, Botswana, and Mozambique are its neighbors to the north. An inset globe shows the area is in southern Af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317751" y="1521803"/>
            <a:ext cx="6530849" cy="4650397"/>
          </a:xfrm>
        </p:spPr>
      </p:pic>
    </p:spTree>
    <p:extLst>
      <p:ext uri="{BB962C8B-B14F-4D97-AF65-F5344CB8AC3E}">
        <p14:creationId xmlns:p14="http://schemas.microsoft.com/office/powerpoint/2010/main" val="1171841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Ascribed Status: “</a:t>
            </a:r>
            <a:r>
              <a:rPr lang="en-US" dirty="0" smtClean="0"/>
              <a:t>Race,” </a:t>
            </a:r>
            <a:r>
              <a:rPr lang="en-US" dirty="0"/>
              <a:t>Ethnicity, Gender, and Caste </a:t>
            </a:r>
            <a:r>
              <a:rPr lang="en-US" sz="3100" dirty="0" smtClean="0"/>
              <a:t>(3 </a:t>
            </a:r>
            <a:r>
              <a:rPr lang="en-US" sz="3100" dirty="0"/>
              <a:t>of </a:t>
            </a:r>
            <a:r>
              <a:rPr lang="en-US" sz="3100" dirty="0" smtClean="0"/>
              <a:t>5)</a:t>
            </a:r>
            <a:endParaRPr lang="en-US" sz="3100" dirty="0"/>
          </a:p>
        </p:txBody>
      </p:sp>
      <p:sp>
        <p:nvSpPr>
          <p:cNvPr id="3" name="Content Placeholder 2"/>
          <p:cNvSpPr>
            <a:spLocks noGrp="1"/>
          </p:cNvSpPr>
          <p:nvPr>
            <p:ph idx="1"/>
          </p:nvPr>
        </p:nvSpPr>
        <p:spPr/>
        <p:txBody>
          <a:bodyPr>
            <a:normAutofit lnSpcReduction="10000"/>
          </a:bodyPr>
          <a:lstStyle/>
          <a:p>
            <a:r>
              <a:rPr lang="en-US" dirty="0" smtClean="0"/>
              <a:t>Ethnicity</a:t>
            </a:r>
          </a:p>
          <a:p>
            <a:pPr lvl="1"/>
            <a:r>
              <a:rPr lang="en-US" dirty="0" smtClean="0"/>
              <a:t>Sense </a:t>
            </a:r>
            <a:r>
              <a:rPr lang="en-US" dirty="0"/>
              <a:t>of group membership based on a shared sense of identity</a:t>
            </a:r>
          </a:p>
          <a:p>
            <a:pPr lvl="2"/>
            <a:r>
              <a:rPr lang="en-US" dirty="0"/>
              <a:t>Shared history</a:t>
            </a:r>
          </a:p>
          <a:p>
            <a:pPr lvl="2"/>
            <a:r>
              <a:rPr lang="en-US" dirty="0"/>
              <a:t>Territory</a:t>
            </a:r>
          </a:p>
          <a:p>
            <a:pPr lvl="2"/>
            <a:r>
              <a:rPr lang="en-US" dirty="0"/>
              <a:t>Language</a:t>
            </a:r>
          </a:p>
          <a:p>
            <a:pPr lvl="2"/>
            <a:r>
              <a:rPr lang="en-US" dirty="0"/>
              <a:t>Religion</a:t>
            </a:r>
          </a:p>
          <a:p>
            <a:pPr lvl="2"/>
            <a:r>
              <a:rPr lang="en-US" dirty="0"/>
              <a:t>C</a:t>
            </a:r>
            <a:r>
              <a:rPr lang="en-US" dirty="0" smtClean="0"/>
              <a:t>ombination </a:t>
            </a:r>
            <a:r>
              <a:rPr lang="en-US" dirty="0"/>
              <a:t>of the above</a:t>
            </a:r>
          </a:p>
          <a:p>
            <a:pPr lvl="1"/>
            <a:r>
              <a:rPr lang="en-US" dirty="0"/>
              <a:t>Diaspora population: a dispersed group living outside </a:t>
            </a:r>
            <a:r>
              <a:rPr lang="en-US" dirty="0" smtClean="0"/>
              <a:t>their </a:t>
            </a:r>
            <a:r>
              <a:rPr lang="en-US" dirty="0"/>
              <a:t>original homeland</a:t>
            </a:r>
          </a:p>
          <a:p>
            <a:endParaRPr lang="en-US" dirty="0"/>
          </a:p>
        </p:txBody>
      </p:sp>
    </p:spTree>
    <p:extLst>
      <p:ext uri="{BB962C8B-B14F-4D97-AF65-F5344CB8AC3E}">
        <p14:creationId xmlns:p14="http://schemas.microsoft.com/office/powerpoint/2010/main" val="42308820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Ascribed Status: “</a:t>
            </a:r>
            <a:r>
              <a:rPr lang="en-US" dirty="0" smtClean="0"/>
              <a:t>Race,” </a:t>
            </a:r>
            <a:r>
              <a:rPr lang="en-US" dirty="0"/>
              <a:t>Ethnicity, Gender, and Caste </a:t>
            </a:r>
            <a:r>
              <a:rPr lang="en-US" sz="3100" dirty="0" smtClean="0"/>
              <a:t>(4 </a:t>
            </a:r>
            <a:r>
              <a:rPr lang="en-US" sz="3100" dirty="0"/>
              <a:t>of </a:t>
            </a:r>
            <a:r>
              <a:rPr lang="en-US" sz="3100" dirty="0" smtClean="0"/>
              <a:t>5)</a:t>
            </a:r>
            <a:endParaRPr lang="en-US" sz="3100" dirty="0"/>
          </a:p>
        </p:txBody>
      </p:sp>
      <p:sp>
        <p:nvSpPr>
          <p:cNvPr id="3" name="Content Placeholder 2"/>
          <p:cNvSpPr>
            <a:spLocks noGrp="1"/>
          </p:cNvSpPr>
          <p:nvPr>
            <p:ph idx="1"/>
          </p:nvPr>
        </p:nvSpPr>
        <p:spPr/>
        <p:txBody>
          <a:bodyPr>
            <a:normAutofit lnSpcReduction="10000"/>
          </a:bodyPr>
          <a:lstStyle/>
          <a:p>
            <a:r>
              <a:rPr lang="en-US" dirty="0" smtClean="0"/>
              <a:t>Caste</a:t>
            </a:r>
          </a:p>
          <a:p>
            <a:pPr lvl="1"/>
            <a:r>
              <a:rPr lang="en-US" dirty="0" smtClean="0"/>
              <a:t>Social </a:t>
            </a:r>
            <a:r>
              <a:rPr lang="en-US" dirty="0"/>
              <a:t>stratification system linked with Hinduism</a:t>
            </a:r>
          </a:p>
          <a:p>
            <a:pPr lvl="1"/>
            <a:r>
              <a:rPr lang="en-US" dirty="0"/>
              <a:t>Based on a person’s birth into a particular group</a:t>
            </a:r>
          </a:p>
          <a:p>
            <a:pPr lvl="1"/>
            <a:r>
              <a:rPr lang="en-US" dirty="0"/>
              <a:t>Varnas: </a:t>
            </a:r>
            <a:r>
              <a:rPr lang="en-US" dirty="0" smtClean="0"/>
              <a:t>four </a:t>
            </a:r>
            <a:r>
              <a:rPr lang="en-US" dirty="0"/>
              <a:t>major social </a:t>
            </a:r>
            <a:r>
              <a:rPr lang="en-US" dirty="0" smtClean="0"/>
              <a:t>categories</a:t>
            </a:r>
          </a:p>
          <a:p>
            <a:pPr lvl="2"/>
            <a:r>
              <a:rPr lang="en-US" i="1" dirty="0" smtClean="0"/>
              <a:t>Brahmans</a:t>
            </a:r>
            <a:r>
              <a:rPr lang="en-US" dirty="0" smtClean="0"/>
              <a:t>, priests</a:t>
            </a:r>
            <a:endParaRPr lang="en-US" i="1" dirty="0" smtClean="0"/>
          </a:p>
          <a:p>
            <a:pPr lvl="2"/>
            <a:r>
              <a:rPr lang="en-US" i="1" dirty="0" smtClean="0"/>
              <a:t>Kshatriyas, </a:t>
            </a:r>
            <a:r>
              <a:rPr lang="en-US" dirty="0" smtClean="0"/>
              <a:t>warriors</a:t>
            </a:r>
            <a:endParaRPr lang="en-US" i="1" dirty="0" smtClean="0"/>
          </a:p>
          <a:p>
            <a:pPr lvl="2"/>
            <a:r>
              <a:rPr lang="en-US" i="1" dirty="0" smtClean="0"/>
              <a:t>Vaishyas, </a:t>
            </a:r>
            <a:r>
              <a:rPr lang="en-US" dirty="0" smtClean="0"/>
              <a:t>merchants</a:t>
            </a:r>
            <a:endParaRPr lang="en-US" i="1" dirty="0" smtClean="0"/>
          </a:p>
          <a:p>
            <a:pPr lvl="2"/>
            <a:r>
              <a:rPr lang="en-US" i="1" dirty="0" smtClean="0"/>
              <a:t>Shudras, </a:t>
            </a:r>
            <a:r>
              <a:rPr lang="en-US" dirty="0" smtClean="0"/>
              <a:t>laborers</a:t>
            </a:r>
            <a:endParaRPr lang="en-US" i="1" dirty="0" smtClean="0"/>
          </a:p>
          <a:p>
            <a:pPr lvl="1"/>
            <a:r>
              <a:rPr lang="en-US" i="1" dirty="0" smtClean="0"/>
              <a:t>Dalits</a:t>
            </a:r>
            <a:r>
              <a:rPr lang="en-US" dirty="0" smtClean="0"/>
              <a:t> (“untouchables”) considered lower status than those within </a:t>
            </a:r>
            <a:r>
              <a:rPr lang="en-US" dirty="0"/>
              <a:t>v</a:t>
            </a:r>
            <a:r>
              <a:rPr lang="en-US" dirty="0" smtClean="0"/>
              <a:t>arnas</a:t>
            </a:r>
            <a:endParaRPr lang="en-US" dirty="0"/>
          </a:p>
          <a:p>
            <a:endParaRPr lang="en-US" dirty="0"/>
          </a:p>
        </p:txBody>
      </p:sp>
    </p:spTree>
    <p:extLst>
      <p:ext uri="{BB962C8B-B14F-4D97-AF65-F5344CB8AC3E}">
        <p14:creationId xmlns:p14="http://schemas.microsoft.com/office/powerpoint/2010/main" val="82575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Ascribed Status: “</a:t>
            </a:r>
            <a:r>
              <a:rPr lang="en-US" dirty="0" smtClean="0"/>
              <a:t>Race,” </a:t>
            </a:r>
            <a:r>
              <a:rPr lang="en-US" dirty="0"/>
              <a:t>Ethnicity, Gender, and Caste </a:t>
            </a:r>
            <a:r>
              <a:rPr lang="en-US" sz="3100" dirty="0" smtClean="0"/>
              <a:t>(5 </a:t>
            </a:r>
            <a:r>
              <a:rPr lang="en-US" sz="3100" dirty="0"/>
              <a:t>of </a:t>
            </a:r>
            <a:r>
              <a:rPr lang="en-US" sz="3100" dirty="0" smtClean="0"/>
              <a:t>5)</a:t>
            </a:r>
            <a:endParaRPr lang="en-US" sz="3100" dirty="0"/>
          </a:p>
        </p:txBody>
      </p:sp>
      <p:sp>
        <p:nvSpPr>
          <p:cNvPr id="3" name="Content Placeholder 2"/>
          <p:cNvSpPr>
            <a:spLocks noGrp="1"/>
          </p:cNvSpPr>
          <p:nvPr>
            <p:ph idx="1"/>
          </p:nvPr>
        </p:nvSpPr>
        <p:spPr/>
        <p:txBody>
          <a:bodyPr>
            <a:normAutofit lnSpcReduction="10000"/>
          </a:bodyPr>
          <a:lstStyle/>
          <a:p>
            <a:r>
              <a:rPr lang="en-US" dirty="0" smtClean="0"/>
              <a:t>Caste system maintained through:</a:t>
            </a:r>
          </a:p>
          <a:p>
            <a:pPr lvl="1"/>
            <a:r>
              <a:rPr lang="en-US" dirty="0" smtClean="0"/>
              <a:t>Marriage rules</a:t>
            </a:r>
          </a:p>
          <a:p>
            <a:pPr lvl="2"/>
            <a:r>
              <a:rPr lang="en-US" dirty="0" smtClean="0"/>
              <a:t>Jati endogamy (in-group marriage)</a:t>
            </a:r>
          </a:p>
          <a:p>
            <a:pPr lvl="1"/>
            <a:r>
              <a:rPr lang="en-US" dirty="0" smtClean="0"/>
              <a:t>Spatial segregation</a:t>
            </a:r>
          </a:p>
          <a:p>
            <a:pPr lvl="1"/>
            <a:r>
              <a:rPr lang="en-US" dirty="0" smtClean="0"/>
              <a:t>Rituals</a:t>
            </a:r>
          </a:p>
          <a:p>
            <a:r>
              <a:rPr lang="en-US" dirty="0" smtClean="0"/>
              <a:t>Indian constitution of 1949 declared discrimination based on caste illegal </a:t>
            </a:r>
          </a:p>
          <a:p>
            <a:pPr lvl="1"/>
            <a:r>
              <a:rPr lang="en-US" dirty="0" smtClean="0"/>
              <a:t>Equality increasing, especially since the late twentieth century</a:t>
            </a:r>
            <a:endParaRPr lang="en-US" dirty="0"/>
          </a:p>
        </p:txBody>
      </p:sp>
    </p:spTree>
    <p:extLst>
      <p:ext uri="{BB962C8B-B14F-4D97-AF65-F5344CB8AC3E}">
        <p14:creationId xmlns:p14="http://schemas.microsoft.com/office/powerpoint/2010/main" val="362156823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Culturama: The Roma </a:t>
            </a:r>
            <a:br>
              <a:rPr lang="en-US" dirty="0" smtClean="0"/>
            </a:br>
            <a:r>
              <a:rPr lang="en-US" dirty="0" smtClean="0"/>
              <a:t>of Eastern Europe </a:t>
            </a:r>
            <a:r>
              <a:rPr lang="en-US" sz="3100" dirty="0" smtClean="0"/>
              <a:t>(1 of 2)</a:t>
            </a:r>
            <a:endParaRPr lang="en-US" sz="3100" dirty="0"/>
          </a:p>
        </p:txBody>
      </p:sp>
      <p:sp>
        <p:nvSpPr>
          <p:cNvPr id="3" name="Content Placeholder 2"/>
          <p:cNvSpPr>
            <a:spLocks noGrp="1"/>
          </p:cNvSpPr>
          <p:nvPr>
            <p:ph idx="1"/>
          </p:nvPr>
        </p:nvSpPr>
        <p:spPr/>
        <p:txBody>
          <a:bodyPr/>
          <a:lstStyle/>
          <a:p>
            <a:r>
              <a:rPr lang="en-US" dirty="0"/>
              <a:t>Also known by the derogatory term “Gypsies”</a:t>
            </a:r>
          </a:p>
          <a:p>
            <a:r>
              <a:rPr lang="en-US" dirty="0"/>
              <a:t>Europe’s largest minority population </a:t>
            </a:r>
            <a:r>
              <a:rPr lang="en-US" dirty="0" smtClean="0"/>
              <a:t>              (</a:t>
            </a:r>
            <a:r>
              <a:rPr lang="en-US" dirty="0"/>
              <a:t>7 </a:t>
            </a:r>
            <a:r>
              <a:rPr lang="en-US" dirty="0" smtClean="0"/>
              <a:t>to </a:t>
            </a:r>
            <a:r>
              <a:rPr lang="en-US" dirty="0"/>
              <a:t>9 million)</a:t>
            </a:r>
          </a:p>
          <a:p>
            <a:r>
              <a:rPr lang="en-US" dirty="0"/>
              <a:t>Roma are 10 percent of the population of Eastern Europe</a:t>
            </a:r>
          </a:p>
          <a:p>
            <a:r>
              <a:rPr lang="en-US" dirty="0"/>
              <a:t>History of mobility and marginality</a:t>
            </a:r>
          </a:p>
          <a:p>
            <a:r>
              <a:rPr lang="en-US" dirty="0"/>
              <a:t>Settled Roma live in marginalized areas that lack decent housing</a:t>
            </a:r>
          </a:p>
          <a:p>
            <a:endParaRPr lang="en-US" dirty="0"/>
          </a:p>
        </p:txBody>
      </p:sp>
    </p:spTree>
    <p:extLst>
      <p:ext uri="{BB962C8B-B14F-4D97-AF65-F5344CB8AC3E}">
        <p14:creationId xmlns:p14="http://schemas.microsoft.com/office/powerpoint/2010/main" val="35435079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Culturama: The Roma </a:t>
            </a:r>
            <a:r>
              <a:rPr lang="en-US" dirty="0" smtClean="0"/>
              <a:t/>
            </a:r>
            <a:br>
              <a:rPr lang="en-US" dirty="0" smtClean="0"/>
            </a:br>
            <a:r>
              <a:rPr lang="en-US" dirty="0" smtClean="0"/>
              <a:t>of </a:t>
            </a:r>
            <a:r>
              <a:rPr lang="en-US" dirty="0"/>
              <a:t>Eastern Europe </a:t>
            </a:r>
            <a:r>
              <a:rPr lang="en-US" sz="3100" dirty="0" smtClean="0"/>
              <a:t>(2 </a:t>
            </a:r>
            <a:r>
              <a:rPr lang="en-US" sz="3100" dirty="0"/>
              <a:t>of 2)</a:t>
            </a:r>
          </a:p>
        </p:txBody>
      </p:sp>
      <p:sp>
        <p:nvSpPr>
          <p:cNvPr id="3" name="Content Placeholder 2"/>
          <p:cNvSpPr>
            <a:spLocks noGrp="1"/>
          </p:cNvSpPr>
          <p:nvPr>
            <p:ph idx="1"/>
          </p:nvPr>
        </p:nvSpPr>
        <p:spPr/>
        <p:txBody>
          <a:bodyPr>
            <a:normAutofit/>
          </a:bodyPr>
          <a:lstStyle/>
          <a:p>
            <a:r>
              <a:rPr lang="en-US" dirty="0"/>
              <a:t>In different countries, the status and living conditions of Roma vary</a:t>
            </a:r>
          </a:p>
          <a:p>
            <a:pPr lvl="1"/>
            <a:r>
              <a:rPr lang="en-US" dirty="0"/>
              <a:t>Situation in Slovakia is among the worst</a:t>
            </a:r>
          </a:p>
          <a:p>
            <a:pPr lvl="2"/>
            <a:r>
              <a:rPr lang="en-US" dirty="0"/>
              <a:t>One-third of Roma live in </a:t>
            </a:r>
            <a:r>
              <a:rPr lang="en-US" i="1" dirty="0"/>
              <a:t>osada</a:t>
            </a:r>
            <a:r>
              <a:rPr lang="en-US" dirty="0"/>
              <a:t>, ghetto-like enclaves with poor housing, sanitation, and </a:t>
            </a:r>
            <a:r>
              <a:rPr lang="en-US" dirty="0" smtClean="0"/>
              <a:t>schools</a:t>
            </a:r>
          </a:p>
          <a:p>
            <a:pPr lvl="1"/>
            <a:r>
              <a:rPr lang="en-US" dirty="0" smtClean="0"/>
              <a:t>Conditions for the </a:t>
            </a:r>
            <a:r>
              <a:rPr lang="en-US" dirty="0"/>
              <a:t>Roma </a:t>
            </a:r>
            <a:r>
              <a:rPr lang="en-US" dirty="0" smtClean="0"/>
              <a:t>are improving </a:t>
            </a:r>
            <a:r>
              <a:rPr lang="en-US" dirty="0"/>
              <a:t>in Hungary since it joined the European Union in 2004</a:t>
            </a:r>
          </a:p>
          <a:p>
            <a:pPr lvl="1"/>
            <a:endParaRPr lang="en-US" dirty="0"/>
          </a:p>
          <a:p>
            <a:endParaRPr lang="en-US" dirty="0"/>
          </a:p>
        </p:txBody>
      </p:sp>
    </p:spTree>
    <p:extLst>
      <p:ext uri="{BB962C8B-B14F-4D97-AF65-F5344CB8AC3E}">
        <p14:creationId xmlns:p14="http://schemas.microsoft.com/office/powerpoint/2010/main" val="409777083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9.6 Roma Population </a:t>
            </a:r>
            <a:br>
              <a:rPr lang="en-US" dirty="0" smtClean="0"/>
            </a:br>
            <a:r>
              <a:rPr lang="en-US" dirty="0" smtClean="0"/>
              <a:t>in Eastern Europe</a:t>
            </a:r>
            <a:endParaRPr lang="en-US" dirty="0"/>
          </a:p>
        </p:txBody>
      </p:sp>
      <p:pic>
        <p:nvPicPr>
          <p:cNvPr id="4" name="Content Placeholder 3" descr="A map shows countries with Roma population are Slovakia, Romania, Bulgaria, and Macedonia. An inset globe shows the area is in eastern Europe."/>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933932" y="1447800"/>
            <a:ext cx="3314468" cy="4802312"/>
          </a:xfrm>
        </p:spPr>
      </p:pic>
    </p:spTree>
    <p:extLst>
      <p:ext uri="{BB962C8B-B14F-4D97-AF65-F5344CB8AC3E}">
        <p14:creationId xmlns:p14="http://schemas.microsoft.com/office/powerpoint/2010/main" val="20812959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Civil Society </a:t>
            </a:r>
            <a:r>
              <a:rPr lang="en-US" sz="3100" dirty="0" smtClean="0"/>
              <a:t>(1 of 2)</a:t>
            </a:r>
            <a:br>
              <a:rPr lang="en-US" sz="3100" dirty="0" smtClean="0"/>
            </a:br>
            <a:r>
              <a:rPr lang="en-US" sz="3100" dirty="0" smtClean="0"/>
              <a:t>9.3 Discuss the concept of civil society.</a:t>
            </a:r>
            <a:endParaRPr lang="en-US" sz="3100" dirty="0"/>
          </a:p>
        </p:txBody>
      </p:sp>
      <p:sp>
        <p:nvSpPr>
          <p:cNvPr id="3" name="Content Placeholder 2"/>
          <p:cNvSpPr>
            <a:spLocks noGrp="1"/>
          </p:cNvSpPr>
          <p:nvPr>
            <p:ph idx="1"/>
          </p:nvPr>
        </p:nvSpPr>
        <p:spPr/>
        <p:txBody>
          <a:bodyPr/>
          <a:lstStyle/>
          <a:p>
            <a:endParaRPr lang="en-US" dirty="0" smtClean="0"/>
          </a:p>
          <a:p>
            <a:r>
              <a:rPr lang="en-US" dirty="0" smtClean="0"/>
              <a:t>Civil </a:t>
            </a:r>
            <a:r>
              <a:rPr lang="en-US" dirty="0"/>
              <a:t>Society for the State: </a:t>
            </a:r>
            <a:r>
              <a:rPr lang="en-US" dirty="0" smtClean="0"/>
              <a:t>The Chinese </a:t>
            </a:r>
            <a:r>
              <a:rPr lang="en-US" dirty="0"/>
              <a:t>Women’s </a:t>
            </a:r>
            <a:r>
              <a:rPr lang="en-US" dirty="0" smtClean="0"/>
              <a:t>Movement</a:t>
            </a:r>
          </a:p>
          <a:p>
            <a:endParaRPr lang="en-US" dirty="0" smtClean="0"/>
          </a:p>
          <a:p>
            <a:r>
              <a:rPr lang="en-US" dirty="0" smtClean="0"/>
              <a:t>Activist </a:t>
            </a:r>
            <a:r>
              <a:rPr lang="en-US" dirty="0"/>
              <a:t>Groups: </a:t>
            </a:r>
            <a:r>
              <a:rPr lang="en-US" dirty="0" smtClean="0"/>
              <a:t>CO-MADRES</a:t>
            </a:r>
          </a:p>
          <a:p>
            <a:endParaRPr lang="en-US" dirty="0" smtClean="0"/>
          </a:p>
          <a:p>
            <a:r>
              <a:rPr lang="en-US" dirty="0" smtClean="0"/>
              <a:t>Social </a:t>
            </a:r>
            <a:r>
              <a:rPr lang="en-US" dirty="0"/>
              <a:t>Capital, Social </a:t>
            </a:r>
            <a:r>
              <a:rPr lang="en-US" dirty="0" smtClean="0"/>
              <a:t>Movements, and </a:t>
            </a:r>
            <a:r>
              <a:rPr lang="en-US" dirty="0"/>
              <a:t>Social Media</a:t>
            </a:r>
          </a:p>
        </p:txBody>
      </p:sp>
    </p:spTree>
    <p:extLst>
      <p:ext uri="{BB962C8B-B14F-4D97-AF65-F5344CB8AC3E}">
        <p14:creationId xmlns:p14="http://schemas.microsoft.com/office/powerpoint/2010/main" val="28568916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Civil Society </a:t>
            </a:r>
            <a:r>
              <a:rPr lang="en-US" sz="2800" dirty="0" smtClean="0"/>
              <a:t>(2 of 2)</a:t>
            </a:r>
            <a:endParaRPr lang="en-US" sz="2800" dirty="0"/>
          </a:p>
        </p:txBody>
      </p:sp>
      <p:sp>
        <p:nvSpPr>
          <p:cNvPr id="3" name="Content Placeholder 2"/>
          <p:cNvSpPr>
            <a:spLocks noGrp="1"/>
          </p:cNvSpPr>
          <p:nvPr>
            <p:ph idx="1"/>
          </p:nvPr>
        </p:nvSpPr>
        <p:spPr/>
        <p:txBody>
          <a:bodyPr/>
          <a:lstStyle/>
          <a:p>
            <a:r>
              <a:rPr lang="en-US" dirty="0"/>
              <a:t>Civil </a:t>
            </a:r>
            <a:r>
              <a:rPr lang="en-US" dirty="0" smtClean="0"/>
              <a:t>society</a:t>
            </a:r>
            <a:r>
              <a:rPr lang="en-US" dirty="0"/>
              <a:t>: interest groups that function outside the government to organize economic and other aspects of </a:t>
            </a:r>
            <a:r>
              <a:rPr lang="en-US" dirty="0" smtClean="0"/>
              <a:t>life</a:t>
            </a:r>
            <a:endParaRPr lang="en-US" dirty="0"/>
          </a:p>
          <a:p>
            <a:pPr lvl="1"/>
            <a:r>
              <a:rPr lang="en-US" dirty="0"/>
              <a:t>Can be divided into those that support the </a:t>
            </a:r>
            <a:r>
              <a:rPr lang="en-US" dirty="0" smtClean="0"/>
              <a:t>state </a:t>
            </a:r>
            <a:r>
              <a:rPr lang="en-US" dirty="0"/>
              <a:t>and those that oppose it (Gramsci)</a:t>
            </a:r>
          </a:p>
          <a:p>
            <a:endParaRPr lang="en-US" dirty="0"/>
          </a:p>
        </p:txBody>
      </p:sp>
    </p:spTree>
    <p:extLst>
      <p:ext uri="{BB962C8B-B14F-4D97-AF65-F5344CB8AC3E}">
        <p14:creationId xmlns:p14="http://schemas.microsoft.com/office/powerpoint/2010/main" val="41544883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Civil Society for the State: </a:t>
            </a:r>
            <a:br>
              <a:rPr lang="en-US" dirty="0" smtClean="0"/>
            </a:br>
            <a:r>
              <a:rPr lang="en-US" dirty="0" smtClean="0"/>
              <a:t>The Chinese Women’s Movement</a:t>
            </a:r>
            <a:endParaRPr lang="en-US" dirty="0"/>
          </a:p>
        </p:txBody>
      </p:sp>
      <p:sp>
        <p:nvSpPr>
          <p:cNvPr id="3" name="Content Placeholder 2"/>
          <p:cNvSpPr>
            <a:spLocks noGrp="1"/>
          </p:cNvSpPr>
          <p:nvPr>
            <p:ph idx="1"/>
          </p:nvPr>
        </p:nvSpPr>
        <p:spPr/>
        <p:txBody>
          <a:bodyPr>
            <a:normAutofit lnSpcReduction="10000"/>
          </a:bodyPr>
          <a:lstStyle/>
          <a:p>
            <a:r>
              <a:rPr lang="en-US" dirty="0" smtClean="0"/>
              <a:t>Works in support of government policy goals</a:t>
            </a:r>
          </a:p>
          <a:p>
            <a:pPr lvl="1"/>
            <a:r>
              <a:rPr lang="en-US" dirty="0" smtClean="0"/>
              <a:t>Improvement of women’s lives</a:t>
            </a:r>
          </a:p>
          <a:p>
            <a:r>
              <a:rPr lang="en-US" dirty="0" smtClean="0"/>
              <a:t>Research conducted by Ellen Judd</a:t>
            </a:r>
          </a:p>
          <a:p>
            <a:pPr lvl="1"/>
            <a:r>
              <a:rPr lang="en-US" dirty="0" smtClean="0"/>
              <a:t>Closely monitored by the state</a:t>
            </a:r>
          </a:p>
          <a:p>
            <a:pPr lvl="1"/>
            <a:r>
              <a:rPr lang="en-US" dirty="0" smtClean="0"/>
              <a:t>Found benefits from the group’s work in education, employment for women</a:t>
            </a:r>
          </a:p>
          <a:p>
            <a:r>
              <a:rPr lang="en-US" dirty="0" smtClean="0"/>
              <a:t>Chinese women’s </a:t>
            </a:r>
            <a:r>
              <a:rPr lang="en-US" dirty="0"/>
              <a:t>m</a:t>
            </a:r>
            <a:r>
              <a:rPr lang="en-US" dirty="0" smtClean="0"/>
              <a:t>ovement controlled by the state</a:t>
            </a:r>
          </a:p>
          <a:p>
            <a:pPr lvl="1"/>
            <a:r>
              <a:rPr lang="en-US" dirty="0" smtClean="0"/>
              <a:t>Truly an example of civil society?</a:t>
            </a:r>
            <a:endParaRPr lang="en-US" dirty="0"/>
          </a:p>
        </p:txBody>
      </p:sp>
    </p:spTree>
    <p:extLst>
      <p:ext uri="{BB962C8B-B14F-4D97-AF65-F5344CB8AC3E}">
        <p14:creationId xmlns:p14="http://schemas.microsoft.com/office/powerpoint/2010/main" val="41388118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Activist Groups: CO-MADRES</a:t>
            </a:r>
            <a:endParaRPr lang="en-US" dirty="0"/>
          </a:p>
        </p:txBody>
      </p:sp>
      <p:sp>
        <p:nvSpPr>
          <p:cNvPr id="3" name="Content Placeholder 2"/>
          <p:cNvSpPr>
            <a:spLocks noGrp="1"/>
          </p:cNvSpPr>
          <p:nvPr>
            <p:ph idx="1"/>
          </p:nvPr>
        </p:nvSpPr>
        <p:spPr/>
        <p:txBody>
          <a:bodyPr/>
          <a:lstStyle/>
          <a:p>
            <a:r>
              <a:rPr lang="en-US" dirty="0" smtClean="0"/>
              <a:t>Activist groups </a:t>
            </a:r>
          </a:p>
          <a:p>
            <a:pPr lvl="1"/>
            <a:r>
              <a:rPr lang="en-US" dirty="0" smtClean="0"/>
              <a:t>Formed with the goal of changing certain conditions</a:t>
            </a:r>
          </a:p>
          <a:p>
            <a:r>
              <a:rPr lang="en-US" dirty="0" smtClean="0"/>
              <a:t>Example: CO-MADRES</a:t>
            </a:r>
          </a:p>
          <a:p>
            <a:pPr lvl="1"/>
            <a:r>
              <a:rPr lang="en-US" dirty="0" smtClean="0"/>
              <a:t>Formed to hold Salvadoran government responsible for abductions and deaths during and after the civil war</a:t>
            </a:r>
          </a:p>
          <a:p>
            <a:pPr lvl="1"/>
            <a:r>
              <a:rPr lang="en-US" dirty="0" smtClean="0"/>
              <a:t>Also works against domestic violence </a:t>
            </a:r>
            <a:r>
              <a:rPr lang="en-US" smtClean="0"/>
              <a:t>and for political </a:t>
            </a:r>
            <a:r>
              <a:rPr lang="en-US" dirty="0" smtClean="0"/>
              <a:t>education for women</a:t>
            </a:r>
          </a:p>
          <a:p>
            <a:pPr lvl="1"/>
            <a:endParaRPr lang="en-US" dirty="0"/>
          </a:p>
        </p:txBody>
      </p:sp>
    </p:spTree>
    <p:extLst>
      <p:ext uri="{BB962C8B-B14F-4D97-AF65-F5344CB8AC3E}">
        <p14:creationId xmlns:p14="http://schemas.microsoft.com/office/powerpoint/2010/main" val="3514722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Social Capital, Social Movements,</a:t>
            </a:r>
            <a:br>
              <a:rPr lang="en-US" dirty="0"/>
            </a:br>
            <a:r>
              <a:rPr lang="en-US" dirty="0"/>
              <a:t>and Social Media</a:t>
            </a:r>
          </a:p>
        </p:txBody>
      </p:sp>
      <p:sp>
        <p:nvSpPr>
          <p:cNvPr id="3" name="Content Placeholder 2"/>
          <p:cNvSpPr>
            <a:spLocks noGrp="1"/>
          </p:cNvSpPr>
          <p:nvPr>
            <p:ph idx="1"/>
          </p:nvPr>
        </p:nvSpPr>
        <p:spPr/>
        <p:txBody>
          <a:bodyPr/>
          <a:lstStyle/>
          <a:p>
            <a:r>
              <a:rPr lang="en-US" dirty="0" smtClean="0"/>
              <a:t>Social capital</a:t>
            </a:r>
            <a:r>
              <a:rPr lang="en-US" dirty="0"/>
              <a:t>: the intangible resources existing in social </a:t>
            </a:r>
            <a:r>
              <a:rPr lang="en-US" dirty="0" smtClean="0"/>
              <a:t>ties, trust</a:t>
            </a:r>
            <a:r>
              <a:rPr lang="en-US" dirty="0"/>
              <a:t>, and </a:t>
            </a:r>
            <a:r>
              <a:rPr lang="en-US" dirty="0" smtClean="0"/>
              <a:t>cooperation</a:t>
            </a:r>
          </a:p>
          <a:p>
            <a:r>
              <a:rPr lang="en-US" dirty="0"/>
              <a:t>N</a:t>
            </a:r>
            <a:r>
              <a:rPr lang="en-US" dirty="0" smtClean="0"/>
              <a:t>ew social movements: social activist groups that emerged in late twentieth century</a:t>
            </a:r>
          </a:p>
          <a:p>
            <a:pPr lvl="1"/>
            <a:r>
              <a:rPr lang="en-US" dirty="0" smtClean="0"/>
              <a:t>Many examples of groups formed by oppressed minorities: indigenous groups, ethnic groups, women, and the poor</a:t>
            </a:r>
          </a:p>
          <a:p>
            <a:pPr lvl="1"/>
            <a:r>
              <a:rPr lang="en-US" dirty="0" smtClean="0"/>
              <a:t>Use of social media</a:t>
            </a:r>
            <a:endParaRPr lang="en-US" dirty="0"/>
          </a:p>
        </p:txBody>
      </p:sp>
    </p:spTree>
    <p:extLst>
      <p:ext uri="{BB962C8B-B14F-4D97-AF65-F5344CB8AC3E}">
        <p14:creationId xmlns:p14="http://schemas.microsoft.com/office/powerpoint/2010/main" val="1506343506"/>
      </p:ext>
    </p:extLst>
  </p:cSld>
  <p:clrMapOvr>
    <a:masterClrMapping/>
  </p:clrMapOvr>
  <p:timing>
    <p:tnLst>
      <p:par>
        <p:cT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244</TotalTime>
  <Words>2260</Words>
  <Application>Microsoft Office PowerPoint</Application>
  <PresentationFormat>On-screen Show (4:3)</PresentationFormat>
  <Paragraphs>215</Paragraphs>
  <Slides>41</Slides>
  <Notes>10</Notes>
  <HiddenSlides>0</HiddenSlides>
  <MMClips>0</MMClips>
  <ScaleCrop>false</ScaleCrop>
  <HeadingPairs>
    <vt:vector size="4" baseType="variant">
      <vt:variant>
        <vt:lpstr>Theme</vt:lpstr>
      </vt:variant>
      <vt:variant>
        <vt:i4>2</vt:i4>
      </vt:variant>
      <vt:variant>
        <vt:lpstr>Slide Titles</vt:lpstr>
      </vt:variant>
      <vt:variant>
        <vt:i4>41</vt:i4>
      </vt:variant>
    </vt:vector>
  </HeadingPairs>
  <TitlesOfParts>
    <vt:vector size="43" baseType="lpstr">
      <vt:lpstr>Beebe8e_PPT_master</vt:lpstr>
      <vt:lpstr>Office Theme</vt:lpstr>
      <vt:lpstr>PowerPoint Presentation</vt:lpstr>
      <vt:lpstr>Learning Objectives</vt:lpstr>
      <vt:lpstr>Social Groups (1 of 4) 9.1 Explain what social groups are.</vt:lpstr>
      <vt:lpstr>Social Groups (2 of 4)</vt:lpstr>
      <vt:lpstr>Social Groups (3 of 4)</vt:lpstr>
      <vt:lpstr>Social Groups (4 of 4)</vt:lpstr>
      <vt:lpstr>Map 9.1 Bangladesh</vt:lpstr>
      <vt:lpstr>Friendship (1 of 2)</vt:lpstr>
      <vt:lpstr>Friendship (2 of 2)</vt:lpstr>
      <vt:lpstr>Map 9.2 Caribbean Countries of South America</vt:lpstr>
      <vt:lpstr>Think Like an Anthropologist:  Making Friends</vt:lpstr>
      <vt:lpstr>Clubs and Fraternities/Sororities (1 of 8)</vt:lpstr>
      <vt:lpstr>Clubs and Fraternities/Sororities (2 of 8)</vt:lpstr>
      <vt:lpstr>Clubs and Fraternities/Sororities (3 of 8)</vt:lpstr>
      <vt:lpstr>Clubs and Fraternities/Sororities (4 of 8)</vt:lpstr>
      <vt:lpstr>Clubs and Fraternities/Sororities (5 of 8)</vt:lpstr>
      <vt:lpstr>Clubs and Fraternities/Sororities (6 of 8)</vt:lpstr>
      <vt:lpstr>Map 9.3 The Solomon Islands</vt:lpstr>
      <vt:lpstr>Clubs and Fraternities/Sororities (7 of 8)</vt:lpstr>
      <vt:lpstr>Clubs and Fraternities/Sororities (8 of 8)</vt:lpstr>
      <vt:lpstr>Cooperatives (1 of 2)</vt:lpstr>
      <vt:lpstr>Cooperatives (2 of 2)</vt:lpstr>
      <vt:lpstr>Map 9.4 Guna Region in Panama</vt:lpstr>
      <vt:lpstr>Self-Help Groups</vt:lpstr>
      <vt:lpstr>Social Stratification 9.2 Define what is included in the term social stratification.</vt:lpstr>
      <vt:lpstr>Achieved Status: Class (1 of 2)</vt:lpstr>
      <vt:lpstr>Achieved Status: Class (2 of 2)</vt:lpstr>
      <vt:lpstr>Ascribed Status: “Race,” Ethnicity, Gender, and Caste (1 of 5)</vt:lpstr>
      <vt:lpstr>Ascribed Status: “Race,” Ethnicity, Gender, and Caste (2 of 5)</vt:lpstr>
      <vt:lpstr>Map 9.5 South Africa</vt:lpstr>
      <vt:lpstr>Ascribed Status: “Race,” Ethnicity, Gender, and Caste (3 of 5)</vt:lpstr>
      <vt:lpstr>Ascribed Status: “Race,” Ethnicity, Gender, and Caste (4 of 5)</vt:lpstr>
      <vt:lpstr>Ascribed Status: “Race,” Ethnicity, Gender, and Caste (5 of 5)</vt:lpstr>
      <vt:lpstr>Culturama: The Roma  of Eastern Europe (1 of 2)</vt:lpstr>
      <vt:lpstr>Culturama: The Roma  of Eastern Europe (2 of 2)</vt:lpstr>
      <vt:lpstr>Map 9.6 Roma Population  in Eastern Europe</vt:lpstr>
      <vt:lpstr>Civil Society (1 of 2) 9.3 Discuss the concept of civil society.</vt:lpstr>
      <vt:lpstr>Civil Society (2 of 2)</vt:lpstr>
      <vt:lpstr>Civil Society for the State:  The Chinese Women’s Movement</vt:lpstr>
      <vt:lpstr>Activist Groups: CO-MADRES</vt:lpstr>
      <vt:lpstr>Social Capital, Social Movements, and Social Media</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JH</cp:lastModifiedBy>
  <cp:revision>31</cp:revision>
  <dcterms:created xsi:type="dcterms:W3CDTF">2015-09-18T14:54:36Z</dcterms:created>
  <dcterms:modified xsi:type="dcterms:W3CDTF">2016-04-06T14:25:35Z</dcterms:modified>
</cp:coreProperties>
</file>