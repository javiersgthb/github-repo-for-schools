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48"/>
  </p:notesMasterIdLst>
  <p:sldIdLst>
    <p:sldId id="257" r:id="rId3"/>
    <p:sldId id="25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0"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300" r:id="rId36"/>
    <p:sldId id="289" r:id="rId37"/>
    <p:sldId id="290" r:id="rId38"/>
    <p:sldId id="299" r:id="rId39"/>
    <p:sldId id="291" r:id="rId40"/>
    <p:sldId id="292" r:id="rId41"/>
    <p:sldId id="293" r:id="rId42"/>
    <p:sldId id="294" r:id="rId43"/>
    <p:sldId id="295" r:id="rId44"/>
    <p:sldId id="296" r:id="rId45"/>
    <p:sldId id="297" r:id="rId46"/>
    <p:sldId id="298"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349" autoAdjust="0"/>
  </p:normalViewPr>
  <p:slideViewPr>
    <p:cSldViewPr>
      <p:cViewPr>
        <p:scale>
          <a:sx n="112" d="100"/>
          <a:sy n="112" d="100"/>
        </p:scale>
        <p:origin x="-80" y="-8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notesMaster" Target="notesMasters/notesMaster1.xml"/><Relationship Id="rId49" Type="http://schemas.openxmlformats.org/officeDocument/2006/relationships/printerSettings" Target="printerSettings/printerSettings1.bin"/><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A76568-0BC7-47BD-8F2F-791FCD6F7AEE}" type="datetimeFigureOut">
              <a:rPr lang="en-US" smtClean="0"/>
              <a:t>4/5/16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A8BC77-7D32-4542-B7D1-5BBD637459FE}" type="slidenum">
              <a:rPr lang="en-US" smtClean="0"/>
              <a:t>‹#›</a:t>
            </a:fld>
            <a:endParaRPr lang="en-US" dirty="0"/>
          </a:p>
        </p:txBody>
      </p:sp>
    </p:spTree>
    <p:extLst>
      <p:ext uri="{BB962C8B-B14F-4D97-AF65-F5344CB8AC3E}">
        <p14:creationId xmlns:p14="http://schemas.microsoft.com/office/powerpoint/2010/main" val="3344458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smtClean="0"/>
              <a:t>For a better classroom presentation flow, the order of some topics in this lecture outline differs slightly from the order of topics in the text and, where this occurs, some figures and tables are out of numerical order.</a:t>
            </a:r>
            <a:endParaRPr lang="en-US" sz="1400" dirty="0"/>
          </a:p>
        </p:txBody>
      </p:sp>
      <p:sp>
        <p:nvSpPr>
          <p:cNvPr id="4" name="Slide Number Placeholder 3"/>
          <p:cNvSpPr>
            <a:spLocks noGrp="1"/>
          </p:cNvSpPr>
          <p:nvPr>
            <p:ph type="sldNum" sz="quarter" idx="10"/>
          </p:nvPr>
        </p:nvSpPr>
        <p:spPr/>
        <p:txBody>
          <a:bodyPr/>
          <a:lstStyle/>
          <a:p>
            <a:fld id="{0AA8BC77-7D32-4542-B7D1-5BBD637459FE}" type="slidenum">
              <a:rPr lang="en-US" smtClean="0"/>
              <a:t>1</a:t>
            </a:fld>
            <a:endParaRPr lang="en-US" dirty="0"/>
          </a:p>
        </p:txBody>
      </p:sp>
    </p:spTree>
    <p:extLst>
      <p:ext uri="{BB962C8B-B14F-4D97-AF65-F5344CB8AC3E}">
        <p14:creationId xmlns:p14="http://schemas.microsoft.com/office/powerpoint/2010/main" val="829905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Early European colonialists named the local people Hare because</a:t>
            </a:r>
            <a:r>
              <a:rPr lang="en-US" baseline="0" dirty="0" smtClean="0"/>
              <a:t> </a:t>
            </a:r>
            <a:r>
              <a:rPr lang="en-US" dirty="0" smtClean="0"/>
              <a:t>of their reliance on snowshoe hares for food and clothing. The Hare</a:t>
            </a:r>
            <a:r>
              <a:rPr lang="en-US" baseline="0" dirty="0" smtClean="0"/>
              <a:t> </a:t>
            </a:r>
            <a:r>
              <a:rPr lang="en-US" dirty="0" smtClean="0"/>
              <a:t>people became involved in the wage-labor economy and were</a:t>
            </a:r>
            <a:r>
              <a:rPr lang="en-US" baseline="0" dirty="0" smtClean="0"/>
              <a:t> </a:t>
            </a:r>
            <a:r>
              <a:rPr lang="en-US" dirty="0" smtClean="0"/>
              <a:t>afflicted by alcoholism, tuberculosis, and other diseases. Efforts</a:t>
            </a:r>
            <a:r>
              <a:rPr lang="en-US" baseline="0" dirty="0" smtClean="0"/>
              <a:t> </a:t>
            </a:r>
            <a:r>
              <a:rPr lang="en-US" dirty="0" smtClean="0"/>
              <a:t>to reestablish claims to ancestral lands began in the 1960s. Over</a:t>
            </a:r>
            <a:r>
              <a:rPr lang="en-US" baseline="0" dirty="0" smtClean="0"/>
              <a:t> </a:t>
            </a:r>
            <a:r>
              <a:rPr lang="en-US" dirty="0" smtClean="0"/>
              <a:t>600 First Nations in Canada continue to fight for rights from the</a:t>
            </a:r>
            <a:r>
              <a:rPr lang="en-US" baseline="0" dirty="0" smtClean="0"/>
              <a:t> </a:t>
            </a:r>
            <a:r>
              <a:rPr lang="en-US" dirty="0" smtClean="0"/>
              <a:t>Canadian government.</a:t>
            </a:r>
          </a:p>
        </p:txBody>
      </p:sp>
      <p:sp>
        <p:nvSpPr>
          <p:cNvPr id="4" name="Slide Number Placeholder 3"/>
          <p:cNvSpPr>
            <a:spLocks noGrp="1"/>
          </p:cNvSpPr>
          <p:nvPr>
            <p:ph type="sldNum" sz="quarter" idx="10"/>
          </p:nvPr>
        </p:nvSpPr>
        <p:spPr/>
        <p:txBody>
          <a:bodyPr/>
          <a:lstStyle/>
          <a:p>
            <a:fld id="{0AA8BC77-7D32-4542-B7D1-5BBD637459FE}" type="slidenum">
              <a:rPr lang="en-US" smtClean="0"/>
              <a:t>13</a:t>
            </a:fld>
            <a:endParaRPr lang="en-US" dirty="0"/>
          </a:p>
        </p:txBody>
      </p:sp>
    </p:spTree>
    <p:extLst>
      <p:ext uri="{BB962C8B-B14F-4D97-AF65-F5344CB8AC3E}">
        <p14:creationId xmlns:p14="http://schemas.microsoft.com/office/powerpoint/2010/main" val="576203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576 islands are geologically part</a:t>
            </a:r>
            <a:r>
              <a:rPr lang="en-US" baseline="0" dirty="0" smtClean="0"/>
              <a:t> </a:t>
            </a:r>
            <a:r>
              <a:rPr lang="en-US" dirty="0" smtClean="0"/>
              <a:t>of Myanmar and Southeast Asia. The</a:t>
            </a:r>
            <a:r>
              <a:rPr lang="en-US" baseline="0" dirty="0" smtClean="0"/>
              <a:t> </a:t>
            </a:r>
            <a:r>
              <a:rPr lang="en-US" dirty="0" smtClean="0"/>
              <a:t>British Empire controlled them until India’s</a:t>
            </a:r>
            <a:r>
              <a:rPr lang="en-US" baseline="0" dirty="0" smtClean="0"/>
              <a:t> </a:t>
            </a:r>
            <a:r>
              <a:rPr lang="en-US" dirty="0" smtClean="0"/>
              <a:t>independence in 1947.</a:t>
            </a:r>
            <a:endParaRPr lang="en-US" dirty="0"/>
          </a:p>
        </p:txBody>
      </p:sp>
      <p:sp>
        <p:nvSpPr>
          <p:cNvPr id="4" name="Slide Number Placeholder 3"/>
          <p:cNvSpPr>
            <a:spLocks noGrp="1"/>
          </p:cNvSpPr>
          <p:nvPr>
            <p:ph type="sldNum" sz="quarter" idx="10"/>
          </p:nvPr>
        </p:nvSpPr>
        <p:spPr/>
        <p:txBody>
          <a:bodyPr/>
          <a:lstStyle/>
          <a:p>
            <a:fld id="{0AA8BC77-7D32-4542-B7D1-5BBD637459FE}" type="slidenum">
              <a:rPr lang="en-US" smtClean="0"/>
              <a:t>15</a:t>
            </a:fld>
            <a:endParaRPr lang="en-US" dirty="0"/>
          </a:p>
        </p:txBody>
      </p:sp>
    </p:spTree>
    <p:extLst>
      <p:ext uri="{BB962C8B-B14F-4D97-AF65-F5344CB8AC3E}">
        <p14:creationId xmlns:p14="http://schemas.microsoft.com/office/powerpoint/2010/main" val="2354886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the time of the arrival of the European colonialists, the six nations</a:t>
            </a:r>
            <a:r>
              <a:rPr lang="en-US" baseline="0" dirty="0" smtClean="0"/>
              <a:t> </a:t>
            </a:r>
            <a:r>
              <a:rPr lang="en-US" dirty="0" smtClean="0"/>
              <a:t>of the Iroquois extended over a wide area. The Mohawk stood guard</a:t>
            </a:r>
            <a:r>
              <a:rPr lang="en-US" baseline="0" dirty="0" smtClean="0"/>
              <a:t> </a:t>
            </a:r>
            <a:r>
              <a:rPr lang="en-US" dirty="0" smtClean="0"/>
              <a:t>over the eastern door of the confederacy’s symbolic longhouse, and</a:t>
            </a:r>
            <a:r>
              <a:rPr lang="en-US" baseline="0" dirty="0" smtClean="0"/>
              <a:t> </a:t>
            </a:r>
            <a:r>
              <a:rPr lang="en-US" dirty="0" smtClean="0"/>
              <a:t>the Seneca guarded the western door. The six nations worked out</a:t>
            </a:r>
            <a:r>
              <a:rPr lang="en-US" baseline="0" dirty="0" smtClean="0"/>
              <a:t> </a:t>
            </a:r>
            <a:r>
              <a:rPr lang="en-US" dirty="0" smtClean="0"/>
              <a:t>a peace treaty and established a democracy. A great orator</a:t>
            </a:r>
            <a:r>
              <a:rPr lang="en-US" baseline="0" dirty="0" smtClean="0"/>
              <a:t> </a:t>
            </a:r>
            <a:r>
              <a:rPr lang="en-US" dirty="0" smtClean="0"/>
              <a:t>named Hiawatha promoted the treaty throughout the tribes, and a Mohawk</a:t>
            </a:r>
            <a:r>
              <a:rPr lang="en-US" baseline="0" dirty="0" smtClean="0"/>
              <a:t> </a:t>
            </a:r>
            <a:r>
              <a:rPr lang="en-US" dirty="0" smtClean="0"/>
              <a:t>woman was the first to approve it.</a:t>
            </a:r>
            <a:endParaRPr lang="en-US" dirty="0"/>
          </a:p>
        </p:txBody>
      </p:sp>
      <p:sp>
        <p:nvSpPr>
          <p:cNvPr id="4" name="Slide Number Placeholder 3"/>
          <p:cNvSpPr>
            <a:spLocks noGrp="1"/>
          </p:cNvSpPr>
          <p:nvPr>
            <p:ph type="sldNum" sz="quarter" idx="10"/>
          </p:nvPr>
        </p:nvSpPr>
        <p:spPr/>
        <p:txBody>
          <a:bodyPr/>
          <a:lstStyle/>
          <a:p>
            <a:fld id="{0AA8BC77-7D32-4542-B7D1-5BBD637459FE}" type="slidenum">
              <a:rPr lang="en-US" smtClean="0"/>
              <a:t>20</a:t>
            </a:fld>
            <a:endParaRPr lang="en-US" dirty="0"/>
          </a:p>
        </p:txBody>
      </p:sp>
    </p:spTree>
    <p:extLst>
      <p:ext uri="{BB962C8B-B14F-4D97-AF65-F5344CB8AC3E}">
        <p14:creationId xmlns:p14="http://schemas.microsoft.com/office/powerpoint/2010/main" val="2293075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Yanomami region is supposedly protected from outsiders. But miners, ranchers, loggers, and other commercial developers have encroached on the reserve, extracting natural resources and sexually exploiting women and children.</a:t>
            </a:r>
            <a:endParaRPr lang="en-US" dirty="0"/>
          </a:p>
        </p:txBody>
      </p:sp>
      <p:sp>
        <p:nvSpPr>
          <p:cNvPr id="4" name="Slide Number Placeholder 3"/>
          <p:cNvSpPr>
            <a:spLocks noGrp="1"/>
          </p:cNvSpPr>
          <p:nvPr>
            <p:ph type="sldNum" sz="quarter" idx="10"/>
          </p:nvPr>
        </p:nvSpPr>
        <p:spPr/>
        <p:txBody>
          <a:bodyPr/>
          <a:lstStyle/>
          <a:p>
            <a:fld id="{0AA8BC77-7D32-4542-B7D1-5BBD637459FE}" type="slidenum">
              <a:rPr lang="en-US" smtClean="0"/>
              <a:t>21</a:t>
            </a:fld>
            <a:endParaRPr lang="en-US" dirty="0"/>
          </a:p>
        </p:txBody>
      </p:sp>
    </p:spTree>
    <p:extLst>
      <p:ext uri="{BB962C8B-B14F-4D97-AF65-F5344CB8AC3E}">
        <p14:creationId xmlns:p14="http://schemas.microsoft.com/office/powerpoint/2010/main" val="1357054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Islamic Republic of Iran is one of the world’s most mountainous</a:t>
            </a:r>
            <a:r>
              <a:rPr lang="en-US" baseline="0" dirty="0" smtClean="0"/>
              <a:t> </a:t>
            </a:r>
            <a:r>
              <a:rPr lang="en-US" dirty="0" smtClean="0"/>
              <a:t>countries. Its population is over 78 million. The capital city, Tehran,</a:t>
            </a:r>
            <a:r>
              <a:rPr lang="en-US" baseline="0" dirty="0" smtClean="0"/>
              <a:t> </a:t>
            </a:r>
            <a:r>
              <a:rPr lang="en-US" dirty="0" smtClean="0"/>
              <a:t>has a population of over 8 million. Iran’s economy is based on oil,</a:t>
            </a:r>
            <a:r>
              <a:rPr lang="en-US" baseline="0" dirty="0" smtClean="0"/>
              <a:t> </a:t>
            </a:r>
            <a:r>
              <a:rPr lang="en-US" dirty="0" smtClean="0"/>
              <a:t>family farming, and small-scale trading. After Russia, Iran has the</a:t>
            </a:r>
            <a:r>
              <a:rPr lang="en-US" baseline="0" dirty="0" smtClean="0"/>
              <a:t> </a:t>
            </a:r>
            <a:r>
              <a:rPr lang="en-US" dirty="0" smtClean="0"/>
              <a:t>second largest natural gas reserves in the world. Tourism could be</a:t>
            </a:r>
            <a:r>
              <a:rPr lang="en-US" baseline="0" dirty="0" smtClean="0"/>
              <a:t> </a:t>
            </a:r>
            <a:r>
              <a:rPr lang="en-US" dirty="0" smtClean="0"/>
              <a:t>an important part of the economy. Iran has 17 listed UNESCO World</a:t>
            </a:r>
            <a:r>
              <a:rPr lang="en-US" baseline="0" dirty="0" smtClean="0"/>
              <a:t> </a:t>
            </a:r>
            <a:r>
              <a:rPr lang="en-US" dirty="0" smtClean="0"/>
              <a:t>Heritage sites. Another area of potential development is medical</a:t>
            </a:r>
            <a:r>
              <a:rPr lang="en-US" baseline="0" dirty="0" smtClean="0"/>
              <a:t> </a:t>
            </a:r>
            <a:r>
              <a:rPr lang="en-US" dirty="0" smtClean="0"/>
              <a:t>tourism because Iran’s medical system has strengths in cardiovascular</a:t>
            </a:r>
            <a:r>
              <a:rPr lang="en-US" baseline="0" dirty="0" smtClean="0"/>
              <a:t> </a:t>
            </a:r>
            <a:r>
              <a:rPr lang="en-US" dirty="0" smtClean="0"/>
              <a:t>surgery, fertility treatment, and organ transplantation. The official</a:t>
            </a:r>
            <a:r>
              <a:rPr lang="en-US" baseline="0" dirty="0" smtClean="0"/>
              <a:t> </a:t>
            </a:r>
            <a:r>
              <a:rPr lang="en-US" dirty="0" smtClean="0"/>
              <a:t>language is Persian (Farsi), and Shi’a Islam is the</a:t>
            </a:r>
            <a:r>
              <a:rPr lang="en-US" baseline="0" dirty="0" smtClean="0"/>
              <a:t> </a:t>
            </a:r>
            <a:r>
              <a:rPr lang="en-US" dirty="0" smtClean="0"/>
              <a:t>official state religion.</a:t>
            </a:r>
            <a:endParaRPr lang="en-US" dirty="0"/>
          </a:p>
        </p:txBody>
      </p:sp>
      <p:sp>
        <p:nvSpPr>
          <p:cNvPr id="4" name="Slide Number Placeholder 3"/>
          <p:cNvSpPr>
            <a:spLocks noGrp="1"/>
          </p:cNvSpPr>
          <p:nvPr>
            <p:ph type="sldNum" sz="quarter" idx="10"/>
          </p:nvPr>
        </p:nvSpPr>
        <p:spPr/>
        <p:txBody>
          <a:bodyPr/>
          <a:lstStyle/>
          <a:p>
            <a:fld id="{0AA8BC77-7D32-4542-B7D1-5BBD637459FE}" type="slidenum">
              <a:rPr lang="en-US" smtClean="0"/>
              <a:t>26</a:t>
            </a:fld>
            <a:endParaRPr lang="en-US" dirty="0"/>
          </a:p>
        </p:txBody>
      </p:sp>
    </p:spTree>
    <p:extLst>
      <p:ext uri="{BB962C8B-B14F-4D97-AF65-F5344CB8AC3E}">
        <p14:creationId xmlns:p14="http://schemas.microsoft.com/office/powerpoint/2010/main" val="508693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Raised beds in Bolivia. This ancient strategy, now revived, helps prevent</a:t>
            </a:r>
            <a:r>
              <a:rPr lang="en-US" baseline="0" dirty="0" smtClean="0"/>
              <a:t> </a:t>
            </a:r>
            <a:r>
              <a:rPr lang="en-US" dirty="0" smtClean="0"/>
              <a:t>erosion, improves the organic content of the soil, captures moisture, and</a:t>
            </a:r>
            <a:r>
              <a:rPr lang="en-US" baseline="0" dirty="0" smtClean="0"/>
              <a:t> </a:t>
            </a:r>
            <a:r>
              <a:rPr lang="en-US" dirty="0" smtClean="0"/>
              <a:t>protects crops from frost</a:t>
            </a:r>
            <a:r>
              <a:rPr lang="en-US" baseline="0" dirty="0" smtClean="0"/>
              <a:t> </a:t>
            </a:r>
            <a:r>
              <a:rPr lang="en-US" dirty="0" smtClean="0"/>
              <a:t>damage. It is called </a:t>
            </a:r>
            <a:r>
              <a:rPr lang="en-US" i="1" dirty="0" smtClean="0"/>
              <a:t>waru waru </a:t>
            </a:r>
            <a:r>
              <a:rPr lang="en-US" dirty="0" smtClean="0"/>
              <a:t>in Quechua,</a:t>
            </a:r>
            <a:r>
              <a:rPr lang="en-US" baseline="0" dirty="0" smtClean="0"/>
              <a:t> </a:t>
            </a:r>
            <a:r>
              <a:rPr lang="en-US" dirty="0" smtClean="0"/>
              <a:t>meaning a network of canals and embankments.</a:t>
            </a:r>
            <a:endParaRPr lang="en-US" dirty="0"/>
          </a:p>
        </p:txBody>
      </p:sp>
      <p:sp>
        <p:nvSpPr>
          <p:cNvPr id="4" name="Slide Number Placeholder 3"/>
          <p:cNvSpPr>
            <a:spLocks noGrp="1"/>
          </p:cNvSpPr>
          <p:nvPr>
            <p:ph type="sldNum" sz="quarter" idx="10"/>
          </p:nvPr>
        </p:nvSpPr>
        <p:spPr/>
        <p:txBody>
          <a:bodyPr/>
          <a:lstStyle/>
          <a:p>
            <a:fld id="{0AA8BC77-7D32-4542-B7D1-5BBD637459FE}" type="slidenum">
              <a:rPr lang="en-US" smtClean="0"/>
              <a:t>34</a:t>
            </a:fld>
            <a:endParaRPr lang="en-US" dirty="0"/>
          </a:p>
        </p:txBody>
      </p:sp>
    </p:spTree>
    <p:extLst>
      <p:ext uri="{BB962C8B-B14F-4D97-AF65-F5344CB8AC3E}">
        <p14:creationId xmlns:p14="http://schemas.microsoft.com/office/powerpoint/2010/main" val="513552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street vendor in Kingston, Jamaica. In many modernizing countries,</a:t>
            </a:r>
            <a:r>
              <a:rPr lang="en-US" baseline="0" dirty="0" smtClean="0"/>
              <a:t> </a:t>
            </a:r>
            <a:r>
              <a:rPr lang="en-US" dirty="0" smtClean="0"/>
              <a:t>city planners are taking steps to make street vending illegal on</a:t>
            </a:r>
            <a:r>
              <a:rPr lang="en-US" baseline="0" dirty="0" smtClean="0"/>
              <a:t> </a:t>
            </a:r>
            <a:r>
              <a:rPr lang="en-US" dirty="0" smtClean="0"/>
              <a:t>the grounds that such informal stands are unsightly.</a:t>
            </a:r>
            <a:endParaRPr lang="en-US" dirty="0"/>
          </a:p>
        </p:txBody>
      </p:sp>
      <p:sp>
        <p:nvSpPr>
          <p:cNvPr id="4" name="Slide Number Placeholder 3"/>
          <p:cNvSpPr>
            <a:spLocks noGrp="1"/>
          </p:cNvSpPr>
          <p:nvPr>
            <p:ph type="sldNum" sz="quarter" idx="10"/>
          </p:nvPr>
        </p:nvSpPr>
        <p:spPr/>
        <p:txBody>
          <a:bodyPr/>
          <a:lstStyle/>
          <a:p>
            <a:fld id="{0AA8BC77-7D32-4542-B7D1-5BBD637459FE}" type="slidenum">
              <a:rPr lang="en-US" smtClean="0"/>
              <a:t>37</a:t>
            </a:fld>
            <a:endParaRPr lang="en-US" dirty="0"/>
          </a:p>
        </p:txBody>
      </p:sp>
    </p:spTree>
    <p:extLst>
      <p:ext uri="{BB962C8B-B14F-4D97-AF65-F5344CB8AC3E}">
        <p14:creationId xmlns:p14="http://schemas.microsoft.com/office/powerpoint/2010/main" val="259686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Tiwi Islands consist of Bathurst and Melville Islands. The Tiwi</a:t>
            </a:r>
            <a:r>
              <a:rPr lang="en-US" baseline="0" dirty="0" smtClean="0"/>
              <a:t> </a:t>
            </a:r>
            <a:r>
              <a:rPr lang="en-US" dirty="0" smtClean="0"/>
              <a:t>population is about 3,000, most of whom live on Bathurst Island.</a:t>
            </a:r>
            <a:r>
              <a:rPr lang="en-US" baseline="0" dirty="0" smtClean="0"/>
              <a:t> </a:t>
            </a:r>
            <a:r>
              <a:rPr lang="en-US" dirty="0" smtClean="0"/>
              <a:t>In 2001, the Tiwi Islands Local Government Area was established,</a:t>
            </a:r>
            <a:r>
              <a:rPr lang="en-US" baseline="0" dirty="0" smtClean="0"/>
              <a:t> </a:t>
            </a:r>
            <a:r>
              <a:rPr lang="en-US" dirty="0" smtClean="0"/>
              <a:t>launching a new era of local government.</a:t>
            </a:r>
            <a:endParaRPr lang="en-US" dirty="0"/>
          </a:p>
        </p:txBody>
      </p:sp>
      <p:sp>
        <p:nvSpPr>
          <p:cNvPr id="4" name="Slide Number Placeholder 3"/>
          <p:cNvSpPr>
            <a:spLocks noGrp="1"/>
          </p:cNvSpPr>
          <p:nvPr>
            <p:ph type="sldNum" sz="quarter" idx="10"/>
          </p:nvPr>
        </p:nvSpPr>
        <p:spPr/>
        <p:txBody>
          <a:bodyPr/>
          <a:lstStyle/>
          <a:p>
            <a:fld id="{0AA8BC77-7D32-4542-B7D1-5BBD637459FE}" type="slidenum">
              <a:rPr lang="en-US" smtClean="0"/>
              <a:t>41</a:t>
            </a:fld>
            <a:endParaRPr lang="en-US" dirty="0"/>
          </a:p>
        </p:txBody>
      </p:sp>
    </p:spTree>
    <p:extLst>
      <p:ext uri="{BB962C8B-B14F-4D97-AF65-F5344CB8AC3E}">
        <p14:creationId xmlns:p14="http://schemas.microsoft.com/office/powerpoint/2010/main" val="4028311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4"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theme" Target="../theme/theme2.xml"/><Relationship Id="rId10" Type="http://schemas.openxmlformats.org/officeDocument/2006/relationships/image" Target="../media/image2.emf"/><Relationship Id="rId1" Type="http://schemas.openxmlformats.org/officeDocument/2006/relationships/slideLayout" Target="../slideLayouts/slideLayout2.xml"/><Relationship Id="rId2"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4</a:t>
            </a:r>
            <a:endParaRPr lang="en-US" dirty="0"/>
          </a:p>
        </p:txBody>
      </p:sp>
      <p:sp>
        <p:nvSpPr>
          <p:cNvPr id="3" name="Text Placeholder 2"/>
          <p:cNvSpPr>
            <a:spLocks noGrp="1"/>
          </p:cNvSpPr>
          <p:nvPr>
            <p:ph type="body" sz="quarter" idx="15"/>
          </p:nvPr>
        </p:nvSpPr>
        <p:spPr/>
        <p:txBody>
          <a:bodyPr/>
          <a:lstStyle/>
          <a:p>
            <a:r>
              <a:rPr lang="en-US" dirty="0" smtClean="0"/>
              <a:t>Making a Living</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lstStyle/>
          <a:p>
            <a:pPr marL="0" indent="0">
              <a:buNone/>
            </a:pPr>
            <a:r>
              <a:rPr lang="en-US" dirty="0" smtClean="0">
                <a:solidFill>
                  <a:schemeClr val="accent1">
                    <a:lumMod val="75000"/>
                  </a:schemeClr>
                </a:solidFill>
              </a:rPr>
              <a:t>4.1</a:t>
            </a:r>
            <a:r>
              <a:rPr lang="en-US" dirty="0" smtClean="0"/>
              <a:t> Describe how cultural anthropologists study economic systems.</a:t>
            </a:r>
          </a:p>
          <a:p>
            <a:pPr marL="0" indent="0">
              <a:buNone/>
            </a:pPr>
            <a:endParaRPr lang="en-US" dirty="0"/>
          </a:p>
          <a:p>
            <a:pPr marL="0" indent="0">
              <a:buNone/>
            </a:pPr>
            <a:r>
              <a:rPr lang="en-US" dirty="0" smtClean="0">
                <a:solidFill>
                  <a:srgbClr val="376092"/>
                </a:solidFill>
              </a:rPr>
              <a:t>4.2</a:t>
            </a:r>
            <a:r>
              <a:rPr lang="en-US" dirty="0" smtClean="0"/>
              <a:t> Compare and contrast the five modes of livelihood.</a:t>
            </a:r>
          </a:p>
          <a:p>
            <a:pPr marL="0" indent="0">
              <a:buNone/>
            </a:pPr>
            <a:endParaRPr lang="en-US" dirty="0"/>
          </a:p>
          <a:p>
            <a:pPr marL="0" indent="0">
              <a:buNone/>
            </a:pPr>
            <a:r>
              <a:rPr lang="en-US" dirty="0" smtClean="0">
                <a:solidFill>
                  <a:srgbClr val="376092"/>
                </a:solidFill>
              </a:rPr>
              <a:t>4.3</a:t>
            </a:r>
            <a:r>
              <a:rPr lang="en-US" dirty="0" smtClean="0"/>
              <a:t> Identify how the five modes of livelihood are changing.</a:t>
            </a:r>
            <a:endParaRPr lang="en-US" dirty="0"/>
          </a:p>
        </p:txBody>
      </p:sp>
    </p:spTree>
    <p:extLst>
      <p:ext uri="{BB962C8B-B14F-4D97-AF65-F5344CB8AC3E}">
        <p14:creationId xmlns:p14="http://schemas.microsoft.com/office/powerpoint/2010/main" val="254490667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Culture and Economic Systems</a:t>
            </a:r>
            <a:r>
              <a:rPr lang="en-US" sz="3200" dirty="0" smtClean="0"/>
              <a:t/>
            </a:r>
            <a:br>
              <a:rPr lang="en-US" sz="3200" dirty="0" smtClean="0"/>
            </a:br>
            <a:r>
              <a:rPr lang="en-US" sz="2000" dirty="0" smtClean="0"/>
              <a:t>4.1 Describe how cultural anthropologists study economic systems.</a:t>
            </a:r>
            <a:endParaRPr lang="en-US" sz="2000" dirty="0"/>
          </a:p>
        </p:txBody>
      </p:sp>
      <p:sp>
        <p:nvSpPr>
          <p:cNvPr id="3" name="Content Placeholder 2"/>
          <p:cNvSpPr>
            <a:spLocks noGrp="1"/>
          </p:cNvSpPr>
          <p:nvPr>
            <p:ph idx="1"/>
          </p:nvPr>
        </p:nvSpPr>
        <p:spPr/>
        <p:txBody>
          <a:bodyPr/>
          <a:lstStyle/>
          <a:p>
            <a:endParaRPr lang="en-US" dirty="0" smtClean="0"/>
          </a:p>
          <a:p>
            <a:r>
              <a:rPr lang="en-US" dirty="0" smtClean="0"/>
              <a:t>Categorizing Livelihoods</a:t>
            </a:r>
          </a:p>
          <a:p>
            <a:endParaRPr lang="en-US" dirty="0"/>
          </a:p>
          <a:p>
            <a:r>
              <a:rPr lang="en-US" dirty="0" smtClean="0"/>
              <a:t>Modes of Livelihood and Globalization</a:t>
            </a:r>
            <a:endParaRPr lang="en-US" dirty="0"/>
          </a:p>
        </p:txBody>
      </p:sp>
    </p:spTree>
    <p:extLst>
      <p:ext uri="{BB962C8B-B14F-4D97-AF65-F5344CB8AC3E}">
        <p14:creationId xmlns:p14="http://schemas.microsoft.com/office/powerpoint/2010/main" val="2778448196"/>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Categorizing Livelihoods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smtClean="0"/>
              <a:t>What is an economic system?</a:t>
            </a:r>
          </a:p>
          <a:p>
            <a:r>
              <a:rPr lang="en-US" dirty="0" smtClean="0"/>
              <a:t>Includes </a:t>
            </a:r>
            <a:r>
              <a:rPr lang="en-US" dirty="0"/>
              <a:t>three components</a:t>
            </a:r>
          </a:p>
          <a:p>
            <a:pPr lvl="1"/>
            <a:r>
              <a:rPr lang="en-US" dirty="0"/>
              <a:t>Livelihood (or production)</a:t>
            </a:r>
          </a:p>
          <a:p>
            <a:pPr lvl="2"/>
            <a:r>
              <a:rPr lang="en-US" dirty="0"/>
              <a:t>Providing for basic needs and other needs by procuring goods or making money</a:t>
            </a:r>
          </a:p>
          <a:p>
            <a:pPr lvl="1"/>
            <a:r>
              <a:rPr lang="en-US" dirty="0"/>
              <a:t>Consumption</a:t>
            </a:r>
          </a:p>
          <a:p>
            <a:pPr lvl="2"/>
            <a:r>
              <a:rPr lang="en-US" dirty="0"/>
              <a:t>Using up goods or money</a:t>
            </a:r>
          </a:p>
          <a:p>
            <a:pPr lvl="1"/>
            <a:r>
              <a:rPr lang="en-US" dirty="0"/>
              <a:t>Exchange</a:t>
            </a:r>
          </a:p>
          <a:p>
            <a:pPr lvl="2"/>
            <a:r>
              <a:rPr lang="en-US" dirty="0"/>
              <a:t>The transfer of goods or money between people or institutions</a:t>
            </a:r>
          </a:p>
          <a:p>
            <a:endParaRPr lang="en-US" dirty="0"/>
          </a:p>
        </p:txBody>
      </p:sp>
    </p:spTree>
    <p:extLst>
      <p:ext uri="{BB962C8B-B14F-4D97-AF65-F5344CB8AC3E}">
        <p14:creationId xmlns:p14="http://schemas.microsoft.com/office/powerpoint/2010/main" val="964910761"/>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Modes of Livelihood and Globalization</a:t>
            </a:r>
            <a:endParaRPr lang="en-US" sz="4000" dirty="0"/>
          </a:p>
        </p:txBody>
      </p:sp>
      <p:sp>
        <p:nvSpPr>
          <p:cNvPr id="3" name="Content Placeholder 2"/>
          <p:cNvSpPr>
            <a:spLocks noGrp="1"/>
          </p:cNvSpPr>
          <p:nvPr>
            <p:ph idx="1"/>
          </p:nvPr>
        </p:nvSpPr>
        <p:spPr/>
        <p:txBody>
          <a:bodyPr>
            <a:normAutofit/>
          </a:bodyPr>
          <a:lstStyle/>
          <a:p>
            <a:r>
              <a:rPr lang="en-US" dirty="0"/>
              <a:t>Western capitalism has marked effects on all other livelihood patterns it meets</a:t>
            </a:r>
          </a:p>
          <a:p>
            <a:r>
              <a:rPr lang="en-US" dirty="0"/>
              <a:t>Increasing focus </a:t>
            </a:r>
            <a:r>
              <a:rPr lang="en-US" dirty="0" smtClean="0"/>
              <a:t>of </a:t>
            </a:r>
            <a:r>
              <a:rPr lang="en-US" dirty="0"/>
              <a:t>research </a:t>
            </a:r>
            <a:r>
              <a:rPr lang="en-US" dirty="0" smtClean="0"/>
              <a:t>is </a:t>
            </a:r>
            <a:r>
              <a:rPr lang="en-US" dirty="0"/>
              <a:t>how global and local economic systems are linked</a:t>
            </a:r>
          </a:p>
          <a:p>
            <a:r>
              <a:rPr lang="en-US" dirty="0" smtClean="0"/>
              <a:t>Low-income countries are at a disadvantage to high-income countries</a:t>
            </a:r>
            <a:endParaRPr lang="en-US" dirty="0"/>
          </a:p>
        </p:txBody>
      </p:sp>
    </p:spTree>
    <p:extLst>
      <p:ext uri="{BB962C8B-B14F-4D97-AF65-F5344CB8AC3E}">
        <p14:creationId xmlns:p14="http://schemas.microsoft.com/office/powerpoint/2010/main" val="1337034901"/>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smtClean="0"/>
              <a:t>Making a Living: Five Modes of Livelihood</a:t>
            </a:r>
            <a:r>
              <a:rPr lang="en-US" sz="2800" dirty="0" smtClean="0"/>
              <a:t> (1 of 2)</a:t>
            </a:r>
            <a:br>
              <a:rPr lang="en-US" sz="2800" dirty="0" smtClean="0"/>
            </a:br>
            <a:r>
              <a:rPr lang="en-US" sz="2400" dirty="0" smtClean="0"/>
              <a:t>4.2 Compare and contrast the five modes of livelihood.</a:t>
            </a:r>
            <a:endParaRPr lang="en-US" sz="2400" dirty="0"/>
          </a:p>
        </p:txBody>
      </p:sp>
      <p:sp>
        <p:nvSpPr>
          <p:cNvPr id="3" name="Content Placeholder 2"/>
          <p:cNvSpPr>
            <a:spLocks noGrp="1"/>
          </p:cNvSpPr>
          <p:nvPr>
            <p:ph idx="1"/>
          </p:nvPr>
        </p:nvSpPr>
        <p:spPr/>
        <p:txBody>
          <a:bodyPr/>
          <a:lstStyle/>
          <a:p>
            <a:r>
              <a:rPr lang="en-US" dirty="0"/>
              <a:t>Anthropologists organize ethnographic research </a:t>
            </a:r>
            <a:r>
              <a:rPr lang="en-US" dirty="0" smtClean="0"/>
              <a:t>on </a:t>
            </a:r>
            <a:r>
              <a:rPr lang="en-US" dirty="0"/>
              <a:t>economic systems into categories, called modes</a:t>
            </a:r>
          </a:p>
          <a:p>
            <a:r>
              <a:rPr lang="en-US" dirty="0"/>
              <a:t>A mode of livelihood is the dominant way of making a living in a culture</a:t>
            </a:r>
          </a:p>
          <a:p>
            <a:r>
              <a:rPr lang="en-US" dirty="0"/>
              <a:t>A particular mode may be </a:t>
            </a:r>
            <a:r>
              <a:rPr lang="en-US" dirty="0" smtClean="0"/>
              <a:t>dominant, </a:t>
            </a:r>
            <a:r>
              <a:rPr lang="en-US" dirty="0"/>
              <a:t>but other modes may exist in a culture</a:t>
            </a:r>
          </a:p>
          <a:p>
            <a:r>
              <a:rPr lang="en-US" dirty="0"/>
              <a:t>Modes often overlap or are mixed</a:t>
            </a:r>
          </a:p>
          <a:p>
            <a:endParaRPr lang="en-US" dirty="0"/>
          </a:p>
        </p:txBody>
      </p:sp>
    </p:spTree>
    <p:extLst>
      <p:ext uri="{BB962C8B-B14F-4D97-AF65-F5344CB8AC3E}">
        <p14:creationId xmlns:p14="http://schemas.microsoft.com/office/powerpoint/2010/main" val="3723944760"/>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sz="4900" dirty="0" smtClean="0"/>
              <a:t>Making a Living: The Five Modes </a:t>
            </a:r>
            <a:br>
              <a:rPr lang="en-US" sz="4900" dirty="0" smtClean="0"/>
            </a:br>
            <a:r>
              <a:rPr lang="en-US" sz="4900" dirty="0" smtClean="0"/>
              <a:t>of Livelihood</a:t>
            </a:r>
            <a:r>
              <a:rPr lang="en-US" dirty="0" smtClean="0"/>
              <a:t> </a:t>
            </a:r>
            <a:r>
              <a:rPr lang="en-US" sz="3100" dirty="0" smtClean="0"/>
              <a:t>(2 of 2)</a:t>
            </a:r>
            <a:endParaRPr lang="en-US" sz="3100" dirty="0"/>
          </a:p>
        </p:txBody>
      </p:sp>
      <p:sp>
        <p:nvSpPr>
          <p:cNvPr id="3" name="Content Placeholder 2"/>
          <p:cNvSpPr>
            <a:spLocks noGrp="1"/>
          </p:cNvSpPr>
          <p:nvPr>
            <p:ph idx="1"/>
          </p:nvPr>
        </p:nvSpPr>
        <p:spPr/>
        <p:txBody>
          <a:bodyPr/>
          <a:lstStyle/>
          <a:p>
            <a:r>
              <a:rPr lang="en-US" dirty="0" smtClean="0"/>
              <a:t>The Five Modes of Livelihood:</a:t>
            </a:r>
          </a:p>
          <a:p>
            <a:pPr lvl="1"/>
            <a:r>
              <a:rPr lang="en-US" dirty="0" smtClean="0"/>
              <a:t>Foraging</a:t>
            </a:r>
          </a:p>
          <a:p>
            <a:pPr lvl="1"/>
            <a:r>
              <a:rPr lang="en-US" dirty="0" smtClean="0"/>
              <a:t>Horticulture</a:t>
            </a:r>
          </a:p>
          <a:p>
            <a:pPr lvl="1"/>
            <a:r>
              <a:rPr lang="en-US" dirty="0" smtClean="0"/>
              <a:t>Pastoralism</a:t>
            </a:r>
          </a:p>
          <a:p>
            <a:pPr lvl="1"/>
            <a:r>
              <a:rPr lang="en-US" dirty="0" smtClean="0"/>
              <a:t>Agriculture</a:t>
            </a:r>
          </a:p>
          <a:p>
            <a:pPr lvl="1"/>
            <a:r>
              <a:rPr lang="en-US" dirty="0" smtClean="0"/>
              <a:t>Industrial/Digital</a:t>
            </a:r>
            <a:endParaRPr lang="en-US" dirty="0"/>
          </a:p>
        </p:txBody>
      </p:sp>
    </p:spTree>
    <p:extLst>
      <p:ext uri="{BB962C8B-B14F-4D97-AF65-F5344CB8AC3E}">
        <p14:creationId xmlns:p14="http://schemas.microsoft.com/office/powerpoint/2010/main" val="538472215"/>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Foraging </a:t>
            </a:r>
            <a:r>
              <a:rPr lang="en-US" sz="2800" dirty="0" smtClean="0"/>
              <a:t>(1 of 4)</a:t>
            </a:r>
            <a:endParaRPr lang="en-US" sz="2800" dirty="0"/>
          </a:p>
        </p:txBody>
      </p:sp>
      <p:sp>
        <p:nvSpPr>
          <p:cNvPr id="3" name="Content Placeholder 2"/>
          <p:cNvSpPr>
            <a:spLocks noGrp="1"/>
          </p:cNvSpPr>
          <p:nvPr>
            <p:ph idx="1"/>
          </p:nvPr>
        </p:nvSpPr>
        <p:spPr/>
        <p:txBody>
          <a:bodyPr/>
          <a:lstStyle/>
          <a:p>
            <a:r>
              <a:rPr lang="en-US" dirty="0"/>
              <a:t>Based on using food available in nature</a:t>
            </a:r>
          </a:p>
          <a:p>
            <a:pPr lvl="1"/>
            <a:r>
              <a:rPr lang="en-US" dirty="0" smtClean="0"/>
              <a:t>Gathering</a:t>
            </a:r>
            <a:r>
              <a:rPr lang="en-US" dirty="0"/>
              <a:t>, fishing, hunting</a:t>
            </a:r>
          </a:p>
          <a:p>
            <a:pPr lvl="1"/>
            <a:r>
              <a:rPr lang="en-US" dirty="0"/>
              <a:t>The main economic strategy for most of human history</a:t>
            </a:r>
          </a:p>
          <a:p>
            <a:r>
              <a:rPr lang="en-US" dirty="0"/>
              <a:t>Maintains balance between resources and lifestyle</a:t>
            </a:r>
          </a:p>
          <a:p>
            <a:pPr lvl="1"/>
            <a:r>
              <a:rPr lang="en-US" dirty="0"/>
              <a:t>Sustainable if undisturbed by outside forces</a:t>
            </a:r>
          </a:p>
          <a:p>
            <a:endParaRPr lang="en-US" dirty="0"/>
          </a:p>
        </p:txBody>
      </p:sp>
    </p:spTree>
    <p:extLst>
      <p:ext uri="{BB962C8B-B14F-4D97-AF65-F5344CB8AC3E}">
        <p14:creationId xmlns:p14="http://schemas.microsoft.com/office/powerpoint/2010/main" val="3145487814"/>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Foraging </a:t>
            </a:r>
            <a:r>
              <a:rPr lang="en-US" sz="2800" dirty="0" smtClean="0"/>
              <a:t>(2 </a:t>
            </a:r>
            <a:r>
              <a:rPr lang="en-US" sz="2800" dirty="0"/>
              <a:t>of 4)</a:t>
            </a:r>
          </a:p>
        </p:txBody>
      </p:sp>
      <p:sp>
        <p:nvSpPr>
          <p:cNvPr id="3" name="Content Placeholder 2"/>
          <p:cNvSpPr>
            <a:spLocks noGrp="1"/>
          </p:cNvSpPr>
          <p:nvPr>
            <p:ph idx="1"/>
          </p:nvPr>
        </p:nvSpPr>
        <p:spPr/>
        <p:txBody>
          <a:bodyPr/>
          <a:lstStyle/>
          <a:p>
            <a:r>
              <a:rPr lang="en-US" dirty="0"/>
              <a:t>Today only 250,000 people support themselves using foraging primarily</a:t>
            </a:r>
          </a:p>
          <a:p>
            <a:endParaRPr lang="en-US" dirty="0" smtClean="0"/>
          </a:p>
          <a:p>
            <a:r>
              <a:rPr lang="en-US" dirty="0" smtClean="0"/>
              <a:t>Cultural </a:t>
            </a:r>
            <a:r>
              <a:rPr lang="en-US" dirty="0"/>
              <a:t>survival of foragers is at risk worldwide</a:t>
            </a:r>
          </a:p>
          <a:p>
            <a:pPr lvl="1"/>
            <a:r>
              <a:rPr lang="en-US" dirty="0"/>
              <a:t>Example: </a:t>
            </a:r>
          </a:p>
          <a:p>
            <a:pPr lvl="2"/>
            <a:r>
              <a:rPr lang="en-US" dirty="0"/>
              <a:t>Andaman Islanders of India (Culturama, this chapter)</a:t>
            </a:r>
          </a:p>
          <a:p>
            <a:endParaRPr lang="en-US" dirty="0"/>
          </a:p>
        </p:txBody>
      </p:sp>
    </p:spTree>
    <p:extLst>
      <p:ext uri="{BB962C8B-B14F-4D97-AF65-F5344CB8AC3E}">
        <p14:creationId xmlns:p14="http://schemas.microsoft.com/office/powerpoint/2010/main" val="3718342611"/>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Foraging </a:t>
            </a:r>
            <a:r>
              <a:rPr lang="en-US" sz="2800" dirty="0" smtClean="0"/>
              <a:t>(3 </a:t>
            </a:r>
            <a:r>
              <a:rPr lang="en-US" sz="2800" dirty="0"/>
              <a:t>of 4)</a:t>
            </a:r>
          </a:p>
        </p:txBody>
      </p:sp>
      <p:sp>
        <p:nvSpPr>
          <p:cNvPr id="3" name="Content Placeholder 2"/>
          <p:cNvSpPr>
            <a:spLocks noGrp="1"/>
          </p:cNvSpPr>
          <p:nvPr>
            <p:ph idx="1"/>
          </p:nvPr>
        </p:nvSpPr>
        <p:spPr/>
        <p:txBody>
          <a:bodyPr/>
          <a:lstStyle/>
          <a:p>
            <a:r>
              <a:rPr lang="en-US" dirty="0" smtClean="0"/>
              <a:t>Two types of foraging (1 of 2)</a:t>
            </a:r>
          </a:p>
          <a:p>
            <a:pPr lvl="1"/>
            <a:r>
              <a:rPr lang="en-US" dirty="0" smtClean="0"/>
              <a:t>Temperate-region</a:t>
            </a:r>
          </a:p>
          <a:p>
            <a:pPr lvl="2"/>
            <a:r>
              <a:rPr lang="en-US" dirty="0" smtClean="0"/>
              <a:t>Diet: wide variety of nuts, tubers, fruits, small animals, and occasional large game</a:t>
            </a:r>
          </a:p>
          <a:p>
            <a:pPr lvl="2"/>
            <a:r>
              <a:rPr lang="en-US" dirty="0" smtClean="0"/>
              <a:t>Gender division of labor: men and women forage; men hunt large game</a:t>
            </a:r>
          </a:p>
          <a:p>
            <a:pPr lvl="2"/>
            <a:r>
              <a:rPr lang="en-US" dirty="0" smtClean="0"/>
              <a:t>Shelter: casual construction, nonpermanent, little maintenance </a:t>
            </a:r>
          </a:p>
          <a:p>
            <a:pPr lvl="2"/>
            <a:r>
              <a:rPr lang="en-US" dirty="0" smtClean="0"/>
              <a:t>Example: San people of southern Africa</a:t>
            </a:r>
          </a:p>
          <a:p>
            <a:pPr marL="457200" lvl="1" indent="0">
              <a:buNone/>
            </a:pPr>
            <a:endParaRPr lang="en-US" dirty="0"/>
          </a:p>
        </p:txBody>
      </p:sp>
    </p:spTree>
    <p:extLst>
      <p:ext uri="{BB962C8B-B14F-4D97-AF65-F5344CB8AC3E}">
        <p14:creationId xmlns:p14="http://schemas.microsoft.com/office/powerpoint/2010/main" val="3959002724"/>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Foraging </a:t>
            </a:r>
            <a:r>
              <a:rPr lang="en-US" sz="2800" dirty="0" smtClean="0"/>
              <a:t>(4 </a:t>
            </a:r>
            <a:r>
              <a:rPr lang="en-US" sz="2800" dirty="0"/>
              <a:t>of 4)</a:t>
            </a:r>
          </a:p>
        </p:txBody>
      </p:sp>
      <p:sp>
        <p:nvSpPr>
          <p:cNvPr id="3" name="Content Placeholder 2"/>
          <p:cNvSpPr>
            <a:spLocks noGrp="1"/>
          </p:cNvSpPr>
          <p:nvPr>
            <p:ph idx="1"/>
          </p:nvPr>
        </p:nvSpPr>
        <p:spPr/>
        <p:txBody>
          <a:bodyPr/>
          <a:lstStyle/>
          <a:p>
            <a:r>
              <a:rPr lang="en-US" dirty="0"/>
              <a:t>Two types of foraging </a:t>
            </a:r>
            <a:r>
              <a:rPr lang="en-US" dirty="0" smtClean="0"/>
              <a:t>(2 </a:t>
            </a:r>
            <a:r>
              <a:rPr lang="en-US" dirty="0"/>
              <a:t>of 2)</a:t>
            </a:r>
          </a:p>
          <a:p>
            <a:pPr lvl="1"/>
            <a:r>
              <a:rPr lang="en-US" dirty="0" smtClean="0"/>
              <a:t>Circumpolar-region</a:t>
            </a:r>
            <a:endParaRPr lang="en-US" dirty="0"/>
          </a:p>
          <a:p>
            <a:pPr lvl="2"/>
            <a:r>
              <a:rPr lang="en-US" dirty="0"/>
              <a:t>Diet: </a:t>
            </a:r>
            <a:r>
              <a:rPr lang="en-US" dirty="0" smtClean="0"/>
              <a:t>large marine and terrestrial animals</a:t>
            </a:r>
          </a:p>
          <a:p>
            <a:pPr lvl="2"/>
            <a:r>
              <a:rPr lang="en-US" dirty="0" smtClean="0"/>
              <a:t>Gender </a:t>
            </a:r>
            <a:r>
              <a:rPr lang="en-US" dirty="0"/>
              <a:t>division of labor: men </a:t>
            </a:r>
            <a:r>
              <a:rPr lang="en-US" dirty="0" smtClean="0"/>
              <a:t>hunt and fish</a:t>
            </a:r>
            <a:endParaRPr lang="en-US" dirty="0"/>
          </a:p>
          <a:p>
            <a:pPr lvl="2"/>
            <a:r>
              <a:rPr lang="en-US" dirty="0"/>
              <a:t>Shelter: </a:t>
            </a:r>
            <a:r>
              <a:rPr lang="en-US" dirty="0" smtClean="0"/>
              <a:t>time-intensive construction and maintenance; some permanent</a:t>
            </a:r>
          </a:p>
          <a:p>
            <a:pPr lvl="2"/>
            <a:r>
              <a:rPr lang="en-US" dirty="0" smtClean="0"/>
              <a:t>Example: Inuit and other northern Canadian peoples</a:t>
            </a:r>
            <a:endParaRPr lang="en-US" dirty="0"/>
          </a:p>
          <a:p>
            <a:endParaRPr lang="en-US" dirty="0"/>
          </a:p>
        </p:txBody>
      </p:sp>
    </p:spTree>
    <p:extLst>
      <p:ext uri="{BB962C8B-B14F-4D97-AF65-F5344CB8AC3E}">
        <p14:creationId xmlns:p14="http://schemas.microsoft.com/office/powerpoint/2010/main" val="3656449730"/>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Think Like an Anthropologist: </a:t>
            </a:r>
            <a:r>
              <a:rPr lang="en-US" dirty="0"/>
              <a:t/>
            </a:r>
            <a:br>
              <a:rPr lang="en-US" dirty="0"/>
            </a:br>
            <a:r>
              <a:rPr lang="en-US" dirty="0"/>
              <a:t>The Importance of </a:t>
            </a:r>
            <a:r>
              <a:rPr lang="en-US" dirty="0" smtClean="0"/>
              <a:t>Dogs</a:t>
            </a:r>
            <a:endParaRPr lang="en-US" dirty="0"/>
          </a:p>
        </p:txBody>
      </p:sp>
      <p:sp>
        <p:nvSpPr>
          <p:cNvPr id="3" name="Content Placeholder 2"/>
          <p:cNvSpPr>
            <a:spLocks noGrp="1"/>
          </p:cNvSpPr>
          <p:nvPr>
            <p:ph idx="1"/>
          </p:nvPr>
        </p:nvSpPr>
        <p:spPr/>
        <p:txBody>
          <a:bodyPr>
            <a:normAutofit fontScale="92500" lnSpcReduction="10000"/>
          </a:bodyPr>
          <a:lstStyle/>
          <a:p>
            <a:r>
              <a:rPr lang="en-US" dirty="0"/>
              <a:t>Dogs were the first domesticated animals, dating to Europe and Russia around 18,000 years ago; longstanding importance to humans</a:t>
            </a:r>
          </a:p>
          <a:p>
            <a:r>
              <a:rPr lang="en-US" dirty="0"/>
              <a:t>Case study of Hare Indians of Northwest Territories, Canada, with focus on people’s relationships with their dogs</a:t>
            </a:r>
          </a:p>
          <a:p>
            <a:pPr lvl="1"/>
            <a:r>
              <a:rPr lang="en-US" dirty="0"/>
              <a:t>The 14 households in the community have 224 dogs</a:t>
            </a:r>
          </a:p>
          <a:p>
            <a:pPr lvl="1"/>
            <a:r>
              <a:rPr lang="en-US" dirty="0"/>
              <a:t>Dogs play a significant role in people’s economic and emotional lives</a:t>
            </a:r>
          </a:p>
          <a:p>
            <a:pPr lvl="1"/>
            <a:r>
              <a:rPr lang="en-US" dirty="0"/>
              <a:t>Major topic of conversation</a:t>
            </a:r>
          </a:p>
          <a:p>
            <a:pPr lvl="1"/>
            <a:endParaRPr lang="en-US" dirty="0"/>
          </a:p>
        </p:txBody>
      </p:sp>
    </p:spTree>
    <p:extLst>
      <p:ext uri="{BB962C8B-B14F-4D97-AF65-F5344CB8AC3E}">
        <p14:creationId xmlns:p14="http://schemas.microsoft.com/office/powerpoint/2010/main" val="1301908619"/>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shows Colville Lake in the central area of Canada’s province of Northwest Territories. An inset globe shows the area is in northwest North Americ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09800" y="1447800"/>
            <a:ext cx="4860729" cy="4719987"/>
          </a:xfrm>
          <a:prstGeom prst="rect">
            <a:avLst/>
          </a:prstGeom>
        </p:spPr>
      </p:pic>
      <p:sp>
        <p:nvSpPr>
          <p:cNvPr id="2" name="Title 1"/>
          <p:cNvSpPr>
            <a:spLocks noGrp="1"/>
          </p:cNvSpPr>
          <p:nvPr>
            <p:ph type="title"/>
          </p:nvPr>
        </p:nvSpPr>
        <p:spPr>
          <a:xfrm>
            <a:off x="457200" y="152400"/>
            <a:ext cx="8229600" cy="1143000"/>
          </a:xfrm>
        </p:spPr>
        <p:txBody>
          <a:bodyPr>
            <a:normAutofit fontScale="90000"/>
          </a:bodyPr>
          <a:lstStyle/>
          <a:p>
            <a:r>
              <a:rPr lang="en-US" dirty="0" smtClean="0"/>
              <a:t>Map </a:t>
            </a:r>
            <a:r>
              <a:rPr lang="en-US" dirty="0"/>
              <a:t>4.1 Hare Region Is Near </a:t>
            </a:r>
            <a:r>
              <a:rPr lang="en-US" dirty="0" smtClean="0"/>
              <a:t>Colville </a:t>
            </a:r>
            <a:r>
              <a:rPr lang="en-US" dirty="0"/>
              <a:t>Lake in Northwest </a:t>
            </a:r>
            <a:r>
              <a:rPr lang="en-US" dirty="0" smtClean="0"/>
              <a:t>Canada</a:t>
            </a:r>
            <a:endParaRPr lang="en-US" dirty="0"/>
          </a:p>
        </p:txBody>
      </p:sp>
    </p:spTree>
    <p:extLst>
      <p:ext uri="{BB962C8B-B14F-4D97-AF65-F5344CB8AC3E}">
        <p14:creationId xmlns:p14="http://schemas.microsoft.com/office/powerpoint/2010/main" val="2729398505"/>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Culturama: </a:t>
            </a:r>
            <a:r>
              <a:rPr lang="en-US" dirty="0" smtClean="0"/>
              <a:t/>
            </a:r>
            <a:br>
              <a:rPr lang="en-US" dirty="0" smtClean="0"/>
            </a:br>
            <a:r>
              <a:rPr lang="en-US" dirty="0" smtClean="0"/>
              <a:t>The </a:t>
            </a:r>
            <a:r>
              <a:rPr lang="en-US" dirty="0"/>
              <a:t>Andaman Islanders </a:t>
            </a:r>
            <a:r>
              <a:rPr lang="en-US" dirty="0" smtClean="0"/>
              <a:t>of India </a:t>
            </a:r>
            <a:r>
              <a:rPr lang="en-US" sz="3100" dirty="0" smtClean="0"/>
              <a:t>(1 of 2)</a:t>
            </a:r>
            <a:endParaRPr lang="en-US" sz="3100" dirty="0"/>
          </a:p>
        </p:txBody>
      </p:sp>
      <p:sp>
        <p:nvSpPr>
          <p:cNvPr id="3" name="Content Placeholder 2"/>
          <p:cNvSpPr>
            <a:spLocks noGrp="1"/>
          </p:cNvSpPr>
          <p:nvPr>
            <p:ph idx="1"/>
          </p:nvPr>
        </p:nvSpPr>
        <p:spPr/>
        <p:txBody>
          <a:bodyPr/>
          <a:lstStyle/>
          <a:p>
            <a:r>
              <a:rPr lang="en-US" dirty="0"/>
              <a:t>Islands in the Bay of Bengal </a:t>
            </a:r>
            <a:r>
              <a:rPr lang="en-US" dirty="0" smtClean="0"/>
              <a:t>off </a:t>
            </a:r>
            <a:r>
              <a:rPr lang="en-US" dirty="0"/>
              <a:t>the coast of Burma that belong to India</a:t>
            </a:r>
          </a:p>
          <a:p>
            <a:r>
              <a:rPr lang="en-US" dirty="0"/>
              <a:t>Late </a:t>
            </a:r>
            <a:r>
              <a:rPr lang="en-US" dirty="0" smtClean="0"/>
              <a:t>eighteenth </a:t>
            </a:r>
            <a:r>
              <a:rPr lang="en-US" dirty="0"/>
              <a:t>century: indigenous population was </a:t>
            </a:r>
            <a:r>
              <a:rPr lang="en-US" dirty="0" smtClean="0"/>
              <a:t>6,000 to 8,000 </a:t>
            </a:r>
            <a:endParaRPr lang="en-US" dirty="0"/>
          </a:p>
          <a:p>
            <a:r>
              <a:rPr lang="en-US" dirty="0"/>
              <a:t>Now about 400</a:t>
            </a:r>
          </a:p>
          <a:p>
            <a:r>
              <a:rPr lang="en-US" dirty="0"/>
              <a:t>Colonialism brought contagious diseases and violence with the outsiders</a:t>
            </a:r>
          </a:p>
          <a:p>
            <a:endParaRPr lang="en-US" dirty="0"/>
          </a:p>
        </p:txBody>
      </p:sp>
    </p:spTree>
    <p:extLst>
      <p:ext uri="{BB962C8B-B14F-4D97-AF65-F5344CB8AC3E}">
        <p14:creationId xmlns:p14="http://schemas.microsoft.com/office/powerpoint/2010/main" val="233120767"/>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dirty="0" smtClean="0"/>
              <a:t>Map 4.2 Andaman Islands of India</a:t>
            </a:r>
            <a:endParaRPr lang="en-US" dirty="0"/>
          </a:p>
        </p:txBody>
      </p:sp>
      <p:pic>
        <p:nvPicPr>
          <p:cNvPr id="6" name="Content Placeholder 5" descr="A map of the Andaman Islands shows North Andaman, Middle Andaman, South Andaman (with the capital city of Port Blair), North Sentinel Island, and Little Andaman. An inset globe shows the area is in the Bay of Bengal between India and Myanma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369913" y="1481695"/>
            <a:ext cx="4564287" cy="4690505"/>
          </a:xfrm>
        </p:spPr>
      </p:pic>
    </p:spTree>
    <p:extLst>
      <p:ext uri="{BB962C8B-B14F-4D97-AF65-F5344CB8AC3E}">
        <p14:creationId xmlns:p14="http://schemas.microsoft.com/office/powerpoint/2010/main" val="2642839535"/>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Culturama: </a:t>
            </a:r>
            <a:r>
              <a:rPr lang="en-US" dirty="0" smtClean="0"/>
              <a:t/>
            </a:r>
            <a:br>
              <a:rPr lang="en-US" dirty="0" smtClean="0"/>
            </a:br>
            <a:r>
              <a:rPr lang="en-US" dirty="0" smtClean="0"/>
              <a:t>The </a:t>
            </a:r>
            <a:r>
              <a:rPr lang="en-US" dirty="0"/>
              <a:t>Andaman Islanders of India </a:t>
            </a:r>
            <a:r>
              <a:rPr lang="en-US" sz="3100" dirty="0" smtClean="0"/>
              <a:t>(2 </a:t>
            </a:r>
            <a:r>
              <a:rPr lang="en-US" sz="3100" dirty="0"/>
              <a:t>of </a:t>
            </a:r>
            <a:r>
              <a:rPr lang="en-US" sz="3100" dirty="0" smtClean="0"/>
              <a:t>2)</a:t>
            </a:r>
            <a:endParaRPr lang="en-US" sz="3100" dirty="0"/>
          </a:p>
        </p:txBody>
      </p:sp>
      <p:sp>
        <p:nvSpPr>
          <p:cNvPr id="3" name="Content Placeholder 2"/>
          <p:cNvSpPr>
            <a:spLocks noGrp="1"/>
          </p:cNvSpPr>
          <p:nvPr>
            <p:ph idx="1"/>
          </p:nvPr>
        </p:nvSpPr>
        <p:spPr/>
        <p:txBody>
          <a:bodyPr>
            <a:normAutofit fontScale="92500" lnSpcReduction="10000"/>
          </a:bodyPr>
          <a:lstStyle/>
          <a:p>
            <a:r>
              <a:rPr lang="en-US" dirty="0"/>
              <a:t>Only </a:t>
            </a:r>
            <a:r>
              <a:rPr lang="en-US" dirty="0" smtClean="0"/>
              <a:t>four </a:t>
            </a:r>
            <a:r>
              <a:rPr lang="en-US" dirty="0"/>
              <a:t>surviving clusters of indigenous Andamanese exist today:</a:t>
            </a:r>
          </a:p>
          <a:p>
            <a:pPr lvl="1"/>
            <a:r>
              <a:rPr lang="en-US" dirty="0"/>
              <a:t>A few dozen descendants of the so-called Great Andamanese live on a small island near Port Blair</a:t>
            </a:r>
          </a:p>
          <a:p>
            <a:pPr lvl="1"/>
            <a:r>
              <a:rPr lang="en-US" dirty="0"/>
              <a:t>About 100 Onge live in one corner of Little Andaman Island</a:t>
            </a:r>
          </a:p>
          <a:p>
            <a:pPr lvl="1"/>
            <a:r>
              <a:rPr lang="en-US" dirty="0"/>
              <a:t>Around 200 so-called Jarawa live in a reserved area on South Andaman</a:t>
            </a:r>
          </a:p>
          <a:p>
            <a:pPr lvl="1"/>
            <a:r>
              <a:rPr lang="en-US" dirty="0"/>
              <a:t>Around 100 people, </a:t>
            </a:r>
            <a:r>
              <a:rPr lang="en-US" dirty="0" smtClean="0"/>
              <a:t>whom </a:t>
            </a:r>
            <a:r>
              <a:rPr lang="en-US" dirty="0"/>
              <a:t>outsiders call the </a:t>
            </a:r>
            <a:r>
              <a:rPr lang="en-US" dirty="0" smtClean="0"/>
              <a:t>Sentinelese, </a:t>
            </a:r>
            <a:r>
              <a:rPr lang="en-US" dirty="0"/>
              <a:t>live on North Sentinel Island; completely “uncontacted” so far</a:t>
            </a:r>
          </a:p>
          <a:p>
            <a:endParaRPr lang="en-US" dirty="0"/>
          </a:p>
        </p:txBody>
      </p:sp>
    </p:spTree>
    <p:extLst>
      <p:ext uri="{BB962C8B-B14F-4D97-AF65-F5344CB8AC3E}">
        <p14:creationId xmlns:p14="http://schemas.microsoft.com/office/powerpoint/2010/main" val="110875097"/>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Horticulture </a:t>
            </a:r>
            <a:r>
              <a:rPr lang="en-US" sz="2800" dirty="0" smtClean="0"/>
              <a:t>(1 of 4)</a:t>
            </a:r>
            <a:endParaRPr lang="en-US" sz="2800" dirty="0"/>
          </a:p>
        </p:txBody>
      </p:sp>
      <p:sp>
        <p:nvSpPr>
          <p:cNvPr id="3" name="Content Placeholder 2"/>
          <p:cNvSpPr>
            <a:spLocks noGrp="1"/>
          </p:cNvSpPr>
          <p:nvPr>
            <p:ph idx="1"/>
          </p:nvPr>
        </p:nvSpPr>
        <p:spPr/>
        <p:txBody>
          <a:bodyPr/>
          <a:lstStyle/>
          <a:p>
            <a:r>
              <a:rPr lang="en-US" dirty="0"/>
              <a:t>Growing crops in gardens using hand tools</a:t>
            </a:r>
          </a:p>
          <a:p>
            <a:r>
              <a:rPr lang="en-US" dirty="0"/>
              <a:t>Variety of foods grown: yams, bananas, manioc, etc.</a:t>
            </a:r>
          </a:p>
          <a:p>
            <a:r>
              <a:rPr lang="en-US" dirty="0"/>
              <a:t>Crop yields support denser populations than foraging and allow for permanent settlements</a:t>
            </a:r>
          </a:p>
          <a:p>
            <a:r>
              <a:rPr lang="en-US" dirty="0"/>
              <a:t>Requirement for fallowing to provide sustainability</a:t>
            </a:r>
          </a:p>
          <a:p>
            <a:endParaRPr lang="en-US" dirty="0"/>
          </a:p>
        </p:txBody>
      </p:sp>
    </p:spTree>
    <p:extLst>
      <p:ext uri="{BB962C8B-B14F-4D97-AF65-F5344CB8AC3E}">
        <p14:creationId xmlns:p14="http://schemas.microsoft.com/office/powerpoint/2010/main" val="1925860554"/>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Horticulture </a:t>
            </a:r>
            <a:r>
              <a:rPr lang="en-US" sz="2800" dirty="0" smtClean="0"/>
              <a:t>(2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lstStyle/>
          <a:p>
            <a:r>
              <a:rPr lang="en-US" dirty="0" smtClean="0"/>
              <a:t>Five Stages in Horticulture</a:t>
            </a:r>
          </a:p>
          <a:p>
            <a:pPr lvl="1"/>
            <a:r>
              <a:rPr lang="en-US" dirty="0" smtClean="0"/>
              <a:t>Clearing</a:t>
            </a:r>
          </a:p>
          <a:p>
            <a:pPr lvl="1"/>
            <a:r>
              <a:rPr lang="en-US" dirty="0" smtClean="0"/>
              <a:t>Planting</a:t>
            </a:r>
          </a:p>
          <a:p>
            <a:pPr lvl="1"/>
            <a:r>
              <a:rPr lang="en-US" dirty="0" smtClean="0"/>
              <a:t>Weeding</a:t>
            </a:r>
          </a:p>
          <a:p>
            <a:pPr lvl="1"/>
            <a:r>
              <a:rPr lang="en-US" dirty="0" smtClean="0"/>
              <a:t>Harvesting</a:t>
            </a:r>
          </a:p>
          <a:p>
            <a:pPr lvl="1"/>
            <a:r>
              <a:rPr lang="en-US" dirty="0" smtClean="0"/>
              <a:t>Fallowing</a:t>
            </a:r>
            <a:endParaRPr lang="en-US" dirty="0"/>
          </a:p>
        </p:txBody>
      </p:sp>
    </p:spTree>
    <p:extLst>
      <p:ext uri="{BB962C8B-B14F-4D97-AF65-F5344CB8AC3E}">
        <p14:creationId xmlns:p14="http://schemas.microsoft.com/office/powerpoint/2010/main" val="3943676406"/>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Horticulture </a:t>
            </a:r>
            <a:r>
              <a:rPr lang="en-US" sz="2800" dirty="0" smtClean="0"/>
              <a:t>(3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normAutofit/>
          </a:bodyPr>
          <a:lstStyle/>
          <a:p>
            <a:r>
              <a:rPr lang="en-US" dirty="0" smtClean="0"/>
              <a:t>Division of Labor</a:t>
            </a:r>
          </a:p>
          <a:p>
            <a:pPr lvl="1"/>
            <a:r>
              <a:rPr lang="en-US" dirty="0" smtClean="0"/>
              <a:t>A </a:t>
            </a:r>
            <a:r>
              <a:rPr lang="en-US" dirty="0"/>
              <a:t>family forms the core work group</a:t>
            </a:r>
          </a:p>
          <a:p>
            <a:pPr lvl="1"/>
            <a:r>
              <a:rPr lang="en-US" dirty="0"/>
              <a:t>Children work more in horticultural groups than </a:t>
            </a:r>
            <a:r>
              <a:rPr lang="en-US" dirty="0" smtClean="0"/>
              <a:t>in any </a:t>
            </a:r>
            <a:r>
              <a:rPr lang="en-US" dirty="0"/>
              <a:t>other type of economy</a:t>
            </a:r>
          </a:p>
          <a:p>
            <a:pPr lvl="2"/>
            <a:r>
              <a:rPr lang="en-US" dirty="0"/>
              <a:t>Caring for siblings</a:t>
            </a:r>
          </a:p>
          <a:p>
            <a:pPr lvl="2"/>
            <a:r>
              <a:rPr lang="en-US" dirty="0"/>
              <a:t>Fetching fuel</a:t>
            </a:r>
          </a:p>
          <a:p>
            <a:pPr lvl="2"/>
            <a:r>
              <a:rPr lang="en-US" dirty="0"/>
              <a:t>Hauling water</a:t>
            </a:r>
          </a:p>
          <a:p>
            <a:pPr lvl="1"/>
            <a:r>
              <a:rPr lang="en-US" dirty="0"/>
              <a:t>Gender roles clearly </a:t>
            </a:r>
            <a:r>
              <a:rPr lang="en-US" dirty="0" smtClean="0"/>
              <a:t>defined</a:t>
            </a:r>
          </a:p>
          <a:p>
            <a:r>
              <a:rPr lang="en-US" dirty="0" smtClean="0"/>
              <a:t>Examples: Iroquois, Yanomami</a:t>
            </a:r>
            <a:endParaRPr lang="en-US" dirty="0"/>
          </a:p>
          <a:p>
            <a:endParaRPr lang="en-US" dirty="0"/>
          </a:p>
        </p:txBody>
      </p:sp>
    </p:spTree>
    <p:extLst>
      <p:ext uri="{BB962C8B-B14F-4D97-AF65-F5344CB8AC3E}">
        <p14:creationId xmlns:p14="http://schemas.microsoft.com/office/powerpoint/2010/main" val="3245983573"/>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Map 4.3 Precolonial Iroquois Region</a:t>
            </a:r>
            <a:endParaRPr lang="en-US" dirty="0"/>
          </a:p>
        </p:txBody>
      </p:sp>
      <p:pic>
        <p:nvPicPr>
          <p:cNvPr id="7" name="Content Placeholder 6" descr="A map of the area bordered by Lake Ontario and the St. Lawrence River to the west, and the Hudson River and Lake Champlain to the east, shows the following six Iroquois nations: Mohawk, Onondaga, Seneca, Cayuga, Tuscarora, and Oneida. An inset globe shows the region is in northeast North Ame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24758" y="1501202"/>
            <a:ext cx="5819042" cy="4624961"/>
          </a:xfrm>
        </p:spPr>
      </p:pic>
    </p:spTree>
    <p:extLst>
      <p:ext uri="{BB962C8B-B14F-4D97-AF65-F5344CB8AC3E}">
        <p14:creationId xmlns:p14="http://schemas.microsoft.com/office/powerpoint/2010/main" val="1446508493"/>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4.4 Yanomami Region in Brazil and Venezuela</a:t>
            </a:r>
            <a:endParaRPr lang="en-US" dirty="0"/>
          </a:p>
        </p:txBody>
      </p:sp>
      <p:pic>
        <p:nvPicPr>
          <p:cNvPr id="6" name="Content Placeholder 5" descr="A map shows the Yanomami region straddling the border between southern Venezuela and northern Brazil. An inset globe shows the area is in north-central South Ame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24000" y="1524000"/>
            <a:ext cx="6192473" cy="4683526"/>
          </a:xfrm>
        </p:spPr>
      </p:pic>
    </p:spTree>
    <p:extLst>
      <p:ext uri="{BB962C8B-B14F-4D97-AF65-F5344CB8AC3E}">
        <p14:creationId xmlns:p14="http://schemas.microsoft.com/office/powerpoint/2010/main" val="1959997891"/>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Horticulture </a:t>
            </a:r>
            <a:r>
              <a:rPr lang="en-US" sz="2800" dirty="0" smtClean="0"/>
              <a:t>(4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lstStyle/>
          <a:p>
            <a:r>
              <a:rPr lang="en-US" dirty="0" smtClean="0"/>
              <a:t>Sustainability of Horticulture</a:t>
            </a:r>
          </a:p>
          <a:p>
            <a:pPr lvl="1"/>
            <a:r>
              <a:rPr lang="en-US" dirty="0" smtClean="0"/>
              <a:t>Highly </a:t>
            </a:r>
            <a:r>
              <a:rPr lang="en-US" dirty="0"/>
              <a:t>sustainable as long as fallowing system is in place and population overcrowding does not exist</a:t>
            </a:r>
          </a:p>
          <a:p>
            <a:pPr lvl="1"/>
            <a:r>
              <a:rPr lang="en-US" dirty="0"/>
              <a:t>Under threat from outsiders who want the land for ranches and urban development and dam rivers to provide power for cities</a:t>
            </a:r>
          </a:p>
          <a:p>
            <a:endParaRPr lang="en-US" dirty="0"/>
          </a:p>
        </p:txBody>
      </p:sp>
    </p:spTree>
    <p:extLst>
      <p:ext uri="{BB962C8B-B14F-4D97-AF65-F5344CB8AC3E}">
        <p14:creationId xmlns:p14="http://schemas.microsoft.com/office/powerpoint/2010/main" val="1679224238"/>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Pastoralism </a:t>
            </a:r>
            <a:r>
              <a:rPr lang="en-US" sz="2800" dirty="0" smtClean="0"/>
              <a:t>(1 of 4)</a:t>
            </a:r>
            <a:endParaRPr lang="en-US" sz="2800" dirty="0"/>
          </a:p>
        </p:txBody>
      </p:sp>
      <p:sp>
        <p:nvSpPr>
          <p:cNvPr id="3" name="Content Placeholder 2"/>
          <p:cNvSpPr>
            <a:spLocks noGrp="1"/>
          </p:cNvSpPr>
          <p:nvPr>
            <p:ph idx="1"/>
          </p:nvPr>
        </p:nvSpPr>
        <p:spPr/>
        <p:txBody>
          <a:bodyPr>
            <a:normAutofit lnSpcReduction="10000"/>
          </a:bodyPr>
          <a:lstStyle/>
          <a:p>
            <a:r>
              <a:rPr lang="en-US" dirty="0"/>
              <a:t>Reliance on </a:t>
            </a:r>
            <a:r>
              <a:rPr lang="en-US" dirty="0" smtClean="0"/>
              <a:t>products </a:t>
            </a:r>
            <a:r>
              <a:rPr lang="en-US" dirty="0"/>
              <a:t>of domesticated animal herds </a:t>
            </a:r>
          </a:p>
          <a:p>
            <a:r>
              <a:rPr lang="en-US" dirty="0"/>
              <a:t>Animals and their products provide over half of group’s diet</a:t>
            </a:r>
          </a:p>
          <a:p>
            <a:pPr lvl="1"/>
            <a:r>
              <a:rPr lang="en-US" dirty="0"/>
              <a:t>Trade with other groups for other food and goods </a:t>
            </a:r>
          </a:p>
          <a:p>
            <a:r>
              <a:rPr lang="en-US" dirty="0"/>
              <a:t>Requires movement of animals to fresh pastureland for sustainability</a:t>
            </a:r>
          </a:p>
          <a:p>
            <a:r>
              <a:rPr lang="en-US" dirty="0"/>
              <a:t>Level of wealth and political organization varies from group to group</a:t>
            </a:r>
          </a:p>
          <a:p>
            <a:endParaRPr lang="en-US" dirty="0"/>
          </a:p>
        </p:txBody>
      </p:sp>
    </p:spTree>
    <p:extLst>
      <p:ext uri="{BB962C8B-B14F-4D97-AF65-F5344CB8AC3E}">
        <p14:creationId xmlns:p14="http://schemas.microsoft.com/office/powerpoint/2010/main" val="3899725158"/>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Pastoralism </a:t>
            </a:r>
            <a:r>
              <a:rPr lang="en-US" sz="2800" dirty="0" smtClean="0"/>
              <a:t>(2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lstStyle/>
          <a:p>
            <a:r>
              <a:rPr lang="en-US" dirty="0" smtClean="0"/>
              <a:t>Division of Labor</a:t>
            </a:r>
          </a:p>
          <a:p>
            <a:pPr lvl="1"/>
            <a:r>
              <a:rPr lang="en-US" dirty="0" smtClean="0"/>
              <a:t>Families </a:t>
            </a:r>
            <a:r>
              <a:rPr lang="en-US" dirty="0"/>
              <a:t>are the basic unit of production</a:t>
            </a:r>
          </a:p>
          <a:p>
            <a:pPr lvl="1"/>
            <a:r>
              <a:rPr lang="en-US" dirty="0"/>
              <a:t>Little overlap between male and female tasks</a:t>
            </a:r>
          </a:p>
          <a:p>
            <a:pPr lvl="1"/>
            <a:r>
              <a:rPr lang="en-US" dirty="0"/>
              <a:t>Typical division of labor:</a:t>
            </a:r>
          </a:p>
          <a:p>
            <a:pPr lvl="2"/>
            <a:r>
              <a:rPr lang="en-US" dirty="0"/>
              <a:t>M</a:t>
            </a:r>
            <a:r>
              <a:rPr lang="en-US" dirty="0" smtClean="0"/>
              <a:t>en </a:t>
            </a:r>
            <a:r>
              <a:rPr lang="en-US" dirty="0"/>
              <a:t>do most of </a:t>
            </a:r>
            <a:r>
              <a:rPr lang="en-US" dirty="0" smtClean="0"/>
              <a:t>herding, especially long-distance</a:t>
            </a:r>
            <a:endParaRPr lang="en-US" dirty="0"/>
          </a:p>
          <a:p>
            <a:pPr lvl="2"/>
            <a:r>
              <a:rPr lang="en-US" dirty="0"/>
              <a:t>W</a:t>
            </a:r>
            <a:r>
              <a:rPr lang="en-US" dirty="0" smtClean="0"/>
              <a:t>omen </a:t>
            </a:r>
            <a:r>
              <a:rPr lang="en-US" dirty="0"/>
              <a:t>process the herd’s products </a:t>
            </a:r>
          </a:p>
          <a:p>
            <a:pPr lvl="2"/>
            <a:r>
              <a:rPr lang="en-US" dirty="0"/>
              <a:t>C</a:t>
            </a:r>
            <a:r>
              <a:rPr lang="en-US" dirty="0" smtClean="0"/>
              <a:t>hildren </a:t>
            </a:r>
            <a:r>
              <a:rPr lang="en-US" dirty="0"/>
              <a:t>help in herding</a:t>
            </a:r>
          </a:p>
          <a:p>
            <a:endParaRPr lang="en-US" dirty="0"/>
          </a:p>
        </p:txBody>
      </p:sp>
    </p:spTree>
    <p:extLst>
      <p:ext uri="{BB962C8B-B14F-4D97-AF65-F5344CB8AC3E}">
        <p14:creationId xmlns:p14="http://schemas.microsoft.com/office/powerpoint/2010/main" val="3870501678"/>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Pastoralism </a:t>
            </a:r>
            <a:r>
              <a:rPr lang="en-US" sz="2800" dirty="0" smtClean="0"/>
              <a:t>(3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lstStyle/>
          <a:p>
            <a:r>
              <a:rPr lang="en-US" dirty="0" smtClean="0"/>
              <a:t>Characteristics of Pastoralism</a:t>
            </a:r>
          </a:p>
          <a:p>
            <a:pPr lvl="1"/>
            <a:r>
              <a:rPr lang="en-US" dirty="0" smtClean="0"/>
              <a:t>Spatial </a:t>
            </a:r>
            <a:r>
              <a:rPr lang="en-US" dirty="0"/>
              <a:t>mobility </a:t>
            </a:r>
          </a:p>
          <a:p>
            <a:pPr lvl="1"/>
            <a:r>
              <a:rPr lang="en-US" dirty="0"/>
              <a:t>Group autonomy</a:t>
            </a:r>
          </a:p>
          <a:p>
            <a:pPr lvl="1"/>
            <a:r>
              <a:rPr lang="en-US" dirty="0"/>
              <a:t>Animals as private property</a:t>
            </a:r>
          </a:p>
          <a:p>
            <a:pPr lvl="1"/>
            <a:r>
              <a:rPr lang="en-US" dirty="0"/>
              <a:t>Use rights regulate pastureland and migratory </a:t>
            </a:r>
            <a:r>
              <a:rPr lang="en-US" dirty="0" smtClean="0"/>
              <a:t>routes</a:t>
            </a:r>
          </a:p>
          <a:p>
            <a:endParaRPr lang="en-US" dirty="0" smtClean="0"/>
          </a:p>
          <a:p>
            <a:r>
              <a:rPr lang="en-US" dirty="0" smtClean="0"/>
              <a:t>Example: Qashqa’i of Iran</a:t>
            </a:r>
            <a:endParaRPr lang="en-US" dirty="0"/>
          </a:p>
          <a:p>
            <a:endParaRPr lang="en-US" dirty="0"/>
          </a:p>
        </p:txBody>
      </p:sp>
    </p:spTree>
    <p:extLst>
      <p:ext uri="{BB962C8B-B14F-4D97-AF65-F5344CB8AC3E}">
        <p14:creationId xmlns:p14="http://schemas.microsoft.com/office/powerpoint/2010/main" val="449129126"/>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4.5 Iran</a:t>
            </a:r>
            <a:endParaRPr lang="en-US" dirty="0"/>
          </a:p>
        </p:txBody>
      </p:sp>
      <p:pic>
        <p:nvPicPr>
          <p:cNvPr id="6" name="Content Placeholder 5" descr="A map of Iran shows the capital city of Tehran in the north and Shiraz in the south. Iran is bordered by Iraq to the west, Azerbaijan and Turkmenistan to the north, Afghanistan and Pakistan to the east, and the Persian Gulf and Gulf of Oman to the south. An inset globe shows the area is in the Middle East."/>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452204" y="1600200"/>
            <a:ext cx="4329596" cy="4622045"/>
          </a:xfrm>
        </p:spPr>
      </p:pic>
    </p:spTree>
    <p:extLst>
      <p:ext uri="{BB962C8B-B14F-4D97-AF65-F5344CB8AC3E}">
        <p14:creationId xmlns:p14="http://schemas.microsoft.com/office/powerpoint/2010/main" val="3304216171"/>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Pastoralism </a:t>
            </a:r>
            <a:r>
              <a:rPr lang="en-US" sz="2800" dirty="0" smtClean="0"/>
              <a:t>(</a:t>
            </a:r>
            <a:r>
              <a:rPr lang="en-US" sz="2800" dirty="0"/>
              <a:t>4</a:t>
            </a:r>
            <a:r>
              <a:rPr lang="en-US" sz="2800" dirty="0" smtClean="0"/>
              <a:t> of 4)</a:t>
            </a:r>
            <a:endParaRPr lang="en-US" sz="2800" dirty="0"/>
          </a:p>
        </p:txBody>
      </p:sp>
      <p:sp>
        <p:nvSpPr>
          <p:cNvPr id="3" name="Content Placeholder 2"/>
          <p:cNvSpPr>
            <a:spLocks noGrp="1"/>
          </p:cNvSpPr>
          <p:nvPr>
            <p:ph idx="1"/>
          </p:nvPr>
        </p:nvSpPr>
        <p:spPr/>
        <p:txBody>
          <a:bodyPr/>
          <a:lstStyle/>
          <a:p>
            <a:r>
              <a:rPr lang="en-US" dirty="0" smtClean="0"/>
              <a:t>Sustainability of Pastoralism</a:t>
            </a:r>
          </a:p>
          <a:p>
            <a:pPr lvl="1"/>
            <a:r>
              <a:rPr lang="en-US" dirty="0" smtClean="0"/>
              <a:t>A </a:t>
            </a:r>
            <a:r>
              <a:rPr lang="en-US" dirty="0"/>
              <a:t>sustainable system if outside forces do not encroach on herding lands and water sources</a:t>
            </a:r>
          </a:p>
          <a:p>
            <a:pPr lvl="1"/>
            <a:r>
              <a:rPr lang="en-US" dirty="0" smtClean="0"/>
              <a:t>At </a:t>
            </a:r>
            <a:r>
              <a:rPr lang="en-US" dirty="0"/>
              <a:t>risk in contemporary times due to encroachment, environmental change, country  boundaries</a:t>
            </a:r>
          </a:p>
          <a:p>
            <a:endParaRPr lang="en-US" dirty="0"/>
          </a:p>
        </p:txBody>
      </p:sp>
    </p:spTree>
    <p:extLst>
      <p:ext uri="{BB962C8B-B14F-4D97-AF65-F5344CB8AC3E}">
        <p14:creationId xmlns:p14="http://schemas.microsoft.com/office/powerpoint/2010/main" val="246004451"/>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Agriculture </a:t>
            </a:r>
            <a:r>
              <a:rPr lang="en-US" sz="2800" dirty="0" smtClean="0"/>
              <a:t>(1 of 5)</a:t>
            </a:r>
            <a:endParaRPr lang="en-US" sz="2800" dirty="0"/>
          </a:p>
        </p:txBody>
      </p:sp>
      <p:sp>
        <p:nvSpPr>
          <p:cNvPr id="3" name="Content Placeholder 2"/>
          <p:cNvSpPr>
            <a:spLocks noGrp="1"/>
          </p:cNvSpPr>
          <p:nvPr>
            <p:ph idx="1"/>
          </p:nvPr>
        </p:nvSpPr>
        <p:spPr/>
        <p:txBody>
          <a:bodyPr/>
          <a:lstStyle/>
          <a:p>
            <a:r>
              <a:rPr lang="en-US" dirty="0"/>
              <a:t>Intensive strategy of production</a:t>
            </a:r>
          </a:p>
          <a:p>
            <a:pPr lvl="1"/>
            <a:r>
              <a:rPr lang="en-US" dirty="0"/>
              <a:t>More labor, use of fertilizers, control of water supply, use of animals</a:t>
            </a:r>
          </a:p>
          <a:p>
            <a:r>
              <a:rPr lang="en-US" dirty="0" smtClean="0"/>
              <a:t>Permanent </a:t>
            </a:r>
            <a:r>
              <a:rPr lang="en-US" dirty="0"/>
              <a:t>settlements</a:t>
            </a:r>
          </a:p>
          <a:p>
            <a:r>
              <a:rPr lang="en-US" dirty="0"/>
              <a:t>Higher population density</a:t>
            </a:r>
          </a:p>
          <a:p>
            <a:endParaRPr lang="en-US" dirty="0"/>
          </a:p>
        </p:txBody>
      </p:sp>
    </p:spTree>
    <p:extLst>
      <p:ext uri="{BB962C8B-B14F-4D97-AF65-F5344CB8AC3E}">
        <p14:creationId xmlns:p14="http://schemas.microsoft.com/office/powerpoint/2010/main" val="4097487342"/>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Agriculture </a:t>
            </a:r>
            <a:r>
              <a:rPr lang="en-US" sz="2800" dirty="0" smtClean="0"/>
              <a:t>(2 </a:t>
            </a:r>
            <a:r>
              <a:rPr lang="en-US" sz="2800" dirty="0"/>
              <a:t>of 5)</a:t>
            </a:r>
          </a:p>
        </p:txBody>
      </p:sp>
      <p:sp>
        <p:nvSpPr>
          <p:cNvPr id="3" name="Content Placeholder 2"/>
          <p:cNvSpPr>
            <a:spLocks noGrp="1"/>
          </p:cNvSpPr>
          <p:nvPr>
            <p:ph idx="1"/>
          </p:nvPr>
        </p:nvSpPr>
        <p:spPr/>
        <p:txBody>
          <a:bodyPr/>
          <a:lstStyle/>
          <a:p>
            <a:r>
              <a:rPr lang="en-US" dirty="0" smtClean="0"/>
              <a:t>Division of Labor</a:t>
            </a:r>
          </a:p>
          <a:p>
            <a:pPr lvl="1"/>
            <a:r>
              <a:rPr lang="en-US" dirty="0" smtClean="0"/>
              <a:t>Families are the basic unit of production</a:t>
            </a:r>
          </a:p>
          <a:p>
            <a:pPr lvl="1"/>
            <a:r>
              <a:rPr lang="en-US" dirty="0" smtClean="0"/>
              <a:t>Productive labor is often done by men</a:t>
            </a:r>
          </a:p>
          <a:p>
            <a:pPr lvl="1"/>
            <a:r>
              <a:rPr lang="en-US" dirty="0" smtClean="0"/>
              <a:t>Women’s tasks vary by culture and type of agriculture</a:t>
            </a:r>
          </a:p>
          <a:p>
            <a:pPr lvl="2"/>
            <a:r>
              <a:rPr lang="en-US" dirty="0" smtClean="0"/>
              <a:t>Women have a central role in wet rice agricultural systems</a:t>
            </a:r>
          </a:p>
          <a:p>
            <a:pPr lvl="1"/>
            <a:r>
              <a:rPr lang="en-US" dirty="0" smtClean="0"/>
              <a:t>Children’s role varies by culture</a:t>
            </a:r>
            <a:endParaRPr lang="en-US" dirty="0"/>
          </a:p>
        </p:txBody>
      </p:sp>
    </p:spTree>
    <p:extLst>
      <p:ext uri="{BB962C8B-B14F-4D97-AF65-F5344CB8AC3E}">
        <p14:creationId xmlns:p14="http://schemas.microsoft.com/office/powerpoint/2010/main" val="3190255040"/>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Agriculture </a:t>
            </a:r>
            <a:r>
              <a:rPr lang="en-US" sz="2800" dirty="0" smtClean="0"/>
              <a:t>(3 </a:t>
            </a:r>
            <a:r>
              <a:rPr lang="en-US" sz="2800" dirty="0"/>
              <a:t>of 5)</a:t>
            </a:r>
          </a:p>
        </p:txBody>
      </p:sp>
      <p:sp>
        <p:nvSpPr>
          <p:cNvPr id="3" name="Content Placeholder 2"/>
          <p:cNvSpPr>
            <a:spLocks noGrp="1"/>
          </p:cNvSpPr>
          <p:nvPr>
            <p:ph idx="1"/>
          </p:nvPr>
        </p:nvSpPr>
        <p:spPr/>
        <p:txBody>
          <a:bodyPr>
            <a:normAutofit lnSpcReduction="10000"/>
          </a:bodyPr>
          <a:lstStyle/>
          <a:p>
            <a:r>
              <a:rPr lang="en-US" dirty="0" smtClean="0"/>
              <a:t>Why do men dominate productive labor in many agricultural contexts?</a:t>
            </a:r>
          </a:p>
          <a:p>
            <a:pPr lvl="1"/>
            <a:r>
              <a:rPr lang="en-US" dirty="0" smtClean="0"/>
              <a:t>Three hypotheses:</a:t>
            </a:r>
          </a:p>
          <a:p>
            <a:pPr lvl="2"/>
            <a:r>
              <a:rPr lang="en-US" dirty="0" smtClean="0"/>
              <a:t>Men and Plowing Hypothesis: Men are physically stronger and better able to complete tasks</a:t>
            </a:r>
          </a:p>
          <a:p>
            <a:pPr lvl="2"/>
            <a:r>
              <a:rPr lang="en-US" dirty="0" smtClean="0"/>
              <a:t>Women and Child Care Hypothesis: Women are not involved in heavy labor because it is incompatible with child care</a:t>
            </a:r>
          </a:p>
          <a:p>
            <a:pPr lvl="2"/>
            <a:r>
              <a:rPr lang="en-US" dirty="0" smtClean="0"/>
              <a:t>Women and Food Processing Hypothesis: Women often have responsibility for processing products near the home</a:t>
            </a:r>
            <a:endParaRPr lang="en-US" dirty="0"/>
          </a:p>
        </p:txBody>
      </p:sp>
    </p:spTree>
    <p:extLst>
      <p:ext uri="{BB962C8B-B14F-4D97-AF65-F5344CB8AC3E}">
        <p14:creationId xmlns:p14="http://schemas.microsoft.com/office/powerpoint/2010/main" val="40726899"/>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Agriculture </a:t>
            </a:r>
            <a:r>
              <a:rPr lang="en-US" sz="2800" dirty="0" smtClean="0"/>
              <a:t>(4 </a:t>
            </a:r>
            <a:r>
              <a:rPr lang="en-US" sz="2800" dirty="0"/>
              <a:t>of 5)</a:t>
            </a:r>
          </a:p>
        </p:txBody>
      </p:sp>
      <p:sp>
        <p:nvSpPr>
          <p:cNvPr id="3" name="Content Placeholder 2"/>
          <p:cNvSpPr>
            <a:spLocks noGrp="1"/>
          </p:cNvSpPr>
          <p:nvPr>
            <p:ph idx="1"/>
          </p:nvPr>
        </p:nvSpPr>
        <p:spPr/>
        <p:txBody>
          <a:bodyPr/>
          <a:lstStyle/>
          <a:p>
            <a:r>
              <a:rPr lang="en-US" dirty="0" smtClean="0"/>
              <a:t>Two types of agriculture</a:t>
            </a:r>
          </a:p>
          <a:p>
            <a:pPr lvl="1"/>
            <a:r>
              <a:rPr lang="en-US" dirty="0" smtClean="0"/>
              <a:t>Family farming: Farmers produce mainly for their own needs but also for sale in a market system</a:t>
            </a:r>
          </a:p>
          <a:p>
            <a:pPr lvl="1"/>
            <a:r>
              <a:rPr lang="en-US" dirty="0" smtClean="0"/>
              <a:t>Industrial capital agriculture: Financial capital is used to purchase machinery that replaces human and animal labor; produces goods solely for sale</a:t>
            </a:r>
            <a:endParaRPr lang="en-US" dirty="0"/>
          </a:p>
        </p:txBody>
      </p:sp>
    </p:spTree>
    <p:extLst>
      <p:ext uri="{BB962C8B-B14F-4D97-AF65-F5344CB8AC3E}">
        <p14:creationId xmlns:p14="http://schemas.microsoft.com/office/powerpoint/2010/main" val="358527798"/>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Agriculture </a:t>
            </a:r>
            <a:r>
              <a:rPr lang="en-US" sz="2800" dirty="0" smtClean="0"/>
              <a:t>(5 </a:t>
            </a:r>
            <a:r>
              <a:rPr lang="en-US" sz="2800" dirty="0"/>
              <a:t>of 5)</a:t>
            </a:r>
          </a:p>
        </p:txBody>
      </p:sp>
      <p:sp>
        <p:nvSpPr>
          <p:cNvPr id="3" name="Content Placeholder 2"/>
          <p:cNvSpPr>
            <a:spLocks noGrp="1"/>
          </p:cNvSpPr>
          <p:nvPr>
            <p:ph idx="1"/>
          </p:nvPr>
        </p:nvSpPr>
        <p:spPr/>
        <p:txBody>
          <a:bodyPr/>
          <a:lstStyle/>
          <a:p>
            <a:r>
              <a:rPr lang="en-US" dirty="0" smtClean="0"/>
              <a:t>Sustainability of Agriculture</a:t>
            </a:r>
          </a:p>
          <a:p>
            <a:pPr lvl="1"/>
            <a:r>
              <a:rPr lang="en-US" dirty="0" smtClean="0"/>
              <a:t>Not </a:t>
            </a:r>
            <a:r>
              <a:rPr lang="en-US" dirty="0"/>
              <a:t>sustainable as typically practiced</a:t>
            </a:r>
          </a:p>
          <a:p>
            <a:pPr lvl="1"/>
            <a:r>
              <a:rPr lang="en-US" dirty="0" smtClean="0"/>
              <a:t>Heavy </a:t>
            </a:r>
            <a:r>
              <a:rPr lang="en-US" dirty="0"/>
              <a:t>capital inputs and need for </a:t>
            </a:r>
            <a:r>
              <a:rPr lang="en-US" dirty="0" smtClean="0"/>
              <a:t>nonrenewable </a:t>
            </a:r>
            <a:r>
              <a:rPr lang="en-US" dirty="0"/>
              <a:t>resources</a:t>
            </a:r>
          </a:p>
          <a:p>
            <a:pPr lvl="1"/>
            <a:r>
              <a:rPr lang="en-US" dirty="0" smtClean="0"/>
              <a:t>Especially </a:t>
            </a:r>
            <a:r>
              <a:rPr lang="en-US" dirty="0"/>
              <a:t>true of industrial agriculture</a:t>
            </a:r>
          </a:p>
          <a:p>
            <a:endParaRPr lang="en-US" dirty="0"/>
          </a:p>
        </p:txBody>
      </p:sp>
    </p:spTree>
    <p:extLst>
      <p:ext uri="{BB962C8B-B14F-4D97-AF65-F5344CB8AC3E}">
        <p14:creationId xmlns:p14="http://schemas.microsoft.com/office/powerpoint/2010/main" val="3534712858"/>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smtClean="0"/>
              <a:t>Anthropology Works: Something Old, </a:t>
            </a:r>
            <a:br>
              <a:rPr lang="en-US" sz="3200" dirty="0" smtClean="0"/>
            </a:br>
            <a:r>
              <a:rPr lang="en-US" sz="3200" dirty="0" smtClean="0"/>
              <a:t>Something New in Bolivian Farming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a:t>Prehistoric form of agriculture in Bolivia</a:t>
            </a:r>
          </a:p>
          <a:p>
            <a:r>
              <a:rPr lang="en-US" dirty="0"/>
              <a:t>Called waru waru</a:t>
            </a:r>
          </a:p>
          <a:p>
            <a:r>
              <a:rPr lang="en-US" dirty="0"/>
              <a:t>Involved use of raised beds and canals</a:t>
            </a:r>
          </a:p>
          <a:p>
            <a:pPr lvl="1"/>
            <a:r>
              <a:rPr lang="en-US" dirty="0" smtClean="0"/>
              <a:t>Prevents </a:t>
            </a:r>
            <a:r>
              <a:rPr lang="en-US" dirty="0"/>
              <a:t>erosion</a:t>
            </a:r>
          </a:p>
          <a:p>
            <a:pPr lvl="1"/>
            <a:r>
              <a:rPr lang="en-US" dirty="0"/>
              <a:t>Retains moisture</a:t>
            </a:r>
          </a:p>
          <a:p>
            <a:pPr lvl="1"/>
            <a:r>
              <a:rPr lang="en-US" dirty="0"/>
              <a:t>Protects crops against frost</a:t>
            </a:r>
          </a:p>
          <a:p>
            <a:r>
              <a:rPr lang="en-US" dirty="0"/>
              <a:t>Being revived in Bolivia with positive results</a:t>
            </a:r>
          </a:p>
          <a:p>
            <a:endParaRPr lang="en-US" dirty="0"/>
          </a:p>
        </p:txBody>
      </p:sp>
    </p:spTree>
    <p:extLst>
      <p:ext uri="{BB962C8B-B14F-4D97-AF65-F5344CB8AC3E}">
        <p14:creationId xmlns:p14="http://schemas.microsoft.com/office/powerpoint/2010/main" val="1156382899"/>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a:t>Anthropology Works: Something Old, </a:t>
            </a:r>
            <a:r>
              <a:rPr lang="en-US" sz="3200" dirty="0" smtClean="0"/>
              <a:t/>
            </a:r>
            <a:br>
              <a:rPr lang="en-US" sz="3200" dirty="0" smtClean="0"/>
            </a:br>
            <a:r>
              <a:rPr lang="en-US" sz="3200" dirty="0" smtClean="0"/>
              <a:t>Something </a:t>
            </a:r>
            <a:r>
              <a:rPr lang="en-US" sz="3200" dirty="0"/>
              <a:t>New in Bolivian Farming </a:t>
            </a:r>
            <a:r>
              <a:rPr lang="en-US" sz="2800" dirty="0" smtClean="0"/>
              <a:t>(2 </a:t>
            </a:r>
            <a:r>
              <a:rPr lang="en-US" sz="2800" dirty="0"/>
              <a:t>of 2)</a:t>
            </a:r>
          </a:p>
        </p:txBody>
      </p:sp>
      <p:pic>
        <p:nvPicPr>
          <p:cNvPr id="4" name="Content Placeholder 3" descr="An aerial photo shows a network of geometrically shaped fields of grain. "/>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199746" y="1600200"/>
            <a:ext cx="6744508" cy="4525963"/>
          </a:xfrm>
        </p:spPr>
      </p:pic>
    </p:spTree>
    <p:extLst>
      <p:ext uri="{BB962C8B-B14F-4D97-AF65-F5344CB8AC3E}">
        <p14:creationId xmlns:p14="http://schemas.microsoft.com/office/powerpoint/2010/main" val="2351359085"/>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Industrialism and the Digital Age </a:t>
            </a:r>
            <a:r>
              <a:rPr lang="en-US" sz="3100" dirty="0" smtClean="0"/>
              <a:t>(1 of 3)</a:t>
            </a:r>
            <a:endParaRPr lang="en-US" sz="3100" dirty="0"/>
          </a:p>
        </p:txBody>
      </p:sp>
      <p:sp>
        <p:nvSpPr>
          <p:cNvPr id="3" name="Content Placeholder 2"/>
          <p:cNvSpPr>
            <a:spLocks noGrp="1"/>
          </p:cNvSpPr>
          <p:nvPr>
            <p:ph idx="1"/>
          </p:nvPr>
        </p:nvSpPr>
        <p:spPr/>
        <p:txBody>
          <a:bodyPr>
            <a:normAutofit lnSpcReduction="10000"/>
          </a:bodyPr>
          <a:lstStyle/>
          <a:p>
            <a:r>
              <a:rPr lang="en-US" dirty="0"/>
              <a:t>The production of goods through mass employment in business and commercial operations </a:t>
            </a:r>
          </a:p>
          <a:p>
            <a:r>
              <a:rPr lang="en-US" dirty="0"/>
              <a:t>The creation, manipulation, management, and transfer of information through electronic media</a:t>
            </a:r>
          </a:p>
          <a:p>
            <a:r>
              <a:rPr lang="en-US" dirty="0"/>
              <a:t>Goods produced to satisfy consumer demand</a:t>
            </a:r>
          </a:p>
          <a:p>
            <a:r>
              <a:rPr lang="en-US" dirty="0"/>
              <a:t>Employment increases in manufacturing and service sectors</a:t>
            </a:r>
          </a:p>
          <a:p>
            <a:endParaRPr lang="en-US" dirty="0"/>
          </a:p>
        </p:txBody>
      </p:sp>
    </p:spTree>
    <p:extLst>
      <p:ext uri="{BB962C8B-B14F-4D97-AF65-F5344CB8AC3E}">
        <p14:creationId xmlns:p14="http://schemas.microsoft.com/office/powerpoint/2010/main" val="3177571999"/>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Industrialism and the Digital Age </a:t>
            </a:r>
            <a:r>
              <a:rPr lang="en-US" sz="3100" dirty="0" smtClean="0"/>
              <a:t>(2 of 3)</a:t>
            </a:r>
            <a:endParaRPr lang="en-US" sz="3100" dirty="0"/>
          </a:p>
        </p:txBody>
      </p:sp>
      <p:sp>
        <p:nvSpPr>
          <p:cNvPr id="3" name="Content Placeholder 2"/>
          <p:cNvSpPr>
            <a:spLocks noGrp="1"/>
          </p:cNvSpPr>
          <p:nvPr>
            <p:ph idx="1"/>
          </p:nvPr>
        </p:nvSpPr>
        <p:spPr/>
        <p:txBody>
          <a:bodyPr>
            <a:normAutofit/>
          </a:bodyPr>
          <a:lstStyle/>
          <a:p>
            <a:r>
              <a:rPr lang="en-US" dirty="0" smtClean="0"/>
              <a:t>Two Sectors</a:t>
            </a:r>
          </a:p>
          <a:p>
            <a:pPr lvl="1"/>
            <a:r>
              <a:rPr lang="en-US" dirty="0" smtClean="0"/>
              <a:t>Formal</a:t>
            </a:r>
          </a:p>
          <a:p>
            <a:pPr lvl="2"/>
            <a:r>
              <a:rPr lang="en-US" dirty="0" smtClean="0"/>
              <a:t>Wage-based work registered in official records and statistics</a:t>
            </a:r>
          </a:p>
          <a:p>
            <a:pPr lvl="1"/>
            <a:r>
              <a:rPr lang="en-US" dirty="0" smtClean="0"/>
              <a:t>Informal</a:t>
            </a:r>
          </a:p>
          <a:p>
            <a:pPr lvl="2"/>
            <a:r>
              <a:rPr lang="en-US" dirty="0" smtClean="0"/>
              <a:t>Not officially registered and sometimes illegal</a:t>
            </a:r>
          </a:p>
          <a:p>
            <a:pPr lvl="2"/>
            <a:r>
              <a:rPr lang="en-US" dirty="0" smtClean="0"/>
              <a:t>Includes small-scale vending, illegal drugs, sex work in some contexts</a:t>
            </a:r>
          </a:p>
        </p:txBody>
      </p:sp>
    </p:spTree>
    <p:extLst>
      <p:ext uri="{BB962C8B-B14F-4D97-AF65-F5344CB8AC3E}">
        <p14:creationId xmlns:p14="http://schemas.microsoft.com/office/powerpoint/2010/main" val="1663915879"/>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Industrialism and the Digital Age </a:t>
            </a:r>
            <a:r>
              <a:rPr lang="en-US" sz="3100" dirty="0" smtClean="0"/>
              <a:t>(3 </a:t>
            </a:r>
            <a:r>
              <a:rPr lang="en-US" sz="3100" dirty="0"/>
              <a:t>of 3)</a:t>
            </a:r>
          </a:p>
        </p:txBody>
      </p:sp>
      <p:pic>
        <p:nvPicPr>
          <p:cNvPr id="4" name="Content Placeholder 3" descr="A photo shows a vendor standing under a makeshift roof with watermelon slices on a table in front of him; a stack of watermelons and a weighing scale are beside him."/>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221141" y="1600200"/>
            <a:ext cx="6701717" cy="4525963"/>
          </a:xfrm>
        </p:spPr>
      </p:pic>
    </p:spTree>
    <p:extLst>
      <p:ext uri="{BB962C8B-B14F-4D97-AF65-F5344CB8AC3E}">
        <p14:creationId xmlns:p14="http://schemas.microsoft.com/office/powerpoint/2010/main" val="3979727317"/>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Changing Livelihoods </a:t>
            </a:r>
            <a:r>
              <a:rPr lang="en-US" sz="3100" dirty="0" smtClean="0"/>
              <a:t>(1 of 2)</a:t>
            </a:r>
            <a:br>
              <a:rPr lang="en-US" sz="3100" dirty="0" smtClean="0"/>
            </a:br>
            <a:r>
              <a:rPr lang="en-US" sz="2700" dirty="0" smtClean="0"/>
              <a:t>4.3 Identify how the five modes of livelihood are changing.</a:t>
            </a:r>
            <a:endParaRPr lang="en-US" sz="2700" dirty="0"/>
          </a:p>
        </p:txBody>
      </p:sp>
      <p:sp>
        <p:nvSpPr>
          <p:cNvPr id="3" name="Content Placeholder 2"/>
          <p:cNvSpPr>
            <a:spLocks noGrp="1"/>
          </p:cNvSpPr>
          <p:nvPr>
            <p:ph idx="1"/>
          </p:nvPr>
        </p:nvSpPr>
        <p:spPr/>
        <p:txBody>
          <a:bodyPr/>
          <a:lstStyle/>
          <a:p>
            <a:r>
              <a:rPr lang="en-US" dirty="0" smtClean="0"/>
              <a:t>Foragers: The Tiwi of Northern Australia</a:t>
            </a:r>
          </a:p>
          <a:p>
            <a:r>
              <a:rPr lang="en-US" dirty="0" smtClean="0"/>
              <a:t>Horticulturalists: The Mundurucu of the Brazilian Amazon</a:t>
            </a:r>
          </a:p>
          <a:p>
            <a:r>
              <a:rPr lang="en-US" dirty="0" smtClean="0"/>
              <a:t>Pastoralists: The Herders of Mongolia</a:t>
            </a:r>
          </a:p>
          <a:p>
            <a:r>
              <a:rPr lang="en-US" dirty="0" smtClean="0"/>
              <a:t>Family Farmers: The Maya of Chiapas, Mexico</a:t>
            </a:r>
          </a:p>
          <a:p>
            <a:r>
              <a:rPr lang="en-US" dirty="0" smtClean="0"/>
              <a:t>Global Capitalism: Taiwanese Industrialists in South Africa</a:t>
            </a:r>
            <a:endParaRPr lang="en-US" dirty="0"/>
          </a:p>
        </p:txBody>
      </p:sp>
    </p:spTree>
    <p:extLst>
      <p:ext uri="{BB962C8B-B14F-4D97-AF65-F5344CB8AC3E}">
        <p14:creationId xmlns:p14="http://schemas.microsoft.com/office/powerpoint/2010/main" val="684748952"/>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Livelihoods </a:t>
            </a:r>
            <a:r>
              <a:rPr lang="en-US" sz="2800" dirty="0" smtClean="0"/>
              <a:t>(2 of 2)</a:t>
            </a:r>
            <a:endParaRPr lang="en-US" sz="2800" dirty="0"/>
          </a:p>
        </p:txBody>
      </p:sp>
      <p:sp>
        <p:nvSpPr>
          <p:cNvPr id="3" name="Content Placeholder 2"/>
          <p:cNvSpPr>
            <a:spLocks noGrp="1"/>
          </p:cNvSpPr>
          <p:nvPr>
            <p:ph idx="1"/>
          </p:nvPr>
        </p:nvSpPr>
        <p:spPr/>
        <p:txBody>
          <a:bodyPr>
            <a:normAutofit/>
          </a:bodyPr>
          <a:lstStyle/>
          <a:p>
            <a:r>
              <a:rPr lang="en-US" dirty="0" smtClean="0"/>
              <a:t>Three effects of the spread of Western capitalism:</a:t>
            </a:r>
          </a:p>
          <a:p>
            <a:pPr lvl="1"/>
            <a:r>
              <a:rPr lang="en-US" dirty="0" smtClean="0"/>
              <a:t>Dispossession </a:t>
            </a:r>
            <a:r>
              <a:rPr lang="en-US" dirty="0"/>
              <a:t>of local people and their </a:t>
            </a:r>
            <a:r>
              <a:rPr lang="en-US" dirty="0" smtClean="0"/>
              <a:t>land</a:t>
            </a:r>
          </a:p>
          <a:p>
            <a:pPr lvl="1"/>
            <a:r>
              <a:rPr lang="en-US" dirty="0" smtClean="0"/>
              <a:t>Recruitment </a:t>
            </a:r>
            <a:r>
              <a:rPr lang="en-US" dirty="0"/>
              <a:t>of former foragers, horticulturalists, pastoralists, and family farmers to work in </a:t>
            </a:r>
            <a:r>
              <a:rPr lang="en-US" dirty="0" smtClean="0"/>
              <a:t>the industrial/digital </a:t>
            </a:r>
            <a:r>
              <a:rPr lang="en-US" dirty="0"/>
              <a:t>sector</a:t>
            </a:r>
          </a:p>
          <a:p>
            <a:pPr lvl="1"/>
            <a:r>
              <a:rPr lang="en-US" dirty="0"/>
              <a:t>Increases in export commodity production and decreases in food production for family </a:t>
            </a:r>
            <a:r>
              <a:rPr lang="en-US" dirty="0" smtClean="0"/>
              <a:t>use</a:t>
            </a:r>
            <a:endParaRPr lang="en-US" dirty="0"/>
          </a:p>
        </p:txBody>
      </p:sp>
    </p:spTree>
    <p:extLst>
      <p:ext uri="{BB962C8B-B14F-4D97-AF65-F5344CB8AC3E}">
        <p14:creationId xmlns:p14="http://schemas.microsoft.com/office/powerpoint/2010/main" val="3662994008"/>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Foragers: </a:t>
            </a:r>
            <a:br>
              <a:rPr lang="en-US" dirty="0" smtClean="0"/>
            </a:br>
            <a:r>
              <a:rPr lang="en-US" dirty="0" smtClean="0"/>
              <a:t>The Tiwi of Northern Australia</a:t>
            </a:r>
            <a:endParaRPr lang="en-US" dirty="0"/>
          </a:p>
        </p:txBody>
      </p:sp>
      <p:sp>
        <p:nvSpPr>
          <p:cNvPr id="3" name="Content Placeholder 2"/>
          <p:cNvSpPr>
            <a:spLocks noGrp="1"/>
          </p:cNvSpPr>
          <p:nvPr>
            <p:ph idx="1"/>
          </p:nvPr>
        </p:nvSpPr>
        <p:spPr/>
        <p:txBody>
          <a:bodyPr/>
          <a:lstStyle/>
          <a:p>
            <a:r>
              <a:rPr lang="en-US" dirty="0"/>
              <a:t>Colonial contact had negative effects</a:t>
            </a:r>
          </a:p>
          <a:p>
            <a:r>
              <a:rPr lang="en-US" dirty="0"/>
              <a:t>Now settled in villages and play Western sports</a:t>
            </a:r>
          </a:p>
          <a:p>
            <a:r>
              <a:rPr lang="en-US" dirty="0"/>
              <a:t>Making art for sale</a:t>
            </a:r>
          </a:p>
          <a:p>
            <a:r>
              <a:rPr lang="en-US" dirty="0"/>
              <a:t>Working in tourism</a:t>
            </a:r>
          </a:p>
          <a:p>
            <a:r>
              <a:rPr lang="en-US" dirty="0"/>
              <a:t>Now attempting to reclaim their heritage</a:t>
            </a:r>
          </a:p>
          <a:p>
            <a:endParaRPr lang="en-US" dirty="0"/>
          </a:p>
        </p:txBody>
      </p:sp>
    </p:spTree>
    <p:extLst>
      <p:ext uri="{BB962C8B-B14F-4D97-AF65-F5344CB8AC3E}">
        <p14:creationId xmlns:p14="http://schemas.microsoft.com/office/powerpoint/2010/main" val="4267251888"/>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ap shows the Tiwi Islands in the Arafura Sea off the coast of Australia’s Northern Territory. A second map shows the two Tiwi Islands of Melville Island and Bathurst Island (with the village of Ngulu). An inset globe shows the area is northern Australia. "/>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130574" y="1600199"/>
            <a:ext cx="2965426" cy="4702955"/>
          </a:xfrm>
        </p:spPr>
      </p:pic>
      <p:sp>
        <p:nvSpPr>
          <p:cNvPr id="2" name="Title 1"/>
          <p:cNvSpPr>
            <a:spLocks noGrp="1"/>
          </p:cNvSpPr>
          <p:nvPr>
            <p:ph type="title"/>
          </p:nvPr>
        </p:nvSpPr>
        <p:spPr>
          <a:xfrm>
            <a:off x="457200" y="152400"/>
            <a:ext cx="8229600" cy="1143000"/>
          </a:xfrm>
        </p:spPr>
        <p:txBody>
          <a:bodyPr>
            <a:normAutofit fontScale="90000"/>
          </a:bodyPr>
          <a:lstStyle/>
          <a:p>
            <a:r>
              <a:rPr lang="en-US" dirty="0" smtClean="0"/>
              <a:t>Map 4.6 Tiwi Region </a:t>
            </a:r>
            <a:br>
              <a:rPr lang="en-US" dirty="0" smtClean="0"/>
            </a:br>
            <a:r>
              <a:rPr lang="en-US" dirty="0" smtClean="0"/>
              <a:t>in Northern Australia</a:t>
            </a:r>
            <a:endParaRPr lang="en-US" dirty="0"/>
          </a:p>
        </p:txBody>
      </p:sp>
    </p:spTree>
    <p:extLst>
      <p:ext uri="{BB962C8B-B14F-4D97-AF65-F5344CB8AC3E}">
        <p14:creationId xmlns:p14="http://schemas.microsoft.com/office/powerpoint/2010/main" val="2394982318"/>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Horticulturalists: The Mundurucu </a:t>
            </a:r>
            <a:br>
              <a:rPr lang="en-US" dirty="0" smtClean="0"/>
            </a:br>
            <a:r>
              <a:rPr lang="en-US" dirty="0" smtClean="0"/>
              <a:t>of the </a:t>
            </a:r>
            <a:r>
              <a:rPr lang="en-US" dirty="0"/>
              <a:t>Brazilian </a:t>
            </a:r>
            <a:r>
              <a:rPr lang="en-US" dirty="0" smtClean="0"/>
              <a:t>Amazon</a:t>
            </a:r>
            <a:endParaRPr lang="en-US" dirty="0"/>
          </a:p>
        </p:txBody>
      </p:sp>
      <p:sp>
        <p:nvSpPr>
          <p:cNvPr id="3" name="Content Placeholder 2"/>
          <p:cNvSpPr>
            <a:spLocks noGrp="1"/>
          </p:cNvSpPr>
          <p:nvPr>
            <p:ph idx="1"/>
          </p:nvPr>
        </p:nvSpPr>
        <p:spPr/>
        <p:txBody>
          <a:bodyPr/>
          <a:lstStyle/>
          <a:p>
            <a:r>
              <a:rPr lang="en-US" dirty="0"/>
              <a:t>Involvement in the rubber industry as laborers</a:t>
            </a:r>
          </a:p>
          <a:p>
            <a:r>
              <a:rPr lang="en-US" dirty="0"/>
              <a:t>Migration from traditional villages to live in the rubber area</a:t>
            </a:r>
          </a:p>
          <a:p>
            <a:r>
              <a:rPr lang="en-US" dirty="0"/>
              <a:t>New domestic pattern of husband and wife co-</a:t>
            </a:r>
            <a:r>
              <a:rPr lang="en-US" dirty="0" smtClean="0"/>
              <a:t>residents</a:t>
            </a:r>
            <a:endParaRPr lang="en-US" dirty="0"/>
          </a:p>
          <a:p>
            <a:endParaRPr lang="en-US" dirty="0"/>
          </a:p>
        </p:txBody>
      </p:sp>
    </p:spTree>
    <p:extLst>
      <p:ext uri="{BB962C8B-B14F-4D97-AF65-F5344CB8AC3E}">
        <p14:creationId xmlns:p14="http://schemas.microsoft.com/office/powerpoint/2010/main" val="4103526072"/>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Pastoralists: The Herders of Mongolia</a:t>
            </a:r>
            <a:endParaRPr lang="en-US" dirty="0"/>
          </a:p>
        </p:txBody>
      </p:sp>
      <p:sp>
        <p:nvSpPr>
          <p:cNvPr id="3" name="Content Placeholder 2"/>
          <p:cNvSpPr>
            <a:spLocks noGrp="1"/>
          </p:cNvSpPr>
          <p:nvPr>
            <p:ph idx="1"/>
          </p:nvPr>
        </p:nvSpPr>
        <p:spPr/>
        <p:txBody>
          <a:bodyPr/>
          <a:lstStyle/>
          <a:p>
            <a:r>
              <a:rPr lang="en-US" dirty="0"/>
              <a:t>Mongolian rural economy based on pastoralism for centuries</a:t>
            </a:r>
          </a:p>
          <a:p>
            <a:r>
              <a:rPr lang="en-US" dirty="0"/>
              <a:t>Experience of dramatic </a:t>
            </a:r>
            <a:r>
              <a:rPr lang="en-US" dirty="0" smtClean="0"/>
              <a:t>changes, </a:t>
            </a:r>
            <a:r>
              <a:rPr lang="en-US" dirty="0"/>
              <a:t>from private holdings to collective herds in the Soviet era and now back to private herds</a:t>
            </a:r>
          </a:p>
          <a:p>
            <a:r>
              <a:rPr lang="en-US" dirty="0"/>
              <a:t>Case study in Altai Mountain area in the 1990s revealed decline in herders’ standard of living with privatization</a:t>
            </a:r>
          </a:p>
          <a:p>
            <a:endParaRPr lang="en-US" dirty="0"/>
          </a:p>
        </p:txBody>
      </p:sp>
    </p:spTree>
    <p:extLst>
      <p:ext uri="{BB962C8B-B14F-4D97-AF65-F5344CB8AC3E}">
        <p14:creationId xmlns:p14="http://schemas.microsoft.com/office/powerpoint/2010/main" val="3775168407"/>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Family Farmers: </a:t>
            </a:r>
            <a:br>
              <a:rPr lang="en-US" dirty="0" smtClean="0"/>
            </a:br>
            <a:r>
              <a:rPr lang="en-US" dirty="0" smtClean="0"/>
              <a:t>The Maya of Chiapas, Mexico</a:t>
            </a:r>
            <a:endParaRPr lang="en-US" dirty="0"/>
          </a:p>
        </p:txBody>
      </p:sp>
      <p:sp>
        <p:nvSpPr>
          <p:cNvPr id="3" name="Content Placeholder 2"/>
          <p:cNvSpPr>
            <a:spLocks noGrp="1"/>
          </p:cNvSpPr>
          <p:nvPr>
            <p:ph idx="1"/>
          </p:nvPr>
        </p:nvSpPr>
        <p:spPr/>
        <p:txBody>
          <a:bodyPr/>
          <a:lstStyle/>
          <a:p>
            <a:r>
              <a:rPr lang="en-US" dirty="0"/>
              <a:t>Restudy after 23 years revealed many changes</a:t>
            </a:r>
          </a:p>
          <a:p>
            <a:r>
              <a:rPr lang="en-US" dirty="0"/>
              <a:t>Change from family farming for </a:t>
            </a:r>
            <a:r>
              <a:rPr lang="en-US" dirty="0" smtClean="0"/>
              <a:t>own provisioning </a:t>
            </a:r>
            <a:r>
              <a:rPr lang="en-US" dirty="0"/>
              <a:t>to involvement in market trade</a:t>
            </a:r>
          </a:p>
          <a:p>
            <a:r>
              <a:rPr lang="en-US" dirty="0"/>
              <a:t>More wage work and more unemployment</a:t>
            </a:r>
          </a:p>
          <a:p>
            <a:r>
              <a:rPr lang="en-US" dirty="0"/>
              <a:t>Many people no longer own land</a:t>
            </a:r>
          </a:p>
          <a:p>
            <a:r>
              <a:rPr lang="en-US" dirty="0"/>
              <a:t>Increasing social inequality</a:t>
            </a:r>
          </a:p>
          <a:p>
            <a:endParaRPr lang="en-US" dirty="0"/>
          </a:p>
        </p:txBody>
      </p:sp>
    </p:spTree>
    <p:extLst>
      <p:ext uri="{BB962C8B-B14F-4D97-AF65-F5344CB8AC3E}">
        <p14:creationId xmlns:p14="http://schemas.microsoft.com/office/powerpoint/2010/main" val="1166507848"/>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Global Capitalism: Taiwanese Industrialists in South Africa</a:t>
            </a:r>
            <a:endParaRPr lang="en-US" dirty="0"/>
          </a:p>
        </p:txBody>
      </p:sp>
      <p:sp>
        <p:nvSpPr>
          <p:cNvPr id="3" name="Content Placeholder 2"/>
          <p:cNvSpPr>
            <a:spLocks noGrp="1"/>
          </p:cNvSpPr>
          <p:nvPr>
            <p:ph idx="1"/>
          </p:nvPr>
        </p:nvSpPr>
        <p:spPr/>
        <p:txBody>
          <a:bodyPr/>
          <a:lstStyle/>
          <a:p>
            <a:r>
              <a:rPr lang="en-US" dirty="0"/>
              <a:t>Post-apartheid economic expansion</a:t>
            </a:r>
          </a:p>
          <a:p>
            <a:r>
              <a:rPr lang="en-US" dirty="0"/>
              <a:t>Case study of factory in KwaZulu-Natal, a state along the northeast coast, south of Mozambique</a:t>
            </a:r>
          </a:p>
          <a:p>
            <a:r>
              <a:rPr lang="en-US" dirty="0"/>
              <a:t>South African workers see Taiwanese management system as hierarchical and racist</a:t>
            </a:r>
          </a:p>
          <a:p>
            <a:r>
              <a:rPr lang="en-US" dirty="0"/>
              <a:t>Bad fit with local culture</a:t>
            </a:r>
          </a:p>
          <a:p>
            <a:endParaRPr lang="en-US" dirty="0"/>
          </a:p>
        </p:txBody>
      </p:sp>
    </p:spTree>
    <p:extLst>
      <p:ext uri="{BB962C8B-B14F-4D97-AF65-F5344CB8AC3E}">
        <p14:creationId xmlns:p14="http://schemas.microsoft.com/office/powerpoint/2010/main" val="691727986"/>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301</TotalTime>
  <Words>2139</Words>
  <Application>Microsoft Macintosh PowerPoint</Application>
  <PresentationFormat>On-screen Show (4:3)</PresentationFormat>
  <Paragraphs>241</Paragraphs>
  <Slides>45</Slides>
  <Notes>9</Notes>
  <HiddenSlides>0</HiddenSlides>
  <MMClips>0</MMClips>
  <ScaleCrop>false</ScaleCrop>
  <HeadingPairs>
    <vt:vector size="4" baseType="variant">
      <vt:variant>
        <vt:lpstr>Theme</vt:lpstr>
      </vt:variant>
      <vt:variant>
        <vt:i4>2</vt:i4>
      </vt:variant>
      <vt:variant>
        <vt:lpstr>Slide Titles</vt:lpstr>
      </vt:variant>
      <vt:variant>
        <vt:i4>45</vt:i4>
      </vt:variant>
    </vt:vector>
  </HeadingPairs>
  <TitlesOfParts>
    <vt:vector size="47" baseType="lpstr">
      <vt:lpstr>Beebe8e_PPT_master</vt:lpstr>
      <vt:lpstr>Office Theme</vt:lpstr>
      <vt:lpstr>PowerPoint Presentation</vt:lpstr>
      <vt:lpstr>Learning Objectives</vt:lpstr>
      <vt:lpstr>Culture and Economic Systems 4.1 Describe how cultural anthropologists study economic systems.</vt:lpstr>
      <vt:lpstr>Categorizing Livelihoods</vt:lpstr>
      <vt:lpstr>Modes of Livelihood and Globalization</vt:lpstr>
      <vt:lpstr>Making a Living: Five Modes of Livelihood (1 of 2) 4.2 Compare and contrast the five modes of livelihood.</vt:lpstr>
      <vt:lpstr>Making a Living: The Five Modes  of Livelihood (2 of 2)</vt:lpstr>
      <vt:lpstr>Foraging (1 of 4)</vt:lpstr>
      <vt:lpstr>Foraging (2 of 4)</vt:lpstr>
      <vt:lpstr>Foraging (3 of 4)</vt:lpstr>
      <vt:lpstr>Foraging (4 of 4)</vt:lpstr>
      <vt:lpstr>Think Like an Anthropologist:  The Importance of Dogs</vt:lpstr>
      <vt:lpstr>Map 4.1 Hare Region Is Near Colville Lake in Northwest Canada</vt:lpstr>
      <vt:lpstr>Culturama:  The Andaman Islanders of India (1 of 2)</vt:lpstr>
      <vt:lpstr>Map 4.2 Andaman Islands of India</vt:lpstr>
      <vt:lpstr>Culturama:  The Andaman Islanders of India (2 of 2)</vt:lpstr>
      <vt:lpstr>Horticulture (1 of 4)</vt:lpstr>
      <vt:lpstr>Horticulture (2 of 4)</vt:lpstr>
      <vt:lpstr>Horticulture (3 of 4)</vt:lpstr>
      <vt:lpstr>Map 4.3 Precolonial Iroquois Region</vt:lpstr>
      <vt:lpstr>Map 4.4 Yanomami Region in Brazil and Venezuela</vt:lpstr>
      <vt:lpstr>Horticulture (4 of 4)</vt:lpstr>
      <vt:lpstr>Pastoralism (1 of 4)</vt:lpstr>
      <vt:lpstr>Pastoralism (2 of 4)</vt:lpstr>
      <vt:lpstr>Pastoralism (3 of 4)</vt:lpstr>
      <vt:lpstr>Map 4.5 Iran</vt:lpstr>
      <vt:lpstr>Pastoralism (4 of 4)</vt:lpstr>
      <vt:lpstr>Agriculture (1 of 5)</vt:lpstr>
      <vt:lpstr>Agriculture (2 of 5)</vt:lpstr>
      <vt:lpstr>Agriculture (3 of 5)</vt:lpstr>
      <vt:lpstr>Agriculture (4 of 5)</vt:lpstr>
      <vt:lpstr>Agriculture (5 of 5)</vt:lpstr>
      <vt:lpstr>Anthropology Works: Something Old,  Something New in Bolivian Farming (1 of 2)</vt:lpstr>
      <vt:lpstr>Anthropology Works: Something Old,  Something New in Bolivian Farming (2 of 2)</vt:lpstr>
      <vt:lpstr>Industrialism and the Digital Age (1 of 3)</vt:lpstr>
      <vt:lpstr>Industrialism and the Digital Age (2 of 3)</vt:lpstr>
      <vt:lpstr>Industrialism and the Digital Age (3 of 3)</vt:lpstr>
      <vt:lpstr>Changing Livelihoods (1 of 2) 4.3 Identify how the five modes of livelihood are changing.</vt:lpstr>
      <vt:lpstr>Changing Livelihoods (2 of 2)</vt:lpstr>
      <vt:lpstr>Foragers:  The Tiwi of Northern Australia</vt:lpstr>
      <vt:lpstr>Map 4.6 Tiwi Region  in Northern Australia</vt:lpstr>
      <vt:lpstr>Horticulturalists: The Mundurucu  of the Brazilian Amazon</vt:lpstr>
      <vt:lpstr>Pastoralists: The Herders of Mongolia</vt:lpstr>
      <vt:lpstr>Family Farmers:  The Maya of Chiapas, Mexico</vt:lpstr>
      <vt:lpstr>Global Capitalism: Taiwanese Industrialists in South Africa</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Jill Hawes</cp:lastModifiedBy>
  <cp:revision>39</cp:revision>
  <dcterms:created xsi:type="dcterms:W3CDTF">2015-09-18T14:54:36Z</dcterms:created>
  <dcterms:modified xsi:type="dcterms:W3CDTF">2016-04-05T17:19:17Z</dcterms:modified>
</cp:coreProperties>
</file>