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4"/>
  </p:notesMasterIdLst>
  <p:sldIdLst>
    <p:sldId id="257" r:id="rId3"/>
    <p:sldId id="256" r:id="rId4"/>
    <p:sldId id="258" r:id="rId5"/>
    <p:sldId id="259" r:id="rId6"/>
    <p:sldId id="260" r:id="rId7"/>
    <p:sldId id="299" r:id="rId8"/>
    <p:sldId id="261" r:id="rId9"/>
    <p:sldId id="264" r:id="rId10"/>
    <p:sldId id="267" r:id="rId11"/>
    <p:sldId id="262" r:id="rId12"/>
    <p:sldId id="263" r:id="rId13"/>
    <p:sldId id="266"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96" r:id="rId32"/>
    <p:sldId id="289" r:id="rId33"/>
    <p:sldId id="290" r:id="rId34"/>
    <p:sldId id="285" r:id="rId35"/>
    <p:sldId id="287" r:id="rId36"/>
    <p:sldId id="286" r:id="rId37"/>
    <p:sldId id="288" r:id="rId38"/>
    <p:sldId id="291" r:id="rId39"/>
    <p:sldId id="292" r:id="rId40"/>
    <p:sldId id="293" r:id="rId41"/>
    <p:sldId id="294" r:id="rId42"/>
    <p:sldId id="295"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946" autoAdjust="0"/>
  </p:normalViewPr>
  <p:slideViewPr>
    <p:cSldViewPr>
      <p:cViewPr varScale="1">
        <p:scale>
          <a:sx n="50" d="100"/>
          <a:sy n="50" d="100"/>
        </p:scale>
        <p:origin x="-1752" y="-10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notesMaster" Target="notesMasters/notesMaster1.xml"/><Relationship Id="rId45" Type="http://schemas.openxmlformats.org/officeDocument/2006/relationships/printerSettings" Target="printerSettings/printerSettings1.bin"/></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3F200B-1D38-44A1-8C1F-9C4D8DC2B13D}" type="datetimeFigureOut">
              <a:rPr lang="en-US" smtClean="0"/>
              <a:t>4/5/16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1DBF1B-270C-4B68-A28A-6B77317AC9A6}" type="slidenum">
              <a:rPr lang="en-US" smtClean="0"/>
              <a:t>‹#›</a:t>
            </a:fld>
            <a:endParaRPr lang="en-US" dirty="0"/>
          </a:p>
        </p:txBody>
      </p:sp>
    </p:spTree>
    <p:extLst>
      <p:ext uri="{BB962C8B-B14F-4D97-AF65-F5344CB8AC3E}">
        <p14:creationId xmlns:p14="http://schemas.microsoft.com/office/powerpoint/2010/main" val="1565764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For a better classroom presentation flow, the order of some topics in this lecture outline differs slightly from the order of topics in the text and, where this occurs, some figures and tables are out of numerical order.</a:t>
            </a:r>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1</a:t>
            </a:fld>
            <a:endParaRPr lang="en-US" dirty="0"/>
          </a:p>
        </p:txBody>
      </p:sp>
    </p:spTree>
    <p:extLst>
      <p:ext uri="{BB962C8B-B14F-4D97-AF65-F5344CB8AC3E}">
        <p14:creationId xmlns:p14="http://schemas.microsoft.com/office/powerpoint/2010/main" val="3844963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2</a:t>
            </a:fld>
            <a:endParaRPr lang="en-US" dirty="0"/>
          </a:p>
        </p:txBody>
      </p:sp>
    </p:spTree>
    <p:extLst>
      <p:ext uri="{BB962C8B-B14F-4D97-AF65-F5344CB8AC3E}">
        <p14:creationId xmlns:p14="http://schemas.microsoft.com/office/powerpoint/2010/main" val="2984406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Bronislaw Malinowski during his fieldwork in the Trobriand Islands,</a:t>
            </a:r>
            <a:r>
              <a:rPr lang="en-US" baseline="0" dirty="0" smtClean="0"/>
              <a:t> </a:t>
            </a:r>
            <a:r>
              <a:rPr lang="en-US" dirty="0" smtClean="0"/>
              <a:t>1915–1918.</a:t>
            </a:r>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6</a:t>
            </a:fld>
            <a:endParaRPr lang="en-US" dirty="0"/>
          </a:p>
        </p:txBody>
      </p:sp>
    </p:spTree>
    <p:extLst>
      <p:ext uri="{BB962C8B-B14F-4D97-AF65-F5344CB8AC3E}">
        <p14:creationId xmlns:p14="http://schemas.microsoft.com/office/powerpoint/2010/main" val="2779653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Also known as the Kiriwina Islands, the Trobriands are an archipelago of coral atolls lying off the eastern coast of the island of New Guinea.</a:t>
            </a:r>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11</a:t>
            </a:fld>
            <a:endParaRPr lang="en-US" dirty="0"/>
          </a:p>
        </p:txBody>
      </p:sp>
    </p:spTree>
    <p:extLst>
      <p:ext uri="{BB962C8B-B14F-4D97-AF65-F5344CB8AC3E}">
        <p14:creationId xmlns:p14="http://schemas.microsoft.com/office/powerpoint/2010/main" val="1635612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State of Japan encompasses 6,852 islands, most of which are mountainous. Its population is over 127 million with over 80 percent living on Honshu. Greater Tokyo, with 34 million residents, is the largest metropolitan area in the world. After the United States and China, Japan has the world’s third-largest economy.</a:t>
            </a:r>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18</a:t>
            </a:fld>
            <a:endParaRPr lang="en-US" dirty="0"/>
          </a:p>
        </p:txBody>
      </p:sp>
    </p:spTree>
    <p:extLst>
      <p:ext uri="{BB962C8B-B14F-4D97-AF65-F5344CB8AC3E}">
        <p14:creationId xmlns:p14="http://schemas.microsoft.com/office/powerpoint/2010/main" val="2947042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Syrian Arabic Republic historically included the present-day territories of Lebanon, Israel, the Palestinian Territories, and parts of Jordan. The population of Syria is 18 million people. The capital city, Damascus, with a population of 2.5 million people, is one of the oldest continually inhabited cities in the world. Since the onset of the civil war in 2011, over nine million Syrians have been displaced internally, and over four million are refugees living outside Syria in dire conditions.</a:t>
            </a:r>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20</a:t>
            </a:fld>
            <a:endParaRPr lang="en-US" dirty="0"/>
          </a:p>
        </p:txBody>
      </p:sp>
    </p:spTree>
    <p:extLst>
      <p:ext uri="{BB962C8B-B14F-4D97-AF65-F5344CB8AC3E}">
        <p14:creationId xmlns:p14="http://schemas.microsoft.com/office/powerpoint/2010/main" val="1651566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Xingu (zeen-goo) region of the Brazilian Amazon, a Kayapo</a:t>
            </a:r>
            <a:r>
              <a:rPr lang="en-US" baseline="0" dirty="0" smtClean="0"/>
              <a:t> </a:t>
            </a:r>
            <a:r>
              <a:rPr lang="en-US" dirty="0" smtClean="0"/>
              <a:t>Indian uses a video camera to document public events. Since the 1980s,</a:t>
            </a:r>
            <a:r>
              <a:rPr lang="en-US" baseline="0" dirty="0" smtClean="0"/>
              <a:t> </a:t>
            </a:r>
            <a:r>
              <a:rPr lang="en-US" dirty="0" smtClean="0"/>
              <a:t>and largely as the result of cultural anthropologist Terry Turner’s work</a:t>
            </a:r>
            <a:r>
              <a:rPr lang="en-US" baseline="0" dirty="0" smtClean="0"/>
              <a:t> </a:t>
            </a:r>
            <a:r>
              <a:rPr lang="en-US" dirty="0" smtClean="0"/>
              <a:t>with the Kaiapo, they have used video to record ceremonies and other</a:t>
            </a:r>
            <a:r>
              <a:rPr lang="en-US" baseline="0" dirty="0" smtClean="0"/>
              <a:t> </a:t>
            </a:r>
            <a:r>
              <a:rPr lang="en-US" dirty="0" smtClean="0"/>
              <a:t>traditional events as well as their political encounters with Brazilians</a:t>
            </a:r>
            <a:r>
              <a:rPr lang="en-US" baseline="0" dirty="0" smtClean="0"/>
              <a:t> </a:t>
            </a:r>
            <a:r>
              <a:rPr lang="en-US" dirty="0" smtClean="0"/>
              <a:t>who have been pushing, for decades, to build a large dam that will</a:t>
            </a:r>
            <a:r>
              <a:rPr lang="en-US" baseline="0" dirty="0" smtClean="0"/>
              <a:t> </a:t>
            </a:r>
            <a:r>
              <a:rPr lang="en-US" dirty="0" smtClean="0"/>
              <a:t>affect thousands of acres of Indian lands.</a:t>
            </a:r>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30</a:t>
            </a:fld>
            <a:endParaRPr lang="en-US" dirty="0"/>
          </a:p>
        </p:txBody>
      </p:sp>
    </p:spTree>
    <p:extLst>
      <p:ext uri="{BB962C8B-B14F-4D97-AF65-F5344CB8AC3E}">
        <p14:creationId xmlns:p14="http://schemas.microsoft.com/office/powerpoint/2010/main" val="1171097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Kingdom of Spain is the largest of the three countries occupying the Iberian Peninsula (Spain, Portugal, and Andorra). The geography is dominated by high plateaus and mountain ranges. Spain’s population exceeds 47 million of which more than five million are foreign residents. Within the European Union, Spain has the highest immigration rate after Cyprus. Spain’s administrative structure is complex, including autonomous communities, such as Andalucía and Catalonia, and provinces. The central government is granting more autonomy to some localities, including the Basque area.</a:t>
            </a:r>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31</a:t>
            </a:fld>
            <a:endParaRPr lang="en-US" dirty="0"/>
          </a:p>
        </p:txBody>
      </p:sp>
    </p:spTree>
    <p:extLst>
      <p:ext uri="{BB962C8B-B14F-4D97-AF65-F5344CB8AC3E}">
        <p14:creationId xmlns:p14="http://schemas.microsoft.com/office/powerpoint/2010/main" val="3253140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Republic of Iceland has a population of 320,000. A volcanic island, its economy is based on exporting fish products, technology, and tourism. Its Gross Domestic Product (GDP) has suffered since the economic crisis of 2007—2008, and many people have outmigrated. Icelandic Sign Language was officially recognized as a national language in 2011.</a:t>
            </a:r>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32</a:t>
            </a:fld>
            <a:endParaRPr lang="en-US" dirty="0"/>
          </a:p>
        </p:txBody>
      </p:sp>
    </p:spTree>
    <p:extLst>
      <p:ext uri="{BB962C8B-B14F-4D97-AF65-F5344CB8AC3E}">
        <p14:creationId xmlns:p14="http://schemas.microsoft.com/office/powerpoint/2010/main" val="1367219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Baffin Island, the largest island in the Canadian Arctic, has a population of 11,000. The Inuit name for the island is Qikiqtaaluk. It is part of the territory of Nunavut and Iqaluit, a town of about 3,000 people, is the capital.</a:t>
            </a:r>
            <a:endParaRPr lang="en-US" dirty="0"/>
          </a:p>
        </p:txBody>
      </p:sp>
      <p:sp>
        <p:nvSpPr>
          <p:cNvPr id="4" name="Slide Number Placeholder 3"/>
          <p:cNvSpPr>
            <a:spLocks noGrp="1"/>
          </p:cNvSpPr>
          <p:nvPr>
            <p:ph type="sldNum" sz="quarter" idx="10"/>
          </p:nvPr>
        </p:nvSpPr>
        <p:spPr/>
        <p:txBody>
          <a:bodyPr/>
          <a:lstStyle/>
          <a:p>
            <a:fld id="{BA1DBF1B-270C-4B68-A28A-6B77317AC9A6}" type="slidenum">
              <a:rPr lang="en-US" smtClean="0"/>
              <a:t>35</a:t>
            </a:fld>
            <a:endParaRPr lang="en-US" dirty="0"/>
          </a:p>
        </p:txBody>
      </p:sp>
    </p:spTree>
    <p:extLst>
      <p:ext uri="{BB962C8B-B14F-4D97-AF65-F5344CB8AC3E}">
        <p14:creationId xmlns:p14="http://schemas.microsoft.com/office/powerpoint/2010/main" val="3604247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3</a:t>
            </a:r>
            <a:endParaRPr lang="en-US" dirty="0"/>
          </a:p>
        </p:txBody>
      </p:sp>
      <p:sp>
        <p:nvSpPr>
          <p:cNvPr id="3" name="Text Placeholder 2"/>
          <p:cNvSpPr>
            <a:spLocks noGrp="1"/>
          </p:cNvSpPr>
          <p:nvPr>
            <p:ph type="body" sz="quarter" idx="15"/>
          </p:nvPr>
        </p:nvSpPr>
        <p:spPr/>
        <p:txBody>
          <a:bodyPr/>
          <a:lstStyle/>
          <a:p>
            <a:r>
              <a:rPr lang="en-US" dirty="0" smtClean="0"/>
              <a:t>Researching Culture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normAutofit/>
          </a:bodyPr>
          <a:lstStyle/>
          <a:p>
            <a:pPr marL="0" lvl="1" indent="0">
              <a:buNone/>
            </a:pPr>
            <a:r>
              <a:rPr lang="en-US" sz="3200" dirty="0" smtClean="0">
                <a:solidFill>
                  <a:srgbClr val="376092"/>
                </a:solidFill>
              </a:rPr>
              <a:t>3.1</a:t>
            </a:r>
            <a:r>
              <a:rPr lang="en-US" sz="3200" dirty="0" smtClean="0"/>
              <a:t> </a:t>
            </a:r>
            <a:r>
              <a:rPr lang="en-US" sz="3200" dirty="0"/>
              <a:t>Discuss how cultural anthropologists do research.</a:t>
            </a:r>
          </a:p>
          <a:p>
            <a:pPr marL="0" lvl="1" indent="0">
              <a:buNone/>
            </a:pPr>
            <a:endParaRPr lang="en-US" sz="3200" dirty="0" smtClean="0"/>
          </a:p>
          <a:p>
            <a:pPr marL="0" lvl="1" indent="0">
              <a:buNone/>
            </a:pPr>
            <a:r>
              <a:rPr lang="en-US" sz="3200" dirty="0" smtClean="0">
                <a:solidFill>
                  <a:srgbClr val="376092"/>
                </a:solidFill>
              </a:rPr>
              <a:t>3.2</a:t>
            </a:r>
            <a:r>
              <a:rPr lang="en-US" sz="3200" dirty="0" smtClean="0"/>
              <a:t> </a:t>
            </a:r>
            <a:r>
              <a:rPr lang="en-US" sz="3200" dirty="0"/>
              <a:t>Recognize what fieldwork in cultural anthropology involves.</a:t>
            </a:r>
          </a:p>
          <a:p>
            <a:pPr marL="0" indent="0">
              <a:buNone/>
            </a:pPr>
            <a:endParaRPr lang="en-US" dirty="0"/>
          </a:p>
          <a:p>
            <a:pPr marL="0" lvl="1" indent="0">
              <a:buNone/>
            </a:pPr>
            <a:r>
              <a:rPr lang="en-US" sz="3200" dirty="0">
                <a:solidFill>
                  <a:srgbClr val="376092"/>
                </a:solidFill>
              </a:rPr>
              <a:t>3.3</a:t>
            </a:r>
            <a:r>
              <a:rPr lang="en-US" sz="3200" dirty="0"/>
              <a:t> List some urgent issues in cultural anthropology research.</a:t>
            </a:r>
          </a:p>
          <a:p>
            <a:pPr marL="0" indent="0">
              <a:buNone/>
            </a:pPr>
            <a:endParaRPr lang="en-US"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r>
              <a:rPr lang="en-US" dirty="0" smtClean="0"/>
              <a:t>Changing Research Methods </a:t>
            </a:r>
            <a:br>
              <a:rPr lang="en-US" dirty="0" smtClean="0"/>
            </a:br>
            <a:r>
              <a:rPr lang="en-US" sz="3100" dirty="0" smtClean="0"/>
              <a:t>3.1 Discuss how cultural anthropologists do research.</a:t>
            </a:r>
            <a:endParaRPr lang="en-US" sz="3100" dirty="0"/>
          </a:p>
        </p:txBody>
      </p:sp>
      <p:sp>
        <p:nvSpPr>
          <p:cNvPr id="3" name="Content Placeholder 2"/>
          <p:cNvSpPr>
            <a:spLocks noGrp="1"/>
          </p:cNvSpPr>
          <p:nvPr>
            <p:ph idx="1"/>
          </p:nvPr>
        </p:nvSpPr>
        <p:spPr/>
        <p:txBody>
          <a:bodyPr/>
          <a:lstStyle/>
          <a:p>
            <a:endParaRPr lang="en-US" dirty="0" smtClean="0"/>
          </a:p>
          <a:p>
            <a:r>
              <a:rPr lang="en-US" dirty="0" smtClean="0"/>
              <a:t>From the Armchair to the Field</a:t>
            </a:r>
          </a:p>
          <a:p>
            <a:pPr marL="0" indent="0">
              <a:buNone/>
            </a:pPr>
            <a:endParaRPr lang="en-US" dirty="0" smtClean="0"/>
          </a:p>
          <a:p>
            <a:r>
              <a:rPr lang="en-US" dirty="0" smtClean="0"/>
              <a:t>Participant Observation</a:t>
            </a:r>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From the Armchair to the Field</a:t>
            </a:r>
            <a:endParaRPr lang="en-US" dirty="0"/>
          </a:p>
        </p:txBody>
      </p:sp>
      <p:sp>
        <p:nvSpPr>
          <p:cNvPr id="3" name="Content Placeholder 2"/>
          <p:cNvSpPr>
            <a:spLocks noGrp="1"/>
          </p:cNvSpPr>
          <p:nvPr>
            <p:ph idx="1"/>
          </p:nvPr>
        </p:nvSpPr>
        <p:spPr/>
        <p:txBody>
          <a:bodyPr/>
          <a:lstStyle/>
          <a:p>
            <a:r>
              <a:rPr lang="en-US" dirty="0" smtClean="0"/>
              <a:t>History of Fieldwork</a:t>
            </a:r>
          </a:p>
          <a:p>
            <a:endParaRPr lang="en-US" dirty="0"/>
          </a:p>
          <a:p>
            <a:pPr lvl="1"/>
            <a:r>
              <a:rPr lang="en-US" dirty="0" smtClean="0"/>
              <a:t>1870s: “Armchair” approach</a:t>
            </a:r>
          </a:p>
          <a:p>
            <a:pPr lvl="1"/>
            <a:endParaRPr lang="en-US" dirty="0"/>
          </a:p>
          <a:p>
            <a:pPr lvl="1"/>
            <a:r>
              <a:rPr lang="en-US" dirty="0" smtClean="0"/>
              <a:t>Early 1900s: “Verandah” approach</a:t>
            </a:r>
          </a:p>
          <a:p>
            <a:pPr lvl="1"/>
            <a:endParaRPr lang="en-US" dirty="0"/>
          </a:p>
          <a:p>
            <a:pPr lvl="1"/>
            <a:r>
              <a:rPr lang="en-US" dirty="0" smtClean="0"/>
              <a:t>Today: Participant observation</a:t>
            </a:r>
            <a:endParaRPr lang="en-US" dirty="0"/>
          </a:p>
        </p:txBody>
      </p:sp>
    </p:spTree>
    <p:extLst>
      <p:ext uri="{BB962C8B-B14F-4D97-AF65-F5344CB8AC3E}">
        <p14:creationId xmlns:p14="http://schemas.microsoft.com/office/powerpoint/2010/main" val="2872979773"/>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Participant Observation </a:t>
            </a:r>
            <a:r>
              <a:rPr lang="en-US" sz="2800" dirty="0" smtClean="0"/>
              <a:t>(1 of 5)</a:t>
            </a:r>
            <a:endParaRPr lang="en-US" sz="2800" dirty="0"/>
          </a:p>
        </p:txBody>
      </p:sp>
      <p:sp>
        <p:nvSpPr>
          <p:cNvPr id="3" name="Content Placeholder 2"/>
          <p:cNvSpPr>
            <a:spLocks noGrp="1"/>
          </p:cNvSpPr>
          <p:nvPr>
            <p:ph idx="1"/>
          </p:nvPr>
        </p:nvSpPr>
        <p:spPr/>
        <p:txBody>
          <a:bodyPr>
            <a:normAutofit/>
          </a:bodyPr>
          <a:lstStyle/>
          <a:p>
            <a:r>
              <a:rPr lang="en-US" dirty="0" smtClean="0"/>
              <a:t>Participant observation:</a:t>
            </a:r>
          </a:p>
          <a:p>
            <a:pPr lvl="1"/>
            <a:r>
              <a:rPr lang="en-US" dirty="0" smtClean="0"/>
              <a:t>Learning </a:t>
            </a:r>
            <a:r>
              <a:rPr lang="en-US" dirty="0"/>
              <a:t>about culture by living in a culture for an extended period</a:t>
            </a:r>
          </a:p>
          <a:p>
            <a:pPr lvl="1"/>
            <a:r>
              <a:rPr lang="en-US" dirty="0"/>
              <a:t>Bronislaw Malinowski took this approach while studying the people of the Trobriand Islands</a:t>
            </a:r>
          </a:p>
          <a:p>
            <a:pPr lvl="1"/>
            <a:r>
              <a:rPr lang="en-US" dirty="0"/>
              <a:t>Key elements:</a:t>
            </a:r>
          </a:p>
          <a:p>
            <a:pPr lvl="2"/>
            <a:r>
              <a:rPr lang="en-US" dirty="0"/>
              <a:t>Living with the people</a:t>
            </a:r>
          </a:p>
          <a:p>
            <a:pPr lvl="2"/>
            <a:r>
              <a:rPr lang="en-US" dirty="0"/>
              <a:t>Participating in their everyday life</a:t>
            </a:r>
          </a:p>
          <a:p>
            <a:pPr lvl="2"/>
            <a:r>
              <a:rPr lang="en-US" dirty="0"/>
              <a:t>Learning the language</a:t>
            </a:r>
          </a:p>
        </p:txBody>
      </p:sp>
    </p:spTree>
    <p:extLst>
      <p:ext uri="{BB962C8B-B14F-4D97-AF65-F5344CB8AC3E}">
        <p14:creationId xmlns:p14="http://schemas.microsoft.com/office/powerpoint/2010/main" val="175963193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Participant Observation </a:t>
            </a:r>
            <a:r>
              <a:rPr lang="en-US" sz="2800" dirty="0" smtClean="0"/>
              <a:t>(2 </a:t>
            </a:r>
            <a:r>
              <a:rPr lang="en-US" sz="2800" dirty="0"/>
              <a:t>of 5)</a:t>
            </a:r>
          </a:p>
        </p:txBody>
      </p:sp>
      <p:pic>
        <p:nvPicPr>
          <p:cNvPr id="4" name="Content Placeholder 3" descr="A black-and-white photo shows Bronislaw Malinowski standing as he talks with a half dozen Trobriand Island natives on the bank of a rive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112519" y="1600200"/>
            <a:ext cx="6918962" cy="4525963"/>
          </a:xfrm>
        </p:spPr>
      </p:pic>
    </p:spTree>
    <p:extLst>
      <p:ext uri="{BB962C8B-B14F-4D97-AF65-F5344CB8AC3E}">
        <p14:creationId xmlns:p14="http://schemas.microsoft.com/office/powerpoint/2010/main" val="222027106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Participant </a:t>
            </a:r>
            <a:r>
              <a:rPr lang="en-US" dirty="0"/>
              <a:t>Observation </a:t>
            </a:r>
            <a:r>
              <a:rPr lang="en-US" sz="2800" dirty="0" smtClean="0"/>
              <a:t>(3 </a:t>
            </a:r>
            <a:r>
              <a:rPr lang="en-US" sz="2800" dirty="0"/>
              <a:t>of 5</a:t>
            </a:r>
            <a:r>
              <a:rPr lang="en-US" sz="2800" dirty="0" smtClean="0"/>
              <a:t>)</a:t>
            </a:r>
            <a:endParaRPr lang="en-US" sz="2800" dirty="0"/>
          </a:p>
        </p:txBody>
      </p:sp>
      <p:sp>
        <p:nvSpPr>
          <p:cNvPr id="3" name="Content Placeholder 2"/>
          <p:cNvSpPr>
            <a:spLocks noGrp="1"/>
          </p:cNvSpPr>
          <p:nvPr>
            <p:ph idx="1"/>
          </p:nvPr>
        </p:nvSpPr>
        <p:spPr/>
        <p:txBody>
          <a:bodyPr/>
          <a:lstStyle/>
          <a:p>
            <a:endParaRPr lang="en-US" dirty="0" smtClean="0"/>
          </a:p>
          <a:p>
            <a:r>
              <a:rPr lang="en-US" dirty="0" smtClean="0"/>
              <a:t>Early fieldwork and participant observation:</a:t>
            </a:r>
          </a:p>
          <a:p>
            <a:pPr lvl="1"/>
            <a:r>
              <a:rPr lang="en-US" dirty="0"/>
              <a:t>Goal: to record as much as possible of a people’s language, songs, rituals, and social life because many cultures were disappearing</a:t>
            </a:r>
          </a:p>
          <a:p>
            <a:pPr lvl="1"/>
            <a:r>
              <a:rPr lang="en-US" dirty="0"/>
              <a:t>Most research was conducted in small, isolated cultures</a:t>
            </a:r>
          </a:p>
          <a:p>
            <a:endParaRPr lang="en-US" dirty="0"/>
          </a:p>
        </p:txBody>
      </p:sp>
    </p:spTree>
    <p:extLst>
      <p:ext uri="{BB962C8B-B14F-4D97-AF65-F5344CB8AC3E}">
        <p14:creationId xmlns:p14="http://schemas.microsoft.com/office/powerpoint/2010/main" val="2543135399"/>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Participant </a:t>
            </a:r>
            <a:r>
              <a:rPr lang="en-US" dirty="0"/>
              <a:t>Observation </a:t>
            </a:r>
            <a:r>
              <a:rPr lang="en-US" sz="2800" dirty="0" smtClean="0"/>
              <a:t>(4 </a:t>
            </a:r>
            <a:r>
              <a:rPr lang="en-US" sz="2800" dirty="0"/>
              <a:t>of 5</a:t>
            </a:r>
            <a:r>
              <a:rPr lang="en-US" sz="2800" dirty="0" smtClean="0"/>
              <a:t>)</a:t>
            </a:r>
            <a:endParaRPr lang="en-US" sz="2800" dirty="0"/>
          </a:p>
        </p:txBody>
      </p:sp>
      <p:sp>
        <p:nvSpPr>
          <p:cNvPr id="3" name="Content Placeholder 2"/>
          <p:cNvSpPr>
            <a:spLocks noGrp="1"/>
          </p:cNvSpPr>
          <p:nvPr>
            <p:ph idx="1"/>
          </p:nvPr>
        </p:nvSpPr>
        <p:spPr/>
        <p:txBody>
          <a:bodyPr>
            <a:normAutofit/>
          </a:bodyPr>
          <a:lstStyle/>
          <a:p>
            <a:r>
              <a:rPr lang="en-US" dirty="0" smtClean="0"/>
              <a:t>Changing methods in a global world:</a:t>
            </a:r>
          </a:p>
          <a:p>
            <a:endParaRPr lang="en-US" dirty="0"/>
          </a:p>
          <a:p>
            <a:pPr lvl="1"/>
            <a:r>
              <a:rPr lang="en-US" dirty="0"/>
              <a:t>Few, if any, isolated cultures remain </a:t>
            </a:r>
          </a:p>
          <a:p>
            <a:endParaRPr lang="en-US" dirty="0"/>
          </a:p>
          <a:p>
            <a:pPr lvl="1"/>
            <a:r>
              <a:rPr lang="en-US" dirty="0"/>
              <a:t>Anthropologists need methods for studying</a:t>
            </a:r>
          </a:p>
          <a:p>
            <a:pPr lvl="2"/>
            <a:r>
              <a:rPr lang="en-US" dirty="0"/>
              <a:t>Larger-scale cultures</a:t>
            </a:r>
          </a:p>
          <a:p>
            <a:pPr lvl="2"/>
            <a:r>
              <a:rPr lang="en-US" dirty="0" smtClean="0"/>
              <a:t>Global–local </a:t>
            </a:r>
            <a:r>
              <a:rPr lang="en-US" dirty="0"/>
              <a:t>connections</a:t>
            </a:r>
          </a:p>
          <a:p>
            <a:pPr lvl="2"/>
            <a:r>
              <a:rPr lang="en-US" dirty="0"/>
              <a:t>Cultural change</a:t>
            </a:r>
          </a:p>
          <a:p>
            <a:endParaRPr lang="en-US" dirty="0"/>
          </a:p>
        </p:txBody>
      </p:sp>
    </p:spTree>
    <p:extLst>
      <p:ext uri="{BB962C8B-B14F-4D97-AF65-F5344CB8AC3E}">
        <p14:creationId xmlns:p14="http://schemas.microsoft.com/office/powerpoint/2010/main" val="2301602398"/>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Participant Observation </a:t>
            </a:r>
            <a:r>
              <a:rPr lang="en-US" sz="2800" dirty="0" smtClean="0"/>
              <a:t>(5 </a:t>
            </a:r>
            <a:r>
              <a:rPr lang="en-US" sz="2800" dirty="0"/>
              <a:t>of 5</a:t>
            </a:r>
            <a:r>
              <a:rPr lang="en-US" sz="2800" dirty="0" smtClean="0"/>
              <a:t>)</a:t>
            </a:r>
            <a:endParaRPr lang="en-US" sz="2800" dirty="0"/>
          </a:p>
        </p:txBody>
      </p:sp>
      <p:sp>
        <p:nvSpPr>
          <p:cNvPr id="3" name="Content Placeholder 2"/>
          <p:cNvSpPr>
            <a:spLocks noGrp="1"/>
          </p:cNvSpPr>
          <p:nvPr>
            <p:ph idx="1"/>
          </p:nvPr>
        </p:nvSpPr>
        <p:spPr/>
        <p:txBody>
          <a:bodyPr/>
          <a:lstStyle/>
          <a:p>
            <a:r>
              <a:rPr lang="en-US" dirty="0"/>
              <a:t>Innovation: Multisited Research</a:t>
            </a:r>
            <a:endParaRPr lang="en-US" dirty="0" smtClean="0"/>
          </a:p>
          <a:p>
            <a:pPr lvl="1"/>
            <a:r>
              <a:rPr lang="en-US" dirty="0" smtClean="0"/>
              <a:t>Fieldwork </a:t>
            </a:r>
            <a:r>
              <a:rPr lang="en-US" dirty="0"/>
              <a:t>conducted on a topic in more than one location</a:t>
            </a:r>
          </a:p>
          <a:p>
            <a:pPr lvl="1"/>
            <a:r>
              <a:rPr lang="en-US" dirty="0"/>
              <a:t>Especially helpful for studying migrant populations</a:t>
            </a:r>
          </a:p>
          <a:p>
            <a:pPr lvl="1"/>
            <a:r>
              <a:rPr lang="en-US" dirty="0"/>
              <a:t>Example: Lanita Jacobs-Huey’s research about the language and culture of hairstyles among African American women</a:t>
            </a:r>
          </a:p>
          <a:p>
            <a:endParaRPr lang="en-US" dirty="0"/>
          </a:p>
        </p:txBody>
      </p:sp>
    </p:spTree>
    <p:extLst>
      <p:ext uri="{BB962C8B-B14F-4D97-AF65-F5344CB8AC3E}">
        <p14:creationId xmlns:p14="http://schemas.microsoft.com/office/powerpoint/2010/main" val="140094343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Culturama: The Trobriand Islanders </a:t>
            </a:r>
            <a:r>
              <a:rPr lang="en-US" dirty="0" smtClean="0"/>
              <a:t/>
            </a:r>
            <a:br>
              <a:rPr lang="en-US" dirty="0" smtClean="0"/>
            </a:br>
            <a:r>
              <a:rPr lang="en-US" dirty="0" smtClean="0"/>
              <a:t>of </a:t>
            </a:r>
            <a:r>
              <a:rPr lang="en-US" dirty="0"/>
              <a:t>Papua New </a:t>
            </a:r>
            <a:r>
              <a:rPr lang="en-US" dirty="0" smtClean="0"/>
              <a:t>Guinea</a:t>
            </a:r>
            <a:endParaRPr lang="en-US" sz="3100" dirty="0"/>
          </a:p>
        </p:txBody>
      </p:sp>
      <p:sp>
        <p:nvSpPr>
          <p:cNvPr id="3" name="Content Placeholder 2"/>
          <p:cNvSpPr>
            <a:spLocks noGrp="1"/>
          </p:cNvSpPr>
          <p:nvPr>
            <p:ph idx="1"/>
          </p:nvPr>
        </p:nvSpPr>
        <p:spPr>
          <a:xfrm>
            <a:off x="152400" y="1524000"/>
            <a:ext cx="8763000" cy="4754563"/>
          </a:xfrm>
        </p:spPr>
        <p:txBody>
          <a:bodyPr>
            <a:noAutofit/>
          </a:bodyPr>
          <a:lstStyle/>
          <a:p>
            <a:r>
              <a:rPr lang="en-US" sz="2400" dirty="0" smtClean="0"/>
              <a:t>Coral </a:t>
            </a:r>
            <a:r>
              <a:rPr lang="en-US" sz="2400" dirty="0"/>
              <a:t>atolls east of the island of New Guinea</a:t>
            </a:r>
          </a:p>
          <a:p>
            <a:r>
              <a:rPr lang="en-US" sz="2400" dirty="0"/>
              <a:t>Colonized by Great Britain and ceded to Australia in 1904; became part of Papua New Guinea in 1975</a:t>
            </a:r>
          </a:p>
          <a:p>
            <a:r>
              <a:rPr lang="en-US" sz="2400" dirty="0"/>
              <a:t>Christian missionaries introduced cricket </a:t>
            </a:r>
            <a:r>
              <a:rPr lang="en-US" sz="2400" dirty="0" smtClean="0"/>
              <a:t>as </a:t>
            </a:r>
            <a:r>
              <a:rPr lang="en-US" sz="2400" dirty="0"/>
              <a:t>substitute for warfare</a:t>
            </a:r>
          </a:p>
          <a:p>
            <a:r>
              <a:rPr lang="en-US" sz="2400" dirty="0"/>
              <a:t>Language: </a:t>
            </a:r>
            <a:r>
              <a:rPr lang="en-US" sz="2400" dirty="0" smtClean="0"/>
              <a:t>many </a:t>
            </a:r>
            <a:r>
              <a:rPr lang="en-US" sz="2400" dirty="0"/>
              <a:t>different dialects but all speak a version of Kilivila</a:t>
            </a:r>
          </a:p>
          <a:p>
            <a:r>
              <a:rPr lang="en-US" sz="2400" dirty="0"/>
              <a:t>Grow much of their own food: root crops, bananas, breadfruit, coconuts, and betel nuts</a:t>
            </a:r>
          </a:p>
          <a:p>
            <a:r>
              <a:rPr lang="en-US" sz="2400" dirty="0"/>
              <a:t>Pigs raised for food and </a:t>
            </a:r>
            <a:r>
              <a:rPr lang="en-US" sz="2400" dirty="0" smtClean="0"/>
              <a:t>as prestige </a:t>
            </a:r>
            <a:r>
              <a:rPr lang="en-US" sz="2400" dirty="0"/>
              <a:t>item</a:t>
            </a:r>
          </a:p>
          <a:p>
            <a:r>
              <a:rPr lang="en-US" sz="2400" dirty="0"/>
              <a:t>Kinship emphasizes the female line</a:t>
            </a:r>
          </a:p>
          <a:p>
            <a:r>
              <a:rPr lang="en-US" sz="2400" dirty="0"/>
              <a:t>Contemporary challenges include the money economy and </a:t>
            </a:r>
            <a:r>
              <a:rPr lang="en-US" sz="2400" dirty="0" smtClean="0"/>
              <a:t>overfishing</a:t>
            </a:r>
            <a:endParaRPr lang="en-US" sz="2400" dirty="0"/>
          </a:p>
        </p:txBody>
      </p:sp>
    </p:spTree>
    <p:extLst>
      <p:ext uri="{BB962C8B-B14F-4D97-AF65-F5344CB8AC3E}">
        <p14:creationId xmlns:p14="http://schemas.microsoft.com/office/powerpoint/2010/main" val="916419207"/>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shows the Trobriand Islands of Kaileuna, Kiriwina (the largest, about 50 miles long, and with the village of Losuia), Kitava, and Vakuta. An inset globe shows the Trobriand Islands are northeast of Australi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38400" y="1447800"/>
            <a:ext cx="4343400" cy="4747357"/>
          </a:xfrm>
          <a:prstGeom prst="rect">
            <a:avLst/>
          </a:prstGeom>
        </p:spPr>
      </p:pic>
      <p:sp>
        <p:nvSpPr>
          <p:cNvPr id="2" name="Title 1"/>
          <p:cNvSpPr>
            <a:spLocks noGrp="1"/>
          </p:cNvSpPr>
          <p:nvPr>
            <p:ph type="title"/>
          </p:nvPr>
        </p:nvSpPr>
        <p:spPr>
          <a:xfrm>
            <a:off x="457200" y="152400"/>
            <a:ext cx="8229600" cy="1143000"/>
          </a:xfrm>
        </p:spPr>
        <p:txBody>
          <a:bodyPr>
            <a:normAutofit fontScale="90000"/>
          </a:bodyPr>
          <a:lstStyle/>
          <a:p>
            <a:r>
              <a:rPr lang="en-US" dirty="0" smtClean="0"/>
              <a:t>Map 3.1 Trobriand Islands </a:t>
            </a:r>
            <a:br>
              <a:rPr lang="en-US" dirty="0" smtClean="0"/>
            </a:br>
            <a:r>
              <a:rPr lang="en-US" dirty="0" smtClean="0"/>
              <a:t>of Papua New Guinea</a:t>
            </a:r>
            <a:endParaRPr lang="en-US" sz="3100" dirty="0"/>
          </a:p>
        </p:txBody>
      </p:sp>
    </p:spTree>
    <p:extLst>
      <p:ext uri="{BB962C8B-B14F-4D97-AF65-F5344CB8AC3E}">
        <p14:creationId xmlns:p14="http://schemas.microsoft.com/office/powerpoint/2010/main" val="1935290134"/>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Anthropology Works: </a:t>
            </a:r>
            <a:br>
              <a:rPr lang="en-US" dirty="0" smtClean="0"/>
            </a:br>
            <a:r>
              <a:rPr lang="en-US" dirty="0" smtClean="0"/>
              <a:t>What’s for Breakfast in California</a:t>
            </a:r>
            <a:endParaRPr lang="en-US" dirty="0"/>
          </a:p>
        </p:txBody>
      </p:sp>
      <p:sp>
        <p:nvSpPr>
          <p:cNvPr id="3" name="Content Placeholder 2"/>
          <p:cNvSpPr>
            <a:spLocks noGrp="1"/>
          </p:cNvSpPr>
          <p:nvPr>
            <p:ph idx="1"/>
          </p:nvPr>
        </p:nvSpPr>
        <p:spPr/>
        <p:txBody>
          <a:bodyPr/>
          <a:lstStyle/>
          <a:p>
            <a:r>
              <a:rPr lang="en-US" dirty="0" smtClean="0"/>
              <a:t>Anthropological research applied to product development:</a:t>
            </a:r>
          </a:p>
          <a:p>
            <a:pPr lvl="1"/>
            <a:r>
              <a:rPr lang="en-US" dirty="0" smtClean="0"/>
              <a:t>Anthropologists </a:t>
            </a:r>
            <a:r>
              <a:rPr lang="en-US" dirty="0"/>
              <a:t>did focused research in homes of employed Californians</a:t>
            </a:r>
          </a:p>
          <a:p>
            <a:pPr lvl="1"/>
            <a:r>
              <a:rPr lang="en-US" dirty="0"/>
              <a:t>Breakfast was a rushed affair, but parents wanted kids to have a good meal</a:t>
            </a:r>
          </a:p>
          <a:p>
            <a:pPr lvl="1"/>
            <a:r>
              <a:rPr lang="en-US" dirty="0"/>
              <a:t>Result: Go-Gurt</a:t>
            </a:r>
          </a:p>
          <a:p>
            <a:endParaRPr lang="en-US" dirty="0"/>
          </a:p>
        </p:txBody>
      </p:sp>
    </p:spTree>
    <p:extLst>
      <p:ext uri="{BB962C8B-B14F-4D97-AF65-F5344CB8AC3E}">
        <p14:creationId xmlns:p14="http://schemas.microsoft.com/office/powerpoint/2010/main" val="384041653"/>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sz="4000" dirty="0" smtClean="0"/>
              <a:t>Doing Fieldwork in Cultural Anthropology </a:t>
            </a:r>
            <a:r>
              <a:rPr lang="en-US" sz="3100" dirty="0" smtClean="0"/>
              <a:t/>
            </a:r>
            <a:br>
              <a:rPr lang="en-US" sz="3100" dirty="0" smtClean="0"/>
            </a:br>
            <a:r>
              <a:rPr lang="en-US" sz="2700" dirty="0" smtClean="0"/>
              <a:t>3.2 </a:t>
            </a:r>
            <a:r>
              <a:rPr lang="en-US" sz="2700" dirty="0"/>
              <a:t>Recognize what fieldwork in cultural anthropology involves</a:t>
            </a:r>
            <a:r>
              <a:rPr lang="en-US" sz="2700" dirty="0" smtClean="0"/>
              <a:t>.</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smtClean="0"/>
              <a:t>Beginning </a:t>
            </a:r>
            <a:r>
              <a:rPr lang="en-US" dirty="0"/>
              <a:t>the Fieldwork </a:t>
            </a:r>
            <a:r>
              <a:rPr lang="en-US" dirty="0" smtClean="0"/>
              <a:t>Process</a:t>
            </a:r>
          </a:p>
          <a:p>
            <a:endParaRPr lang="en-US" dirty="0"/>
          </a:p>
          <a:p>
            <a:r>
              <a:rPr lang="en-US" dirty="0"/>
              <a:t>Working in the </a:t>
            </a:r>
            <a:r>
              <a:rPr lang="en-US" dirty="0" smtClean="0"/>
              <a:t>Field</a:t>
            </a:r>
          </a:p>
          <a:p>
            <a:endParaRPr lang="en-US" dirty="0"/>
          </a:p>
          <a:p>
            <a:r>
              <a:rPr lang="en-US" dirty="0"/>
              <a:t>Fieldwork </a:t>
            </a:r>
            <a:r>
              <a:rPr lang="en-US" dirty="0" smtClean="0"/>
              <a:t>Techniques</a:t>
            </a:r>
          </a:p>
          <a:p>
            <a:endParaRPr lang="en-US" dirty="0"/>
          </a:p>
          <a:p>
            <a:r>
              <a:rPr lang="en-US" dirty="0"/>
              <a:t>Recording Culture</a:t>
            </a:r>
          </a:p>
          <a:p>
            <a:endParaRPr lang="en-US" dirty="0"/>
          </a:p>
        </p:txBody>
      </p:sp>
    </p:spTree>
    <p:extLst>
      <p:ext uri="{BB962C8B-B14F-4D97-AF65-F5344CB8AC3E}">
        <p14:creationId xmlns:p14="http://schemas.microsoft.com/office/powerpoint/2010/main" val="4130199302"/>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Beginning the Fieldwork Process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a:t>Choosing a </a:t>
            </a:r>
            <a:r>
              <a:rPr lang="en-US" dirty="0" smtClean="0"/>
              <a:t>research </a:t>
            </a:r>
            <a:r>
              <a:rPr lang="en-US" dirty="0"/>
              <a:t>t</a:t>
            </a:r>
            <a:r>
              <a:rPr lang="en-US" dirty="0" smtClean="0"/>
              <a:t>opic:</a:t>
            </a:r>
          </a:p>
          <a:p>
            <a:pPr lvl="1"/>
            <a:r>
              <a:rPr lang="en-US" dirty="0"/>
              <a:t>Find gaps in literature</a:t>
            </a:r>
          </a:p>
          <a:p>
            <a:pPr lvl="1"/>
            <a:r>
              <a:rPr lang="en-US" dirty="0"/>
              <a:t>Current events</a:t>
            </a:r>
          </a:p>
          <a:p>
            <a:pPr lvl="1"/>
            <a:r>
              <a:rPr lang="en-US" dirty="0"/>
              <a:t>Focus on a commodity</a:t>
            </a:r>
          </a:p>
          <a:p>
            <a:pPr lvl="1"/>
            <a:r>
              <a:rPr lang="en-US" dirty="0" smtClean="0"/>
              <a:t>Restudy</a:t>
            </a:r>
            <a:endParaRPr lang="en-US" dirty="0"/>
          </a:p>
          <a:p>
            <a:pPr lvl="2"/>
            <a:r>
              <a:rPr lang="en-US" dirty="0"/>
              <a:t>Example of the Trobriand Islanders</a:t>
            </a:r>
          </a:p>
          <a:p>
            <a:pPr lvl="1"/>
            <a:r>
              <a:rPr lang="en-US" dirty="0"/>
              <a:t>Luck!</a:t>
            </a:r>
          </a:p>
          <a:p>
            <a:endParaRPr lang="en-US" dirty="0"/>
          </a:p>
        </p:txBody>
      </p:sp>
    </p:spTree>
    <p:extLst>
      <p:ext uri="{BB962C8B-B14F-4D97-AF65-F5344CB8AC3E}">
        <p14:creationId xmlns:p14="http://schemas.microsoft.com/office/powerpoint/2010/main" val="113534267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Beginning the Fieldwork Process </a:t>
            </a:r>
            <a:r>
              <a:rPr lang="en-US" sz="2800" dirty="0" smtClean="0"/>
              <a:t>(2 </a:t>
            </a:r>
            <a:r>
              <a:rPr lang="en-US" sz="2800" dirty="0"/>
              <a:t>of 2)</a:t>
            </a:r>
          </a:p>
        </p:txBody>
      </p:sp>
      <p:sp>
        <p:nvSpPr>
          <p:cNvPr id="3" name="Content Placeholder 2"/>
          <p:cNvSpPr>
            <a:spLocks noGrp="1"/>
          </p:cNvSpPr>
          <p:nvPr>
            <p:ph idx="1"/>
          </p:nvPr>
        </p:nvSpPr>
        <p:spPr/>
        <p:txBody>
          <a:bodyPr>
            <a:normAutofit fontScale="92500" lnSpcReduction="20000"/>
          </a:bodyPr>
          <a:lstStyle/>
          <a:p>
            <a:r>
              <a:rPr lang="en-US" dirty="0" smtClean="0"/>
              <a:t>Preparing for the field:</a:t>
            </a:r>
          </a:p>
          <a:p>
            <a:pPr lvl="1"/>
            <a:r>
              <a:rPr lang="en-US" dirty="0" smtClean="0"/>
              <a:t>Funding</a:t>
            </a:r>
            <a:endParaRPr lang="en-US" dirty="0"/>
          </a:p>
          <a:p>
            <a:pPr lvl="1"/>
            <a:r>
              <a:rPr lang="en-US" dirty="0"/>
              <a:t>Visas and permission to conduct research</a:t>
            </a:r>
          </a:p>
          <a:p>
            <a:pPr lvl="1"/>
            <a:r>
              <a:rPr lang="en-US" dirty="0"/>
              <a:t>Ethical considerations </a:t>
            </a:r>
          </a:p>
          <a:p>
            <a:pPr lvl="2"/>
            <a:r>
              <a:rPr lang="en-US" dirty="0"/>
              <a:t>AAA Code of Ethics</a:t>
            </a:r>
          </a:p>
          <a:p>
            <a:pPr lvl="2"/>
            <a:r>
              <a:rPr lang="en-US" dirty="0"/>
              <a:t>Protection of “human subjects” and Institutional Review Boards (IRBs)</a:t>
            </a:r>
          </a:p>
          <a:p>
            <a:pPr lvl="2"/>
            <a:r>
              <a:rPr lang="en-US" dirty="0"/>
              <a:t>Informed consent</a:t>
            </a:r>
          </a:p>
          <a:p>
            <a:pPr lvl="1"/>
            <a:r>
              <a:rPr lang="en-US" dirty="0"/>
              <a:t>Specialized equipment, medical kit</a:t>
            </a:r>
          </a:p>
          <a:p>
            <a:pPr lvl="1"/>
            <a:r>
              <a:rPr lang="en-US" dirty="0"/>
              <a:t>Language training</a:t>
            </a:r>
          </a:p>
          <a:p>
            <a:pPr lvl="1"/>
            <a:r>
              <a:rPr lang="en-US" dirty="0"/>
              <a:t>Personal safety considerations</a:t>
            </a:r>
          </a:p>
          <a:p>
            <a:endParaRPr lang="en-US" dirty="0"/>
          </a:p>
        </p:txBody>
      </p:sp>
    </p:spTree>
    <p:extLst>
      <p:ext uri="{BB962C8B-B14F-4D97-AF65-F5344CB8AC3E}">
        <p14:creationId xmlns:p14="http://schemas.microsoft.com/office/powerpoint/2010/main" val="3643398841"/>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in the Field </a:t>
            </a:r>
            <a:r>
              <a:rPr lang="en-US" sz="2800" dirty="0" smtClean="0"/>
              <a:t>(1 of 7)</a:t>
            </a:r>
            <a:endParaRPr lang="en-US" sz="2800" dirty="0"/>
          </a:p>
        </p:txBody>
      </p:sp>
      <p:sp>
        <p:nvSpPr>
          <p:cNvPr id="3" name="Content Placeholder 2"/>
          <p:cNvSpPr>
            <a:spLocks noGrp="1"/>
          </p:cNvSpPr>
          <p:nvPr>
            <p:ph idx="1"/>
          </p:nvPr>
        </p:nvSpPr>
        <p:spPr/>
        <p:txBody>
          <a:bodyPr>
            <a:normAutofit/>
          </a:bodyPr>
          <a:lstStyle/>
          <a:p>
            <a:r>
              <a:rPr lang="en-US" dirty="0" smtClean="0"/>
              <a:t>Site </a:t>
            </a:r>
            <a:r>
              <a:rPr lang="en-US" dirty="0"/>
              <a:t>selection</a:t>
            </a:r>
          </a:p>
          <a:p>
            <a:r>
              <a:rPr lang="en-US" dirty="0"/>
              <a:t>Gaining rapport</a:t>
            </a:r>
          </a:p>
          <a:p>
            <a:r>
              <a:rPr lang="en-US" dirty="0" smtClean="0"/>
              <a:t>Gift-giving </a:t>
            </a:r>
            <a:r>
              <a:rPr lang="en-US" dirty="0"/>
              <a:t>and exchange </a:t>
            </a:r>
          </a:p>
          <a:p>
            <a:pPr lvl="1"/>
            <a:r>
              <a:rPr lang="en-US" dirty="0"/>
              <a:t>Gifts should be culturally and ethically appropriate</a:t>
            </a:r>
          </a:p>
          <a:p>
            <a:r>
              <a:rPr lang="en-US" dirty="0"/>
              <a:t>Microcultures and fieldwork</a:t>
            </a:r>
          </a:p>
          <a:p>
            <a:r>
              <a:rPr lang="en-US" dirty="0"/>
              <a:t>Issues of race, class, gender, and age</a:t>
            </a:r>
          </a:p>
          <a:p>
            <a:r>
              <a:rPr lang="en-US" dirty="0"/>
              <a:t>Culture </a:t>
            </a:r>
            <a:r>
              <a:rPr lang="en-US" dirty="0" smtClean="0"/>
              <a:t>shock	</a:t>
            </a:r>
            <a:endParaRPr lang="en-US" dirty="0"/>
          </a:p>
        </p:txBody>
      </p:sp>
    </p:spTree>
    <p:extLst>
      <p:ext uri="{BB962C8B-B14F-4D97-AF65-F5344CB8AC3E}">
        <p14:creationId xmlns:p14="http://schemas.microsoft.com/office/powerpoint/2010/main" val="249845296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in the Field </a:t>
            </a:r>
            <a:r>
              <a:rPr lang="en-US" sz="2800" dirty="0" smtClean="0"/>
              <a:t>(2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normAutofit/>
          </a:bodyPr>
          <a:lstStyle/>
          <a:p>
            <a:r>
              <a:rPr lang="en-US" dirty="0" smtClean="0"/>
              <a:t>Site Selection </a:t>
            </a:r>
            <a:r>
              <a:rPr lang="en-US" dirty="0"/>
              <a:t>F</a:t>
            </a:r>
            <a:r>
              <a:rPr lang="en-US" dirty="0" smtClean="0"/>
              <a:t>actors:</a:t>
            </a:r>
          </a:p>
          <a:p>
            <a:pPr lvl="1"/>
            <a:r>
              <a:rPr lang="en-US" dirty="0" smtClean="0"/>
              <a:t>The </a:t>
            </a:r>
            <a:r>
              <a:rPr lang="en-US" dirty="0"/>
              <a:t>size of the population(s)/area(s) depends on the topic being researched</a:t>
            </a:r>
          </a:p>
          <a:p>
            <a:pPr lvl="1"/>
            <a:r>
              <a:rPr lang="en-US" dirty="0"/>
              <a:t>Topic may require a specialized location, such as a clinic</a:t>
            </a:r>
          </a:p>
          <a:p>
            <a:pPr lvl="1"/>
            <a:r>
              <a:rPr lang="en-US" dirty="0"/>
              <a:t>Many communities do not welcome researchers</a:t>
            </a:r>
          </a:p>
          <a:p>
            <a:pPr lvl="1"/>
            <a:r>
              <a:rPr lang="en-US" dirty="0"/>
              <a:t>Often, housing shortages mean the community cannot make space for the anthropologist</a:t>
            </a:r>
          </a:p>
          <a:p>
            <a:pPr lvl="1"/>
            <a:r>
              <a:rPr lang="en-US" dirty="0"/>
              <a:t>Example: Jennifer Robertson in Kodaira, Japan</a:t>
            </a:r>
          </a:p>
          <a:p>
            <a:endParaRPr lang="en-US" dirty="0"/>
          </a:p>
        </p:txBody>
      </p:sp>
    </p:spTree>
    <p:extLst>
      <p:ext uri="{BB962C8B-B14F-4D97-AF65-F5344CB8AC3E}">
        <p14:creationId xmlns:p14="http://schemas.microsoft.com/office/powerpoint/2010/main" val="3726996850"/>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Japan shows the capital city of Tokyo as well as Kyoto and Osaka. The Sea of Japan (East Sea) separates it from South Korea, North Korea, and China. An inset globe locates Japan in eastern Asi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1800" y="1524000"/>
            <a:ext cx="3152241" cy="4650570"/>
          </a:xfrm>
          <a:prstGeom prst="rect">
            <a:avLst/>
          </a:prstGeom>
        </p:spPr>
      </p:pic>
      <p:sp>
        <p:nvSpPr>
          <p:cNvPr id="2" name="Title 1"/>
          <p:cNvSpPr>
            <a:spLocks noGrp="1"/>
          </p:cNvSpPr>
          <p:nvPr>
            <p:ph type="title"/>
          </p:nvPr>
        </p:nvSpPr>
        <p:spPr/>
        <p:txBody>
          <a:bodyPr/>
          <a:lstStyle/>
          <a:p>
            <a:r>
              <a:rPr lang="en-US" dirty="0" smtClean="0"/>
              <a:t>Map 3.2 Japan</a:t>
            </a:r>
            <a:endParaRPr lang="en-US" sz="2800" dirty="0"/>
          </a:p>
        </p:txBody>
      </p:sp>
    </p:spTree>
    <p:extLst>
      <p:ext uri="{BB962C8B-B14F-4D97-AF65-F5344CB8AC3E}">
        <p14:creationId xmlns:p14="http://schemas.microsoft.com/office/powerpoint/2010/main" val="312177323"/>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in the Field </a:t>
            </a:r>
            <a:r>
              <a:rPr lang="en-US" sz="2800" dirty="0" smtClean="0"/>
              <a:t>(</a:t>
            </a:r>
            <a:r>
              <a:rPr lang="en-US" sz="2800" dirty="0"/>
              <a:t>3</a:t>
            </a:r>
            <a:r>
              <a:rPr lang="en-US" sz="2800" dirty="0" smtClean="0"/>
              <a:t>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lstStyle/>
          <a:p>
            <a:r>
              <a:rPr lang="en-US" dirty="0" smtClean="0"/>
              <a:t>Gaining </a:t>
            </a:r>
            <a:r>
              <a:rPr lang="en-US" dirty="0"/>
              <a:t>R</a:t>
            </a:r>
            <a:r>
              <a:rPr lang="en-US" dirty="0" smtClean="0"/>
              <a:t>apport:</a:t>
            </a:r>
          </a:p>
          <a:p>
            <a:pPr lvl="1"/>
            <a:r>
              <a:rPr lang="en-US" dirty="0"/>
              <a:t>Rapport is a trusting relationship between the researcher and the study population</a:t>
            </a:r>
          </a:p>
          <a:p>
            <a:pPr lvl="1"/>
            <a:r>
              <a:rPr lang="en-US" dirty="0"/>
              <a:t>Important to establish rapport with gatekeepers</a:t>
            </a:r>
          </a:p>
          <a:p>
            <a:pPr lvl="1"/>
            <a:r>
              <a:rPr lang="en-US" dirty="0"/>
              <a:t>Anthropologists are often labeled as spies</a:t>
            </a:r>
          </a:p>
          <a:p>
            <a:pPr lvl="2"/>
            <a:r>
              <a:rPr lang="en-US" dirty="0"/>
              <a:t>Example: Christa Salamandra in Damascus, Syria</a:t>
            </a:r>
          </a:p>
          <a:p>
            <a:endParaRPr lang="en-US" dirty="0"/>
          </a:p>
        </p:txBody>
      </p:sp>
    </p:spTree>
    <p:extLst>
      <p:ext uri="{BB962C8B-B14F-4D97-AF65-F5344CB8AC3E}">
        <p14:creationId xmlns:p14="http://schemas.microsoft.com/office/powerpoint/2010/main" val="2230346710"/>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Syria shows the capital city of Damascus near the border with Lebanon and Aleppo near the border with Turkey. The Euphrates River runs south through eastern Syria into Iraq. An inset globe shows Syria is in the Middle Eas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2200" y="1524000"/>
            <a:ext cx="4648200" cy="4575000"/>
          </a:xfrm>
          <a:prstGeom prst="rect">
            <a:avLst/>
          </a:prstGeom>
        </p:spPr>
      </p:pic>
      <p:sp>
        <p:nvSpPr>
          <p:cNvPr id="2" name="Title 1"/>
          <p:cNvSpPr>
            <a:spLocks noGrp="1"/>
          </p:cNvSpPr>
          <p:nvPr>
            <p:ph type="title"/>
          </p:nvPr>
        </p:nvSpPr>
        <p:spPr/>
        <p:txBody>
          <a:bodyPr/>
          <a:lstStyle/>
          <a:p>
            <a:r>
              <a:rPr lang="en-US" dirty="0" smtClean="0"/>
              <a:t>Map 3.3 Syria</a:t>
            </a:r>
            <a:endParaRPr lang="en-US" sz="2800" dirty="0"/>
          </a:p>
        </p:txBody>
      </p:sp>
    </p:spTree>
    <p:extLst>
      <p:ext uri="{BB962C8B-B14F-4D97-AF65-F5344CB8AC3E}">
        <p14:creationId xmlns:p14="http://schemas.microsoft.com/office/powerpoint/2010/main" val="176082650"/>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in the Field </a:t>
            </a:r>
            <a:r>
              <a:rPr lang="en-US" sz="2800" dirty="0" smtClean="0"/>
              <a:t>(4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lstStyle/>
          <a:p>
            <a:r>
              <a:rPr lang="en-US" dirty="0" smtClean="0"/>
              <a:t>Gift-Giving and Exchange</a:t>
            </a:r>
          </a:p>
          <a:p>
            <a:pPr lvl="1"/>
            <a:r>
              <a:rPr lang="en-US" dirty="0" smtClean="0"/>
              <a:t>Giving </a:t>
            </a:r>
            <a:r>
              <a:rPr lang="en-US" dirty="0"/>
              <a:t>gifts can help the project proceed</a:t>
            </a:r>
          </a:p>
          <a:p>
            <a:pPr lvl="1"/>
            <a:r>
              <a:rPr lang="en-US" dirty="0"/>
              <a:t>Gifts should be culturally and ethically appropriate</a:t>
            </a:r>
          </a:p>
          <a:p>
            <a:pPr lvl="1"/>
            <a:r>
              <a:rPr lang="en-US" dirty="0"/>
              <a:t>Important to learn the local rules of </a:t>
            </a:r>
            <a:r>
              <a:rPr lang="en-US" dirty="0" smtClean="0"/>
              <a:t>exchange</a:t>
            </a:r>
          </a:p>
          <a:p>
            <a:pPr marL="0" indent="0">
              <a:buNone/>
            </a:pPr>
            <a:endParaRPr lang="en-US" dirty="0" smtClean="0"/>
          </a:p>
          <a:p>
            <a:pPr lvl="1"/>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3631457649"/>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in the Field </a:t>
            </a:r>
            <a:r>
              <a:rPr lang="en-US" sz="2800" dirty="0" smtClean="0"/>
              <a:t>(5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lstStyle/>
          <a:p>
            <a:r>
              <a:rPr lang="en-US" dirty="0" smtClean="0"/>
              <a:t>Other considerations in gift-giving (Figure </a:t>
            </a:r>
            <a:r>
              <a:rPr lang="en-US" dirty="0"/>
              <a:t>3</a:t>
            </a:r>
            <a:r>
              <a:rPr lang="en-US" dirty="0" smtClean="0"/>
              <a:t>.2 Culture and Gift-Giving in the Field)</a:t>
            </a:r>
          </a:p>
          <a:p>
            <a:pPr lvl="1"/>
            <a:r>
              <a:rPr lang="en-US" dirty="0" smtClean="0"/>
              <a:t>What is an appropriate gift</a:t>
            </a:r>
          </a:p>
          <a:p>
            <a:pPr lvl="1"/>
            <a:r>
              <a:rPr lang="en-US" dirty="0" smtClean="0"/>
              <a:t>How to deliver a gift</a:t>
            </a:r>
          </a:p>
          <a:p>
            <a:pPr lvl="1"/>
            <a:r>
              <a:rPr lang="en-US" dirty="0" smtClean="0"/>
              <a:t>How to behave as a gift-giver</a:t>
            </a:r>
          </a:p>
          <a:p>
            <a:pPr lvl="1"/>
            <a:r>
              <a:rPr lang="en-US" dirty="0" smtClean="0"/>
              <a:t>How to behave when receiving a gift</a:t>
            </a:r>
          </a:p>
          <a:p>
            <a:pPr lvl="1"/>
            <a:r>
              <a:rPr lang="en-US" dirty="0" smtClean="0"/>
              <a:t>Whether and how to give a follow-up gift</a:t>
            </a:r>
            <a:endParaRPr lang="en-US" dirty="0"/>
          </a:p>
        </p:txBody>
      </p:sp>
    </p:spTree>
    <p:extLst>
      <p:ext uri="{BB962C8B-B14F-4D97-AF65-F5344CB8AC3E}">
        <p14:creationId xmlns:p14="http://schemas.microsoft.com/office/powerpoint/2010/main" val="1850902296"/>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in the Field </a:t>
            </a:r>
            <a:r>
              <a:rPr lang="en-US" sz="2800" dirty="0" smtClean="0"/>
              <a:t>(6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lstStyle/>
          <a:p>
            <a:r>
              <a:rPr lang="en-US" dirty="0" err="1" smtClean="0"/>
              <a:t>Microcultures</a:t>
            </a:r>
            <a:r>
              <a:rPr lang="en-US" dirty="0" smtClean="0"/>
              <a:t> and Fieldwork</a:t>
            </a:r>
          </a:p>
          <a:p>
            <a:pPr lvl="1"/>
            <a:r>
              <a:rPr lang="en-US" dirty="0" smtClean="0"/>
              <a:t>Class</a:t>
            </a:r>
            <a:r>
              <a:rPr lang="en-US" dirty="0"/>
              <a:t>, race, gender, age, and other microcultural factors may affect how local people will perceive and welcome an anthropologist</a:t>
            </a:r>
          </a:p>
          <a:p>
            <a:endParaRPr lang="en-US" dirty="0"/>
          </a:p>
        </p:txBody>
      </p:sp>
    </p:spTree>
    <p:extLst>
      <p:ext uri="{BB962C8B-B14F-4D97-AF65-F5344CB8AC3E}">
        <p14:creationId xmlns:p14="http://schemas.microsoft.com/office/powerpoint/2010/main" val="4157137368"/>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in the Field </a:t>
            </a:r>
            <a:r>
              <a:rPr lang="en-US" sz="2800" dirty="0" smtClean="0"/>
              <a:t>(7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normAutofit/>
          </a:bodyPr>
          <a:lstStyle/>
          <a:p>
            <a:r>
              <a:rPr lang="en-US" dirty="0" smtClean="0"/>
              <a:t>Culture Shock:</a:t>
            </a:r>
          </a:p>
          <a:p>
            <a:pPr lvl="1"/>
            <a:r>
              <a:rPr lang="en-US" dirty="0" smtClean="0"/>
              <a:t>Feelings </a:t>
            </a:r>
            <a:r>
              <a:rPr lang="en-US" dirty="0"/>
              <a:t>of </a:t>
            </a:r>
          </a:p>
          <a:p>
            <a:pPr lvl="2"/>
            <a:r>
              <a:rPr lang="en-US" dirty="0"/>
              <a:t>U</a:t>
            </a:r>
            <a:r>
              <a:rPr lang="en-US" dirty="0" smtClean="0"/>
              <a:t>neasiness</a:t>
            </a:r>
            <a:r>
              <a:rPr lang="en-US" dirty="0"/>
              <a:t>, loneliness, and anxiety that occur when a person shifts from one culture to </a:t>
            </a:r>
            <a:r>
              <a:rPr lang="en-US" dirty="0" smtClean="0"/>
              <a:t>another</a:t>
            </a:r>
            <a:endParaRPr lang="en-US" dirty="0"/>
          </a:p>
          <a:p>
            <a:pPr lvl="2"/>
            <a:r>
              <a:rPr lang="en-US" dirty="0"/>
              <a:t>R</a:t>
            </a:r>
            <a:r>
              <a:rPr lang="en-US" dirty="0" smtClean="0"/>
              <a:t>educed </a:t>
            </a:r>
            <a:r>
              <a:rPr lang="en-US" dirty="0"/>
              <a:t>competence as a cultural actor</a:t>
            </a:r>
          </a:p>
          <a:p>
            <a:pPr lvl="1"/>
            <a:r>
              <a:rPr lang="en-US" dirty="0"/>
              <a:t>Can include problems with food, language barriers, and loneliness</a:t>
            </a:r>
          </a:p>
          <a:p>
            <a:pPr lvl="1"/>
            <a:r>
              <a:rPr lang="en-US" dirty="0"/>
              <a:t>Reverse culture shock may occur after coming home</a:t>
            </a:r>
          </a:p>
          <a:p>
            <a:endParaRPr lang="en-US" dirty="0"/>
          </a:p>
        </p:txBody>
      </p:sp>
    </p:spTree>
    <p:extLst>
      <p:ext uri="{BB962C8B-B14F-4D97-AF65-F5344CB8AC3E}">
        <p14:creationId xmlns:p14="http://schemas.microsoft.com/office/powerpoint/2010/main" val="2191828928"/>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Fieldwork </a:t>
            </a:r>
            <a:r>
              <a:rPr lang="en-US" dirty="0" smtClean="0"/>
              <a:t>Techniques </a:t>
            </a:r>
            <a:r>
              <a:rPr lang="en-US" sz="2800" dirty="0" smtClean="0"/>
              <a:t>(1 </a:t>
            </a:r>
            <a:r>
              <a:rPr lang="en-US" sz="2800" dirty="0"/>
              <a:t>of 6</a:t>
            </a:r>
            <a:r>
              <a:rPr lang="en-US" sz="2800" dirty="0" smtClean="0"/>
              <a:t>)</a:t>
            </a:r>
            <a:endParaRPr lang="en-US" sz="2800" dirty="0"/>
          </a:p>
        </p:txBody>
      </p:sp>
      <p:sp>
        <p:nvSpPr>
          <p:cNvPr id="3" name="Content Placeholder 2"/>
          <p:cNvSpPr>
            <a:spLocks noGrp="1"/>
          </p:cNvSpPr>
          <p:nvPr>
            <p:ph idx="1"/>
          </p:nvPr>
        </p:nvSpPr>
        <p:spPr/>
        <p:txBody>
          <a:bodyPr/>
          <a:lstStyle/>
          <a:p>
            <a:endParaRPr lang="en-US" dirty="0" smtClean="0"/>
          </a:p>
          <a:p>
            <a:r>
              <a:rPr lang="en-US" dirty="0" smtClean="0"/>
              <a:t>Research </a:t>
            </a:r>
            <a:r>
              <a:rPr lang="en-US" dirty="0"/>
              <a:t>and Data</a:t>
            </a:r>
          </a:p>
          <a:p>
            <a:endParaRPr lang="en-US" dirty="0" smtClean="0"/>
          </a:p>
          <a:p>
            <a:r>
              <a:rPr lang="en-US" dirty="0" smtClean="0"/>
              <a:t>Recording </a:t>
            </a:r>
            <a:r>
              <a:rPr lang="en-US" dirty="0"/>
              <a:t>Culture</a:t>
            </a:r>
          </a:p>
          <a:p>
            <a:endParaRPr lang="en-US" dirty="0" smtClean="0"/>
          </a:p>
          <a:p>
            <a:r>
              <a:rPr lang="en-US" dirty="0" smtClean="0"/>
              <a:t>Data </a:t>
            </a:r>
            <a:r>
              <a:rPr lang="en-US" dirty="0"/>
              <a:t>Analysis</a:t>
            </a:r>
          </a:p>
          <a:p>
            <a:endParaRPr lang="en-US" dirty="0"/>
          </a:p>
        </p:txBody>
      </p:sp>
    </p:spTree>
    <p:extLst>
      <p:ext uri="{BB962C8B-B14F-4D97-AF65-F5344CB8AC3E}">
        <p14:creationId xmlns:p14="http://schemas.microsoft.com/office/powerpoint/2010/main" val="4150873564"/>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Fieldwork Techniques </a:t>
            </a:r>
            <a:r>
              <a:rPr lang="en-US" sz="2800" dirty="0" smtClean="0"/>
              <a:t>(2 of </a:t>
            </a:r>
            <a:r>
              <a:rPr lang="en-US" sz="2800" dirty="0"/>
              <a:t>6</a:t>
            </a:r>
            <a:r>
              <a:rPr lang="en-US" sz="2800" dirty="0" smtClean="0"/>
              <a:t>)</a:t>
            </a:r>
            <a:endParaRPr lang="en-US" sz="2800" dirty="0"/>
          </a:p>
        </p:txBody>
      </p:sp>
      <p:sp>
        <p:nvSpPr>
          <p:cNvPr id="3" name="Content Placeholder 2"/>
          <p:cNvSpPr>
            <a:spLocks noGrp="1"/>
          </p:cNvSpPr>
          <p:nvPr>
            <p:ph idx="1"/>
          </p:nvPr>
        </p:nvSpPr>
        <p:spPr/>
        <p:txBody>
          <a:bodyPr>
            <a:normAutofit/>
          </a:bodyPr>
          <a:lstStyle/>
          <a:p>
            <a:r>
              <a:rPr lang="en-US" dirty="0" smtClean="0"/>
              <a:t>Two Research Approaches:</a:t>
            </a:r>
          </a:p>
          <a:p>
            <a:pPr lvl="1"/>
            <a:r>
              <a:rPr lang="en-US" dirty="0" smtClean="0"/>
              <a:t>Etic</a:t>
            </a:r>
            <a:r>
              <a:rPr lang="en-US" dirty="0"/>
              <a:t>: </a:t>
            </a:r>
            <a:r>
              <a:rPr lang="en-US" dirty="0" smtClean="0"/>
              <a:t>Data </a:t>
            </a:r>
            <a:r>
              <a:rPr lang="en-US" dirty="0"/>
              <a:t>collected according to the </a:t>
            </a:r>
            <a:r>
              <a:rPr lang="en-US" dirty="0" smtClean="0"/>
              <a:t>researchers</a:t>
            </a:r>
            <a:r>
              <a:rPr lang="en-US" dirty="0"/>
              <a:t>’ questions and </a:t>
            </a:r>
            <a:r>
              <a:rPr lang="en-US" dirty="0" smtClean="0"/>
              <a:t>categories; “deductive</a:t>
            </a:r>
            <a:r>
              <a:rPr lang="en-US" dirty="0"/>
              <a:t>”; goal of being able to test a </a:t>
            </a:r>
            <a:r>
              <a:rPr lang="en-US" dirty="0" smtClean="0"/>
              <a:t>hypothesis; preferred </a:t>
            </a:r>
            <a:r>
              <a:rPr lang="en-US" dirty="0"/>
              <a:t>by cultural materialists	</a:t>
            </a:r>
            <a:endParaRPr lang="en-US" dirty="0" smtClean="0"/>
          </a:p>
          <a:p>
            <a:pPr lvl="1"/>
            <a:r>
              <a:rPr lang="en-US" dirty="0"/>
              <a:t>Emic</a:t>
            </a:r>
            <a:r>
              <a:rPr lang="en-US" dirty="0" smtClean="0"/>
              <a:t>: Seeks </a:t>
            </a:r>
            <a:r>
              <a:rPr lang="en-US" dirty="0"/>
              <a:t>to understand </a:t>
            </a:r>
            <a:r>
              <a:rPr lang="en-US" dirty="0" smtClean="0"/>
              <a:t>what </a:t>
            </a:r>
            <a:r>
              <a:rPr lang="en-US" dirty="0"/>
              <a:t>insiders say and understand about their culture, their categories of </a:t>
            </a:r>
            <a:r>
              <a:rPr lang="en-US" dirty="0" smtClean="0"/>
              <a:t>thinking; “inductive</a:t>
            </a:r>
            <a:r>
              <a:rPr lang="en-US" dirty="0"/>
              <a:t>”; not </a:t>
            </a:r>
            <a:r>
              <a:rPr lang="en-US" dirty="0" smtClean="0"/>
              <a:t>hypothesis-driven; preferred </a:t>
            </a:r>
            <a:r>
              <a:rPr lang="en-US" dirty="0"/>
              <a:t>by interpretivists</a:t>
            </a:r>
          </a:p>
          <a:p>
            <a:pPr lvl="1"/>
            <a:endParaRPr lang="en-US" dirty="0"/>
          </a:p>
          <a:p>
            <a:pPr lvl="1"/>
            <a:endParaRPr lang="en-US" dirty="0"/>
          </a:p>
        </p:txBody>
      </p:sp>
    </p:spTree>
    <p:extLst>
      <p:ext uri="{BB962C8B-B14F-4D97-AF65-F5344CB8AC3E}">
        <p14:creationId xmlns:p14="http://schemas.microsoft.com/office/powerpoint/2010/main" val="891655305"/>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Fieldwork </a:t>
            </a:r>
            <a:r>
              <a:rPr lang="en-US" dirty="0" smtClean="0"/>
              <a:t>Techniques </a:t>
            </a:r>
            <a:r>
              <a:rPr lang="en-US" sz="2800" dirty="0" smtClean="0"/>
              <a:t>(3 </a:t>
            </a:r>
            <a:r>
              <a:rPr lang="en-US" sz="2800" dirty="0"/>
              <a:t>of 6</a:t>
            </a:r>
            <a:r>
              <a:rPr lang="en-US" sz="2800" dirty="0" smtClean="0"/>
              <a:t>)</a:t>
            </a:r>
            <a:endParaRPr lang="en-US" sz="2800" dirty="0"/>
          </a:p>
        </p:txBody>
      </p:sp>
      <p:sp>
        <p:nvSpPr>
          <p:cNvPr id="3" name="Content Placeholder 2"/>
          <p:cNvSpPr>
            <a:spLocks noGrp="1"/>
          </p:cNvSpPr>
          <p:nvPr>
            <p:ph idx="1"/>
          </p:nvPr>
        </p:nvSpPr>
        <p:spPr/>
        <p:txBody>
          <a:bodyPr>
            <a:normAutofit/>
          </a:bodyPr>
          <a:lstStyle/>
          <a:p>
            <a:pPr marL="0" indent="0">
              <a:buNone/>
            </a:pPr>
            <a:r>
              <a:rPr lang="en-US" dirty="0" smtClean="0"/>
              <a:t>Figure 3.3 Methods in Cultural Anthropology</a:t>
            </a:r>
            <a:endParaRPr lang="en-US" dirty="0"/>
          </a:p>
          <a:p>
            <a:r>
              <a:rPr lang="en-US" sz="2400" dirty="0" smtClean="0"/>
              <a:t>The inductive (emic) approach uses qualitative data from sources like participant observation, interviews, video, archival data, life history</a:t>
            </a:r>
          </a:p>
          <a:p>
            <a:r>
              <a:rPr lang="en-US" sz="2400" dirty="0" smtClean="0"/>
              <a:t>The deductive (etic) approach uses quantitative data from sources like participant observation, interviews, surveys, time allocation, census data, or other statistics</a:t>
            </a:r>
          </a:p>
          <a:p>
            <a:r>
              <a:rPr lang="en-US" sz="2400" dirty="0" smtClean="0"/>
              <a:t>The mixed approach uses qualitative and quantitative data from whichever of the above sources are relevant to the study objectives</a:t>
            </a:r>
          </a:p>
          <a:p>
            <a:endParaRPr lang="en-US" dirty="0" smtClean="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2494977092"/>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Fieldwork </a:t>
            </a:r>
            <a:r>
              <a:rPr lang="en-US" dirty="0" smtClean="0"/>
              <a:t>Techniques </a:t>
            </a:r>
            <a:r>
              <a:rPr lang="en-US" sz="2800" dirty="0" smtClean="0"/>
              <a:t>(4 </a:t>
            </a:r>
            <a:r>
              <a:rPr lang="en-US" sz="2800" dirty="0"/>
              <a:t>of 6</a:t>
            </a:r>
            <a:r>
              <a:rPr lang="en-US" sz="2800" dirty="0" smtClean="0"/>
              <a:t>)</a:t>
            </a:r>
            <a:endParaRPr lang="en-US" sz="2800" dirty="0"/>
          </a:p>
        </p:txBody>
      </p:sp>
      <p:sp>
        <p:nvSpPr>
          <p:cNvPr id="3" name="Content Placeholder 2"/>
          <p:cNvSpPr>
            <a:spLocks noGrp="1"/>
          </p:cNvSpPr>
          <p:nvPr>
            <p:ph idx="1"/>
          </p:nvPr>
        </p:nvSpPr>
        <p:spPr/>
        <p:txBody>
          <a:bodyPr>
            <a:normAutofit lnSpcReduction="10000"/>
          </a:bodyPr>
          <a:lstStyle/>
          <a:p>
            <a:r>
              <a:rPr lang="en-US" dirty="0" smtClean="0"/>
              <a:t>Data-collection </a:t>
            </a:r>
            <a:r>
              <a:rPr lang="en-US" dirty="0"/>
              <a:t>t</a:t>
            </a:r>
            <a:r>
              <a:rPr lang="en-US" dirty="0" smtClean="0"/>
              <a:t>echniques and specialized methods include:</a:t>
            </a:r>
          </a:p>
          <a:p>
            <a:pPr lvl="1"/>
            <a:r>
              <a:rPr lang="en-US" dirty="0" smtClean="0"/>
              <a:t>Interviews </a:t>
            </a:r>
          </a:p>
          <a:p>
            <a:pPr lvl="1"/>
            <a:r>
              <a:rPr lang="en-US" dirty="0" smtClean="0"/>
              <a:t>Questionnaires</a:t>
            </a:r>
          </a:p>
          <a:p>
            <a:pPr lvl="1"/>
            <a:r>
              <a:rPr lang="en-US" dirty="0" smtClean="0"/>
              <a:t>Watching and asking</a:t>
            </a:r>
          </a:p>
          <a:p>
            <a:pPr lvl="1"/>
            <a:r>
              <a:rPr lang="en-US" dirty="0" smtClean="0"/>
              <a:t>Life history</a:t>
            </a:r>
          </a:p>
          <a:p>
            <a:pPr lvl="1"/>
            <a:r>
              <a:rPr lang="en-US" dirty="0" smtClean="0"/>
              <a:t>Time allocation study</a:t>
            </a:r>
          </a:p>
          <a:p>
            <a:pPr lvl="1"/>
            <a:r>
              <a:rPr lang="en-US" dirty="0" smtClean="0"/>
              <a:t>Text/historical sources</a:t>
            </a:r>
          </a:p>
          <a:p>
            <a:pPr lvl="1"/>
            <a:r>
              <a:rPr lang="en-US" dirty="0" smtClean="0"/>
              <a:t>Team projects</a:t>
            </a:r>
          </a:p>
          <a:p>
            <a:pPr lvl="1"/>
            <a:endParaRPr lang="en-US" dirty="0"/>
          </a:p>
        </p:txBody>
      </p:sp>
    </p:spTree>
    <p:extLst>
      <p:ext uri="{BB962C8B-B14F-4D97-AF65-F5344CB8AC3E}">
        <p14:creationId xmlns:p14="http://schemas.microsoft.com/office/powerpoint/2010/main" val="3727303669"/>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Fieldwork </a:t>
            </a:r>
            <a:r>
              <a:rPr lang="en-US" dirty="0" smtClean="0"/>
              <a:t>Techniques </a:t>
            </a:r>
            <a:r>
              <a:rPr lang="en-US" sz="2800" dirty="0" smtClean="0"/>
              <a:t>(5 </a:t>
            </a:r>
            <a:r>
              <a:rPr lang="en-US" sz="2800" dirty="0"/>
              <a:t>of 6</a:t>
            </a:r>
            <a:r>
              <a:rPr lang="en-US" sz="2800" dirty="0" smtClean="0"/>
              <a:t>)</a:t>
            </a:r>
            <a:endParaRPr lang="en-US" sz="2800" dirty="0"/>
          </a:p>
        </p:txBody>
      </p:sp>
      <p:sp>
        <p:nvSpPr>
          <p:cNvPr id="3" name="Content Placeholder 2"/>
          <p:cNvSpPr>
            <a:spLocks noGrp="1"/>
          </p:cNvSpPr>
          <p:nvPr>
            <p:ph idx="1"/>
          </p:nvPr>
        </p:nvSpPr>
        <p:spPr/>
        <p:txBody>
          <a:bodyPr/>
          <a:lstStyle/>
          <a:p>
            <a:r>
              <a:rPr lang="en-US" dirty="0" smtClean="0"/>
              <a:t>Recording culture:</a:t>
            </a:r>
          </a:p>
          <a:p>
            <a:pPr lvl="1"/>
            <a:r>
              <a:rPr lang="en-US" dirty="0" smtClean="0"/>
              <a:t>Field </a:t>
            </a:r>
            <a:r>
              <a:rPr lang="en-US" dirty="0"/>
              <a:t>notes—logs, personal journals, descriptions of events, and notes about those notes</a:t>
            </a:r>
          </a:p>
          <a:p>
            <a:pPr lvl="1"/>
            <a:r>
              <a:rPr lang="en-US" dirty="0" smtClean="0"/>
              <a:t>Tape </a:t>
            </a:r>
            <a:r>
              <a:rPr lang="en-US" dirty="0"/>
              <a:t>recording, photography, and </a:t>
            </a:r>
            <a:r>
              <a:rPr lang="en-US" dirty="0" smtClean="0"/>
              <a:t>videos</a:t>
            </a:r>
            <a:endParaRPr lang="en-US" dirty="0"/>
          </a:p>
          <a:p>
            <a:pPr lvl="2"/>
            <a:r>
              <a:rPr lang="en-US" dirty="0" smtClean="0"/>
              <a:t>Example: audio </a:t>
            </a:r>
            <a:r>
              <a:rPr lang="en-US" dirty="0"/>
              <a:t>recording in Spain </a:t>
            </a:r>
          </a:p>
          <a:p>
            <a:pPr lvl="2"/>
            <a:r>
              <a:rPr lang="en-US" dirty="0" smtClean="0"/>
              <a:t>Example: photography </a:t>
            </a:r>
            <a:r>
              <a:rPr lang="en-US" dirty="0"/>
              <a:t>in Iceland</a:t>
            </a:r>
          </a:p>
          <a:p>
            <a:endParaRPr lang="en-US" dirty="0"/>
          </a:p>
        </p:txBody>
      </p:sp>
    </p:spTree>
    <p:extLst>
      <p:ext uri="{BB962C8B-B14F-4D97-AF65-F5344CB8AC3E}">
        <p14:creationId xmlns:p14="http://schemas.microsoft.com/office/powerpoint/2010/main" val="3264294975"/>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Fieldwork </a:t>
            </a:r>
            <a:r>
              <a:rPr lang="en-US" dirty="0" smtClean="0"/>
              <a:t>Techniques </a:t>
            </a:r>
            <a:r>
              <a:rPr lang="en-US" sz="2800" dirty="0" smtClean="0"/>
              <a:t>(6 </a:t>
            </a:r>
            <a:r>
              <a:rPr lang="en-US" sz="2800" dirty="0"/>
              <a:t>of 6</a:t>
            </a:r>
            <a:r>
              <a:rPr lang="en-US" sz="2800" dirty="0" smtClean="0"/>
              <a:t>)</a:t>
            </a:r>
            <a:endParaRPr lang="en-US" sz="2800" dirty="0"/>
          </a:p>
        </p:txBody>
      </p:sp>
      <p:pic>
        <p:nvPicPr>
          <p:cNvPr id="4" name="Content Placeholder 3" descr="A photo shows a Kaiapo man filming as he and four other villagers stand under the wing of a single-engine plane.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90776" y="1600200"/>
            <a:ext cx="2962448" cy="4525963"/>
          </a:xfrm>
        </p:spPr>
      </p:pic>
    </p:spTree>
    <p:extLst>
      <p:ext uri="{BB962C8B-B14F-4D97-AF65-F5344CB8AC3E}">
        <p14:creationId xmlns:p14="http://schemas.microsoft.com/office/powerpoint/2010/main" val="1680862373"/>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Spain with administrative boundaries marked shows Galacia and Asturias north of Portugal; the Basque area near the border with France; Catalonia and Valencia on the Mediterranean coast; the capital city of Madrid in central Spain; and Andalucia and its city of Cordoba across the water from Morocco. An inset globe shows Spain is in western Europe.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2600" y="1447800"/>
            <a:ext cx="5562600" cy="4807400"/>
          </a:xfrm>
          <a:prstGeom prst="rect">
            <a:avLst/>
          </a:prstGeom>
        </p:spPr>
      </p:pic>
      <p:sp>
        <p:nvSpPr>
          <p:cNvPr id="2" name="Title 1"/>
          <p:cNvSpPr>
            <a:spLocks noGrp="1"/>
          </p:cNvSpPr>
          <p:nvPr>
            <p:ph type="title"/>
          </p:nvPr>
        </p:nvSpPr>
        <p:spPr/>
        <p:txBody>
          <a:bodyPr/>
          <a:lstStyle/>
          <a:p>
            <a:r>
              <a:rPr lang="en-US" dirty="0" smtClean="0"/>
              <a:t>Map 3.5 Spain</a:t>
            </a:r>
            <a:endParaRPr lang="en-US" sz="2800" dirty="0"/>
          </a:p>
        </p:txBody>
      </p:sp>
    </p:spTree>
    <p:extLst>
      <p:ext uri="{BB962C8B-B14F-4D97-AF65-F5344CB8AC3E}">
        <p14:creationId xmlns:p14="http://schemas.microsoft.com/office/powerpoint/2010/main" val="3855235603"/>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Iceland shows its capital Reykjavik on the west coast. Across the Norwegian Sea the map also shows the capitals of Norway (Oslo), Sweden (Stockholm), and Denmark (Copenhagen); south across the Atlantic is Ireland (Dublin). An inset globe shows Iceland is in the North Atlantic Ocea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7400" y="1524000"/>
            <a:ext cx="5466561" cy="4724400"/>
          </a:xfrm>
          <a:prstGeom prst="rect">
            <a:avLst/>
          </a:prstGeom>
        </p:spPr>
      </p:pic>
      <p:sp>
        <p:nvSpPr>
          <p:cNvPr id="2" name="Title 1"/>
          <p:cNvSpPr>
            <a:spLocks noGrp="1"/>
          </p:cNvSpPr>
          <p:nvPr>
            <p:ph type="title"/>
          </p:nvPr>
        </p:nvSpPr>
        <p:spPr/>
        <p:txBody>
          <a:bodyPr/>
          <a:lstStyle/>
          <a:p>
            <a:r>
              <a:rPr lang="en-US" dirty="0" smtClean="0"/>
              <a:t>Map 3.6 Iceland</a:t>
            </a:r>
            <a:endParaRPr lang="en-US" sz="2800" dirty="0"/>
          </a:p>
        </p:txBody>
      </p:sp>
    </p:spTree>
    <p:extLst>
      <p:ext uri="{BB962C8B-B14F-4D97-AF65-F5344CB8AC3E}">
        <p14:creationId xmlns:p14="http://schemas.microsoft.com/office/powerpoint/2010/main" val="1291699151"/>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a:t>Eye on the Environment: </a:t>
            </a:r>
            <a:r>
              <a:rPr lang="en-US" sz="3200" dirty="0" smtClean="0"/>
              <a:t>Inuit </a:t>
            </a:r>
            <a:r>
              <a:rPr lang="en-US" sz="3200" dirty="0"/>
              <a:t>Place </a:t>
            </a:r>
            <a:r>
              <a:rPr lang="en-US" sz="3200" dirty="0" smtClean="0"/>
              <a:t>Names </a:t>
            </a:r>
            <a:br>
              <a:rPr lang="en-US" sz="3200" dirty="0" smtClean="0"/>
            </a:br>
            <a:r>
              <a:rPr lang="en-US" sz="3200" dirty="0" smtClean="0"/>
              <a:t>and </a:t>
            </a:r>
            <a:r>
              <a:rPr lang="en-US" sz="3200" dirty="0"/>
              <a:t>Landscape </a:t>
            </a:r>
            <a:r>
              <a:rPr lang="en-US" sz="3200" dirty="0" smtClean="0"/>
              <a:t>Knowledge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a:t>South Baffin Island Place Name </a:t>
            </a:r>
            <a:r>
              <a:rPr lang="en-US" dirty="0" smtClean="0"/>
              <a:t>Project</a:t>
            </a:r>
            <a:endParaRPr lang="en-US" dirty="0"/>
          </a:p>
          <a:p>
            <a:pPr lvl="1"/>
            <a:r>
              <a:rPr lang="en-US" dirty="0"/>
              <a:t>Dedicated to collecting and recording Inuit place names and landscape knowledge</a:t>
            </a:r>
          </a:p>
          <a:p>
            <a:pPr lvl="1"/>
            <a:r>
              <a:rPr lang="en-US" dirty="0"/>
              <a:t>As most Inuit are now settled in villages and towns, this knowledge is in danger of being lost</a:t>
            </a:r>
          </a:p>
          <a:p>
            <a:pPr lvl="1"/>
            <a:r>
              <a:rPr lang="en-US" dirty="0"/>
              <a:t>Looks at toponymy and indigenous knowledge </a:t>
            </a:r>
          </a:p>
          <a:p>
            <a:endParaRPr lang="en-US" dirty="0"/>
          </a:p>
        </p:txBody>
      </p:sp>
    </p:spTree>
    <p:extLst>
      <p:ext uri="{BB962C8B-B14F-4D97-AF65-F5344CB8AC3E}">
        <p14:creationId xmlns:p14="http://schemas.microsoft.com/office/powerpoint/2010/main" val="780114976"/>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a:t>Eye on the Environment: </a:t>
            </a:r>
            <a:r>
              <a:rPr lang="en-US" sz="3200" dirty="0" smtClean="0"/>
              <a:t>Inuit </a:t>
            </a:r>
            <a:r>
              <a:rPr lang="en-US" sz="3200" dirty="0"/>
              <a:t>Place Names </a:t>
            </a:r>
            <a:r>
              <a:rPr lang="en-US" sz="3200" dirty="0" smtClean="0"/>
              <a:t/>
            </a:r>
            <a:br>
              <a:rPr lang="en-US" sz="3200" dirty="0" smtClean="0"/>
            </a:br>
            <a:r>
              <a:rPr lang="en-US" sz="3200" dirty="0" smtClean="0"/>
              <a:t>and </a:t>
            </a:r>
            <a:r>
              <a:rPr lang="en-US" sz="3200" dirty="0"/>
              <a:t>Landscape </a:t>
            </a:r>
            <a:r>
              <a:rPr lang="en-US" sz="3200" dirty="0" smtClean="0"/>
              <a:t>Knowledge </a:t>
            </a:r>
            <a:r>
              <a:rPr lang="en-US" sz="2800" dirty="0" smtClean="0"/>
              <a:t>(2 of 2)</a:t>
            </a:r>
            <a:endParaRPr lang="en-US" sz="2800" dirty="0"/>
          </a:p>
        </p:txBody>
      </p:sp>
      <p:sp>
        <p:nvSpPr>
          <p:cNvPr id="3" name="Content Placeholder 2"/>
          <p:cNvSpPr>
            <a:spLocks noGrp="1"/>
          </p:cNvSpPr>
          <p:nvPr>
            <p:ph idx="1"/>
          </p:nvPr>
        </p:nvSpPr>
        <p:spPr/>
        <p:txBody>
          <a:bodyPr/>
          <a:lstStyle/>
          <a:p>
            <a:r>
              <a:rPr lang="en-US" dirty="0"/>
              <a:t>Collecting data</a:t>
            </a:r>
          </a:p>
          <a:p>
            <a:pPr lvl="1"/>
            <a:r>
              <a:rPr lang="en-US" dirty="0"/>
              <a:t>Community-wide workshops</a:t>
            </a:r>
          </a:p>
          <a:p>
            <a:pPr lvl="1"/>
            <a:r>
              <a:rPr lang="en-US" dirty="0"/>
              <a:t>One-on-one interviews</a:t>
            </a:r>
          </a:p>
          <a:p>
            <a:pPr lvl="1"/>
            <a:r>
              <a:rPr lang="en-US" dirty="0"/>
              <a:t>Participant observation</a:t>
            </a:r>
          </a:p>
          <a:p>
            <a:pPr lvl="1"/>
            <a:r>
              <a:rPr lang="en-US" dirty="0"/>
              <a:t>Analysis and archiving</a:t>
            </a:r>
          </a:p>
          <a:p>
            <a:endParaRPr lang="en-US" dirty="0"/>
          </a:p>
        </p:txBody>
      </p:sp>
    </p:spTree>
    <p:extLst>
      <p:ext uri="{BB962C8B-B14F-4D97-AF65-F5344CB8AC3E}">
        <p14:creationId xmlns:p14="http://schemas.microsoft.com/office/powerpoint/2010/main" val="1262797057"/>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Baffin Island shows the capital of Iqaluit on its southeast coast. Across the Baffin Bay and Davis Strait is Kalaallit Nunaat (Greenland; part of Denmark). An inset globe shows Baffin island is in northeast Canad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200" y="1447800"/>
            <a:ext cx="4973782" cy="4716517"/>
          </a:xfrm>
          <a:prstGeom prst="rect">
            <a:avLst/>
          </a:prstGeom>
        </p:spPr>
      </p:pic>
      <p:sp>
        <p:nvSpPr>
          <p:cNvPr id="2" name="Title 1"/>
          <p:cNvSpPr>
            <a:spLocks noGrp="1"/>
          </p:cNvSpPr>
          <p:nvPr>
            <p:ph type="title"/>
          </p:nvPr>
        </p:nvSpPr>
        <p:spPr>
          <a:xfrm>
            <a:off x="457200" y="152400"/>
            <a:ext cx="8229600" cy="1143000"/>
          </a:xfrm>
        </p:spPr>
        <p:txBody>
          <a:bodyPr>
            <a:noAutofit/>
          </a:bodyPr>
          <a:lstStyle/>
          <a:p>
            <a:r>
              <a:rPr lang="en-US" sz="3200" dirty="0" smtClean="0"/>
              <a:t>Map 3.4 Baffin Island in Northeast Canada</a:t>
            </a:r>
            <a:endParaRPr lang="en-US" sz="2800" dirty="0"/>
          </a:p>
        </p:txBody>
      </p:sp>
    </p:spTree>
    <p:extLst>
      <p:ext uri="{BB962C8B-B14F-4D97-AF65-F5344CB8AC3E}">
        <p14:creationId xmlns:p14="http://schemas.microsoft.com/office/powerpoint/2010/main" val="2443804838"/>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 </a:t>
            </a:r>
            <a:r>
              <a:rPr lang="en-US" sz="2800" dirty="0" smtClean="0"/>
              <a:t>(1 of 2)</a:t>
            </a:r>
            <a:endParaRPr lang="en-US" sz="2800" dirty="0"/>
          </a:p>
        </p:txBody>
      </p:sp>
      <p:sp>
        <p:nvSpPr>
          <p:cNvPr id="3" name="Content Placeholder 2"/>
          <p:cNvSpPr>
            <a:spLocks noGrp="1"/>
          </p:cNvSpPr>
          <p:nvPr>
            <p:ph idx="1"/>
          </p:nvPr>
        </p:nvSpPr>
        <p:spPr/>
        <p:txBody>
          <a:bodyPr>
            <a:normAutofit/>
          </a:bodyPr>
          <a:lstStyle/>
          <a:p>
            <a:r>
              <a:rPr lang="en-US" dirty="0" smtClean="0"/>
              <a:t>Qualitative Data </a:t>
            </a:r>
          </a:p>
          <a:p>
            <a:pPr lvl="1"/>
            <a:r>
              <a:rPr lang="en-US" dirty="0" smtClean="0"/>
              <a:t>Prose-based description</a:t>
            </a:r>
          </a:p>
          <a:p>
            <a:pPr lvl="2"/>
            <a:r>
              <a:rPr lang="en-US" dirty="0" smtClean="0"/>
              <a:t>Varies widely in form depending on the type of data and the approach of the anthropologist</a:t>
            </a:r>
            <a:endParaRPr lang="en-US" dirty="0"/>
          </a:p>
          <a:p>
            <a:endParaRPr lang="en-US" dirty="0" smtClean="0"/>
          </a:p>
          <a:p>
            <a:r>
              <a:rPr lang="en-US" dirty="0" smtClean="0"/>
              <a:t>Quantitative </a:t>
            </a:r>
            <a:r>
              <a:rPr lang="en-US" dirty="0"/>
              <a:t>Data</a:t>
            </a:r>
          </a:p>
          <a:p>
            <a:pPr lvl="1"/>
            <a:r>
              <a:rPr lang="en-US" dirty="0" smtClean="0"/>
              <a:t>Numeric presentation</a:t>
            </a:r>
          </a:p>
          <a:p>
            <a:pPr lvl="2"/>
            <a:r>
              <a:rPr lang="en-US" dirty="0"/>
              <a:t>S</a:t>
            </a:r>
            <a:r>
              <a:rPr lang="en-US" dirty="0" smtClean="0"/>
              <a:t>tatistics</a:t>
            </a:r>
            <a:endParaRPr lang="en-US" dirty="0"/>
          </a:p>
          <a:p>
            <a:endParaRPr lang="en-US" dirty="0"/>
          </a:p>
        </p:txBody>
      </p:sp>
    </p:spTree>
    <p:extLst>
      <p:ext uri="{BB962C8B-B14F-4D97-AF65-F5344CB8AC3E}">
        <p14:creationId xmlns:p14="http://schemas.microsoft.com/office/powerpoint/2010/main" val="765146212"/>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 </a:t>
            </a:r>
            <a:r>
              <a:rPr lang="en-US" sz="2800" dirty="0" smtClean="0"/>
              <a:t>(2 of 2)</a:t>
            </a:r>
            <a:endParaRPr lang="en-US" sz="2800" dirty="0"/>
          </a:p>
        </p:txBody>
      </p:sp>
      <p:sp>
        <p:nvSpPr>
          <p:cNvPr id="3" name="Content Placeholder 2"/>
          <p:cNvSpPr>
            <a:spLocks noGrp="1"/>
          </p:cNvSpPr>
          <p:nvPr>
            <p:ph idx="1"/>
          </p:nvPr>
        </p:nvSpPr>
        <p:spPr/>
        <p:txBody>
          <a:bodyPr>
            <a:normAutofit/>
          </a:bodyPr>
          <a:lstStyle/>
          <a:p>
            <a:r>
              <a:rPr lang="en-US" dirty="0" smtClean="0"/>
              <a:t>Ethnography—descriptive </a:t>
            </a:r>
            <a:r>
              <a:rPr lang="en-US" dirty="0"/>
              <a:t>writing about a culture	</a:t>
            </a:r>
          </a:p>
          <a:p>
            <a:pPr lvl="1"/>
            <a:r>
              <a:rPr lang="en-US" dirty="0"/>
              <a:t>The main way cultural anthropologists present their findings</a:t>
            </a:r>
          </a:p>
          <a:p>
            <a:pPr lvl="1"/>
            <a:r>
              <a:rPr lang="en-US" dirty="0"/>
              <a:t>Early ethnographers wrote about “exotic” cultures located far from Europe and North America</a:t>
            </a:r>
          </a:p>
          <a:p>
            <a:pPr lvl="1"/>
            <a:r>
              <a:rPr lang="en-US" dirty="0"/>
              <a:t>Ethnographies have changed in recent decades</a:t>
            </a:r>
          </a:p>
          <a:p>
            <a:endParaRPr lang="en-US" dirty="0"/>
          </a:p>
        </p:txBody>
      </p:sp>
    </p:spTree>
    <p:extLst>
      <p:ext uri="{BB962C8B-B14F-4D97-AF65-F5344CB8AC3E}">
        <p14:creationId xmlns:p14="http://schemas.microsoft.com/office/powerpoint/2010/main" val="3020954849"/>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Urgent Issues in Cultural Anthropology Research </a:t>
            </a:r>
            <a:r>
              <a:rPr lang="en-US" sz="2400" dirty="0" smtClean="0"/>
              <a:t/>
            </a:r>
            <a:br>
              <a:rPr lang="en-US" sz="2400" dirty="0" smtClean="0"/>
            </a:br>
            <a:r>
              <a:rPr lang="en-US" sz="2400" dirty="0" smtClean="0"/>
              <a:t>3.3 List some urgent issues in cultural anthropology research.</a:t>
            </a:r>
            <a:endParaRPr lang="en-US" sz="2400" dirty="0"/>
          </a:p>
        </p:txBody>
      </p:sp>
      <p:sp>
        <p:nvSpPr>
          <p:cNvPr id="3" name="Content Placeholder 2"/>
          <p:cNvSpPr>
            <a:spLocks noGrp="1"/>
          </p:cNvSpPr>
          <p:nvPr>
            <p:ph idx="1"/>
          </p:nvPr>
        </p:nvSpPr>
        <p:spPr/>
        <p:txBody>
          <a:bodyPr/>
          <a:lstStyle/>
          <a:p>
            <a:endParaRPr lang="en-US" dirty="0" smtClean="0"/>
          </a:p>
          <a:p>
            <a:r>
              <a:rPr lang="en-US" dirty="0" smtClean="0"/>
              <a:t>Ethics </a:t>
            </a:r>
            <a:r>
              <a:rPr lang="en-US" dirty="0"/>
              <a:t>and Collaborative Research</a:t>
            </a:r>
          </a:p>
          <a:p>
            <a:endParaRPr lang="en-US" dirty="0"/>
          </a:p>
          <a:p>
            <a:r>
              <a:rPr lang="en-US" dirty="0"/>
              <a:t>Safety in the Field</a:t>
            </a:r>
          </a:p>
          <a:p>
            <a:endParaRPr lang="en-US" dirty="0"/>
          </a:p>
        </p:txBody>
      </p:sp>
    </p:spTree>
    <p:extLst>
      <p:ext uri="{BB962C8B-B14F-4D97-AF65-F5344CB8AC3E}">
        <p14:creationId xmlns:p14="http://schemas.microsoft.com/office/powerpoint/2010/main" val="2464530556"/>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Ethics and Collaborative Research </a:t>
            </a:r>
            <a:r>
              <a:rPr lang="en-US" sz="2800" dirty="0" smtClean="0"/>
              <a:t>(1 of 3)</a:t>
            </a:r>
            <a:endParaRPr lang="en-US" sz="2800" dirty="0"/>
          </a:p>
        </p:txBody>
      </p:sp>
      <p:sp>
        <p:nvSpPr>
          <p:cNvPr id="3" name="Content Placeholder 2"/>
          <p:cNvSpPr>
            <a:spLocks noGrp="1"/>
          </p:cNvSpPr>
          <p:nvPr>
            <p:ph idx="1"/>
          </p:nvPr>
        </p:nvSpPr>
        <p:spPr/>
        <p:txBody>
          <a:bodyPr/>
          <a:lstStyle/>
          <a:p>
            <a:r>
              <a:rPr lang="en-US" dirty="0" smtClean="0"/>
              <a:t>Ethics in Anthropology</a:t>
            </a:r>
          </a:p>
          <a:p>
            <a:pPr lvl="1"/>
            <a:r>
              <a:rPr lang="en-US" dirty="0" smtClean="0"/>
              <a:t>Issue of ethics was prompted by Project Camelot and the Vietnam War</a:t>
            </a:r>
          </a:p>
          <a:p>
            <a:pPr lvl="1"/>
            <a:r>
              <a:rPr lang="en-US" dirty="0" smtClean="0"/>
              <a:t>In 1971 the American Anthropological Association adopted a code of ethics</a:t>
            </a:r>
          </a:p>
          <a:p>
            <a:pPr lvl="1"/>
            <a:r>
              <a:rPr lang="en-US" dirty="0"/>
              <a:t>Does not condone “undercover” research</a:t>
            </a:r>
          </a:p>
          <a:p>
            <a:pPr lvl="1"/>
            <a:r>
              <a:rPr lang="en-US" dirty="0"/>
              <a:t>The anthropologist’s main responsibility is to ensure the safety of the people participating in the research</a:t>
            </a:r>
          </a:p>
          <a:p>
            <a:pPr lvl="1"/>
            <a:endParaRPr lang="en-US" dirty="0"/>
          </a:p>
        </p:txBody>
      </p:sp>
    </p:spTree>
    <p:extLst>
      <p:ext uri="{BB962C8B-B14F-4D97-AF65-F5344CB8AC3E}">
        <p14:creationId xmlns:p14="http://schemas.microsoft.com/office/powerpoint/2010/main" val="1256641669"/>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Ethics and Collaborative </a:t>
            </a:r>
            <a:r>
              <a:rPr lang="en-US" sz="3600" dirty="0" smtClean="0"/>
              <a:t>Research </a:t>
            </a:r>
            <a:r>
              <a:rPr lang="en-US" sz="2800" dirty="0" smtClean="0"/>
              <a:t>(2 of 3)</a:t>
            </a:r>
            <a:endParaRPr lang="en-US" sz="2800" dirty="0"/>
          </a:p>
        </p:txBody>
      </p:sp>
      <p:sp>
        <p:nvSpPr>
          <p:cNvPr id="3" name="Content Placeholder 2"/>
          <p:cNvSpPr>
            <a:spLocks noGrp="1"/>
          </p:cNvSpPr>
          <p:nvPr>
            <p:ph idx="1"/>
          </p:nvPr>
        </p:nvSpPr>
        <p:spPr/>
        <p:txBody>
          <a:bodyPr/>
          <a:lstStyle/>
          <a:p>
            <a:r>
              <a:rPr lang="en-US" dirty="0" smtClean="0"/>
              <a:t>New Approach: Collaborative Research</a:t>
            </a:r>
          </a:p>
          <a:p>
            <a:pPr lvl="1"/>
            <a:r>
              <a:rPr lang="en-US" dirty="0"/>
              <a:t>Members of the study population work as partners with the anthropologist in</a:t>
            </a:r>
          </a:p>
          <a:p>
            <a:pPr lvl="2"/>
            <a:r>
              <a:rPr lang="en-US" dirty="0"/>
              <a:t>Data collection</a:t>
            </a:r>
          </a:p>
          <a:p>
            <a:pPr lvl="2"/>
            <a:r>
              <a:rPr lang="en-US" dirty="0"/>
              <a:t>Data analysis</a:t>
            </a:r>
          </a:p>
          <a:p>
            <a:pPr lvl="2"/>
            <a:r>
              <a:rPr lang="en-US" dirty="0"/>
              <a:t>Presentation of findings</a:t>
            </a:r>
          </a:p>
          <a:p>
            <a:pPr lvl="2"/>
            <a:r>
              <a:rPr lang="en-US" dirty="0"/>
              <a:t>Sharing credit for results </a:t>
            </a:r>
          </a:p>
          <a:p>
            <a:endParaRPr lang="en-US" dirty="0"/>
          </a:p>
        </p:txBody>
      </p:sp>
    </p:spTree>
    <p:extLst>
      <p:ext uri="{BB962C8B-B14F-4D97-AF65-F5344CB8AC3E}">
        <p14:creationId xmlns:p14="http://schemas.microsoft.com/office/powerpoint/2010/main" val="3637230554"/>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Safety in the Field</a:t>
            </a:r>
            <a:endParaRPr lang="en-US" dirty="0"/>
          </a:p>
        </p:txBody>
      </p:sp>
      <p:sp>
        <p:nvSpPr>
          <p:cNvPr id="3" name="Content Placeholder 2"/>
          <p:cNvSpPr>
            <a:spLocks noGrp="1"/>
          </p:cNvSpPr>
          <p:nvPr>
            <p:ph idx="1"/>
          </p:nvPr>
        </p:nvSpPr>
        <p:spPr/>
        <p:txBody>
          <a:bodyPr/>
          <a:lstStyle/>
          <a:p>
            <a:r>
              <a:rPr lang="en-US" dirty="0" smtClean="0"/>
              <a:t>Physical </a:t>
            </a:r>
            <a:r>
              <a:rPr lang="en-US" dirty="0"/>
              <a:t>and psychological risks</a:t>
            </a:r>
          </a:p>
          <a:p>
            <a:r>
              <a:rPr lang="en-US" dirty="0"/>
              <a:t>Violence</a:t>
            </a:r>
          </a:p>
          <a:p>
            <a:r>
              <a:rPr lang="en-US" dirty="0" smtClean="0"/>
              <a:t>War zone </a:t>
            </a:r>
            <a:r>
              <a:rPr lang="en-US" dirty="0"/>
              <a:t>anthropology</a:t>
            </a:r>
          </a:p>
          <a:p>
            <a:pPr lvl="1"/>
            <a:r>
              <a:rPr lang="en-US" dirty="0"/>
              <a:t>Provides important insights into militarization, protection, post-conflict reconstruction</a:t>
            </a:r>
          </a:p>
          <a:p>
            <a:pPr lvl="1"/>
            <a:r>
              <a:rPr lang="en-US" dirty="0"/>
              <a:t>Requires special training and experience</a:t>
            </a:r>
          </a:p>
          <a:p>
            <a:endParaRPr lang="en-US" dirty="0"/>
          </a:p>
        </p:txBody>
      </p:sp>
    </p:spTree>
    <p:extLst>
      <p:ext uri="{BB962C8B-B14F-4D97-AF65-F5344CB8AC3E}">
        <p14:creationId xmlns:p14="http://schemas.microsoft.com/office/powerpoint/2010/main" val="1411365002"/>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320</TotalTime>
  <Words>1885</Words>
  <Application>Microsoft Macintosh PowerPoint</Application>
  <PresentationFormat>On-screen Show (4:3)</PresentationFormat>
  <Paragraphs>242</Paragraphs>
  <Slides>41</Slides>
  <Notes>10</Notes>
  <HiddenSlides>0</HiddenSlides>
  <MMClips>0</MMClips>
  <ScaleCrop>false</ScaleCrop>
  <HeadingPairs>
    <vt:vector size="4" baseType="variant">
      <vt:variant>
        <vt:lpstr>Theme</vt:lpstr>
      </vt:variant>
      <vt:variant>
        <vt:i4>2</vt:i4>
      </vt:variant>
      <vt:variant>
        <vt:lpstr>Slide Titles</vt:lpstr>
      </vt:variant>
      <vt:variant>
        <vt:i4>41</vt:i4>
      </vt:variant>
    </vt:vector>
  </HeadingPairs>
  <TitlesOfParts>
    <vt:vector size="43" baseType="lpstr">
      <vt:lpstr>Beebe8e_PPT_master</vt:lpstr>
      <vt:lpstr>Office Theme</vt:lpstr>
      <vt:lpstr>PowerPoint Presentation</vt:lpstr>
      <vt:lpstr>Learning Objectives</vt:lpstr>
      <vt:lpstr>Changing Research Methods  3.1 Discuss how cultural anthropologists do research.</vt:lpstr>
      <vt:lpstr>From the Armchair to the Field</vt:lpstr>
      <vt:lpstr>Participant Observation (1 of 5)</vt:lpstr>
      <vt:lpstr>Participant Observation (2 of 5)</vt:lpstr>
      <vt:lpstr>Participant Observation (3 of 5)</vt:lpstr>
      <vt:lpstr>Participant Observation (4 of 5)</vt:lpstr>
      <vt:lpstr>Participant Observation (5 of 5)</vt:lpstr>
      <vt:lpstr>Culturama: The Trobriand Islanders  of Papua New Guinea</vt:lpstr>
      <vt:lpstr>Map 3.1 Trobriand Islands  of Papua New Guinea</vt:lpstr>
      <vt:lpstr>Anthropology Works:  What’s for Breakfast in California</vt:lpstr>
      <vt:lpstr>Doing Fieldwork in Cultural Anthropology  3.2 Recognize what fieldwork in cultural anthropology involves.</vt:lpstr>
      <vt:lpstr>Beginning the Fieldwork Process (1 of 2)</vt:lpstr>
      <vt:lpstr>Beginning the Fieldwork Process (2 of 2)</vt:lpstr>
      <vt:lpstr>Working in the Field (1 of 7)</vt:lpstr>
      <vt:lpstr>Working in the Field (2 of 7)</vt:lpstr>
      <vt:lpstr>Map 3.2 Japan</vt:lpstr>
      <vt:lpstr>Working in the Field (3 of 7)</vt:lpstr>
      <vt:lpstr>Map 3.3 Syria</vt:lpstr>
      <vt:lpstr>Working in the Field (4 of 7)</vt:lpstr>
      <vt:lpstr>Working in the Field (5 of 7)</vt:lpstr>
      <vt:lpstr>Working in the Field (6 of 7)</vt:lpstr>
      <vt:lpstr>Working in the Field (7 of 7)</vt:lpstr>
      <vt:lpstr>Fieldwork Techniques (1 of 6)</vt:lpstr>
      <vt:lpstr>Fieldwork Techniques (2 of 6)</vt:lpstr>
      <vt:lpstr>Fieldwork Techniques (3 of 6)</vt:lpstr>
      <vt:lpstr>Fieldwork Techniques (4 of 6)</vt:lpstr>
      <vt:lpstr>Fieldwork Techniques (5 of 6)</vt:lpstr>
      <vt:lpstr>Fieldwork Techniques (6 of 6)</vt:lpstr>
      <vt:lpstr>Map 3.5 Spain</vt:lpstr>
      <vt:lpstr>Map 3.6 Iceland</vt:lpstr>
      <vt:lpstr>Eye on the Environment: Inuit Place Names  and Landscape Knowledge (1 of 2)</vt:lpstr>
      <vt:lpstr>Eye on the Environment: Inuit Place Names  and Landscape Knowledge (2 of 2)</vt:lpstr>
      <vt:lpstr>Map 3.4 Baffin Island in Northeast Canada</vt:lpstr>
      <vt:lpstr>Data Analysis (1 of 2)</vt:lpstr>
      <vt:lpstr>Data Analysis (2 of 2)</vt:lpstr>
      <vt:lpstr>Urgent Issues in Cultural Anthropology Research  3.3 List some urgent issues in cultural anthropology research.</vt:lpstr>
      <vt:lpstr>Ethics and Collaborative Research (1 of 3)</vt:lpstr>
      <vt:lpstr>Ethics and Collaborative Research (2 of 3)</vt:lpstr>
      <vt:lpstr>Safety in the Field</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35</cp:revision>
  <dcterms:created xsi:type="dcterms:W3CDTF">2015-09-18T14:54:36Z</dcterms:created>
  <dcterms:modified xsi:type="dcterms:W3CDTF">2016-04-05T22:03:49Z</dcterms:modified>
</cp:coreProperties>
</file>