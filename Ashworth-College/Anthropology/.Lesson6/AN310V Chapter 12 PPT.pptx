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jpg" ContentType="image/jpeg"/>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notesMasterIdLst>
    <p:notesMasterId r:id="rId49"/>
  </p:notesMasterIdLst>
  <p:sldIdLst>
    <p:sldId id="257" r:id="rId3"/>
    <p:sldId id="256" r:id="rId4"/>
    <p:sldId id="259" r:id="rId5"/>
    <p:sldId id="260" r:id="rId6"/>
    <p:sldId id="261" r:id="rId7"/>
    <p:sldId id="262" r:id="rId8"/>
    <p:sldId id="263" r:id="rId9"/>
    <p:sldId id="264" r:id="rId10"/>
    <p:sldId id="265" r:id="rId11"/>
    <p:sldId id="266" r:id="rId12"/>
    <p:sldId id="267" r:id="rId13"/>
    <p:sldId id="272" r:id="rId14"/>
    <p:sldId id="273" r:id="rId15"/>
    <p:sldId id="268" r:id="rId16"/>
    <p:sldId id="271" r:id="rId17"/>
    <p:sldId id="269" r:id="rId18"/>
    <p:sldId id="270" r:id="rId19"/>
    <p:sldId id="274" r:id="rId20"/>
    <p:sldId id="275" r:id="rId21"/>
    <p:sldId id="276" r:id="rId22"/>
    <p:sldId id="280" r:id="rId23"/>
    <p:sldId id="281" r:id="rId24"/>
    <p:sldId id="282" r:id="rId25"/>
    <p:sldId id="284" r:id="rId26"/>
    <p:sldId id="283" r:id="rId27"/>
    <p:sldId id="277" r:id="rId28"/>
    <p:sldId id="278" r:id="rId29"/>
    <p:sldId id="279" r:id="rId30"/>
    <p:sldId id="285" r:id="rId31"/>
    <p:sldId id="286" r:id="rId32"/>
    <p:sldId id="302" r:id="rId33"/>
    <p:sldId id="287" r:id="rId34"/>
    <p:sldId id="288" r:id="rId35"/>
    <p:sldId id="289" r:id="rId36"/>
    <p:sldId id="301" r:id="rId37"/>
    <p:sldId id="290" r:id="rId38"/>
    <p:sldId id="291" r:id="rId39"/>
    <p:sldId id="292" r:id="rId40"/>
    <p:sldId id="293" r:id="rId41"/>
    <p:sldId id="294" r:id="rId42"/>
    <p:sldId id="295" r:id="rId43"/>
    <p:sldId id="296" r:id="rId44"/>
    <p:sldId id="297" r:id="rId45"/>
    <p:sldId id="298" r:id="rId46"/>
    <p:sldId id="299" r:id="rId47"/>
    <p:sldId id="300"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383" autoAdjust="0"/>
  </p:normalViewPr>
  <p:slideViewPr>
    <p:cSldViewPr>
      <p:cViewPr varScale="1">
        <p:scale>
          <a:sx n="87" d="100"/>
          <a:sy n="87" d="100"/>
        </p:scale>
        <p:origin x="-856" y="-9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50" Type="http://schemas.openxmlformats.org/officeDocument/2006/relationships/printerSettings" Target="printerSettings/printerSettings1.bin"/><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notesMaster" Target="notesMasters/notesMaster1.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F6CFA89-AF32-4D25-8AC2-698CBC7CDD55}" type="datetimeFigureOut">
              <a:rPr lang="en-US" smtClean="0"/>
              <a:t>4/8/16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CD92908-7BBE-4334-AF4F-ECAEC330EDD1}" type="slidenum">
              <a:rPr lang="en-US" smtClean="0"/>
              <a:t>‹#›</a:t>
            </a:fld>
            <a:endParaRPr lang="en-US" dirty="0"/>
          </a:p>
        </p:txBody>
      </p:sp>
    </p:spTree>
    <p:extLst>
      <p:ext uri="{BB962C8B-B14F-4D97-AF65-F5344CB8AC3E}">
        <p14:creationId xmlns:p14="http://schemas.microsoft.com/office/powerpoint/2010/main" val="1693297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kern="1200" dirty="0" smtClean="0">
                <a:solidFill>
                  <a:schemeClr val="tx1"/>
                </a:solidFill>
                <a:latin typeface="+mn-lt"/>
                <a:ea typeface="+mn-ea"/>
                <a:cs typeface="+mn-cs"/>
              </a:rPr>
              <a:t>For a better classroom presentation flow, the order of some topics in this lecture outline differs slightly from the order of topics in the text and, where this occurs, some figures and tables are out of numerical order.</a:t>
            </a:r>
            <a:endParaRPr lang="en-US" sz="1600" dirty="0"/>
          </a:p>
        </p:txBody>
      </p:sp>
      <p:sp>
        <p:nvSpPr>
          <p:cNvPr id="4" name="Slide Number Placeholder 3"/>
          <p:cNvSpPr>
            <a:spLocks noGrp="1"/>
          </p:cNvSpPr>
          <p:nvPr>
            <p:ph type="sldNum" sz="quarter" idx="10"/>
          </p:nvPr>
        </p:nvSpPr>
        <p:spPr/>
        <p:txBody>
          <a:bodyPr/>
          <a:lstStyle/>
          <a:p>
            <a:fld id="{8CD92908-7BBE-4334-AF4F-ECAEC330EDD1}" type="slidenum">
              <a:rPr lang="en-US" smtClean="0"/>
              <a:t>1</a:t>
            </a:fld>
            <a:endParaRPr lang="en-US" dirty="0"/>
          </a:p>
        </p:txBody>
      </p:sp>
    </p:spTree>
    <p:extLst>
      <p:ext uri="{BB962C8B-B14F-4D97-AF65-F5344CB8AC3E}">
        <p14:creationId xmlns:p14="http://schemas.microsoft.com/office/powerpoint/2010/main" val="1823438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England is the largest in area and the most populous of the</a:t>
            </a:r>
            <a:r>
              <a:rPr lang="en-US" baseline="0" dirty="0" smtClean="0"/>
              <a:t> </a:t>
            </a:r>
            <a:r>
              <a:rPr lang="en-US" dirty="0" smtClean="0"/>
              <a:t>constituent countries of the United Kingdom. Its population of</a:t>
            </a:r>
            <a:r>
              <a:rPr lang="en-US" baseline="0" dirty="0" smtClean="0"/>
              <a:t> </a:t>
            </a:r>
            <a:r>
              <a:rPr lang="en-US" dirty="0" smtClean="0"/>
              <a:t>53 million accounts for 84 percent of the total. DNA analysis reveals</a:t>
            </a:r>
            <a:r>
              <a:rPr lang="en-US" baseline="0" dirty="0" smtClean="0"/>
              <a:t> </a:t>
            </a:r>
            <a:r>
              <a:rPr lang="en-US" dirty="0" smtClean="0"/>
              <a:t>that a majority of the English are of Germanic descent, as is their</a:t>
            </a:r>
            <a:r>
              <a:rPr lang="en-US" baseline="0" dirty="0" smtClean="0"/>
              <a:t> </a:t>
            </a:r>
            <a:r>
              <a:rPr lang="en-US" dirty="0" smtClean="0"/>
              <a:t>language. The terrain is mainly rolling hills, with some mountains in</a:t>
            </a:r>
            <a:r>
              <a:rPr lang="en-US" baseline="0" dirty="0" smtClean="0"/>
              <a:t> </a:t>
            </a:r>
            <a:r>
              <a:rPr lang="en-US" dirty="0" smtClean="0"/>
              <a:t>the north and east. London is by far the largest city, with Manchester</a:t>
            </a:r>
            <a:r>
              <a:rPr lang="en-US" baseline="0" dirty="0" smtClean="0"/>
              <a:t> </a:t>
            </a:r>
            <a:r>
              <a:rPr lang="en-US" dirty="0" smtClean="0"/>
              <a:t>and Birmingham competing for second place. English is the</a:t>
            </a:r>
            <a:r>
              <a:rPr lang="en-US" baseline="0" dirty="0" smtClean="0"/>
              <a:t> </a:t>
            </a:r>
            <a:r>
              <a:rPr lang="en-US" dirty="0" smtClean="0"/>
              <a:t>dominant language with its diverse regional accents. Many other languages brought into the country by immigrant communities are</a:t>
            </a:r>
            <a:r>
              <a:rPr lang="en-US" baseline="0" dirty="0" smtClean="0"/>
              <a:t> </a:t>
            </a:r>
            <a:r>
              <a:rPr lang="en-US" dirty="0" smtClean="0"/>
              <a:t>spoken as first languages, including several South Asian languages,</a:t>
            </a:r>
            <a:r>
              <a:rPr lang="en-US" baseline="0" dirty="0" smtClean="0"/>
              <a:t> </a:t>
            </a:r>
            <a:r>
              <a:rPr lang="en-US" dirty="0" smtClean="0"/>
              <a:t>Polish, Greek, and Cantonese. An estimated 250,000 people speak</a:t>
            </a:r>
            <a:r>
              <a:rPr lang="en-US" baseline="0" dirty="0" smtClean="0"/>
              <a:t> </a:t>
            </a:r>
            <a:r>
              <a:rPr lang="en-US" dirty="0" smtClean="0"/>
              <a:t>British Sign Language. Although the Church of England is the state</a:t>
            </a:r>
            <a:r>
              <a:rPr lang="en-US" baseline="0" dirty="0" smtClean="0"/>
              <a:t> </a:t>
            </a:r>
            <a:r>
              <a:rPr lang="en-US" dirty="0" smtClean="0"/>
              <a:t>religion, everyone in England has the right to religious freedom.</a:t>
            </a:r>
            <a:endParaRPr lang="en-US" dirty="0"/>
          </a:p>
        </p:txBody>
      </p:sp>
      <p:sp>
        <p:nvSpPr>
          <p:cNvPr id="4" name="Slide Number Placeholder 3"/>
          <p:cNvSpPr>
            <a:spLocks noGrp="1"/>
          </p:cNvSpPr>
          <p:nvPr>
            <p:ph type="sldNum" sz="quarter" idx="10"/>
          </p:nvPr>
        </p:nvSpPr>
        <p:spPr/>
        <p:txBody>
          <a:bodyPr/>
          <a:lstStyle/>
          <a:p>
            <a:fld id="{8CD92908-7BBE-4334-AF4F-ECAEC330EDD1}" type="slidenum">
              <a:rPr lang="en-US" smtClean="0"/>
              <a:t>13</a:t>
            </a:fld>
            <a:endParaRPr lang="en-US" dirty="0"/>
          </a:p>
        </p:txBody>
      </p:sp>
    </p:spTree>
    <p:extLst>
      <p:ext uri="{BB962C8B-B14F-4D97-AF65-F5344CB8AC3E}">
        <p14:creationId xmlns:p14="http://schemas.microsoft.com/office/powerpoint/2010/main" val="3377205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Hopi and Navajo tribes once shared the area known as Big Mountain.</a:t>
            </a:r>
            <a:r>
              <a:rPr lang="en-US" baseline="0" dirty="0" smtClean="0"/>
              <a:t> </a:t>
            </a:r>
            <a:r>
              <a:rPr lang="en-US" dirty="0" smtClean="0"/>
              <a:t>U.S. Acts of Congress in 1974 and 1996 divided the area into two</a:t>
            </a:r>
            <a:r>
              <a:rPr lang="en-US" baseline="0" dirty="0" smtClean="0"/>
              <a:t> </a:t>
            </a:r>
            <a:r>
              <a:rPr lang="en-US" dirty="0" smtClean="0"/>
              <a:t>reservations, leaving the Hopi completely surrounded by the much larger</a:t>
            </a:r>
            <a:r>
              <a:rPr lang="en-US" baseline="0" dirty="0" smtClean="0"/>
              <a:t> </a:t>
            </a:r>
            <a:r>
              <a:rPr lang="en-US" dirty="0" smtClean="0"/>
              <a:t>Navajo Nation. About 7,000 people live on the Hopi Reservation.</a:t>
            </a:r>
            <a:endParaRPr lang="en-US" dirty="0"/>
          </a:p>
        </p:txBody>
      </p:sp>
      <p:sp>
        <p:nvSpPr>
          <p:cNvPr id="4" name="Slide Number Placeholder 3"/>
          <p:cNvSpPr>
            <a:spLocks noGrp="1"/>
          </p:cNvSpPr>
          <p:nvPr>
            <p:ph type="sldNum" sz="quarter" idx="10"/>
          </p:nvPr>
        </p:nvSpPr>
        <p:spPr/>
        <p:txBody>
          <a:bodyPr/>
          <a:lstStyle/>
          <a:p>
            <a:fld id="{8CD92908-7BBE-4334-AF4F-ECAEC330EDD1}" type="slidenum">
              <a:rPr lang="en-US" smtClean="0"/>
              <a:t>15</a:t>
            </a:fld>
            <a:endParaRPr lang="en-US" dirty="0"/>
          </a:p>
        </p:txBody>
      </p:sp>
    </p:spTree>
    <p:extLst>
      <p:ext uri="{BB962C8B-B14F-4D97-AF65-F5344CB8AC3E}">
        <p14:creationId xmlns:p14="http://schemas.microsoft.com/office/powerpoint/2010/main" val="3273677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Ngarrindjeri name for Hindmarsh Island is Kumarangk.</a:t>
            </a:r>
            <a:endParaRPr lang="en-US" dirty="0"/>
          </a:p>
        </p:txBody>
      </p:sp>
      <p:sp>
        <p:nvSpPr>
          <p:cNvPr id="4" name="Slide Number Placeholder 3"/>
          <p:cNvSpPr>
            <a:spLocks noGrp="1"/>
          </p:cNvSpPr>
          <p:nvPr>
            <p:ph type="sldNum" sz="quarter" idx="10"/>
          </p:nvPr>
        </p:nvSpPr>
        <p:spPr/>
        <p:txBody>
          <a:bodyPr/>
          <a:lstStyle/>
          <a:p>
            <a:fld id="{8CD92908-7BBE-4334-AF4F-ECAEC330EDD1}" type="slidenum">
              <a:rPr lang="en-US" smtClean="0"/>
              <a:t>19</a:t>
            </a:fld>
            <a:endParaRPr lang="en-US" dirty="0"/>
          </a:p>
        </p:txBody>
      </p:sp>
    </p:spTree>
    <p:extLst>
      <p:ext uri="{BB962C8B-B14F-4D97-AF65-F5344CB8AC3E}">
        <p14:creationId xmlns:p14="http://schemas.microsoft.com/office/powerpoint/2010/main" val="3980102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Officially the Italian Republic, the country includes the mainland and two large islands. In 2015, Italy had the eighth largest economy in the world. A mountain system forms the backbone of the peninsula, and the climate varies according to altitude. Its population of nearly 61 million people makes it one of the most densely populated countries in Europe. Roman Catholicism is the dominant religion. Recent waves of immigration, especially from northern Africa, have increased the number of Muslims to over 1 million. The official language is standard Italian, descended from the Tuscan dialect of Firenze (Florence). Many cherished dialects of Italian exist throughout the country, and people in northern border provinces speak dialects of German and French. Italy has the largest number of UNESCO World Heritage Sites of any country.</a:t>
            </a:r>
            <a:endParaRPr lang="en-US" dirty="0"/>
          </a:p>
        </p:txBody>
      </p:sp>
      <p:sp>
        <p:nvSpPr>
          <p:cNvPr id="4" name="Slide Number Placeholder 3"/>
          <p:cNvSpPr>
            <a:spLocks noGrp="1"/>
          </p:cNvSpPr>
          <p:nvPr>
            <p:ph type="sldNum" sz="quarter" idx="10"/>
          </p:nvPr>
        </p:nvSpPr>
        <p:spPr/>
        <p:txBody>
          <a:bodyPr/>
          <a:lstStyle/>
          <a:p>
            <a:fld id="{8CD92908-7BBE-4334-AF4F-ECAEC330EDD1}" type="slidenum">
              <a:rPr lang="en-US" smtClean="0"/>
              <a:t>24</a:t>
            </a:fld>
            <a:endParaRPr lang="en-US" dirty="0"/>
          </a:p>
        </p:txBody>
      </p:sp>
    </p:spTree>
    <p:extLst>
      <p:ext uri="{BB962C8B-B14F-4D97-AF65-F5344CB8AC3E}">
        <p14:creationId xmlns:p14="http://schemas.microsoft.com/office/powerpoint/2010/main" val="36467419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A nineteenth-century painting of the Virgin of Guadalupe by Isidro Escamilla, a Mexican artist. The Virgin of Guadalupe, or Our Lady of Guadalupe, is Mexico’s most popular image. Her depiction involves syncretism with the indigenous Aztec goddess Tonantzin, part of a conscious strategy of Christian clergy to convert the Indians. Today, the Virgin of Guadalupe conveys messages of sacrifice and nurturance as well as strength and hope. She appeals to Mexican mothers, nationalists, and feminists alike.</a:t>
            </a:r>
            <a:endParaRPr lang="en-US" dirty="0"/>
          </a:p>
        </p:txBody>
      </p:sp>
      <p:sp>
        <p:nvSpPr>
          <p:cNvPr id="4" name="Slide Number Placeholder 3"/>
          <p:cNvSpPr>
            <a:spLocks noGrp="1"/>
          </p:cNvSpPr>
          <p:nvPr>
            <p:ph type="sldNum" sz="quarter" idx="10"/>
          </p:nvPr>
        </p:nvSpPr>
        <p:spPr/>
        <p:txBody>
          <a:bodyPr/>
          <a:lstStyle/>
          <a:p>
            <a:fld id="{8CD92908-7BBE-4334-AF4F-ECAEC330EDD1}" type="slidenum">
              <a:rPr lang="en-US" smtClean="0"/>
              <a:t>31</a:t>
            </a:fld>
            <a:endParaRPr lang="en-US" dirty="0"/>
          </a:p>
        </p:txBody>
      </p:sp>
    </p:spTree>
    <p:extLst>
      <p:ext uri="{BB962C8B-B14F-4D97-AF65-F5344CB8AC3E}">
        <p14:creationId xmlns:p14="http://schemas.microsoft.com/office/powerpoint/2010/main" val="5523336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Over 100 years old, this Shan man of northern</a:t>
            </a:r>
            <a:r>
              <a:rPr lang="en-US" baseline="0" dirty="0" smtClean="0"/>
              <a:t> </a:t>
            </a:r>
            <a:r>
              <a:rPr lang="en-US" dirty="0" smtClean="0"/>
              <a:t>Thailand is testimony to positive life</a:t>
            </a:r>
            <a:r>
              <a:rPr lang="en-US" baseline="0" dirty="0" smtClean="0"/>
              <a:t> </a:t>
            </a:r>
            <a:r>
              <a:rPr lang="en-US" dirty="0" smtClean="0"/>
              <a:t>forces, whether inscribed on his body as</a:t>
            </a:r>
            <a:r>
              <a:rPr lang="en-US" baseline="0" dirty="0" smtClean="0"/>
              <a:t> </a:t>
            </a:r>
            <a:r>
              <a:rPr lang="en-US" dirty="0" smtClean="0"/>
              <a:t>protective tattoos . . . or because of his more</a:t>
            </a:r>
            <a:r>
              <a:rPr lang="en-US" baseline="0" dirty="0" smtClean="0"/>
              <a:t> </a:t>
            </a:r>
            <a:r>
              <a:rPr lang="en-US" dirty="0" smtClean="0"/>
              <a:t>healthy, non-industrial lifestyle?</a:t>
            </a:r>
            <a:endParaRPr lang="en-US" dirty="0"/>
          </a:p>
        </p:txBody>
      </p:sp>
      <p:sp>
        <p:nvSpPr>
          <p:cNvPr id="4" name="Slide Number Placeholder 3"/>
          <p:cNvSpPr>
            <a:spLocks noGrp="1"/>
          </p:cNvSpPr>
          <p:nvPr>
            <p:ph type="sldNum" sz="quarter" idx="10"/>
          </p:nvPr>
        </p:nvSpPr>
        <p:spPr/>
        <p:txBody>
          <a:bodyPr/>
          <a:lstStyle/>
          <a:p>
            <a:fld id="{8CD92908-7BBE-4334-AF4F-ECAEC330EDD1}" type="slidenum">
              <a:rPr lang="en-US" smtClean="0"/>
              <a:t>35</a:t>
            </a:fld>
            <a:endParaRPr lang="en-US" dirty="0"/>
          </a:p>
        </p:txBody>
      </p:sp>
    </p:spTree>
    <p:extLst>
      <p:ext uri="{BB962C8B-B14F-4D97-AF65-F5344CB8AC3E}">
        <p14:creationId xmlns:p14="http://schemas.microsoft.com/office/powerpoint/2010/main" val="3339552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Jerusalem is the holiest city of Judaism, the third holiest city of</a:t>
            </a:r>
            <a:r>
              <a:rPr lang="en-US" baseline="0" dirty="0" smtClean="0"/>
              <a:t> </a:t>
            </a:r>
            <a:r>
              <a:rPr lang="en-US" dirty="0" smtClean="0"/>
              <a:t>Islam, and holy to Christians. The section called the Old City is</a:t>
            </a:r>
            <a:r>
              <a:rPr lang="en-US" baseline="0" dirty="0" smtClean="0"/>
              <a:t> </a:t>
            </a:r>
            <a:r>
              <a:rPr lang="en-US" dirty="0" smtClean="0"/>
              <a:t>surrounded by walls that have been built, razed, relocated, and</a:t>
            </a:r>
            <a:r>
              <a:rPr lang="en-US" baseline="0" dirty="0" smtClean="0"/>
              <a:t> </a:t>
            </a:r>
            <a:r>
              <a:rPr lang="en-US" dirty="0" smtClean="0"/>
              <a:t>rebuilt over several hundred years. The Old City contains four</a:t>
            </a:r>
            <a:r>
              <a:rPr lang="en-US" baseline="0" dirty="0" smtClean="0"/>
              <a:t> </a:t>
            </a:r>
            <a:r>
              <a:rPr lang="en-US" dirty="0" smtClean="0"/>
              <a:t>quarters—Armenian, Christian, Jewish, and Muslim—and many</a:t>
            </a:r>
            <a:r>
              <a:rPr lang="en-US" baseline="0" dirty="0" smtClean="0"/>
              <a:t> </a:t>
            </a:r>
            <a:r>
              <a:rPr lang="en-US" dirty="0" smtClean="0"/>
              <a:t>sacred sites, such as the Kotel and the Via Dolorosa.</a:t>
            </a:r>
            <a:endParaRPr lang="en-US" dirty="0"/>
          </a:p>
        </p:txBody>
      </p:sp>
      <p:sp>
        <p:nvSpPr>
          <p:cNvPr id="4" name="Slide Number Placeholder 3"/>
          <p:cNvSpPr>
            <a:spLocks noGrp="1"/>
          </p:cNvSpPr>
          <p:nvPr>
            <p:ph type="sldNum" sz="quarter" idx="10"/>
          </p:nvPr>
        </p:nvSpPr>
        <p:spPr/>
        <p:txBody>
          <a:bodyPr/>
          <a:lstStyle/>
          <a:p>
            <a:fld id="{8CD92908-7BBE-4334-AF4F-ECAEC330EDD1}" type="slidenum">
              <a:rPr lang="en-US" smtClean="0"/>
              <a:t>37</a:t>
            </a:fld>
            <a:endParaRPr lang="en-US" dirty="0"/>
          </a:p>
        </p:txBody>
      </p:sp>
    </p:spTree>
    <p:extLst>
      <p:ext uri="{BB962C8B-B14F-4D97-AF65-F5344CB8AC3E}">
        <p14:creationId xmlns:p14="http://schemas.microsoft.com/office/powerpoint/2010/main" val="1125998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Xi’an, the capital of Shaanxi province,</a:t>
            </a:r>
            <a:r>
              <a:rPr lang="en-US" baseline="0" dirty="0" smtClean="0"/>
              <a:t> </a:t>
            </a:r>
            <a:r>
              <a:rPr lang="en-US" dirty="0" smtClean="0"/>
              <a:t>is one of the most economically</a:t>
            </a:r>
            <a:r>
              <a:rPr lang="en-US" baseline="0" dirty="0" smtClean="0"/>
              <a:t> </a:t>
            </a:r>
            <a:r>
              <a:rPr lang="en-US" dirty="0" smtClean="0"/>
              <a:t>developed cities in the northwestern</a:t>
            </a:r>
            <a:r>
              <a:rPr lang="en-US" baseline="0" dirty="0" smtClean="0"/>
              <a:t> </a:t>
            </a:r>
            <a:r>
              <a:rPr lang="en-US" dirty="0" smtClean="0"/>
              <a:t>part of China.</a:t>
            </a:r>
            <a:endParaRPr lang="en-US" dirty="0"/>
          </a:p>
        </p:txBody>
      </p:sp>
      <p:sp>
        <p:nvSpPr>
          <p:cNvPr id="4" name="Slide Number Placeholder 3"/>
          <p:cNvSpPr>
            <a:spLocks noGrp="1"/>
          </p:cNvSpPr>
          <p:nvPr>
            <p:ph type="sldNum" sz="quarter" idx="10"/>
          </p:nvPr>
        </p:nvSpPr>
        <p:spPr/>
        <p:txBody>
          <a:bodyPr/>
          <a:lstStyle/>
          <a:p>
            <a:fld id="{8CD92908-7BBE-4334-AF4F-ECAEC330EDD1}" type="slidenum">
              <a:rPr lang="en-US" smtClean="0"/>
              <a:t>41</a:t>
            </a:fld>
            <a:endParaRPr lang="en-US" dirty="0"/>
          </a:p>
        </p:txBody>
      </p:sp>
    </p:spTree>
    <p:extLst>
      <p:ext uri="{BB962C8B-B14F-4D97-AF65-F5344CB8AC3E}">
        <p14:creationId xmlns:p14="http://schemas.microsoft.com/office/powerpoint/2010/main" val="2913066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3"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4"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Tree>
    <p:extLst>
      <p:ext uri="{BB962C8B-B14F-4D97-AF65-F5344CB8AC3E}">
        <p14:creationId xmlns:p14="http://schemas.microsoft.com/office/powerpoint/2010/main" val="3806056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1255095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4140190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678048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57184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4/8/16</a:t>
            </a:fld>
            <a:endParaRPr lang="en-US"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90677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4/8/16</a:t>
            </a:fld>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3758911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4/8/16</a:t>
            </a:fld>
            <a:endParaRPr lang="en-US"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64310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421055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4" Type="http://schemas.openxmlformats.org/officeDocument/2006/relationships/image" Target="../media/image2.emf"/><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theme" Target="../theme/theme2.xml"/><Relationship Id="rId10" Type="http://schemas.openxmlformats.org/officeDocument/2006/relationships/image" Target="../media/image2.emf"/><Relationship Id="rId1" Type="http://schemas.openxmlformats.org/officeDocument/2006/relationships/slideLayout" Target="../slideLayouts/slideLayout2.xml"/><Relationship Id="rId2"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37650" cy="457200"/>
            <a:chOff x="0" y="6511925"/>
            <a:chExt cx="9137650" cy="430213"/>
          </a:xfrm>
          <a:solidFill>
            <a:schemeClr val="accent1">
              <a:lumMod val="75000"/>
            </a:schemeClr>
          </a:solidFill>
        </p:grpSpPr>
        <p:pic>
          <p:nvPicPr>
            <p:cNvPr id="8" name="Always Learning Logo" descr="Pearson: Always Learning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black">
            <a:xfrm>
              <a:off x="0" y="6511926"/>
              <a:ext cx="1660525" cy="430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 name="Pearson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 name="Copyright" descr="Copyright 2015, 2012, 2009"/>
            <p:cNvSpPr txBox="1">
              <a:spLocks noChangeArrowheads="1"/>
            </p:cNvSpPr>
            <p:nvPr/>
          </p:nvSpPr>
          <p:spPr bwMode="auto">
            <a:xfrm>
              <a:off x="1600200" y="6511926"/>
              <a:ext cx="6130132"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Copyright © 2017,</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2013, 2011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
        <p:nvSpPr>
          <p:cNvPr id="13" name="Title 10"/>
          <p:cNvSpPr txBox="1">
            <a:spLocks/>
          </p:cNvSpPr>
          <p:nvPr/>
        </p:nvSpPr>
        <p:spPr>
          <a:xfrm>
            <a:off x="457200" y="215372"/>
            <a:ext cx="8229600" cy="601058"/>
          </a:xfrm>
          <a:prstGeom prst="rect">
            <a:avLst/>
          </a:prstGeom>
        </p:spPr>
        <p:txBody>
          <a:bodyPr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400" dirty="0" smtClean="0">
                <a:solidFill>
                  <a:schemeClr val="bg1"/>
                </a:solidFill>
              </a:rPr>
              <a:t>Cultural</a:t>
            </a:r>
            <a:r>
              <a:rPr lang="en-US" sz="4400" baseline="0" dirty="0" smtClean="0">
                <a:solidFill>
                  <a:schemeClr val="bg1"/>
                </a:solidFill>
              </a:rPr>
              <a:t> Anthropology</a:t>
            </a:r>
            <a:endParaRPr lang="en-US" sz="4400" dirty="0">
              <a:solidFill>
                <a:schemeClr val="bg1"/>
              </a:solidFill>
            </a:endParaRPr>
          </a:p>
        </p:txBody>
      </p:sp>
      <p:sp>
        <p:nvSpPr>
          <p:cNvPr id="14" name="Text Placeholder 6"/>
          <p:cNvSpPr txBox="1">
            <a:spLocks/>
          </p:cNvSpPr>
          <p:nvPr/>
        </p:nvSpPr>
        <p:spPr>
          <a:xfrm>
            <a:off x="457200" y="816430"/>
            <a:ext cx="8229600" cy="478970"/>
          </a:xfrm>
          <a:prstGeom prst="rect">
            <a:avLst/>
          </a:prstGeom>
        </p:spPr>
        <p:txBody>
          <a:bodyPr>
            <a:noAutofit/>
          </a:bodyPr>
          <a:lstStyle>
            <a:lvl1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1pPr>
            <a:lvl2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2pPr>
            <a:lvl3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3pPr>
            <a:lvl4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4pPr>
            <a:lvl5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5pPr>
            <a:lvl6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6pPr>
            <a:lvl7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7pPr>
            <a:lvl8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8pPr>
            <a:lvl9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9pPr>
          </a:lstStyle>
          <a:p>
            <a:r>
              <a:rPr lang="en-US" dirty="0" smtClean="0"/>
              <a:t>Eighth</a:t>
            </a:r>
            <a:r>
              <a:rPr lang="en-US" baseline="0" dirty="0" smtClean="0"/>
              <a:t> </a:t>
            </a:r>
            <a:r>
              <a:rPr lang="en-US" dirty="0" smtClean="0"/>
              <a:t>Edition</a:t>
            </a:r>
            <a:endParaRPr lang="en-US" dirty="0"/>
          </a:p>
        </p:txBody>
      </p:sp>
    </p:spTree>
    <p:extLst>
      <p:ext uri="{BB962C8B-B14F-4D97-AF65-F5344CB8AC3E}">
        <p14:creationId xmlns:p14="http://schemas.microsoft.com/office/powerpoint/2010/main" val="3671177032"/>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44000" cy="457200"/>
            <a:chOff x="0" y="6511925"/>
            <a:chExt cx="9137650" cy="430213"/>
          </a:xfrm>
          <a:solidFill>
            <a:schemeClr val="accent1">
              <a:lumMod val="75000"/>
            </a:schemeClr>
          </a:solidFill>
        </p:grpSpPr>
        <p:pic>
          <p:nvPicPr>
            <p:cNvPr id="8" name="Pearson Logo"/>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9" name="Copyright" descr="Copyright 2015, 2012, 2009"/>
            <p:cNvSpPr txBox="1">
              <a:spLocks noChangeArrowheads="1"/>
            </p:cNvSpPr>
            <p:nvPr/>
          </p:nvSpPr>
          <p:spPr bwMode="auto">
            <a:xfrm>
              <a:off x="0" y="6511926"/>
              <a:ext cx="7696200"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l">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Copyright © 2017, 2013, 2011 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Tree>
    <p:extLst>
      <p:ext uri="{BB962C8B-B14F-4D97-AF65-F5344CB8AC3E}">
        <p14:creationId xmlns:p14="http://schemas.microsoft.com/office/powerpoint/2010/main" val="3622156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r>
              <a:rPr lang="en-US" dirty="0" smtClean="0"/>
              <a:t>Chapter 12</a:t>
            </a:r>
            <a:endParaRPr lang="en-US" dirty="0"/>
          </a:p>
        </p:txBody>
      </p:sp>
      <p:sp>
        <p:nvSpPr>
          <p:cNvPr id="3" name="Text Placeholder 2"/>
          <p:cNvSpPr>
            <a:spLocks noGrp="1"/>
          </p:cNvSpPr>
          <p:nvPr>
            <p:ph type="body" sz="quarter" idx="15"/>
          </p:nvPr>
        </p:nvSpPr>
        <p:spPr/>
        <p:txBody>
          <a:bodyPr/>
          <a:lstStyle/>
          <a:p>
            <a:r>
              <a:rPr lang="en-US" dirty="0" smtClean="0"/>
              <a:t>Religion</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600200"/>
            <a:ext cx="3679722" cy="4562855"/>
          </a:xfrm>
          <a:prstGeom prst="rect">
            <a:avLst/>
          </a:prstGeom>
        </p:spPr>
      </p:pic>
    </p:spTree>
    <p:extLst>
      <p:ext uri="{BB962C8B-B14F-4D97-AF65-F5344CB8AC3E}">
        <p14:creationId xmlns:p14="http://schemas.microsoft.com/office/powerpoint/2010/main" val="2436185768"/>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Learning Objectives</a:t>
            </a:r>
            <a:endParaRPr lang="en-US" dirty="0"/>
          </a:p>
        </p:txBody>
      </p:sp>
      <p:sp>
        <p:nvSpPr>
          <p:cNvPr id="5" name="Content Placeholder 4"/>
          <p:cNvSpPr>
            <a:spLocks noGrp="1"/>
          </p:cNvSpPr>
          <p:nvPr>
            <p:ph idx="1"/>
          </p:nvPr>
        </p:nvSpPr>
        <p:spPr/>
        <p:txBody>
          <a:bodyPr/>
          <a:lstStyle/>
          <a:p>
            <a:pPr marL="0" indent="0">
              <a:buNone/>
            </a:pPr>
            <a:r>
              <a:rPr lang="en-US" dirty="0" smtClean="0">
                <a:solidFill>
                  <a:schemeClr val="tx2"/>
                </a:solidFill>
              </a:rPr>
              <a:t>12.1</a:t>
            </a:r>
            <a:r>
              <a:rPr lang="en-US" dirty="0" smtClean="0"/>
              <a:t> Describe how anthropologists define religion and its key features.</a:t>
            </a:r>
          </a:p>
          <a:p>
            <a:endParaRPr lang="en-US" dirty="0"/>
          </a:p>
          <a:p>
            <a:pPr marL="0" indent="0">
              <a:buNone/>
            </a:pPr>
            <a:r>
              <a:rPr lang="en-US" dirty="0" smtClean="0">
                <a:solidFill>
                  <a:schemeClr val="tx2"/>
                </a:solidFill>
              </a:rPr>
              <a:t>12.2</a:t>
            </a:r>
            <a:r>
              <a:rPr lang="en-US" dirty="0" smtClean="0"/>
              <a:t> Recognize how globalization has affected world religions.</a:t>
            </a:r>
          </a:p>
          <a:p>
            <a:endParaRPr lang="en-US" dirty="0"/>
          </a:p>
          <a:p>
            <a:pPr marL="0" indent="0">
              <a:buNone/>
            </a:pPr>
            <a:r>
              <a:rPr lang="en-US" dirty="0" smtClean="0">
                <a:solidFill>
                  <a:schemeClr val="tx2"/>
                </a:solidFill>
              </a:rPr>
              <a:t>12.3</a:t>
            </a:r>
            <a:r>
              <a:rPr lang="en-US" dirty="0" smtClean="0"/>
              <a:t> Identify examples of religious change in contemporary times.</a:t>
            </a:r>
          </a:p>
          <a:p>
            <a:endParaRPr lang="en-US" dirty="0"/>
          </a:p>
        </p:txBody>
      </p:sp>
    </p:spTree>
    <p:extLst>
      <p:ext uri="{BB962C8B-B14F-4D97-AF65-F5344CB8AC3E}">
        <p14:creationId xmlns:p14="http://schemas.microsoft.com/office/powerpoint/2010/main" val="2544906674"/>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600" dirty="0" smtClean="0"/>
              <a:t>Religion in Comparative Perspective</a:t>
            </a:r>
            <a:r>
              <a:rPr lang="en-US" sz="2400" dirty="0"/>
              <a:t/>
            </a:r>
            <a:br>
              <a:rPr lang="en-US" sz="2400" dirty="0"/>
            </a:br>
            <a:r>
              <a:rPr lang="en-US" sz="2000" dirty="0" smtClean="0"/>
              <a:t>12.1  Describe how anthropologists define religion and its key features.</a:t>
            </a:r>
            <a:endParaRPr lang="en-US" sz="2000" dirty="0"/>
          </a:p>
        </p:txBody>
      </p:sp>
      <p:sp>
        <p:nvSpPr>
          <p:cNvPr id="3" name="Content Placeholder 2"/>
          <p:cNvSpPr>
            <a:spLocks noGrp="1"/>
          </p:cNvSpPr>
          <p:nvPr>
            <p:ph idx="1"/>
          </p:nvPr>
        </p:nvSpPr>
        <p:spPr/>
        <p:txBody>
          <a:bodyPr/>
          <a:lstStyle/>
          <a:p>
            <a:r>
              <a:rPr lang="en-US" dirty="0" smtClean="0"/>
              <a:t>What Is Religion?</a:t>
            </a:r>
            <a:endParaRPr lang="en-US" dirty="0"/>
          </a:p>
          <a:p>
            <a:endParaRPr lang="en-US" dirty="0" smtClean="0"/>
          </a:p>
          <a:p>
            <a:r>
              <a:rPr lang="en-US" dirty="0" smtClean="0"/>
              <a:t>Varieties of Religious Beliefs</a:t>
            </a:r>
            <a:endParaRPr lang="en-US" dirty="0"/>
          </a:p>
          <a:p>
            <a:endParaRPr lang="en-US" dirty="0" smtClean="0"/>
          </a:p>
          <a:p>
            <a:r>
              <a:rPr lang="en-US" dirty="0" smtClean="0"/>
              <a:t>Ritual </a:t>
            </a:r>
            <a:r>
              <a:rPr lang="en-US" dirty="0"/>
              <a:t>P</a:t>
            </a:r>
            <a:r>
              <a:rPr lang="en-US" dirty="0" smtClean="0"/>
              <a:t>ractices</a:t>
            </a:r>
            <a:endParaRPr lang="en-US" dirty="0"/>
          </a:p>
          <a:p>
            <a:endParaRPr lang="en-US" dirty="0" smtClean="0"/>
          </a:p>
          <a:p>
            <a:r>
              <a:rPr lang="en-US" dirty="0" smtClean="0"/>
              <a:t>Religious </a:t>
            </a:r>
            <a:r>
              <a:rPr lang="en-US" dirty="0"/>
              <a:t>Specialists</a:t>
            </a:r>
          </a:p>
          <a:p>
            <a:endParaRPr lang="en-US" dirty="0"/>
          </a:p>
        </p:txBody>
      </p:sp>
    </p:spTree>
    <p:extLst>
      <p:ext uri="{BB962C8B-B14F-4D97-AF65-F5344CB8AC3E}">
        <p14:creationId xmlns:p14="http://schemas.microsoft.com/office/powerpoint/2010/main" val="1423430710"/>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Religion? </a:t>
            </a:r>
            <a:r>
              <a:rPr lang="en-US" sz="2800" dirty="0" smtClean="0"/>
              <a:t>(1 of 2)</a:t>
            </a:r>
            <a:endParaRPr lang="en-US" sz="2800" dirty="0"/>
          </a:p>
        </p:txBody>
      </p:sp>
      <p:sp>
        <p:nvSpPr>
          <p:cNvPr id="3" name="Content Placeholder 2"/>
          <p:cNvSpPr>
            <a:spLocks noGrp="1"/>
          </p:cNvSpPr>
          <p:nvPr>
            <p:ph idx="1"/>
          </p:nvPr>
        </p:nvSpPr>
        <p:spPr/>
        <p:txBody>
          <a:bodyPr/>
          <a:lstStyle/>
          <a:p>
            <a:r>
              <a:rPr lang="en-US" dirty="0"/>
              <a:t>As in all of anthropology, the challenge is to find a definition that is broad enough to fit all cultures</a:t>
            </a:r>
          </a:p>
          <a:p>
            <a:r>
              <a:rPr lang="en-US" dirty="0"/>
              <a:t>Current definition says that religion </a:t>
            </a:r>
            <a:r>
              <a:rPr lang="en-US" dirty="0" smtClean="0"/>
              <a:t>is </a:t>
            </a:r>
            <a:r>
              <a:rPr lang="en-US" dirty="0"/>
              <a:t>beliefs and behavior related to supernatural beings and forces</a:t>
            </a:r>
          </a:p>
          <a:p>
            <a:pPr lvl="1"/>
            <a:r>
              <a:rPr lang="en-US" dirty="0"/>
              <a:t>As far as we know, only humans have it</a:t>
            </a:r>
          </a:p>
          <a:p>
            <a:endParaRPr lang="en-US" dirty="0"/>
          </a:p>
        </p:txBody>
      </p:sp>
    </p:spTree>
    <p:extLst>
      <p:ext uri="{BB962C8B-B14F-4D97-AF65-F5344CB8AC3E}">
        <p14:creationId xmlns:p14="http://schemas.microsoft.com/office/powerpoint/2010/main" val="3016711179"/>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Religion? </a:t>
            </a:r>
            <a:r>
              <a:rPr lang="en-US" sz="2800" dirty="0" smtClean="0"/>
              <a:t>(2 of 2)</a:t>
            </a:r>
            <a:endParaRPr lang="en-US" sz="2800" dirty="0"/>
          </a:p>
        </p:txBody>
      </p:sp>
      <p:sp>
        <p:nvSpPr>
          <p:cNvPr id="3" name="Content Placeholder 2"/>
          <p:cNvSpPr>
            <a:spLocks noGrp="1"/>
          </p:cNvSpPr>
          <p:nvPr>
            <p:ph idx="1"/>
          </p:nvPr>
        </p:nvSpPr>
        <p:spPr/>
        <p:txBody>
          <a:bodyPr/>
          <a:lstStyle/>
          <a:p>
            <a:r>
              <a:rPr lang="en-US" dirty="0" smtClean="0"/>
              <a:t>Magic Versus Religion</a:t>
            </a:r>
          </a:p>
          <a:p>
            <a:pPr lvl="1"/>
            <a:r>
              <a:rPr lang="en-US" dirty="0" smtClean="0"/>
              <a:t>Nineteenth-century </a:t>
            </a:r>
            <a:r>
              <a:rPr lang="en-US" dirty="0"/>
              <a:t>thinkers supported a cultural evolution model that said magic came first, replaced by religion, and religion </a:t>
            </a:r>
            <a:r>
              <a:rPr lang="en-US" dirty="0" smtClean="0"/>
              <a:t>was replaced </a:t>
            </a:r>
            <a:r>
              <a:rPr lang="en-US" dirty="0"/>
              <a:t>by science</a:t>
            </a:r>
          </a:p>
          <a:p>
            <a:pPr lvl="1"/>
            <a:r>
              <a:rPr lang="en-US" dirty="0"/>
              <a:t>Magic defined </a:t>
            </a:r>
            <a:r>
              <a:rPr lang="en-US" dirty="0" smtClean="0"/>
              <a:t>as: </a:t>
            </a:r>
            <a:r>
              <a:rPr lang="en-US" dirty="0"/>
              <a:t>people’s attempts to compel supernatural forces and beings to act in certain ways, often to harm enemies </a:t>
            </a:r>
          </a:p>
          <a:p>
            <a:pPr lvl="1"/>
            <a:endParaRPr lang="en-US" dirty="0"/>
          </a:p>
        </p:txBody>
      </p:sp>
    </p:spTree>
    <p:extLst>
      <p:ext uri="{BB962C8B-B14F-4D97-AF65-F5344CB8AC3E}">
        <p14:creationId xmlns:p14="http://schemas.microsoft.com/office/powerpoint/2010/main" val="1133983579"/>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Varieties of Religious Beliefs </a:t>
            </a:r>
            <a:r>
              <a:rPr lang="en-US" sz="3100" dirty="0" smtClean="0"/>
              <a:t>(1 of 6)</a:t>
            </a:r>
            <a:endParaRPr lang="en-US" sz="3100" dirty="0"/>
          </a:p>
        </p:txBody>
      </p:sp>
      <p:sp>
        <p:nvSpPr>
          <p:cNvPr id="3" name="Content Placeholder 2"/>
          <p:cNvSpPr>
            <a:spLocks noGrp="1"/>
          </p:cNvSpPr>
          <p:nvPr>
            <p:ph idx="1"/>
          </p:nvPr>
        </p:nvSpPr>
        <p:spPr/>
        <p:txBody>
          <a:bodyPr/>
          <a:lstStyle/>
          <a:p>
            <a:r>
              <a:rPr lang="en-US" dirty="0"/>
              <a:t>Cross-culturally, people express their religious beliefs in many ways</a:t>
            </a:r>
          </a:p>
          <a:p>
            <a:r>
              <a:rPr lang="en-US" dirty="0"/>
              <a:t>Cultural anthropologists classify these expressions into: </a:t>
            </a:r>
          </a:p>
          <a:p>
            <a:pPr lvl="1"/>
            <a:r>
              <a:rPr lang="en-US" dirty="0"/>
              <a:t>Myths</a:t>
            </a:r>
          </a:p>
          <a:p>
            <a:pPr lvl="1"/>
            <a:r>
              <a:rPr lang="en-US" dirty="0"/>
              <a:t>Doctrine</a:t>
            </a:r>
          </a:p>
          <a:p>
            <a:endParaRPr lang="en-US" dirty="0"/>
          </a:p>
        </p:txBody>
      </p:sp>
    </p:spTree>
    <p:extLst>
      <p:ext uri="{BB962C8B-B14F-4D97-AF65-F5344CB8AC3E}">
        <p14:creationId xmlns:p14="http://schemas.microsoft.com/office/powerpoint/2010/main" val="172070959"/>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Varieties of Religious </a:t>
            </a:r>
            <a:r>
              <a:rPr lang="en-US" dirty="0" smtClean="0"/>
              <a:t>Beliefs </a:t>
            </a:r>
            <a:r>
              <a:rPr lang="en-US" sz="3100" dirty="0" smtClean="0"/>
              <a:t>(2 </a:t>
            </a:r>
            <a:r>
              <a:rPr lang="en-US" sz="3100" dirty="0"/>
              <a:t>of 6)</a:t>
            </a:r>
          </a:p>
        </p:txBody>
      </p:sp>
      <p:sp>
        <p:nvSpPr>
          <p:cNvPr id="3" name="Content Placeholder 2"/>
          <p:cNvSpPr>
            <a:spLocks noGrp="1"/>
          </p:cNvSpPr>
          <p:nvPr>
            <p:ph idx="1"/>
          </p:nvPr>
        </p:nvSpPr>
        <p:spPr/>
        <p:txBody>
          <a:bodyPr/>
          <a:lstStyle/>
          <a:p>
            <a:r>
              <a:rPr lang="en-US" dirty="0" smtClean="0"/>
              <a:t>Myths</a:t>
            </a:r>
            <a:endParaRPr lang="en-US" dirty="0"/>
          </a:p>
          <a:p>
            <a:pPr lvl="1"/>
            <a:r>
              <a:rPr lang="en-US" dirty="0"/>
              <a:t>Convey </a:t>
            </a:r>
            <a:r>
              <a:rPr lang="en-US" dirty="0" smtClean="0"/>
              <a:t>information </a:t>
            </a:r>
            <a:r>
              <a:rPr lang="en-US" dirty="0"/>
              <a:t>about supernaturals through the story itself</a:t>
            </a:r>
          </a:p>
          <a:p>
            <a:pPr lvl="1"/>
            <a:r>
              <a:rPr lang="en-US" dirty="0"/>
              <a:t>Indirect messages</a:t>
            </a:r>
          </a:p>
          <a:p>
            <a:pPr lvl="1"/>
            <a:r>
              <a:rPr lang="en-US" dirty="0"/>
              <a:t>Usually part of the oral (verbal) tradition</a:t>
            </a:r>
          </a:p>
          <a:p>
            <a:endParaRPr lang="en-US" dirty="0"/>
          </a:p>
          <a:p>
            <a:endParaRPr lang="en-US" dirty="0"/>
          </a:p>
          <a:p>
            <a:endParaRPr lang="en-US" dirty="0"/>
          </a:p>
        </p:txBody>
      </p:sp>
    </p:spTree>
    <p:extLst>
      <p:ext uri="{BB962C8B-B14F-4D97-AF65-F5344CB8AC3E}">
        <p14:creationId xmlns:p14="http://schemas.microsoft.com/office/powerpoint/2010/main" val="1692837245"/>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Varieties of Religious </a:t>
            </a:r>
            <a:r>
              <a:rPr lang="en-US" dirty="0" smtClean="0"/>
              <a:t>Beliefs </a:t>
            </a:r>
            <a:r>
              <a:rPr lang="en-US" sz="3100" dirty="0" smtClean="0"/>
              <a:t>(3 </a:t>
            </a:r>
            <a:r>
              <a:rPr lang="en-US" sz="3100" dirty="0"/>
              <a:t>of 6)</a:t>
            </a:r>
          </a:p>
        </p:txBody>
      </p:sp>
      <p:sp>
        <p:nvSpPr>
          <p:cNvPr id="3" name="Content Placeholder 2"/>
          <p:cNvSpPr>
            <a:spLocks noGrp="1"/>
          </p:cNvSpPr>
          <p:nvPr>
            <p:ph idx="1"/>
          </p:nvPr>
        </p:nvSpPr>
        <p:spPr/>
        <p:txBody>
          <a:bodyPr>
            <a:normAutofit fontScale="92500" lnSpcReduction="10000"/>
          </a:bodyPr>
          <a:lstStyle/>
          <a:p>
            <a:r>
              <a:rPr lang="en-US" dirty="0" smtClean="0"/>
              <a:t>Three functional anthropological theories about myths:</a:t>
            </a:r>
          </a:p>
          <a:p>
            <a:pPr lvl="1"/>
            <a:r>
              <a:rPr lang="en-US" dirty="0"/>
              <a:t>Malinowski: myths are a “charter” for </a:t>
            </a:r>
            <a:r>
              <a:rPr lang="en-US" dirty="0" smtClean="0"/>
              <a:t>society; </a:t>
            </a:r>
            <a:r>
              <a:rPr lang="en-US" dirty="0"/>
              <a:t>they provide a rationale for the group</a:t>
            </a:r>
          </a:p>
          <a:p>
            <a:pPr lvl="1"/>
            <a:r>
              <a:rPr lang="en-US" dirty="0"/>
              <a:t>Lévi-Strauss: myths express the underlying beliefs of a society and help people resolve deep contradictions between life and death and other binary oppositions</a:t>
            </a:r>
          </a:p>
          <a:p>
            <a:pPr lvl="1"/>
            <a:r>
              <a:rPr lang="en-US" dirty="0"/>
              <a:t>Cultural materialists: example in the text showing that myths store knowledge for cultural </a:t>
            </a:r>
            <a:r>
              <a:rPr lang="en-US" dirty="0" smtClean="0"/>
              <a:t>survival</a:t>
            </a:r>
          </a:p>
          <a:p>
            <a:pPr lvl="2"/>
            <a:r>
              <a:rPr lang="en-US" dirty="0" smtClean="0"/>
              <a:t>Example: theme of food availability in Klamath and Modoc myth</a:t>
            </a:r>
            <a:endParaRPr lang="en-US" dirty="0"/>
          </a:p>
          <a:p>
            <a:pPr lvl="1"/>
            <a:endParaRPr lang="en-US" dirty="0"/>
          </a:p>
        </p:txBody>
      </p:sp>
    </p:spTree>
    <p:extLst>
      <p:ext uri="{BB962C8B-B14F-4D97-AF65-F5344CB8AC3E}">
        <p14:creationId xmlns:p14="http://schemas.microsoft.com/office/powerpoint/2010/main" val="736120747"/>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Map 12.1 Klamath and Modoc Region in Oregon and California</a:t>
            </a:r>
            <a:endParaRPr lang="en-US" dirty="0"/>
          </a:p>
        </p:txBody>
      </p:sp>
      <p:pic>
        <p:nvPicPr>
          <p:cNvPr id="4" name="Content Placeholder 3" descr="A map shows the Klamath and Modoc Region straddling the border of northern California and southern Oregon, near Crater Lake and Upper Klamath Lake in Oregon and Mount Shasta in California. An inset globe shows the area is in the northwestern United States."/>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95330" y="1524000"/>
            <a:ext cx="5091270" cy="4752544"/>
          </a:xfrm>
        </p:spPr>
      </p:pic>
    </p:spTree>
    <p:extLst>
      <p:ext uri="{BB962C8B-B14F-4D97-AF65-F5344CB8AC3E}">
        <p14:creationId xmlns:p14="http://schemas.microsoft.com/office/powerpoint/2010/main" val="3515849048"/>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Varieties of Religious </a:t>
            </a:r>
            <a:r>
              <a:rPr lang="en-US" dirty="0" smtClean="0"/>
              <a:t>Beliefs </a:t>
            </a:r>
            <a:r>
              <a:rPr lang="en-US" sz="3100" dirty="0" smtClean="0"/>
              <a:t>(4 </a:t>
            </a:r>
            <a:r>
              <a:rPr lang="en-US" sz="3100" dirty="0"/>
              <a:t>of 6)</a:t>
            </a:r>
          </a:p>
        </p:txBody>
      </p:sp>
      <p:sp>
        <p:nvSpPr>
          <p:cNvPr id="3" name="Content Placeholder 2"/>
          <p:cNvSpPr>
            <a:spLocks noGrp="1"/>
          </p:cNvSpPr>
          <p:nvPr>
            <p:ph idx="1"/>
          </p:nvPr>
        </p:nvSpPr>
        <p:spPr/>
        <p:txBody>
          <a:bodyPr>
            <a:normAutofit/>
          </a:bodyPr>
          <a:lstStyle/>
          <a:p>
            <a:r>
              <a:rPr lang="en-US" dirty="0" smtClean="0"/>
              <a:t>Doctrine</a:t>
            </a:r>
          </a:p>
          <a:p>
            <a:pPr lvl="1"/>
            <a:r>
              <a:rPr lang="en-US" dirty="0" smtClean="0"/>
              <a:t>Direct </a:t>
            </a:r>
            <a:r>
              <a:rPr lang="en-US" dirty="0"/>
              <a:t>statements about religious beliefs</a:t>
            </a:r>
          </a:p>
          <a:p>
            <a:pPr lvl="1"/>
            <a:r>
              <a:rPr lang="en-US" dirty="0"/>
              <a:t>Written and formal</a:t>
            </a:r>
          </a:p>
          <a:p>
            <a:pPr lvl="1"/>
            <a:r>
              <a:rPr lang="en-US" dirty="0"/>
              <a:t>Associated with state-level religions</a:t>
            </a:r>
          </a:p>
          <a:p>
            <a:pPr lvl="1"/>
            <a:r>
              <a:rPr lang="en-US" dirty="0"/>
              <a:t>Doctrine can and does change</a:t>
            </a:r>
          </a:p>
          <a:p>
            <a:pPr lvl="2"/>
            <a:r>
              <a:rPr lang="en-US" dirty="0"/>
              <a:t>Example: Islamic doctrine as expressed in the </a:t>
            </a:r>
            <a:r>
              <a:rPr lang="en-US" dirty="0" smtClean="0"/>
              <a:t>Qur’an</a:t>
            </a:r>
            <a:r>
              <a:rPr lang="en-US" dirty="0"/>
              <a:t>, debated among contemporary Muslims regarding issues such as polygyny, divorce, women’s work roles, women’s clothing</a:t>
            </a:r>
          </a:p>
          <a:p>
            <a:endParaRPr lang="en-US" dirty="0"/>
          </a:p>
        </p:txBody>
      </p:sp>
    </p:spTree>
    <p:extLst>
      <p:ext uri="{BB962C8B-B14F-4D97-AF65-F5344CB8AC3E}">
        <p14:creationId xmlns:p14="http://schemas.microsoft.com/office/powerpoint/2010/main" val="3164107606"/>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Varieties of Religious </a:t>
            </a:r>
            <a:r>
              <a:rPr lang="en-US" dirty="0" smtClean="0"/>
              <a:t>Beliefs </a:t>
            </a:r>
            <a:r>
              <a:rPr lang="en-US" sz="3100" dirty="0" smtClean="0"/>
              <a:t>(5 </a:t>
            </a:r>
            <a:r>
              <a:rPr lang="en-US" sz="3100" dirty="0"/>
              <a:t>of 6)</a:t>
            </a:r>
          </a:p>
        </p:txBody>
      </p:sp>
      <p:sp>
        <p:nvSpPr>
          <p:cNvPr id="3" name="Content Placeholder 2"/>
          <p:cNvSpPr>
            <a:spLocks noGrp="1"/>
          </p:cNvSpPr>
          <p:nvPr>
            <p:ph idx="1"/>
          </p:nvPr>
        </p:nvSpPr>
        <p:spPr/>
        <p:txBody>
          <a:bodyPr/>
          <a:lstStyle/>
          <a:p>
            <a:r>
              <a:rPr lang="en-US" dirty="0" smtClean="0"/>
              <a:t>Beliefs about supernaturals</a:t>
            </a:r>
            <a:endParaRPr lang="en-US" dirty="0"/>
          </a:p>
          <a:p>
            <a:pPr lvl="1"/>
            <a:r>
              <a:rPr lang="en-US" dirty="0"/>
              <a:t>Animatism</a:t>
            </a:r>
          </a:p>
          <a:p>
            <a:pPr lvl="1"/>
            <a:r>
              <a:rPr lang="en-US" dirty="0"/>
              <a:t>Zoomorphic supernaturals</a:t>
            </a:r>
          </a:p>
          <a:p>
            <a:pPr lvl="1"/>
            <a:r>
              <a:rPr lang="en-US" dirty="0"/>
              <a:t>Anthropomorphic supernaturals</a:t>
            </a:r>
          </a:p>
          <a:p>
            <a:pPr lvl="1"/>
            <a:r>
              <a:rPr lang="en-US" dirty="0"/>
              <a:t>Pantheons</a:t>
            </a:r>
          </a:p>
          <a:p>
            <a:pPr lvl="1"/>
            <a:r>
              <a:rPr lang="en-US" dirty="0" smtClean="0"/>
              <a:t>Ancestors</a:t>
            </a:r>
            <a:endParaRPr lang="en-US" dirty="0"/>
          </a:p>
          <a:p>
            <a:endParaRPr lang="en-US" dirty="0"/>
          </a:p>
        </p:txBody>
      </p:sp>
    </p:spTree>
    <p:extLst>
      <p:ext uri="{BB962C8B-B14F-4D97-AF65-F5344CB8AC3E}">
        <p14:creationId xmlns:p14="http://schemas.microsoft.com/office/powerpoint/2010/main" val="1673351791"/>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Varieties of Religious </a:t>
            </a:r>
            <a:r>
              <a:rPr lang="en-US" dirty="0" smtClean="0"/>
              <a:t>Beliefs </a:t>
            </a:r>
            <a:r>
              <a:rPr lang="en-US" sz="3100" dirty="0" smtClean="0"/>
              <a:t>(6 </a:t>
            </a:r>
            <a:r>
              <a:rPr lang="en-US" sz="3100" dirty="0"/>
              <a:t>of 6)</a:t>
            </a:r>
          </a:p>
        </p:txBody>
      </p:sp>
      <p:sp>
        <p:nvSpPr>
          <p:cNvPr id="3" name="Content Placeholder 2"/>
          <p:cNvSpPr>
            <a:spLocks noGrp="1"/>
          </p:cNvSpPr>
          <p:nvPr>
            <p:ph idx="1"/>
          </p:nvPr>
        </p:nvSpPr>
        <p:spPr/>
        <p:txBody>
          <a:bodyPr/>
          <a:lstStyle/>
          <a:p>
            <a:r>
              <a:rPr lang="en-US" dirty="0" smtClean="0"/>
              <a:t>Sacred </a:t>
            </a:r>
            <a:r>
              <a:rPr lang="en-US" dirty="0"/>
              <a:t>s</a:t>
            </a:r>
            <a:r>
              <a:rPr lang="en-US" dirty="0" smtClean="0"/>
              <a:t>paces</a:t>
            </a:r>
          </a:p>
          <a:p>
            <a:pPr lvl="1"/>
            <a:r>
              <a:rPr lang="en-US" dirty="0" smtClean="0"/>
              <a:t>Natural </a:t>
            </a:r>
            <a:r>
              <a:rPr lang="en-US" dirty="0"/>
              <a:t>sites such as mountains, streams, stone outcroppings</a:t>
            </a:r>
          </a:p>
          <a:p>
            <a:pPr lvl="1"/>
            <a:r>
              <a:rPr lang="en-US" dirty="0" smtClean="0"/>
              <a:t>Temporary sacred spaces created through ritual</a:t>
            </a:r>
          </a:p>
          <a:p>
            <a:pPr lvl="2"/>
            <a:r>
              <a:rPr lang="en-US" dirty="0" smtClean="0"/>
              <a:t>Example: </a:t>
            </a:r>
            <a:r>
              <a:rPr lang="en-US" i="1" dirty="0" smtClean="0"/>
              <a:t>khatam quran</a:t>
            </a:r>
            <a:r>
              <a:rPr lang="en-US" dirty="0" smtClean="0"/>
              <a:t> in Manchester, England</a:t>
            </a:r>
            <a:endParaRPr lang="en-US" dirty="0"/>
          </a:p>
          <a:p>
            <a:endParaRPr lang="en-US" dirty="0"/>
          </a:p>
        </p:txBody>
      </p:sp>
    </p:spTree>
    <p:extLst>
      <p:ext uri="{BB962C8B-B14F-4D97-AF65-F5344CB8AC3E}">
        <p14:creationId xmlns:p14="http://schemas.microsoft.com/office/powerpoint/2010/main" val="554857157"/>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12.3 England</a:t>
            </a:r>
            <a:endParaRPr lang="en-US" dirty="0"/>
          </a:p>
        </p:txBody>
      </p:sp>
      <p:pic>
        <p:nvPicPr>
          <p:cNvPr id="4" name="Content Placeholder 3" descr="A map shows England and the capital city of London, along with Leeds, Manchester, Liverpool, and Birmingham. The location of Stonehenge is also marked. An inset globe shows the area is off the coast of western Europe."/>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364483" y="1396384"/>
            <a:ext cx="4569717" cy="4852016"/>
          </a:xfrm>
        </p:spPr>
      </p:pic>
    </p:spTree>
    <p:extLst>
      <p:ext uri="{BB962C8B-B14F-4D97-AF65-F5344CB8AC3E}">
        <p14:creationId xmlns:p14="http://schemas.microsoft.com/office/powerpoint/2010/main" val="3757454346"/>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2800" dirty="0" smtClean="0"/>
              <a:t>Eye on </a:t>
            </a:r>
            <a:r>
              <a:rPr lang="en-US" sz="2800" dirty="0"/>
              <a:t>the Environment: Eagle Protection, National Parks, and the Preservation of Hopi </a:t>
            </a:r>
            <a:r>
              <a:rPr lang="en-US" sz="2800" dirty="0" smtClean="0"/>
              <a:t>Culture </a:t>
            </a:r>
            <a:r>
              <a:rPr lang="en-US" sz="2400" dirty="0" smtClean="0"/>
              <a:t>(1 of 3)</a:t>
            </a:r>
            <a:endParaRPr lang="en-US" sz="2400" dirty="0"/>
          </a:p>
        </p:txBody>
      </p:sp>
      <p:sp>
        <p:nvSpPr>
          <p:cNvPr id="3" name="Content Placeholder 2"/>
          <p:cNvSpPr>
            <a:spLocks noGrp="1"/>
          </p:cNvSpPr>
          <p:nvPr>
            <p:ph idx="1"/>
          </p:nvPr>
        </p:nvSpPr>
        <p:spPr/>
        <p:txBody>
          <a:bodyPr/>
          <a:lstStyle/>
          <a:p>
            <a:r>
              <a:rPr lang="en-US" dirty="0" smtClean="0"/>
              <a:t>Golden </a:t>
            </a:r>
            <a:r>
              <a:rPr lang="en-US" dirty="0"/>
              <a:t>eagles among the Hopi Indians of Arizona</a:t>
            </a:r>
            <a:r>
              <a:rPr lang="en-US" dirty="0" smtClean="0"/>
              <a:t>:</a:t>
            </a:r>
            <a:endParaRPr lang="en-US" dirty="0"/>
          </a:p>
          <a:p>
            <a:pPr lvl="1"/>
            <a:r>
              <a:rPr lang="en-US" dirty="0"/>
              <a:t>Golden eagles are the Hopi people’s link to the spiritual world	</a:t>
            </a:r>
          </a:p>
          <a:p>
            <a:pPr lvl="1"/>
            <a:r>
              <a:rPr lang="en-US" dirty="0"/>
              <a:t>Their ritual use (and sacrifice) is essential to the continuity of Hopi culture</a:t>
            </a:r>
          </a:p>
          <a:p>
            <a:endParaRPr lang="en-US" dirty="0"/>
          </a:p>
        </p:txBody>
      </p:sp>
    </p:spTree>
    <p:extLst>
      <p:ext uri="{BB962C8B-B14F-4D97-AF65-F5344CB8AC3E}">
        <p14:creationId xmlns:p14="http://schemas.microsoft.com/office/powerpoint/2010/main" val="922977828"/>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Map 12.2 Hopi Reservation in Arizona</a:t>
            </a:r>
            <a:endParaRPr lang="en-US" dirty="0"/>
          </a:p>
        </p:txBody>
      </p:sp>
      <p:pic>
        <p:nvPicPr>
          <p:cNvPr id="4" name="Content Placeholder 3" descr="A map shows the Hopi reservation surrounded by the Navajo Nation in northeast Arizona, extending into southern Utah and western New Mexico. An inset globe shows the area is in the southwestern United States."/>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519693" y="1504680"/>
            <a:ext cx="6176507" cy="4819920"/>
          </a:xfrm>
        </p:spPr>
      </p:pic>
    </p:spTree>
    <p:extLst>
      <p:ext uri="{BB962C8B-B14F-4D97-AF65-F5344CB8AC3E}">
        <p14:creationId xmlns:p14="http://schemas.microsoft.com/office/powerpoint/2010/main" val="2476748489"/>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2800" dirty="0"/>
              <a:t>Eye on the Environment: Eagle Protection, National Parks, and the Preservation of Hopi Culture </a:t>
            </a:r>
            <a:r>
              <a:rPr lang="en-US" sz="2400" dirty="0" smtClean="0"/>
              <a:t>(2 </a:t>
            </a:r>
            <a:r>
              <a:rPr lang="en-US" sz="2400" dirty="0"/>
              <a:t>of 3)</a:t>
            </a:r>
          </a:p>
        </p:txBody>
      </p:sp>
      <p:sp>
        <p:nvSpPr>
          <p:cNvPr id="3" name="Content Placeholder 2"/>
          <p:cNvSpPr>
            <a:spLocks noGrp="1"/>
          </p:cNvSpPr>
          <p:nvPr>
            <p:ph idx="1"/>
          </p:nvPr>
        </p:nvSpPr>
        <p:spPr/>
        <p:txBody>
          <a:bodyPr/>
          <a:lstStyle/>
          <a:p>
            <a:r>
              <a:rPr lang="en-US" dirty="0"/>
              <a:t>In </a:t>
            </a:r>
            <a:r>
              <a:rPr lang="en-US" dirty="0" smtClean="0"/>
              <a:t>1962, </a:t>
            </a:r>
            <a:r>
              <a:rPr lang="en-US" dirty="0"/>
              <a:t>Congress protected golden eagles along with bald eagles</a:t>
            </a:r>
          </a:p>
          <a:p>
            <a:r>
              <a:rPr lang="en-US" dirty="0"/>
              <a:t>The Yellowstone </a:t>
            </a:r>
            <a:r>
              <a:rPr lang="en-US" dirty="0" smtClean="0"/>
              <a:t>model</a:t>
            </a:r>
            <a:r>
              <a:rPr lang="en-US" dirty="0"/>
              <a:t>: parks without people</a:t>
            </a:r>
          </a:p>
          <a:p>
            <a:r>
              <a:rPr lang="en-US" dirty="0" smtClean="0"/>
              <a:t>President </a:t>
            </a:r>
            <a:r>
              <a:rPr lang="en-US" dirty="0"/>
              <a:t>Clinton established a repository for golden eagle feathers and remains</a:t>
            </a:r>
          </a:p>
          <a:p>
            <a:r>
              <a:rPr lang="en-US" dirty="0"/>
              <a:t>The Hopi have a permit for an annual take of 40 golden eagles but their hunting grounds are limited because of a national park</a:t>
            </a:r>
          </a:p>
          <a:p>
            <a:endParaRPr lang="en-US" dirty="0"/>
          </a:p>
        </p:txBody>
      </p:sp>
    </p:spTree>
    <p:extLst>
      <p:ext uri="{BB962C8B-B14F-4D97-AF65-F5344CB8AC3E}">
        <p14:creationId xmlns:p14="http://schemas.microsoft.com/office/powerpoint/2010/main" val="4276037518"/>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2800" dirty="0"/>
              <a:t>Eye on the Environment: Eagle Protection, National Parks, and the Preservation of Hopi Culture </a:t>
            </a:r>
            <a:r>
              <a:rPr lang="en-US" sz="2400" dirty="0" smtClean="0"/>
              <a:t>(3 </a:t>
            </a:r>
            <a:r>
              <a:rPr lang="en-US" sz="2400" dirty="0"/>
              <a:t>of 3)</a:t>
            </a:r>
          </a:p>
        </p:txBody>
      </p:sp>
      <p:sp>
        <p:nvSpPr>
          <p:cNvPr id="3" name="Content Placeholder 2"/>
          <p:cNvSpPr>
            <a:spLocks noGrp="1"/>
          </p:cNvSpPr>
          <p:nvPr>
            <p:ph idx="1"/>
          </p:nvPr>
        </p:nvSpPr>
        <p:spPr/>
        <p:txBody>
          <a:bodyPr/>
          <a:lstStyle/>
          <a:p>
            <a:r>
              <a:rPr lang="en-US" dirty="0"/>
              <a:t>Anthropologists support environmental and species preservation, but not to the exclusion of heritage populations and cultures: parks and people</a:t>
            </a:r>
          </a:p>
          <a:p>
            <a:r>
              <a:rPr lang="en-US" dirty="0"/>
              <a:t>Golden eagles are abundant and the Hopi requests for the spring take present no threat to the survival of the species</a:t>
            </a:r>
          </a:p>
          <a:p>
            <a:endParaRPr lang="en-US" dirty="0"/>
          </a:p>
        </p:txBody>
      </p:sp>
    </p:spTree>
    <p:extLst>
      <p:ext uri="{BB962C8B-B14F-4D97-AF65-F5344CB8AC3E}">
        <p14:creationId xmlns:p14="http://schemas.microsoft.com/office/powerpoint/2010/main" val="409345456"/>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600" dirty="0" smtClean="0"/>
              <a:t>Anthropology Works: Aboriginal </a:t>
            </a:r>
            <a:r>
              <a:rPr lang="en-US" sz="3600" dirty="0"/>
              <a:t>Women’s Culture and Sacred Site Protection</a:t>
            </a:r>
          </a:p>
        </p:txBody>
      </p:sp>
      <p:sp>
        <p:nvSpPr>
          <p:cNvPr id="3" name="Content Placeholder 2"/>
          <p:cNvSpPr>
            <a:spLocks noGrp="1"/>
          </p:cNvSpPr>
          <p:nvPr>
            <p:ph idx="1"/>
          </p:nvPr>
        </p:nvSpPr>
        <p:spPr/>
        <p:txBody>
          <a:bodyPr>
            <a:normAutofit fontScale="92500" lnSpcReduction="20000"/>
          </a:bodyPr>
          <a:lstStyle/>
          <a:p>
            <a:r>
              <a:rPr lang="en-US" dirty="0"/>
              <a:t>Ngarrindjeri women hired cultural anthropologist Diane Bell to help them support their claims to a sacred site on Hindmarsh Island</a:t>
            </a:r>
          </a:p>
          <a:p>
            <a:r>
              <a:rPr lang="en-US" dirty="0"/>
              <a:t>They were trying to prevent construction of a bridge that would cross sacred waters</a:t>
            </a:r>
          </a:p>
          <a:p>
            <a:r>
              <a:rPr lang="en-US" dirty="0"/>
              <a:t>Bell gathered evidence to prove their case</a:t>
            </a:r>
          </a:p>
          <a:p>
            <a:pPr lvl="1"/>
            <a:r>
              <a:rPr lang="en-US" dirty="0"/>
              <a:t>Newspaper archives, early recordings of ritual songs, and oral histories</a:t>
            </a:r>
          </a:p>
          <a:p>
            <a:r>
              <a:rPr lang="en-US" dirty="0"/>
              <a:t>In 1999, the judge </a:t>
            </a:r>
            <a:r>
              <a:rPr lang="en-US" dirty="0" smtClean="0"/>
              <a:t>canceled </a:t>
            </a:r>
            <a:r>
              <a:rPr lang="en-US" dirty="0"/>
              <a:t>the bridge project</a:t>
            </a:r>
          </a:p>
          <a:p>
            <a:r>
              <a:rPr lang="en-US" dirty="0"/>
              <a:t>Land developers kept pressing, and in 2001, the bridge was built </a:t>
            </a:r>
          </a:p>
          <a:p>
            <a:endParaRPr lang="en-US" dirty="0"/>
          </a:p>
        </p:txBody>
      </p:sp>
    </p:spTree>
    <p:extLst>
      <p:ext uri="{BB962C8B-B14F-4D97-AF65-F5344CB8AC3E}">
        <p14:creationId xmlns:p14="http://schemas.microsoft.com/office/powerpoint/2010/main" val="998344717"/>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Map 12.4 Hindmarsh Island </a:t>
            </a:r>
            <a:br>
              <a:rPr lang="en-US" dirty="0" smtClean="0"/>
            </a:br>
            <a:r>
              <a:rPr lang="en-US" dirty="0" smtClean="0"/>
              <a:t>in Southeast Australia</a:t>
            </a:r>
            <a:endParaRPr lang="en-US" dirty="0"/>
          </a:p>
        </p:txBody>
      </p:sp>
      <p:pic>
        <p:nvPicPr>
          <p:cNvPr id="4" name="Content Placeholder 3" descr="A map shows Hindmarsh Island on the Southern Ocean, protected by barrier islands. Inset maps show the area is south of Adelaide in the state of South Australi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944535" y="1447800"/>
            <a:ext cx="3380064" cy="4876800"/>
          </a:xfrm>
        </p:spPr>
      </p:pic>
    </p:spTree>
    <p:extLst>
      <p:ext uri="{BB962C8B-B14F-4D97-AF65-F5344CB8AC3E}">
        <p14:creationId xmlns:p14="http://schemas.microsoft.com/office/powerpoint/2010/main" val="2419251468"/>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Ritual Practices </a:t>
            </a:r>
            <a:r>
              <a:rPr lang="en-US" sz="2800" dirty="0" smtClean="0"/>
              <a:t>(1 of 5)</a:t>
            </a:r>
            <a:endParaRPr lang="en-US" sz="2800" dirty="0"/>
          </a:p>
        </p:txBody>
      </p:sp>
      <p:sp>
        <p:nvSpPr>
          <p:cNvPr id="3" name="Content Placeholder 2"/>
          <p:cNvSpPr>
            <a:spLocks noGrp="1"/>
          </p:cNvSpPr>
          <p:nvPr>
            <p:ph idx="1"/>
          </p:nvPr>
        </p:nvSpPr>
        <p:spPr/>
        <p:txBody>
          <a:bodyPr>
            <a:normAutofit/>
          </a:bodyPr>
          <a:lstStyle/>
          <a:p>
            <a:r>
              <a:rPr lang="en-US" dirty="0"/>
              <a:t>Ritual: patterned behavior that has to do with the </a:t>
            </a:r>
            <a:r>
              <a:rPr lang="en-US" dirty="0" smtClean="0"/>
              <a:t>supernatural realm</a:t>
            </a:r>
            <a:endParaRPr lang="en-US" dirty="0"/>
          </a:p>
          <a:p>
            <a:pPr lvl="1"/>
            <a:r>
              <a:rPr lang="en-US" dirty="0" smtClean="0"/>
              <a:t>Life-cycle </a:t>
            </a:r>
            <a:r>
              <a:rPr lang="en-US" dirty="0"/>
              <a:t>rituals</a:t>
            </a:r>
          </a:p>
          <a:p>
            <a:pPr lvl="1"/>
            <a:r>
              <a:rPr lang="en-US" dirty="0" smtClean="0"/>
              <a:t>Pilgrimage</a:t>
            </a:r>
            <a:endParaRPr lang="en-US" dirty="0"/>
          </a:p>
          <a:p>
            <a:pPr lvl="1"/>
            <a:r>
              <a:rPr lang="en-US" dirty="0" smtClean="0"/>
              <a:t>Rituals </a:t>
            </a:r>
            <a:r>
              <a:rPr lang="en-US" dirty="0"/>
              <a:t>of inversion</a:t>
            </a:r>
          </a:p>
          <a:p>
            <a:pPr lvl="1"/>
            <a:r>
              <a:rPr lang="en-US" dirty="0" smtClean="0"/>
              <a:t>Sacrifice</a:t>
            </a:r>
          </a:p>
        </p:txBody>
      </p:sp>
    </p:spTree>
    <p:extLst>
      <p:ext uri="{BB962C8B-B14F-4D97-AF65-F5344CB8AC3E}">
        <p14:creationId xmlns:p14="http://schemas.microsoft.com/office/powerpoint/2010/main" val="3196669364"/>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Ritual Practices </a:t>
            </a:r>
            <a:r>
              <a:rPr lang="en-US" sz="2800" dirty="0" smtClean="0"/>
              <a:t>(2 </a:t>
            </a:r>
            <a:r>
              <a:rPr lang="en-US" sz="2800" dirty="0"/>
              <a:t>of 5)</a:t>
            </a:r>
          </a:p>
        </p:txBody>
      </p:sp>
      <p:sp>
        <p:nvSpPr>
          <p:cNvPr id="3" name="Content Placeholder 2"/>
          <p:cNvSpPr>
            <a:spLocks noGrp="1"/>
          </p:cNvSpPr>
          <p:nvPr>
            <p:ph idx="1"/>
          </p:nvPr>
        </p:nvSpPr>
        <p:spPr/>
        <p:txBody>
          <a:bodyPr/>
          <a:lstStyle/>
          <a:p>
            <a:r>
              <a:rPr lang="en-US" dirty="0" smtClean="0"/>
              <a:t>Life-Cycle Rituals</a:t>
            </a:r>
          </a:p>
          <a:p>
            <a:pPr lvl="1"/>
            <a:r>
              <a:rPr lang="en-US" dirty="0" smtClean="0"/>
              <a:t>Mark change in status or life stage</a:t>
            </a:r>
          </a:p>
          <a:p>
            <a:pPr lvl="1"/>
            <a:r>
              <a:rPr lang="en-US" dirty="0" smtClean="0"/>
              <a:t>Cross-culturally, life-cycle rituals often have the following phases:</a:t>
            </a:r>
          </a:p>
          <a:p>
            <a:pPr lvl="2"/>
            <a:r>
              <a:rPr lang="en-US" dirty="0" smtClean="0"/>
              <a:t>Separation: physical, social, or symbolic</a:t>
            </a:r>
          </a:p>
          <a:p>
            <a:pPr lvl="2"/>
            <a:r>
              <a:rPr lang="en-US" dirty="0" smtClean="0"/>
              <a:t>Liminal: the person is neither in one category nor the other</a:t>
            </a:r>
          </a:p>
          <a:p>
            <a:pPr lvl="2"/>
            <a:r>
              <a:rPr lang="en-US" dirty="0" smtClean="0"/>
              <a:t>Reintegration: initiates “emerge” back into society and their new status </a:t>
            </a:r>
            <a:endParaRPr lang="en-US" dirty="0"/>
          </a:p>
        </p:txBody>
      </p:sp>
    </p:spTree>
    <p:extLst>
      <p:ext uri="{BB962C8B-B14F-4D97-AF65-F5344CB8AC3E}">
        <p14:creationId xmlns:p14="http://schemas.microsoft.com/office/powerpoint/2010/main" val="3228896432"/>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Ritual Practices </a:t>
            </a:r>
            <a:r>
              <a:rPr lang="en-US" sz="2800" dirty="0" smtClean="0"/>
              <a:t>(3 </a:t>
            </a:r>
            <a:r>
              <a:rPr lang="en-US" sz="2800" dirty="0"/>
              <a:t>of 5)</a:t>
            </a:r>
          </a:p>
        </p:txBody>
      </p:sp>
      <p:sp>
        <p:nvSpPr>
          <p:cNvPr id="3" name="Content Placeholder 2"/>
          <p:cNvSpPr>
            <a:spLocks noGrp="1"/>
          </p:cNvSpPr>
          <p:nvPr>
            <p:ph idx="1"/>
          </p:nvPr>
        </p:nvSpPr>
        <p:spPr/>
        <p:txBody>
          <a:bodyPr/>
          <a:lstStyle/>
          <a:p>
            <a:r>
              <a:rPr lang="en-US" dirty="0" smtClean="0"/>
              <a:t>Pilgrimage</a:t>
            </a:r>
          </a:p>
          <a:p>
            <a:pPr lvl="1"/>
            <a:r>
              <a:rPr lang="en-US" dirty="0" smtClean="0"/>
              <a:t>Round-trip travel to a sacred location for the purpose of devotion</a:t>
            </a:r>
          </a:p>
          <a:p>
            <a:pPr lvl="1"/>
            <a:r>
              <a:rPr lang="en-US" dirty="0" smtClean="0"/>
              <a:t>Often includes a theme of hardship</a:t>
            </a:r>
            <a:endParaRPr lang="en-US" dirty="0"/>
          </a:p>
        </p:txBody>
      </p:sp>
    </p:spTree>
    <p:extLst>
      <p:ext uri="{BB962C8B-B14F-4D97-AF65-F5344CB8AC3E}">
        <p14:creationId xmlns:p14="http://schemas.microsoft.com/office/powerpoint/2010/main" val="2992372180"/>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Ritual Practices </a:t>
            </a:r>
            <a:r>
              <a:rPr lang="en-US" sz="2800" dirty="0" smtClean="0"/>
              <a:t>(4 </a:t>
            </a:r>
            <a:r>
              <a:rPr lang="en-US" sz="2800" dirty="0"/>
              <a:t>of 5)</a:t>
            </a:r>
          </a:p>
        </p:txBody>
      </p:sp>
      <p:sp>
        <p:nvSpPr>
          <p:cNvPr id="3" name="Content Placeholder 2"/>
          <p:cNvSpPr>
            <a:spLocks noGrp="1"/>
          </p:cNvSpPr>
          <p:nvPr>
            <p:ph idx="1"/>
          </p:nvPr>
        </p:nvSpPr>
        <p:spPr/>
        <p:txBody>
          <a:bodyPr/>
          <a:lstStyle/>
          <a:p>
            <a:r>
              <a:rPr lang="en-US" dirty="0" smtClean="0"/>
              <a:t>Rituals of Inversion</a:t>
            </a:r>
          </a:p>
          <a:p>
            <a:pPr lvl="1"/>
            <a:r>
              <a:rPr lang="en-US" dirty="0" smtClean="0"/>
              <a:t>Normal social roles and relations are temporarily reversed or relaxed</a:t>
            </a:r>
          </a:p>
          <a:p>
            <a:pPr lvl="1"/>
            <a:r>
              <a:rPr lang="en-US" dirty="0" smtClean="0"/>
              <a:t>Example: carnival in </a:t>
            </a:r>
            <a:r>
              <a:rPr lang="en-US" dirty="0"/>
              <a:t>s</a:t>
            </a:r>
            <a:r>
              <a:rPr lang="en-US" dirty="0" smtClean="0"/>
              <a:t>outhern Europe and the Western Hemisphere</a:t>
            </a:r>
          </a:p>
          <a:p>
            <a:pPr lvl="2"/>
            <a:r>
              <a:rPr lang="en-US" dirty="0" smtClean="0"/>
              <a:t>Riotous celebration, cross-dressing, relaxed social expectations</a:t>
            </a:r>
          </a:p>
          <a:p>
            <a:pPr lvl="1"/>
            <a:r>
              <a:rPr lang="en-US" dirty="0" smtClean="0"/>
              <a:t>Do these rituals act to maintain social order?</a:t>
            </a:r>
            <a:endParaRPr lang="en-US" dirty="0"/>
          </a:p>
        </p:txBody>
      </p:sp>
    </p:spTree>
    <p:extLst>
      <p:ext uri="{BB962C8B-B14F-4D97-AF65-F5344CB8AC3E}">
        <p14:creationId xmlns:p14="http://schemas.microsoft.com/office/powerpoint/2010/main" val="2494784914"/>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12.5 Italy</a:t>
            </a:r>
            <a:endParaRPr lang="en-US" dirty="0"/>
          </a:p>
        </p:txBody>
      </p:sp>
      <p:pic>
        <p:nvPicPr>
          <p:cNvPr id="4" name="Content Placeholder 3" descr="A map shows Italy, with its capital city of Roma and the cities of Firenze (Florence) and Palermo (on the island of Sicilia). An inset globe shows the area is in southern Europe."/>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438401" y="1447800"/>
            <a:ext cx="4495799" cy="4762499"/>
          </a:xfrm>
        </p:spPr>
      </p:pic>
    </p:spTree>
    <p:extLst>
      <p:ext uri="{BB962C8B-B14F-4D97-AF65-F5344CB8AC3E}">
        <p14:creationId xmlns:p14="http://schemas.microsoft.com/office/powerpoint/2010/main" val="1110564111"/>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Ritual Practices </a:t>
            </a:r>
            <a:r>
              <a:rPr lang="en-US" sz="2800" dirty="0" smtClean="0"/>
              <a:t>(5 </a:t>
            </a:r>
            <a:r>
              <a:rPr lang="en-US" sz="2800" dirty="0"/>
              <a:t>of 5)</a:t>
            </a:r>
          </a:p>
        </p:txBody>
      </p:sp>
      <p:sp>
        <p:nvSpPr>
          <p:cNvPr id="3" name="Content Placeholder 2"/>
          <p:cNvSpPr>
            <a:spLocks noGrp="1"/>
          </p:cNvSpPr>
          <p:nvPr>
            <p:ph idx="1"/>
          </p:nvPr>
        </p:nvSpPr>
        <p:spPr/>
        <p:txBody>
          <a:bodyPr/>
          <a:lstStyle/>
          <a:p>
            <a:r>
              <a:rPr lang="en-US" dirty="0" smtClean="0"/>
              <a:t>Sacrifice</a:t>
            </a:r>
          </a:p>
          <a:p>
            <a:pPr lvl="1"/>
            <a:r>
              <a:rPr lang="en-US" dirty="0" smtClean="0"/>
              <a:t>A gift or transfer of something to the supernaturals</a:t>
            </a:r>
          </a:p>
          <a:p>
            <a:pPr lvl="1"/>
            <a:r>
              <a:rPr lang="en-US" dirty="0" smtClean="0"/>
              <a:t>May take form of animals, humans, food, or other products</a:t>
            </a:r>
          </a:p>
          <a:p>
            <a:pPr lvl="1"/>
            <a:r>
              <a:rPr lang="en-US" dirty="0" smtClean="0"/>
              <a:t>Example: Aztec human sacrifice</a:t>
            </a:r>
          </a:p>
          <a:p>
            <a:pPr lvl="2"/>
            <a:r>
              <a:rPr lang="en-US" dirty="0" smtClean="0"/>
              <a:t>Scale of the sacrifices debated</a:t>
            </a:r>
          </a:p>
          <a:p>
            <a:pPr lvl="2"/>
            <a:r>
              <a:rPr lang="en-US" dirty="0" smtClean="0"/>
              <a:t>Source of protein for lower classes?</a:t>
            </a:r>
            <a:endParaRPr lang="en-US" dirty="0"/>
          </a:p>
        </p:txBody>
      </p:sp>
    </p:spTree>
    <p:extLst>
      <p:ext uri="{BB962C8B-B14F-4D97-AF65-F5344CB8AC3E}">
        <p14:creationId xmlns:p14="http://schemas.microsoft.com/office/powerpoint/2010/main" val="3747406947"/>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Religious Specialists </a:t>
            </a:r>
            <a:r>
              <a:rPr lang="en-US" sz="2800" dirty="0" smtClean="0"/>
              <a:t>(1 of 3)</a:t>
            </a:r>
            <a:endParaRPr lang="en-US" sz="2800" dirty="0"/>
          </a:p>
        </p:txBody>
      </p:sp>
      <p:sp>
        <p:nvSpPr>
          <p:cNvPr id="3" name="Content Placeholder 2"/>
          <p:cNvSpPr>
            <a:spLocks noGrp="1"/>
          </p:cNvSpPr>
          <p:nvPr>
            <p:ph idx="1"/>
          </p:nvPr>
        </p:nvSpPr>
        <p:spPr/>
        <p:txBody>
          <a:bodyPr/>
          <a:lstStyle/>
          <a:p>
            <a:pPr lvl="1"/>
            <a:r>
              <a:rPr lang="en-US" dirty="0" smtClean="0"/>
              <a:t>Shaman/shamanka</a:t>
            </a:r>
            <a:endParaRPr lang="en-US" dirty="0"/>
          </a:p>
          <a:p>
            <a:pPr lvl="1"/>
            <a:r>
              <a:rPr lang="en-US" dirty="0"/>
              <a:t>Priest/priestess</a:t>
            </a:r>
          </a:p>
          <a:p>
            <a:pPr lvl="1"/>
            <a:r>
              <a:rPr lang="en-US" dirty="0"/>
              <a:t>Diviner</a:t>
            </a:r>
          </a:p>
          <a:p>
            <a:pPr lvl="1"/>
            <a:r>
              <a:rPr lang="en-US" dirty="0"/>
              <a:t>Prophet</a:t>
            </a:r>
          </a:p>
          <a:p>
            <a:pPr lvl="1"/>
            <a:r>
              <a:rPr lang="en-US" dirty="0"/>
              <a:t>Others</a:t>
            </a:r>
          </a:p>
          <a:p>
            <a:endParaRPr lang="en-US" dirty="0"/>
          </a:p>
        </p:txBody>
      </p:sp>
    </p:spTree>
    <p:extLst>
      <p:ext uri="{BB962C8B-B14F-4D97-AF65-F5344CB8AC3E}">
        <p14:creationId xmlns:p14="http://schemas.microsoft.com/office/powerpoint/2010/main" val="1044594368"/>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Religious Specialists </a:t>
            </a:r>
            <a:r>
              <a:rPr lang="en-US" sz="2800" dirty="0" smtClean="0"/>
              <a:t>(2 </a:t>
            </a:r>
            <a:r>
              <a:rPr lang="en-US" sz="2800" dirty="0"/>
              <a:t>of 3)</a:t>
            </a:r>
          </a:p>
        </p:txBody>
      </p:sp>
      <p:sp>
        <p:nvSpPr>
          <p:cNvPr id="3" name="Content Placeholder 2"/>
          <p:cNvSpPr>
            <a:spLocks noGrp="1"/>
          </p:cNvSpPr>
          <p:nvPr>
            <p:ph idx="1"/>
          </p:nvPr>
        </p:nvSpPr>
        <p:spPr/>
        <p:txBody>
          <a:bodyPr/>
          <a:lstStyle/>
          <a:p>
            <a:r>
              <a:rPr lang="en-US" dirty="0" smtClean="0"/>
              <a:t>Shaman/</a:t>
            </a:r>
            <a:r>
              <a:rPr lang="en-US" dirty="0"/>
              <a:t>s</a:t>
            </a:r>
            <a:r>
              <a:rPr lang="en-US" dirty="0" smtClean="0"/>
              <a:t>hamanka</a:t>
            </a:r>
          </a:p>
          <a:p>
            <a:pPr lvl="1"/>
            <a:r>
              <a:rPr lang="en-US" dirty="0"/>
              <a:t>Religious specialist with direct association with the supernaturals</a:t>
            </a:r>
          </a:p>
          <a:p>
            <a:pPr lvl="1"/>
            <a:r>
              <a:rPr lang="en-US" dirty="0"/>
              <a:t>Most associated with </a:t>
            </a:r>
            <a:r>
              <a:rPr lang="en-US" dirty="0" smtClean="0"/>
              <a:t>nonstate </a:t>
            </a:r>
            <a:r>
              <a:rPr lang="en-US" dirty="0"/>
              <a:t>societies</a:t>
            </a:r>
          </a:p>
          <a:p>
            <a:pPr lvl="1"/>
            <a:r>
              <a:rPr lang="en-US" smtClean="0"/>
              <a:t>“</a:t>
            </a:r>
            <a:r>
              <a:rPr lang="en-US" dirty="0"/>
              <a:t>Called” to the profession</a:t>
            </a:r>
          </a:p>
          <a:p>
            <a:pPr lvl="1"/>
            <a:endParaRPr lang="en-US" dirty="0"/>
          </a:p>
        </p:txBody>
      </p:sp>
    </p:spTree>
    <p:extLst>
      <p:ext uri="{BB962C8B-B14F-4D97-AF65-F5344CB8AC3E}">
        <p14:creationId xmlns:p14="http://schemas.microsoft.com/office/powerpoint/2010/main" val="190764214"/>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Religious Specialists </a:t>
            </a:r>
            <a:r>
              <a:rPr lang="en-US" sz="2800" dirty="0" smtClean="0"/>
              <a:t>(3 </a:t>
            </a:r>
            <a:r>
              <a:rPr lang="en-US" sz="2800" dirty="0"/>
              <a:t>of 3)</a:t>
            </a:r>
          </a:p>
        </p:txBody>
      </p:sp>
      <p:sp>
        <p:nvSpPr>
          <p:cNvPr id="3" name="Content Placeholder 2"/>
          <p:cNvSpPr>
            <a:spLocks noGrp="1"/>
          </p:cNvSpPr>
          <p:nvPr>
            <p:ph idx="1"/>
          </p:nvPr>
        </p:nvSpPr>
        <p:spPr/>
        <p:txBody>
          <a:bodyPr/>
          <a:lstStyle/>
          <a:p>
            <a:r>
              <a:rPr lang="en-US" dirty="0" smtClean="0"/>
              <a:t>Priest/priestess</a:t>
            </a:r>
          </a:p>
          <a:p>
            <a:pPr lvl="1"/>
            <a:r>
              <a:rPr lang="en-US" dirty="0"/>
              <a:t>Associated with states</a:t>
            </a:r>
          </a:p>
          <a:p>
            <a:pPr lvl="1"/>
            <a:r>
              <a:rPr lang="en-US" dirty="0"/>
              <a:t>Full-time religious specialists</a:t>
            </a:r>
          </a:p>
          <a:p>
            <a:pPr lvl="1"/>
            <a:r>
              <a:rPr lang="en-US" dirty="0"/>
              <a:t>Formal training</a:t>
            </a:r>
          </a:p>
          <a:p>
            <a:pPr lvl="1"/>
            <a:r>
              <a:rPr lang="en-US" dirty="0"/>
              <a:t>Priestly lineage</a:t>
            </a:r>
          </a:p>
          <a:p>
            <a:pPr lvl="1"/>
            <a:r>
              <a:rPr lang="en-US" dirty="0"/>
              <a:t>Perform wider range of rituals than shamans/shamankas</a:t>
            </a:r>
          </a:p>
          <a:p>
            <a:pPr lvl="1"/>
            <a:r>
              <a:rPr lang="en-US" dirty="0"/>
              <a:t>May have substantial secular (worldly) power</a:t>
            </a:r>
          </a:p>
          <a:p>
            <a:pPr lvl="1"/>
            <a:endParaRPr lang="en-US" dirty="0"/>
          </a:p>
        </p:txBody>
      </p:sp>
    </p:spTree>
    <p:extLst>
      <p:ext uri="{BB962C8B-B14F-4D97-AF65-F5344CB8AC3E}">
        <p14:creationId xmlns:p14="http://schemas.microsoft.com/office/powerpoint/2010/main" val="260701623"/>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600" dirty="0" smtClean="0"/>
              <a:t>World Religions and Local Variations </a:t>
            </a:r>
            <a:r>
              <a:rPr lang="en-US" sz="2800" dirty="0" smtClean="0"/>
              <a:t>(1 of 3)</a:t>
            </a:r>
            <a:r>
              <a:rPr lang="en-US" sz="3200" dirty="0" smtClean="0"/>
              <a:t/>
            </a:r>
            <a:br>
              <a:rPr lang="en-US" sz="3200" dirty="0" smtClean="0"/>
            </a:br>
            <a:r>
              <a:rPr lang="en-US" sz="2400" dirty="0" smtClean="0"/>
              <a:t>12.2 Recognize how globalization has affected world religions.</a:t>
            </a:r>
            <a:endParaRPr lang="en-US" sz="2400" dirty="0"/>
          </a:p>
        </p:txBody>
      </p:sp>
      <p:sp>
        <p:nvSpPr>
          <p:cNvPr id="3" name="Content Placeholder 2"/>
          <p:cNvSpPr>
            <a:spLocks noGrp="1"/>
          </p:cNvSpPr>
          <p:nvPr>
            <p:ph idx="1"/>
          </p:nvPr>
        </p:nvSpPr>
        <p:spPr/>
        <p:txBody>
          <a:bodyPr>
            <a:normAutofit/>
          </a:bodyPr>
          <a:lstStyle/>
          <a:p>
            <a:r>
              <a:rPr lang="en-US" dirty="0"/>
              <a:t>World religions: text-</a:t>
            </a:r>
            <a:r>
              <a:rPr lang="en-US" dirty="0" smtClean="0"/>
              <a:t>based; have many followers; cross </a:t>
            </a:r>
            <a:r>
              <a:rPr lang="en-US" dirty="0"/>
              <a:t>country borders</a:t>
            </a:r>
          </a:p>
          <a:p>
            <a:pPr lvl="1"/>
            <a:r>
              <a:rPr lang="en-US" dirty="0"/>
              <a:t>Hinduism</a:t>
            </a:r>
          </a:p>
          <a:p>
            <a:pPr lvl="1"/>
            <a:r>
              <a:rPr lang="en-US" dirty="0"/>
              <a:t>Buddhism</a:t>
            </a:r>
          </a:p>
          <a:p>
            <a:pPr lvl="1"/>
            <a:r>
              <a:rPr lang="en-US" dirty="0"/>
              <a:t>Judaism</a:t>
            </a:r>
          </a:p>
          <a:p>
            <a:pPr lvl="1"/>
            <a:r>
              <a:rPr lang="en-US" dirty="0"/>
              <a:t>Christianity</a:t>
            </a:r>
          </a:p>
          <a:p>
            <a:pPr lvl="1"/>
            <a:r>
              <a:rPr lang="en-US" dirty="0"/>
              <a:t>Islam</a:t>
            </a:r>
          </a:p>
          <a:p>
            <a:pPr lvl="1"/>
            <a:r>
              <a:rPr lang="en-US" dirty="0"/>
              <a:t>African religions: not </a:t>
            </a:r>
            <a:r>
              <a:rPr lang="en-US" dirty="0" smtClean="0"/>
              <a:t>text-based</a:t>
            </a:r>
            <a:endParaRPr lang="en-US" dirty="0"/>
          </a:p>
          <a:p>
            <a:endParaRPr lang="en-US" dirty="0"/>
          </a:p>
        </p:txBody>
      </p:sp>
    </p:spTree>
    <p:extLst>
      <p:ext uri="{BB962C8B-B14F-4D97-AF65-F5344CB8AC3E}">
        <p14:creationId xmlns:p14="http://schemas.microsoft.com/office/powerpoint/2010/main" val="2060063575"/>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World Religions and Local </a:t>
            </a:r>
            <a:r>
              <a:rPr lang="en-US" sz="3600" dirty="0" smtClean="0"/>
              <a:t>Variations </a:t>
            </a:r>
            <a:r>
              <a:rPr lang="en-US" sz="2800" dirty="0" smtClean="0"/>
              <a:t>(2 of 3)</a:t>
            </a:r>
            <a:endParaRPr lang="en-US" sz="2800" dirty="0"/>
          </a:p>
        </p:txBody>
      </p:sp>
      <p:sp>
        <p:nvSpPr>
          <p:cNvPr id="3" name="Content Placeholder 2"/>
          <p:cNvSpPr>
            <a:spLocks noGrp="1"/>
          </p:cNvSpPr>
          <p:nvPr>
            <p:ph idx="1"/>
          </p:nvPr>
        </p:nvSpPr>
        <p:spPr/>
        <p:txBody>
          <a:bodyPr/>
          <a:lstStyle/>
          <a:p>
            <a:r>
              <a:rPr lang="en-US" dirty="0" smtClean="0"/>
              <a:t>Anthropology and </a:t>
            </a:r>
            <a:r>
              <a:rPr lang="en-US" dirty="0"/>
              <a:t>w</a:t>
            </a:r>
            <a:r>
              <a:rPr lang="en-US" dirty="0" smtClean="0"/>
              <a:t>orld religions</a:t>
            </a:r>
          </a:p>
          <a:p>
            <a:pPr lvl="1"/>
            <a:r>
              <a:rPr lang="en-US" dirty="0" smtClean="0"/>
              <a:t>What </a:t>
            </a:r>
            <a:r>
              <a:rPr lang="en-US" dirty="0"/>
              <a:t>is the impact of a world religion in a new, local context?</a:t>
            </a:r>
          </a:p>
          <a:p>
            <a:pPr lvl="1"/>
            <a:r>
              <a:rPr lang="en-US" dirty="0"/>
              <a:t>How do local cultures reshape world religions?</a:t>
            </a:r>
          </a:p>
          <a:p>
            <a:pPr lvl="1"/>
            <a:r>
              <a:rPr lang="en-US" dirty="0"/>
              <a:t>Key concepts: </a:t>
            </a:r>
          </a:p>
          <a:p>
            <a:pPr lvl="2"/>
            <a:r>
              <a:rPr lang="en-US" dirty="0"/>
              <a:t>Religious pluralism</a:t>
            </a:r>
          </a:p>
          <a:p>
            <a:pPr lvl="2"/>
            <a:r>
              <a:rPr lang="en-US" dirty="0"/>
              <a:t>Religious syncretism</a:t>
            </a:r>
          </a:p>
        </p:txBody>
      </p:sp>
    </p:spTree>
    <p:extLst>
      <p:ext uri="{BB962C8B-B14F-4D97-AF65-F5344CB8AC3E}">
        <p14:creationId xmlns:p14="http://schemas.microsoft.com/office/powerpoint/2010/main" val="2052656024"/>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World Religions and Local Variations </a:t>
            </a:r>
            <a:r>
              <a:rPr lang="en-US" sz="2800" dirty="0" smtClean="0"/>
              <a:t>(3 </a:t>
            </a:r>
            <a:r>
              <a:rPr lang="en-US" sz="2800" dirty="0"/>
              <a:t>of 3)</a:t>
            </a:r>
          </a:p>
        </p:txBody>
      </p:sp>
      <p:pic>
        <p:nvPicPr>
          <p:cNvPr id="4" name="Content Placeholder 3" descr="Escamilla’s painting of the Virgin of Guadalupe shows Mary with fairly dark skin."/>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971801" y="1600200"/>
            <a:ext cx="3078132" cy="4713176"/>
          </a:xfrm>
        </p:spPr>
      </p:pic>
    </p:spTree>
    <p:extLst>
      <p:ext uri="{BB962C8B-B14F-4D97-AF65-F5344CB8AC3E}">
        <p14:creationId xmlns:p14="http://schemas.microsoft.com/office/powerpoint/2010/main" val="2443717159"/>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Hinduism</a:t>
            </a:r>
            <a:endParaRPr lang="en-US" dirty="0"/>
          </a:p>
        </p:txBody>
      </p:sp>
      <p:sp>
        <p:nvSpPr>
          <p:cNvPr id="3" name="Content Placeholder 2"/>
          <p:cNvSpPr>
            <a:spLocks noGrp="1"/>
          </p:cNvSpPr>
          <p:nvPr>
            <p:ph idx="1"/>
          </p:nvPr>
        </p:nvSpPr>
        <p:spPr/>
        <p:txBody>
          <a:bodyPr/>
          <a:lstStyle/>
          <a:p>
            <a:r>
              <a:rPr lang="en-US" dirty="0" smtClean="0"/>
              <a:t>Most Hindus live in India</a:t>
            </a:r>
          </a:p>
          <a:p>
            <a:r>
              <a:rPr lang="en-US" dirty="0" smtClean="0"/>
              <a:t>Core text: the four Vedas</a:t>
            </a:r>
          </a:p>
          <a:p>
            <a:r>
              <a:rPr lang="en-US" dirty="0" smtClean="0"/>
              <a:t>Rich polytheism</a:t>
            </a:r>
          </a:p>
          <a:p>
            <a:r>
              <a:rPr lang="en-US" dirty="0" smtClean="0"/>
              <a:t>Incorporates a diversity of ways to be Hindu</a:t>
            </a:r>
          </a:p>
          <a:p>
            <a:r>
              <a:rPr lang="en-US" dirty="0" smtClean="0"/>
              <a:t>“Unity in diversity”</a:t>
            </a:r>
          </a:p>
          <a:p>
            <a:r>
              <a:rPr lang="en-US" dirty="0" smtClean="0"/>
              <a:t>Sacred sites range from monumental trees to piles of stones</a:t>
            </a:r>
            <a:endParaRPr lang="en-US" dirty="0"/>
          </a:p>
        </p:txBody>
      </p:sp>
    </p:spTree>
    <p:extLst>
      <p:ext uri="{BB962C8B-B14F-4D97-AF65-F5344CB8AC3E}">
        <p14:creationId xmlns:p14="http://schemas.microsoft.com/office/powerpoint/2010/main" val="535276524"/>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Buddhism</a:t>
            </a:r>
            <a:endParaRPr lang="en-US" dirty="0"/>
          </a:p>
        </p:txBody>
      </p:sp>
      <p:sp>
        <p:nvSpPr>
          <p:cNvPr id="3" name="Content Placeholder 2"/>
          <p:cNvSpPr>
            <a:spLocks noGrp="1"/>
          </p:cNvSpPr>
          <p:nvPr>
            <p:ph idx="1"/>
          </p:nvPr>
        </p:nvSpPr>
        <p:spPr/>
        <p:txBody>
          <a:bodyPr>
            <a:normAutofit lnSpcReduction="10000"/>
          </a:bodyPr>
          <a:lstStyle/>
          <a:p>
            <a:r>
              <a:rPr lang="en-US" dirty="0"/>
              <a:t>Founding figure: Siddhartha Gautama</a:t>
            </a:r>
          </a:p>
          <a:p>
            <a:r>
              <a:rPr lang="en-US" dirty="0"/>
              <a:t>Started in northern India</a:t>
            </a:r>
          </a:p>
          <a:p>
            <a:r>
              <a:rPr lang="en-US" dirty="0"/>
              <a:t>No accepted single text</a:t>
            </a:r>
          </a:p>
          <a:p>
            <a:r>
              <a:rPr lang="en-US" dirty="0"/>
              <a:t>First arose as protest against social inequality of Hinduism</a:t>
            </a:r>
          </a:p>
          <a:p>
            <a:r>
              <a:rPr lang="en-US" dirty="0"/>
              <a:t>Goal is to achieve nirvana</a:t>
            </a:r>
          </a:p>
          <a:p>
            <a:r>
              <a:rPr lang="en-US" dirty="0"/>
              <a:t>Strong tradition of </a:t>
            </a:r>
            <a:r>
              <a:rPr lang="en-US" dirty="0" smtClean="0"/>
              <a:t>monasticism</a:t>
            </a:r>
          </a:p>
          <a:p>
            <a:r>
              <a:rPr lang="en-US" dirty="0" smtClean="0"/>
              <a:t>Began in India but spread into East Asia</a:t>
            </a:r>
            <a:endParaRPr lang="en-US" dirty="0"/>
          </a:p>
          <a:p>
            <a:endParaRPr lang="en-US" dirty="0"/>
          </a:p>
        </p:txBody>
      </p:sp>
    </p:spTree>
    <p:extLst>
      <p:ext uri="{BB962C8B-B14F-4D97-AF65-F5344CB8AC3E}">
        <p14:creationId xmlns:p14="http://schemas.microsoft.com/office/powerpoint/2010/main" val="3342920822"/>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Think Like an Anthropologist: </a:t>
            </a:r>
            <a:br>
              <a:rPr lang="en-US" dirty="0" smtClean="0"/>
            </a:br>
            <a:r>
              <a:rPr lang="en-US" dirty="0" smtClean="0"/>
              <a:t>Tattoos and Sacred Power </a:t>
            </a:r>
            <a:r>
              <a:rPr lang="en-US" sz="3100" dirty="0" smtClean="0"/>
              <a:t>(1 of 2)</a:t>
            </a:r>
            <a:endParaRPr lang="en-US" sz="3100" dirty="0"/>
          </a:p>
        </p:txBody>
      </p:sp>
      <p:sp>
        <p:nvSpPr>
          <p:cNvPr id="3" name="Content Placeholder 2"/>
          <p:cNvSpPr>
            <a:spLocks noGrp="1"/>
          </p:cNvSpPr>
          <p:nvPr>
            <p:ph idx="1"/>
          </p:nvPr>
        </p:nvSpPr>
        <p:spPr/>
        <p:txBody>
          <a:bodyPr>
            <a:normAutofit lnSpcReduction="10000"/>
          </a:bodyPr>
          <a:lstStyle/>
          <a:p>
            <a:r>
              <a:rPr lang="en-US" dirty="0"/>
              <a:t>Example of religious syncretism</a:t>
            </a:r>
          </a:p>
          <a:p>
            <a:r>
              <a:rPr lang="en-US" dirty="0"/>
              <a:t>For the Shan people of northern </a:t>
            </a:r>
            <a:r>
              <a:rPr lang="en-US" dirty="0" smtClean="0"/>
              <a:t>Thailand, </a:t>
            </a:r>
            <a:r>
              <a:rPr lang="en-US" dirty="0"/>
              <a:t>tattooing blends aspects of Buddhism with local spirit beliefs and elements of </a:t>
            </a:r>
            <a:r>
              <a:rPr lang="en-US" dirty="0" smtClean="0"/>
              <a:t>Hinduism</a:t>
            </a:r>
          </a:p>
          <a:p>
            <a:r>
              <a:rPr lang="en-US" dirty="0" smtClean="0"/>
              <a:t>Tattoos may:</a:t>
            </a:r>
          </a:p>
          <a:p>
            <a:pPr lvl="1"/>
            <a:r>
              <a:rPr lang="en-US" dirty="0" smtClean="0"/>
              <a:t>Act on other people, causing the bearer to be liked or feared</a:t>
            </a:r>
          </a:p>
          <a:p>
            <a:pPr lvl="1"/>
            <a:r>
              <a:rPr lang="en-US" dirty="0" smtClean="0"/>
              <a:t>Increase bearer’s skill </a:t>
            </a:r>
          </a:p>
          <a:p>
            <a:pPr lvl="1"/>
            <a:r>
              <a:rPr lang="en-US" dirty="0" smtClean="0"/>
              <a:t>Create protective barriers</a:t>
            </a:r>
            <a:endParaRPr lang="en-US" dirty="0"/>
          </a:p>
          <a:p>
            <a:endParaRPr lang="en-US" dirty="0"/>
          </a:p>
        </p:txBody>
      </p:sp>
    </p:spTree>
    <p:extLst>
      <p:ext uri="{BB962C8B-B14F-4D97-AF65-F5344CB8AC3E}">
        <p14:creationId xmlns:p14="http://schemas.microsoft.com/office/powerpoint/2010/main" val="3299944340"/>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Think Like an Anthropologist: </a:t>
            </a:r>
            <a:r>
              <a:rPr lang="en-US" dirty="0" smtClean="0"/>
              <a:t/>
            </a:r>
            <a:br>
              <a:rPr lang="en-US" dirty="0" smtClean="0"/>
            </a:br>
            <a:r>
              <a:rPr lang="en-US" dirty="0" smtClean="0"/>
              <a:t>Tattoos </a:t>
            </a:r>
            <a:r>
              <a:rPr lang="en-US" dirty="0"/>
              <a:t>and Sacred </a:t>
            </a:r>
            <a:r>
              <a:rPr lang="en-US" dirty="0" smtClean="0"/>
              <a:t>Power </a:t>
            </a:r>
            <a:r>
              <a:rPr lang="en-US" sz="3100" dirty="0" smtClean="0"/>
              <a:t>(2 of 2)</a:t>
            </a:r>
            <a:endParaRPr lang="en-US" sz="3100" dirty="0"/>
          </a:p>
        </p:txBody>
      </p:sp>
      <p:pic>
        <p:nvPicPr>
          <p:cNvPr id="4" name="Content Placeholder 3" descr="A photo shows an elderly bald man smiling broadly; tattoos cover his chest and arms."/>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971800" y="1439972"/>
            <a:ext cx="3200399" cy="4846419"/>
          </a:xfrm>
        </p:spPr>
      </p:pic>
    </p:spTree>
    <p:extLst>
      <p:ext uri="{BB962C8B-B14F-4D97-AF65-F5344CB8AC3E}">
        <p14:creationId xmlns:p14="http://schemas.microsoft.com/office/powerpoint/2010/main" val="3313384778"/>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Judaism</a:t>
            </a:r>
            <a:endParaRPr lang="en-US" dirty="0"/>
          </a:p>
        </p:txBody>
      </p:sp>
      <p:sp>
        <p:nvSpPr>
          <p:cNvPr id="3" name="Content Placeholder 2"/>
          <p:cNvSpPr>
            <a:spLocks noGrp="1"/>
          </p:cNvSpPr>
          <p:nvPr>
            <p:ph idx="1"/>
          </p:nvPr>
        </p:nvSpPr>
        <p:spPr/>
        <p:txBody>
          <a:bodyPr/>
          <a:lstStyle/>
          <a:p>
            <a:r>
              <a:rPr lang="en-US" dirty="0"/>
              <a:t>Origins about 500 BCE</a:t>
            </a:r>
          </a:p>
          <a:p>
            <a:r>
              <a:rPr lang="en-US" dirty="0"/>
              <a:t>Theme of exile and return</a:t>
            </a:r>
          </a:p>
          <a:p>
            <a:r>
              <a:rPr lang="en-US" dirty="0"/>
              <a:t>Key text: Pentateuch, or Torah</a:t>
            </a:r>
          </a:p>
          <a:p>
            <a:r>
              <a:rPr lang="en-US" dirty="0"/>
              <a:t>Monotheistic</a:t>
            </a:r>
          </a:p>
          <a:p>
            <a:r>
              <a:rPr lang="en-US" dirty="0"/>
              <a:t>Words, both spoken and written, are important</a:t>
            </a:r>
          </a:p>
          <a:p>
            <a:r>
              <a:rPr lang="en-US" dirty="0"/>
              <a:t>Contemporary varieties from conservative to reform</a:t>
            </a:r>
          </a:p>
          <a:p>
            <a:endParaRPr lang="en-US" dirty="0"/>
          </a:p>
        </p:txBody>
      </p:sp>
    </p:spTree>
    <p:extLst>
      <p:ext uri="{BB962C8B-B14F-4D97-AF65-F5344CB8AC3E}">
        <p14:creationId xmlns:p14="http://schemas.microsoft.com/office/powerpoint/2010/main" val="1225830336"/>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Map 12.6 Sacred Sites in the Old City of Jerusalem, Israel</a:t>
            </a:r>
            <a:endParaRPr lang="en-US" dirty="0"/>
          </a:p>
        </p:txBody>
      </p:sp>
      <p:pic>
        <p:nvPicPr>
          <p:cNvPr id="4" name="Content Placeholder 3" descr="A map shows the locations of the following sacred sites in Jerusalem: Muslim Quarter, Christian Quarter, Holy Sepulchre, Citadel, Armenian Quarter, Al Baraq (Western Wall, Kotel), Jewish Quarter, Al-Aqsa Mosque, and Dome of the Rock. Two inset maps show Jerusalem is on the border of Israel and the West Bank, in the Middle East."/>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352800" y="1447799"/>
            <a:ext cx="2667000" cy="4870019"/>
          </a:xfrm>
        </p:spPr>
      </p:pic>
    </p:spTree>
    <p:extLst>
      <p:ext uri="{BB962C8B-B14F-4D97-AF65-F5344CB8AC3E}">
        <p14:creationId xmlns:p14="http://schemas.microsoft.com/office/powerpoint/2010/main" val="2713940752"/>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Christianity</a:t>
            </a:r>
            <a:endParaRPr lang="en-US" dirty="0"/>
          </a:p>
        </p:txBody>
      </p:sp>
      <p:sp>
        <p:nvSpPr>
          <p:cNvPr id="3" name="Content Placeholder 2"/>
          <p:cNvSpPr>
            <a:spLocks noGrp="1"/>
          </p:cNvSpPr>
          <p:nvPr>
            <p:ph idx="1"/>
          </p:nvPr>
        </p:nvSpPr>
        <p:spPr/>
        <p:txBody>
          <a:bodyPr/>
          <a:lstStyle/>
          <a:p>
            <a:r>
              <a:rPr lang="en-US" dirty="0"/>
              <a:t>Largest of the world religions</a:t>
            </a:r>
          </a:p>
          <a:p>
            <a:r>
              <a:rPr lang="en-US" dirty="0"/>
              <a:t>Basic text is the Bible</a:t>
            </a:r>
          </a:p>
          <a:p>
            <a:r>
              <a:rPr lang="en-US" dirty="0"/>
              <a:t>Teachings of Jesus as model for behavior</a:t>
            </a:r>
          </a:p>
          <a:p>
            <a:r>
              <a:rPr lang="en-US" dirty="0"/>
              <a:t>Many branches and denominations worldwide</a:t>
            </a:r>
          </a:p>
        </p:txBody>
      </p:sp>
    </p:spTree>
    <p:extLst>
      <p:ext uri="{BB962C8B-B14F-4D97-AF65-F5344CB8AC3E}">
        <p14:creationId xmlns:p14="http://schemas.microsoft.com/office/powerpoint/2010/main" val="3517469264"/>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Islam</a:t>
            </a:r>
            <a:endParaRPr lang="en-US" dirty="0"/>
          </a:p>
        </p:txBody>
      </p:sp>
      <p:sp>
        <p:nvSpPr>
          <p:cNvPr id="3" name="Content Placeholder 2"/>
          <p:cNvSpPr>
            <a:spLocks noGrp="1"/>
          </p:cNvSpPr>
          <p:nvPr>
            <p:ph idx="1"/>
          </p:nvPr>
        </p:nvSpPr>
        <p:spPr/>
        <p:txBody>
          <a:bodyPr/>
          <a:lstStyle/>
          <a:p>
            <a:r>
              <a:rPr lang="en-US" dirty="0"/>
              <a:t>Youngest of the world religions</a:t>
            </a:r>
          </a:p>
          <a:p>
            <a:r>
              <a:rPr lang="en-US" dirty="0" smtClean="0"/>
              <a:t>Second-largest </a:t>
            </a:r>
            <a:r>
              <a:rPr lang="en-US" dirty="0"/>
              <a:t>world religion</a:t>
            </a:r>
          </a:p>
          <a:p>
            <a:r>
              <a:rPr lang="en-US" dirty="0"/>
              <a:t>Based on the teachings of Muhammad</a:t>
            </a:r>
          </a:p>
          <a:p>
            <a:r>
              <a:rPr lang="en-US" dirty="0"/>
              <a:t>Sunni and Shi’a are the two major branches</a:t>
            </a:r>
          </a:p>
          <a:p>
            <a:r>
              <a:rPr lang="en-US" dirty="0"/>
              <a:t>Local variations in ritual practices</a:t>
            </a:r>
          </a:p>
          <a:p>
            <a:pPr marL="0" indent="0">
              <a:buNone/>
            </a:pPr>
            <a:endParaRPr lang="en-US" dirty="0"/>
          </a:p>
        </p:txBody>
      </p:sp>
    </p:spTree>
    <p:extLst>
      <p:ext uri="{BB962C8B-B14F-4D97-AF65-F5344CB8AC3E}">
        <p14:creationId xmlns:p14="http://schemas.microsoft.com/office/powerpoint/2010/main" val="386819112"/>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Culturama: Hui Muslims of Xi’an, China</a:t>
            </a:r>
            <a:endParaRPr lang="en-US" dirty="0"/>
          </a:p>
        </p:txBody>
      </p:sp>
      <p:sp>
        <p:nvSpPr>
          <p:cNvPr id="3" name="Content Placeholder 2"/>
          <p:cNvSpPr>
            <a:spLocks noGrp="1"/>
          </p:cNvSpPr>
          <p:nvPr>
            <p:ph idx="1"/>
          </p:nvPr>
        </p:nvSpPr>
        <p:spPr/>
        <p:txBody>
          <a:bodyPr>
            <a:normAutofit lnSpcReduction="10000"/>
          </a:bodyPr>
          <a:lstStyle/>
          <a:p>
            <a:r>
              <a:rPr lang="en-US" dirty="0"/>
              <a:t>The Hui are one of China’s largest designated minorities (around </a:t>
            </a:r>
            <a:r>
              <a:rPr lang="en-US" dirty="0" smtClean="0"/>
              <a:t>10 </a:t>
            </a:r>
            <a:r>
              <a:rPr lang="en-US" dirty="0"/>
              <a:t>million)</a:t>
            </a:r>
          </a:p>
          <a:p>
            <a:r>
              <a:rPr lang="en-US" dirty="0"/>
              <a:t>The state classifies them as “backward” and “feudal”</a:t>
            </a:r>
          </a:p>
          <a:p>
            <a:r>
              <a:rPr lang="en-US" dirty="0"/>
              <a:t>The Hui of Xi’an construct a modern and civilized lifestyle by choosing aspects of Muslim and Western </a:t>
            </a:r>
            <a:r>
              <a:rPr lang="en-US" dirty="0" smtClean="0"/>
              <a:t>cultures</a:t>
            </a:r>
            <a:endParaRPr lang="en-US" dirty="0"/>
          </a:p>
          <a:p>
            <a:r>
              <a:rPr lang="en-US" dirty="0"/>
              <a:t>Their diet (no pork or alcohol</a:t>
            </a:r>
            <a:r>
              <a:rPr lang="en-US" dirty="0" smtClean="0"/>
              <a:t>) sets </a:t>
            </a:r>
            <a:r>
              <a:rPr lang="en-US" dirty="0"/>
              <a:t>them apart from the Han </a:t>
            </a:r>
            <a:r>
              <a:rPr lang="en-US" dirty="0" smtClean="0"/>
              <a:t>culture</a:t>
            </a:r>
            <a:endParaRPr lang="en-US" dirty="0"/>
          </a:p>
        </p:txBody>
      </p:sp>
    </p:spTree>
    <p:extLst>
      <p:ext uri="{BB962C8B-B14F-4D97-AF65-F5344CB8AC3E}">
        <p14:creationId xmlns:p14="http://schemas.microsoft.com/office/powerpoint/2010/main" val="4106481485"/>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12.8 The City of Xi’an in China</a:t>
            </a:r>
            <a:endParaRPr lang="en-US" dirty="0"/>
          </a:p>
        </p:txBody>
      </p:sp>
      <p:pic>
        <p:nvPicPr>
          <p:cNvPr id="4" name="Content Placeholder 3" descr="A map shows Xian in central China, far from the capital city of Beijing and the port city of Shanghai. An inset globe shows the area is in east Asi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773136" y="1493059"/>
            <a:ext cx="3780064" cy="4755341"/>
          </a:xfrm>
        </p:spPr>
      </p:pic>
    </p:spTree>
    <p:extLst>
      <p:ext uri="{BB962C8B-B14F-4D97-AF65-F5344CB8AC3E}">
        <p14:creationId xmlns:p14="http://schemas.microsoft.com/office/powerpoint/2010/main" val="3025826544"/>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African Religions</a:t>
            </a:r>
            <a:endParaRPr lang="en-US" dirty="0"/>
          </a:p>
        </p:txBody>
      </p:sp>
      <p:sp>
        <p:nvSpPr>
          <p:cNvPr id="3" name="Content Placeholder 2"/>
          <p:cNvSpPr>
            <a:spLocks noGrp="1"/>
          </p:cNvSpPr>
          <p:nvPr>
            <p:ph idx="1"/>
          </p:nvPr>
        </p:nvSpPr>
        <p:spPr/>
        <p:txBody>
          <a:bodyPr>
            <a:normAutofit fontScale="92500"/>
          </a:bodyPr>
          <a:lstStyle/>
          <a:p>
            <a:r>
              <a:rPr lang="en-US" dirty="0"/>
              <a:t>Myths about a split between creator deity and humans</a:t>
            </a:r>
          </a:p>
          <a:p>
            <a:r>
              <a:rPr lang="en-US" dirty="0"/>
              <a:t>A pantheon of supernaturals</a:t>
            </a:r>
          </a:p>
          <a:p>
            <a:r>
              <a:rPr lang="en-US" dirty="0"/>
              <a:t>Elaborate initiation rituals and sacrifices</a:t>
            </a:r>
          </a:p>
          <a:p>
            <a:r>
              <a:rPr lang="en-US" dirty="0"/>
              <a:t>Altars within shrines</a:t>
            </a:r>
          </a:p>
          <a:p>
            <a:r>
              <a:rPr lang="en-US" dirty="0"/>
              <a:t>Close links with healing</a:t>
            </a:r>
          </a:p>
          <a:p>
            <a:r>
              <a:rPr lang="en-US" dirty="0"/>
              <a:t>New forms </a:t>
            </a:r>
            <a:r>
              <a:rPr lang="en-US" dirty="0" smtClean="0"/>
              <a:t>emerging, </a:t>
            </a:r>
            <a:r>
              <a:rPr lang="en-US" dirty="0"/>
              <a:t>especially in the Western Hemisphere </a:t>
            </a:r>
            <a:r>
              <a:rPr lang="en-US" dirty="0" smtClean="0"/>
              <a:t>(umbanda</a:t>
            </a:r>
            <a:r>
              <a:rPr lang="en-US" dirty="0"/>
              <a:t>, Rastafarianism, etc.)</a:t>
            </a:r>
          </a:p>
          <a:p>
            <a:endParaRPr lang="en-US" dirty="0"/>
          </a:p>
        </p:txBody>
      </p:sp>
    </p:spTree>
    <p:extLst>
      <p:ext uri="{BB962C8B-B14F-4D97-AF65-F5344CB8AC3E}">
        <p14:creationId xmlns:p14="http://schemas.microsoft.com/office/powerpoint/2010/main" val="570181561"/>
      </p:ext>
    </p:extLst>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600" dirty="0" smtClean="0"/>
              <a:t>Directions of Religious Change</a:t>
            </a:r>
            <a:br>
              <a:rPr lang="en-US" sz="3600" dirty="0" smtClean="0"/>
            </a:br>
            <a:r>
              <a:rPr lang="en-US" sz="2000" dirty="0" smtClean="0"/>
              <a:t>12.3 Identify examples of religious change in contemporary times.</a:t>
            </a:r>
            <a:endParaRPr lang="en-US" sz="2000" dirty="0"/>
          </a:p>
        </p:txBody>
      </p:sp>
      <p:sp>
        <p:nvSpPr>
          <p:cNvPr id="3" name="Content Placeholder 2"/>
          <p:cNvSpPr>
            <a:spLocks noGrp="1"/>
          </p:cNvSpPr>
          <p:nvPr>
            <p:ph idx="1"/>
          </p:nvPr>
        </p:nvSpPr>
        <p:spPr/>
        <p:txBody>
          <a:bodyPr>
            <a:normAutofit/>
          </a:bodyPr>
          <a:lstStyle/>
          <a:p>
            <a:endParaRPr lang="en-US" dirty="0" smtClean="0"/>
          </a:p>
          <a:p>
            <a:r>
              <a:rPr lang="en-US" dirty="0" smtClean="0"/>
              <a:t>Revitalization </a:t>
            </a:r>
            <a:r>
              <a:rPr lang="en-US" dirty="0"/>
              <a:t>M</a:t>
            </a:r>
            <a:r>
              <a:rPr lang="en-US" dirty="0" smtClean="0"/>
              <a:t>ovements</a:t>
            </a:r>
            <a:endParaRPr lang="en-US" dirty="0"/>
          </a:p>
          <a:p>
            <a:endParaRPr lang="en-US" dirty="0" smtClean="0"/>
          </a:p>
          <a:p>
            <a:r>
              <a:rPr lang="en-US" dirty="0" smtClean="0"/>
              <a:t>Contested </a:t>
            </a:r>
            <a:r>
              <a:rPr lang="en-US" dirty="0"/>
              <a:t>S</a:t>
            </a:r>
            <a:r>
              <a:rPr lang="en-US" dirty="0" smtClean="0"/>
              <a:t>acred </a:t>
            </a:r>
            <a:r>
              <a:rPr lang="en-US" dirty="0"/>
              <a:t>S</a:t>
            </a:r>
            <a:r>
              <a:rPr lang="en-US" dirty="0" smtClean="0"/>
              <a:t>ites</a:t>
            </a:r>
            <a:endParaRPr lang="en-US" dirty="0"/>
          </a:p>
          <a:p>
            <a:endParaRPr lang="en-US" dirty="0" smtClean="0"/>
          </a:p>
          <a:p>
            <a:r>
              <a:rPr lang="en-US" dirty="0" smtClean="0"/>
              <a:t>Religious </a:t>
            </a:r>
            <a:r>
              <a:rPr lang="en-US" dirty="0"/>
              <a:t>F</a:t>
            </a:r>
            <a:r>
              <a:rPr lang="en-US" dirty="0" smtClean="0"/>
              <a:t>reedom </a:t>
            </a:r>
            <a:r>
              <a:rPr lang="en-US" dirty="0"/>
              <a:t>as a </a:t>
            </a:r>
            <a:r>
              <a:rPr lang="en-US" dirty="0" smtClean="0"/>
              <a:t>Human </a:t>
            </a:r>
            <a:r>
              <a:rPr lang="en-US" dirty="0"/>
              <a:t>R</a:t>
            </a:r>
            <a:r>
              <a:rPr lang="en-US" dirty="0" smtClean="0"/>
              <a:t>ight</a:t>
            </a:r>
            <a:endParaRPr lang="en-US" dirty="0"/>
          </a:p>
          <a:p>
            <a:pPr marL="0" indent="0">
              <a:buNone/>
            </a:pPr>
            <a:endParaRPr lang="en-US" dirty="0"/>
          </a:p>
        </p:txBody>
      </p:sp>
    </p:spTree>
    <p:extLst>
      <p:ext uri="{BB962C8B-B14F-4D97-AF65-F5344CB8AC3E}">
        <p14:creationId xmlns:p14="http://schemas.microsoft.com/office/powerpoint/2010/main" val="3182954289"/>
      </p:ext>
    </p:extLst>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Revitalization Movements</a:t>
            </a:r>
            <a:endParaRPr lang="en-US" dirty="0"/>
          </a:p>
        </p:txBody>
      </p:sp>
      <p:sp>
        <p:nvSpPr>
          <p:cNvPr id="3" name="Content Placeholder 2"/>
          <p:cNvSpPr>
            <a:spLocks noGrp="1"/>
          </p:cNvSpPr>
          <p:nvPr>
            <p:ph idx="1"/>
          </p:nvPr>
        </p:nvSpPr>
        <p:spPr/>
        <p:txBody>
          <a:bodyPr>
            <a:normAutofit fontScale="92500" lnSpcReduction="10000"/>
          </a:bodyPr>
          <a:lstStyle/>
          <a:p>
            <a:r>
              <a:rPr lang="en-US" dirty="0"/>
              <a:t>Seek to bring about positive change by reconstructing parts of religion threatened by outside forces</a:t>
            </a:r>
          </a:p>
          <a:p>
            <a:r>
              <a:rPr lang="en-US" dirty="0" smtClean="0"/>
              <a:t>Example: Ghost Dance movement</a:t>
            </a:r>
          </a:p>
          <a:p>
            <a:pPr lvl="1"/>
            <a:r>
              <a:rPr lang="en-US" dirty="0" smtClean="0"/>
              <a:t>Response to invasion of land by White people</a:t>
            </a:r>
          </a:p>
          <a:p>
            <a:pPr lvl="1"/>
            <a:r>
              <a:rPr lang="en-US" dirty="0" smtClean="0"/>
              <a:t>Predicted destruction followed by renewal</a:t>
            </a:r>
          </a:p>
          <a:p>
            <a:r>
              <a:rPr lang="en-US" dirty="0" smtClean="0"/>
              <a:t>Example: cargo </a:t>
            </a:r>
            <a:r>
              <a:rPr lang="en-US" dirty="0"/>
              <a:t>c</a:t>
            </a:r>
            <a:r>
              <a:rPr lang="en-US" dirty="0" smtClean="0"/>
              <a:t>ults</a:t>
            </a:r>
          </a:p>
          <a:p>
            <a:pPr lvl="1"/>
            <a:r>
              <a:rPr lang="en-US" dirty="0" smtClean="0"/>
              <a:t>Found in Melanesia</a:t>
            </a:r>
          </a:p>
          <a:p>
            <a:pPr lvl="1"/>
            <a:r>
              <a:rPr lang="en-US" dirty="0" smtClean="0"/>
              <a:t>Based around prophetic figures who claim knowledge of when manufactured goods </a:t>
            </a:r>
            <a:r>
              <a:rPr lang="en-US" dirty="0"/>
              <a:t>(</a:t>
            </a:r>
            <a:r>
              <a:rPr lang="en-US" dirty="0" smtClean="0"/>
              <a:t>“cargo”) would appear</a:t>
            </a:r>
          </a:p>
        </p:txBody>
      </p:sp>
    </p:spTree>
    <p:extLst>
      <p:ext uri="{BB962C8B-B14F-4D97-AF65-F5344CB8AC3E}">
        <p14:creationId xmlns:p14="http://schemas.microsoft.com/office/powerpoint/2010/main" val="1611818096"/>
      </p:ext>
    </p:extLst>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Contested Sacred Sites</a:t>
            </a:r>
            <a:endParaRPr lang="en-US" dirty="0"/>
          </a:p>
        </p:txBody>
      </p:sp>
      <p:sp>
        <p:nvSpPr>
          <p:cNvPr id="3" name="Content Placeholder 2"/>
          <p:cNvSpPr>
            <a:spLocks noGrp="1"/>
          </p:cNvSpPr>
          <p:nvPr>
            <p:ph idx="1"/>
          </p:nvPr>
        </p:nvSpPr>
        <p:spPr/>
        <p:txBody>
          <a:bodyPr>
            <a:normAutofit fontScale="92500"/>
          </a:bodyPr>
          <a:lstStyle/>
          <a:p>
            <a:r>
              <a:rPr lang="en-US" dirty="0" smtClean="0"/>
              <a:t>Example: Jerusalem</a:t>
            </a:r>
          </a:p>
          <a:p>
            <a:pPr lvl="1"/>
            <a:r>
              <a:rPr lang="en-US" dirty="0" smtClean="0"/>
              <a:t>Judaism, Christianity, and Islam claim primary rights over sacred sites</a:t>
            </a:r>
          </a:p>
          <a:p>
            <a:r>
              <a:rPr lang="en-US" dirty="0" smtClean="0"/>
              <a:t>Example: India</a:t>
            </a:r>
          </a:p>
          <a:p>
            <a:pPr lvl="1"/>
            <a:r>
              <a:rPr lang="en-US" dirty="0" smtClean="0"/>
              <a:t>Sites sacred to Hindus and/or Muslims are often flashpoints for conflict</a:t>
            </a:r>
          </a:p>
          <a:p>
            <a:r>
              <a:rPr lang="en-US" dirty="0" smtClean="0"/>
              <a:t>Urban expansion often creates disputes as development encroaches on burial grounds, archaeological remains, or other sacred terrain</a:t>
            </a:r>
          </a:p>
        </p:txBody>
      </p:sp>
    </p:spTree>
    <p:extLst>
      <p:ext uri="{BB962C8B-B14F-4D97-AF65-F5344CB8AC3E}">
        <p14:creationId xmlns:p14="http://schemas.microsoft.com/office/powerpoint/2010/main" val="1015980463"/>
      </p:ext>
    </p:extLst>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Religious Freedom as a Human Right</a:t>
            </a:r>
            <a:endParaRPr lang="en-US" dirty="0"/>
          </a:p>
        </p:txBody>
      </p:sp>
      <p:sp>
        <p:nvSpPr>
          <p:cNvPr id="3" name="Content Placeholder 2"/>
          <p:cNvSpPr>
            <a:spLocks noGrp="1"/>
          </p:cNvSpPr>
          <p:nvPr>
            <p:ph idx="1"/>
          </p:nvPr>
        </p:nvSpPr>
        <p:spPr/>
        <p:txBody>
          <a:bodyPr/>
          <a:lstStyle/>
          <a:p>
            <a:r>
              <a:rPr lang="en-US" dirty="0" smtClean="0"/>
              <a:t>Freedom from religious persecution a human right according to the United Nations</a:t>
            </a:r>
          </a:p>
          <a:p>
            <a:r>
              <a:rPr lang="en-US" dirty="0" smtClean="0"/>
              <a:t>Example: Tibetan Buddhists</a:t>
            </a:r>
          </a:p>
          <a:p>
            <a:pPr lvl="1"/>
            <a:r>
              <a:rPr lang="en-US" dirty="0" smtClean="0"/>
              <a:t>Thousands of refugees fled Tibet after takeover by the Chinese </a:t>
            </a:r>
            <a:endParaRPr lang="en-US" dirty="0"/>
          </a:p>
          <a:p>
            <a:pPr marL="0" indent="0">
              <a:buNone/>
            </a:pPr>
            <a:endParaRPr lang="en-US" dirty="0"/>
          </a:p>
        </p:txBody>
      </p:sp>
    </p:spTree>
    <p:extLst>
      <p:ext uri="{BB962C8B-B14F-4D97-AF65-F5344CB8AC3E}">
        <p14:creationId xmlns:p14="http://schemas.microsoft.com/office/powerpoint/2010/main" val="2255237895"/>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Beebe8e_PPT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Beebe8e_PPT_master</Template>
  <TotalTime>259</TotalTime>
  <Words>2256</Words>
  <Application>Microsoft Macintosh PowerPoint</Application>
  <PresentationFormat>On-screen Show (4:3)</PresentationFormat>
  <Paragraphs>247</Paragraphs>
  <Slides>46</Slides>
  <Notes>9</Notes>
  <HiddenSlides>0</HiddenSlides>
  <MMClips>0</MMClips>
  <ScaleCrop>false</ScaleCrop>
  <HeadingPairs>
    <vt:vector size="4" baseType="variant">
      <vt:variant>
        <vt:lpstr>Theme</vt:lpstr>
      </vt:variant>
      <vt:variant>
        <vt:i4>2</vt:i4>
      </vt:variant>
      <vt:variant>
        <vt:lpstr>Slide Titles</vt:lpstr>
      </vt:variant>
      <vt:variant>
        <vt:i4>46</vt:i4>
      </vt:variant>
    </vt:vector>
  </HeadingPairs>
  <TitlesOfParts>
    <vt:vector size="48" baseType="lpstr">
      <vt:lpstr>Beebe8e_PPT_master</vt:lpstr>
      <vt:lpstr>Office Theme</vt:lpstr>
      <vt:lpstr>PowerPoint Presentation</vt:lpstr>
      <vt:lpstr>Learning Objectives</vt:lpstr>
      <vt:lpstr>Religion in Comparative Perspective 12.1  Describe how anthropologists define religion and its key features.</vt:lpstr>
      <vt:lpstr>What Is Religion? (1 of 2)</vt:lpstr>
      <vt:lpstr>What Is Religion? (2 of 2)</vt:lpstr>
      <vt:lpstr>Varieties of Religious Beliefs (1 of 6)</vt:lpstr>
      <vt:lpstr>Varieties of Religious Beliefs (2 of 6)</vt:lpstr>
      <vt:lpstr>Varieties of Religious Beliefs (3 of 6)</vt:lpstr>
      <vt:lpstr>Map 12.1 Klamath and Modoc Region in Oregon and California</vt:lpstr>
      <vt:lpstr>Varieties of Religious Beliefs (4 of 6)</vt:lpstr>
      <vt:lpstr>Varieties of Religious Beliefs (5 of 6)</vt:lpstr>
      <vt:lpstr>Varieties of Religious Beliefs (6 of 6)</vt:lpstr>
      <vt:lpstr>Map 12.3 England</vt:lpstr>
      <vt:lpstr>Eye on the Environment: Eagle Protection, National Parks, and the Preservation of Hopi Culture (1 of 3)</vt:lpstr>
      <vt:lpstr>Map 12.2 Hopi Reservation in Arizona</vt:lpstr>
      <vt:lpstr>Eye on the Environment: Eagle Protection, National Parks, and the Preservation of Hopi Culture (2 of 3)</vt:lpstr>
      <vt:lpstr>Eye on the Environment: Eagle Protection, National Parks, and the Preservation of Hopi Culture (3 of 3)</vt:lpstr>
      <vt:lpstr>Anthropology Works: Aboriginal Women’s Culture and Sacred Site Protection</vt:lpstr>
      <vt:lpstr>Map 12.4 Hindmarsh Island  in Southeast Australia</vt:lpstr>
      <vt:lpstr>Ritual Practices (1 of 5)</vt:lpstr>
      <vt:lpstr>Ritual Practices (2 of 5)</vt:lpstr>
      <vt:lpstr>Ritual Practices (3 of 5)</vt:lpstr>
      <vt:lpstr>Ritual Practices (4 of 5)</vt:lpstr>
      <vt:lpstr>Map 12.5 Italy</vt:lpstr>
      <vt:lpstr>Ritual Practices (5 of 5)</vt:lpstr>
      <vt:lpstr>Religious Specialists (1 of 3)</vt:lpstr>
      <vt:lpstr>Religious Specialists (2 of 3)</vt:lpstr>
      <vt:lpstr>Religious Specialists (3 of 3)</vt:lpstr>
      <vt:lpstr>World Religions and Local Variations (1 of 3) 12.2 Recognize how globalization has affected world religions.</vt:lpstr>
      <vt:lpstr>World Religions and Local Variations (2 of 3)</vt:lpstr>
      <vt:lpstr>World Religions and Local Variations (3 of 3)</vt:lpstr>
      <vt:lpstr>Hinduism</vt:lpstr>
      <vt:lpstr>Buddhism</vt:lpstr>
      <vt:lpstr>Think Like an Anthropologist:  Tattoos and Sacred Power (1 of 2)</vt:lpstr>
      <vt:lpstr>Think Like an Anthropologist:  Tattoos and Sacred Power (2 of 2)</vt:lpstr>
      <vt:lpstr>Judaism</vt:lpstr>
      <vt:lpstr>Map 12.6 Sacred Sites in the Old City of Jerusalem, Israel</vt:lpstr>
      <vt:lpstr>Christianity</vt:lpstr>
      <vt:lpstr>Islam</vt:lpstr>
      <vt:lpstr>Culturama: Hui Muslims of Xi’an, China</vt:lpstr>
      <vt:lpstr>Map 12.8 The City of Xi’an in China</vt:lpstr>
      <vt:lpstr>African Religions</vt:lpstr>
      <vt:lpstr>Directions of Religious Change 12.3 Identify examples of religious change in contemporary times.</vt:lpstr>
      <vt:lpstr>Revitalization Movements</vt:lpstr>
      <vt:lpstr>Contested Sacred Sites</vt:lpstr>
      <vt:lpstr>Religious Freedom as a Human Right</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Megan</dc:creator>
  <cp:lastModifiedBy>Jill Hawes</cp:lastModifiedBy>
  <cp:revision>36</cp:revision>
  <dcterms:created xsi:type="dcterms:W3CDTF">2015-09-18T14:54:36Z</dcterms:created>
  <dcterms:modified xsi:type="dcterms:W3CDTF">2016-04-08T15:52:44Z</dcterms:modified>
</cp:coreProperties>
</file>