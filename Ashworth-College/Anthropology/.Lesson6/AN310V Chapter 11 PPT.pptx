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48"/>
  </p:notesMasterIdLst>
  <p:sldIdLst>
    <p:sldId id="257" r:id="rId3"/>
    <p:sldId id="256" r:id="rId4"/>
    <p:sldId id="258" r:id="rId5"/>
    <p:sldId id="259" r:id="rId6"/>
    <p:sldId id="260" r:id="rId7"/>
    <p:sldId id="261" r:id="rId8"/>
    <p:sldId id="262"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4" r:id="rId28"/>
    <p:sldId id="282" r:id="rId29"/>
    <p:sldId id="283" r:id="rId30"/>
    <p:sldId id="285" r:id="rId31"/>
    <p:sldId id="286" r:id="rId32"/>
    <p:sldId id="287" r:id="rId33"/>
    <p:sldId id="288" r:id="rId34"/>
    <p:sldId id="289" r:id="rId35"/>
    <p:sldId id="300" r:id="rId36"/>
    <p:sldId id="301" r:id="rId37"/>
    <p:sldId id="290" r:id="rId38"/>
    <p:sldId id="296" r:id="rId39"/>
    <p:sldId id="295" r:id="rId40"/>
    <p:sldId id="291" r:id="rId41"/>
    <p:sldId id="292" r:id="rId42"/>
    <p:sldId id="293" r:id="rId43"/>
    <p:sldId id="294" r:id="rId44"/>
    <p:sldId id="297" r:id="rId45"/>
    <p:sldId id="298" r:id="rId46"/>
    <p:sldId id="299"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000" autoAdjust="0"/>
  </p:normalViewPr>
  <p:slideViewPr>
    <p:cSldViewPr>
      <p:cViewPr varScale="1">
        <p:scale>
          <a:sx n="78" d="100"/>
          <a:sy n="78" d="100"/>
        </p:scale>
        <p:origin x="-1493" y="-67"/>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6C670F-493C-4978-94BF-8A4C6FB71CE0}" type="datetimeFigureOut">
              <a:rPr lang="en-US" smtClean="0"/>
              <a:t>4/6/2016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8CC342-E8B3-4F99-AA18-BBD4CE76DB7C}" type="slidenum">
              <a:rPr lang="en-US" smtClean="0"/>
              <a:t>‹#›</a:t>
            </a:fld>
            <a:endParaRPr lang="en-US" dirty="0"/>
          </a:p>
        </p:txBody>
      </p:sp>
    </p:spTree>
    <p:extLst>
      <p:ext uri="{BB962C8B-B14F-4D97-AF65-F5344CB8AC3E}">
        <p14:creationId xmlns:p14="http://schemas.microsoft.com/office/powerpoint/2010/main" val="2489557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For a better classroom presentation flow, the order of some topics in this lecture outline differs slightly from the order of topics in the text and, where this occurs, some figures and tables are out of numerical order.</a:t>
            </a:r>
            <a:endParaRPr lang="en-US" dirty="0"/>
          </a:p>
        </p:txBody>
      </p:sp>
      <p:sp>
        <p:nvSpPr>
          <p:cNvPr id="4" name="Slide Number Placeholder 3"/>
          <p:cNvSpPr>
            <a:spLocks noGrp="1"/>
          </p:cNvSpPr>
          <p:nvPr>
            <p:ph type="sldNum" sz="quarter" idx="10"/>
          </p:nvPr>
        </p:nvSpPr>
        <p:spPr/>
        <p:txBody>
          <a:bodyPr/>
          <a:lstStyle/>
          <a:p>
            <a:fld id="{088CC342-E8B3-4F99-AA18-BBD4CE76DB7C}" type="slidenum">
              <a:rPr lang="en-US" smtClean="0"/>
              <a:t>1</a:t>
            </a:fld>
            <a:endParaRPr lang="en-US" dirty="0"/>
          </a:p>
        </p:txBody>
      </p:sp>
    </p:spTree>
    <p:extLst>
      <p:ext uri="{BB962C8B-B14F-4D97-AF65-F5344CB8AC3E}">
        <p14:creationId xmlns:p14="http://schemas.microsoft.com/office/powerpoint/2010/main" val="2366894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Linguistic anthropologist Daniel Everett helped to define the</a:t>
            </a:r>
            <a:r>
              <a:rPr lang="en-US" baseline="0" dirty="0" smtClean="0"/>
              <a:t> </a:t>
            </a:r>
            <a:r>
              <a:rPr lang="en-US" dirty="0" smtClean="0"/>
              <a:t>boundaries of the Pirahã reservation in the 1980s. With support</a:t>
            </a:r>
            <a:r>
              <a:rPr lang="en-US" baseline="0" dirty="0" smtClean="0"/>
              <a:t> </a:t>
            </a:r>
            <a:r>
              <a:rPr lang="en-US" dirty="0" smtClean="0"/>
              <a:t>from Cultural Survival and other groups, the</a:t>
            </a:r>
            <a:r>
              <a:rPr lang="en-US" baseline="0" dirty="0" smtClean="0"/>
              <a:t> </a:t>
            </a:r>
            <a:r>
              <a:rPr lang="en-US" dirty="0" smtClean="0"/>
              <a:t>demarcation was legally</a:t>
            </a:r>
            <a:r>
              <a:rPr lang="en-US" baseline="0" dirty="0" smtClean="0"/>
              <a:t> </a:t>
            </a:r>
            <a:r>
              <a:rPr lang="en-US" dirty="0" smtClean="0"/>
              <a:t>declared in 1994.</a:t>
            </a:r>
            <a:endParaRPr lang="en-US" dirty="0"/>
          </a:p>
        </p:txBody>
      </p:sp>
      <p:sp>
        <p:nvSpPr>
          <p:cNvPr id="4" name="Slide Number Placeholder 3"/>
          <p:cNvSpPr>
            <a:spLocks noGrp="1"/>
          </p:cNvSpPr>
          <p:nvPr>
            <p:ph type="sldNum" sz="quarter" idx="10"/>
          </p:nvPr>
        </p:nvSpPr>
        <p:spPr/>
        <p:txBody>
          <a:bodyPr/>
          <a:lstStyle/>
          <a:p>
            <a:fld id="{088CC342-E8B3-4F99-AA18-BBD4CE76DB7C}" type="slidenum">
              <a:rPr lang="en-US" smtClean="0"/>
              <a:t>7</a:t>
            </a:fld>
            <a:endParaRPr lang="en-US" dirty="0"/>
          </a:p>
        </p:txBody>
      </p:sp>
    </p:spTree>
    <p:extLst>
      <p:ext uri="{BB962C8B-B14F-4D97-AF65-F5344CB8AC3E}">
        <p14:creationId xmlns:p14="http://schemas.microsoft.com/office/powerpoint/2010/main" val="1063741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Formerly part of the Socialist Federal Republic of Yugoslavia, Bosnia and Herzegovina have a population of around four million. Bosnia occupies the northern areas of the country, about four-fifths of the total area, whereas Herzegovina occupies the southern part. The country still faces the challenges of reconstruction following the war of 1992–1995. On a brighter note, it has one of the best income equality rankings in the world.</a:t>
            </a:r>
            <a:endParaRPr lang="en-US" dirty="0"/>
          </a:p>
        </p:txBody>
      </p:sp>
      <p:sp>
        <p:nvSpPr>
          <p:cNvPr id="4" name="Slide Number Placeholder 3"/>
          <p:cNvSpPr>
            <a:spLocks noGrp="1"/>
          </p:cNvSpPr>
          <p:nvPr>
            <p:ph type="sldNum" sz="quarter" idx="10"/>
          </p:nvPr>
        </p:nvSpPr>
        <p:spPr/>
        <p:txBody>
          <a:bodyPr/>
          <a:lstStyle/>
          <a:p>
            <a:fld id="{088CC342-E8B3-4F99-AA18-BBD4CE76DB7C}" type="slidenum">
              <a:rPr lang="en-US" smtClean="0"/>
              <a:t>10</a:t>
            </a:fld>
            <a:endParaRPr lang="en-US" dirty="0"/>
          </a:p>
        </p:txBody>
      </p:sp>
    </p:spTree>
    <p:extLst>
      <p:ext uri="{BB962C8B-B14F-4D97-AF65-F5344CB8AC3E}">
        <p14:creationId xmlns:p14="http://schemas.microsoft.com/office/powerpoint/2010/main" val="793826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Before European colonialism, the Apache lived in a wide area extending</a:t>
            </a:r>
            <a:r>
              <a:rPr lang="en-US" baseline="0" dirty="0" smtClean="0"/>
              <a:t> </a:t>
            </a:r>
            <a:r>
              <a:rPr lang="en-US" dirty="0" smtClean="0"/>
              <a:t>from Arizona to northwestern Texas. Originally foragers, they started</a:t>
            </a:r>
            <a:r>
              <a:rPr lang="en-US" baseline="0" dirty="0" smtClean="0"/>
              <a:t> </a:t>
            </a:r>
            <a:r>
              <a:rPr lang="en-US" dirty="0" smtClean="0"/>
              <a:t>planting some food crops in the 1600s. After the arrival of the Spanish,</a:t>
            </a:r>
            <a:r>
              <a:rPr lang="en-US" baseline="0" dirty="0" smtClean="0"/>
              <a:t> </a:t>
            </a:r>
            <a:r>
              <a:rPr lang="en-US" dirty="0" smtClean="0"/>
              <a:t>the Apache gained horses from them and became skilled equestrian</a:t>
            </a:r>
            <a:r>
              <a:rPr lang="en-US" baseline="0" dirty="0" smtClean="0"/>
              <a:t> </a:t>
            </a:r>
            <a:r>
              <a:rPr lang="en-US" dirty="0" smtClean="0"/>
              <a:t>warriors. In the second half of the nineteenth century, the U.S. government exterminated many Apache groups and forced those who</a:t>
            </a:r>
            <a:r>
              <a:rPr lang="en-US" baseline="0" dirty="0" smtClean="0"/>
              <a:t> </a:t>
            </a:r>
            <a:r>
              <a:rPr lang="en-US" dirty="0" smtClean="0"/>
              <a:t>survived to live on reservations to make way for White settlements.</a:t>
            </a:r>
            <a:endParaRPr lang="en-US" dirty="0"/>
          </a:p>
        </p:txBody>
      </p:sp>
      <p:sp>
        <p:nvSpPr>
          <p:cNvPr id="4" name="Slide Number Placeholder 3"/>
          <p:cNvSpPr>
            <a:spLocks noGrp="1"/>
          </p:cNvSpPr>
          <p:nvPr>
            <p:ph type="sldNum" sz="quarter" idx="10"/>
          </p:nvPr>
        </p:nvSpPr>
        <p:spPr/>
        <p:txBody>
          <a:bodyPr/>
          <a:lstStyle/>
          <a:p>
            <a:fld id="{088CC342-E8B3-4F99-AA18-BBD4CE76DB7C}" type="slidenum">
              <a:rPr lang="en-US" smtClean="0"/>
              <a:t>12</a:t>
            </a:fld>
            <a:endParaRPr lang="en-US" dirty="0"/>
          </a:p>
        </p:txBody>
      </p:sp>
    </p:spTree>
    <p:extLst>
      <p:ext uri="{BB962C8B-B14F-4D97-AF65-F5344CB8AC3E}">
        <p14:creationId xmlns:p14="http://schemas.microsoft.com/office/powerpoint/2010/main" val="1795336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Republic of Hungary has a population of around 10 million. The Roma population, variously estimated at between 450,000 and 600,000, has increased rapidly in recent years. Hungary’s landscape is mainly plains with hills and low mountains to the north. One of the newest members of the European Union, Hungary has a growing economy. The main religion is Christianity, with Catholicism accounting for half of the total, while about 30 percent are atheists. Magyar, the Hungarian language, is one of the few European languages that does not belong to the Indo-European language family, but belongs instead to the Finno-Ugric family.</a:t>
            </a:r>
            <a:endParaRPr lang="en-US" dirty="0"/>
          </a:p>
        </p:txBody>
      </p:sp>
      <p:sp>
        <p:nvSpPr>
          <p:cNvPr id="4" name="Slide Number Placeholder 3"/>
          <p:cNvSpPr>
            <a:spLocks noGrp="1"/>
          </p:cNvSpPr>
          <p:nvPr>
            <p:ph type="sldNum" sz="quarter" idx="10"/>
          </p:nvPr>
        </p:nvSpPr>
        <p:spPr/>
        <p:txBody>
          <a:bodyPr/>
          <a:lstStyle/>
          <a:p>
            <a:fld id="{088CC342-E8B3-4F99-AA18-BBD4CE76DB7C}" type="slidenum">
              <a:rPr lang="en-US" smtClean="0"/>
              <a:t>16</a:t>
            </a:fld>
            <a:endParaRPr lang="en-US" dirty="0"/>
          </a:p>
        </p:txBody>
      </p:sp>
    </p:spTree>
    <p:extLst>
      <p:ext uri="{BB962C8B-B14F-4D97-AF65-F5344CB8AC3E}">
        <p14:creationId xmlns:p14="http://schemas.microsoft.com/office/powerpoint/2010/main" val="634800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Akwesasne Territory has an international border running through it with New York State on one side and two provinces of Canada on the other: Ontario and Québec. The Mohawk Council of Akwesasne comprises 12 District Chiefs and a Grand Chief. Since the 1960s, the Akwesasne Territory has been negatively affected by environmental pollution of the water, soil, and food supply from industries along the St. Lawrence River. In 1987, the Akwesasne formed a Task Force to restore and protect the environment and the survival of their culture.</a:t>
            </a:r>
            <a:endParaRPr lang="en-US" dirty="0"/>
          </a:p>
        </p:txBody>
      </p:sp>
      <p:sp>
        <p:nvSpPr>
          <p:cNvPr id="4" name="Slide Number Placeholder 3"/>
          <p:cNvSpPr>
            <a:spLocks noGrp="1"/>
          </p:cNvSpPr>
          <p:nvPr>
            <p:ph type="sldNum" sz="quarter" idx="10"/>
          </p:nvPr>
        </p:nvSpPr>
        <p:spPr/>
        <p:txBody>
          <a:bodyPr/>
          <a:lstStyle/>
          <a:p>
            <a:fld id="{088CC342-E8B3-4F99-AA18-BBD4CE76DB7C}" type="slidenum">
              <a:rPr lang="en-US" smtClean="0"/>
              <a:t>26</a:t>
            </a:fld>
            <a:endParaRPr lang="en-US" dirty="0"/>
          </a:p>
        </p:txBody>
      </p:sp>
    </p:spTree>
    <p:extLst>
      <p:ext uri="{BB962C8B-B14F-4D97-AF65-F5344CB8AC3E}">
        <p14:creationId xmlns:p14="http://schemas.microsoft.com/office/powerpoint/2010/main" val="2903538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Two major theories about the location of PIE exist, with the site south of the Black Sea considered to be earlier.</a:t>
            </a:r>
            <a:endParaRPr lang="en-US" dirty="0"/>
          </a:p>
        </p:txBody>
      </p:sp>
      <p:sp>
        <p:nvSpPr>
          <p:cNvPr id="4" name="Slide Number Placeholder 3"/>
          <p:cNvSpPr>
            <a:spLocks noGrp="1"/>
          </p:cNvSpPr>
          <p:nvPr>
            <p:ph type="sldNum" sz="quarter" idx="10"/>
          </p:nvPr>
        </p:nvSpPr>
        <p:spPr/>
        <p:txBody>
          <a:bodyPr/>
          <a:lstStyle/>
          <a:p>
            <a:fld id="{088CC342-E8B3-4F99-AA18-BBD4CE76DB7C}" type="slidenum">
              <a:rPr lang="en-US" smtClean="0"/>
              <a:t>31</a:t>
            </a:fld>
            <a:endParaRPr lang="en-US" dirty="0"/>
          </a:p>
        </p:txBody>
      </p:sp>
    </p:spTree>
    <p:extLst>
      <p:ext uri="{BB962C8B-B14F-4D97-AF65-F5344CB8AC3E}">
        <p14:creationId xmlns:p14="http://schemas.microsoft.com/office/powerpoint/2010/main" val="2039291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Linguistic evidence for the migrations of Bantu-speaking people relies</a:t>
            </a:r>
            <a:r>
              <a:rPr lang="en-US" baseline="0" dirty="0" smtClean="0"/>
              <a:t> </a:t>
            </a:r>
            <a:r>
              <a:rPr lang="en-US" dirty="0" smtClean="0"/>
              <a:t>on similarities between languages in parts of eastern, central, and</a:t>
            </a:r>
            <a:r>
              <a:rPr lang="en-US" baseline="0" dirty="0" smtClean="0"/>
              <a:t> </a:t>
            </a:r>
            <a:r>
              <a:rPr lang="en-US" dirty="0" smtClean="0"/>
              <a:t>southern Africa and languages of the original Bantu homeland in West</a:t>
            </a:r>
            <a:r>
              <a:rPr lang="en-US" baseline="0" dirty="0" smtClean="0"/>
              <a:t> </a:t>
            </a:r>
            <a:r>
              <a:rPr lang="en-US" dirty="0" smtClean="0"/>
              <a:t>Africa. Over 600 African languages are derived from Proto-Bantu.</a:t>
            </a:r>
            <a:endParaRPr lang="en-US" dirty="0"/>
          </a:p>
        </p:txBody>
      </p:sp>
      <p:sp>
        <p:nvSpPr>
          <p:cNvPr id="4" name="Slide Number Placeholder 3"/>
          <p:cNvSpPr>
            <a:spLocks noGrp="1"/>
          </p:cNvSpPr>
          <p:nvPr>
            <p:ph type="sldNum" sz="quarter" idx="10"/>
          </p:nvPr>
        </p:nvSpPr>
        <p:spPr/>
        <p:txBody>
          <a:bodyPr/>
          <a:lstStyle/>
          <a:p>
            <a:fld id="{088CC342-E8B3-4F99-AA18-BBD4CE76DB7C}" type="slidenum">
              <a:rPr lang="en-US" smtClean="0"/>
              <a:t>32</a:t>
            </a:fld>
            <a:endParaRPr lang="en-US" dirty="0"/>
          </a:p>
        </p:txBody>
      </p:sp>
    </p:spTree>
    <p:extLst>
      <p:ext uri="{BB962C8B-B14F-4D97-AF65-F5344CB8AC3E}">
        <p14:creationId xmlns:p14="http://schemas.microsoft.com/office/powerpoint/2010/main" val="955149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Logographic and current writing</a:t>
            </a:r>
            <a:r>
              <a:rPr lang="en-US" baseline="0" dirty="0" smtClean="0"/>
              <a:t> s</a:t>
            </a:r>
            <a:r>
              <a:rPr lang="en-US" dirty="0" smtClean="0"/>
              <a:t>tyles in China.</a:t>
            </a:r>
            <a:endParaRPr lang="en-US" dirty="0"/>
          </a:p>
        </p:txBody>
      </p:sp>
      <p:sp>
        <p:nvSpPr>
          <p:cNvPr id="4" name="Slide Number Placeholder 3"/>
          <p:cNvSpPr>
            <a:spLocks noGrp="1"/>
          </p:cNvSpPr>
          <p:nvPr>
            <p:ph type="sldNum" sz="quarter" idx="10"/>
          </p:nvPr>
        </p:nvSpPr>
        <p:spPr/>
        <p:txBody>
          <a:bodyPr/>
          <a:lstStyle/>
          <a:p>
            <a:fld id="{088CC342-E8B3-4F99-AA18-BBD4CE76DB7C}" type="slidenum">
              <a:rPr lang="en-US" smtClean="0"/>
              <a:t>34</a:t>
            </a:fld>
            <a:endParaRPr lang="en-US" dirty="0"/>
          </a:p>
        </p:txBody>
      </p:sp>
    </p:spTree>
    <p:extLst>
      <p:ext uri="{BB962C8B-B14F-4D97-AF65-F5344CB8AC3E}">
        <p14:creationId xmlns:p14="http://schemas.microsoft.com/office/powerpoint/2010/main" val="3793773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Khipu, or knotted strings, were the basis of state-level accounting</a:t>
            </a:r>
            <a:r>
              <a:rPr lang="en-US" baseline="0" dirty="0" smtClean="0"/>
              <a:t> </a:t>
            </a:r>
            <a:r>
              <a:rPr lang="en-US" dirty="0" smtClean="0"/>
              <a:t>in the Incan empire. The knots conveyed substantial information to</a:t>
            </a:r>
            <a:r>
              <a:rPr lang="en-US" baseline="0" dirty="0" smtClean="0"/>
              <a:t> </a:t>
            </a:r>
            <a:r>
              <a:rPr lang="en-US" dirty="0" smtClean="0"/>
              <a:t>those who could interpret their meaning.</a:t>
            </a:r>
            <a:endParaRPr lang="en-US" dirty="0"/>
          </a:p>
        </p:txBody>
      </p:sp>
      <p:sp>
        <p:nvSpPr>
          <p:cNvPr id="4" name="Slide Number Placeholder 3"/>
          <p:cNvSpPr>
            <a:spLocks noGrp="1"/>
          </p:cNvSpPr>
          <p:nvPr>
            <p:ph type="sldNum" sz="quarter" idx="10"/>
          </p:nvPr>
        </p:nvSpPr>
        <p:spPr/>
        <p:txBody>
          <a:bodyPr/>
          <a:lstStyle/>
          <a:p>
            <a:fld id="{088CC342-E8B3-4F99-AA18-BBD4CE76DB7C}" type="slidenum">
              <a:rPr lang="en-US" smtClean="0"/>
              <a:t>35</a:t>
            </a:fld>
            <a:endParaRPr lang="en-US" dirty="0"/>
          </a:p>
        </p:txBody>
      </p:sp>
    </p:spTree>
    <p:extLst>
      <p:ext uri="{BB962C8B-B14F-4D97-AF65-F5344CB8AC3E}">
        <p14:creationId xmlns:p14="http://schemas.microsoft.com/office/powerpoint/2010/main" val="1310313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Sápmi extends across Norway, Sweden, Finland, and Russia’s Kola Peninsula.</a:t>
            </a:r>
            <a:endParaRPr lang="en-US" dirty="0"/>
          </a:p>
        </p:txBody>
      </p:sp>
      <p:sp>
        <p:nvSpPr>
          <p:cNvPr id="4" name="Slide Number Placeholder 3"/>
          <p:cNvSpPr>
            <a:spLocks noGrp="1"/>
          </p:cNvSpPr>
          <p:nvPr>
            <p:ph type="sldNum" sz="quarter" idx="10"/>
          </p:nvPr>
        </p:nvSpPr>
        <p:spPr/>
        <p:txBody>
          <a:bodyPr/>
          <a:lstStyle/>
          <a:p>
            <a:fld id="{088CC342-E8B3-4F99-AA18-BBD4CE76DB7C}" type="slidenum">
              <a:rPr lang="en-US" smtClean="0"/>
              <a:t>40</a:t>
            </a:fld>
            <a:endParaRPr lang="en-US" dirty="0"/>
          </a:p>
        </p:txBody>
      </p:sp>
    </p:spTree>
    <p:extLst>
      <p:ext uri="{BB962C8B-B14F-4D97-AF65-F5344CB8AC3E}">
        <p14:creationId xmlns:p14="http://schemas.microsoft.com/office/powerpoint/2010/main" val="1637330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10" Type="http://schemas.openxmlformats.org/officeDocument/2006/relationships/image" Target="../media/image2.emf"/><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11</a:t>
            </a:r>
            <a:endParaRPr lang="en-US" dirty="0"/>
          </a:p>
        </p:txBody>
      </p:sp>
      <p:sp>
        <p:nvSpPr>
          <p:cNvPr id="3" name="Text Placeholder 2"/>
          <p:cNvSpPr>
            <a:spLocks noGrp="1"/>
          </p:cNvSpPr>
          <p:nvPr>
            <p:ph type="body" sz="quarter" idx="15"/>
          </p:nvPr>
        </p:nvSpPr>
        <p:spPr/>
        <p:txBody>
          <a:bodyPr/>
          <a:lstStyle/>
          <a:p>
            <a:r>
              <a:rPr lang="en-US" dirty="0" smtClean="0"/>
              <a:t>Communication</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lstStyle/>
          <a:p>
            <a:pPr marL="0" indent="0">
              <a:buNone/>
            </a:pPr>
            <a:r>
              <a:rPr lang="en-US" dirty="0" smtClean="0">
                <a:solidFill>
                  <a:schemeClr val="tx2"/>
                </a:solidFill>
              </a:rPr>
              <a:t>11.1</a:t>
            </a:r>
            <a:r>
              <a:rPr lang="en-US" dirty="0" smtClean="0"/>
              <a:t> Summarize the ways that humans communicate.</a:t>
            </a:r>
          </a:p>
          <a:p>
            <a:endParaRPr lang="en-US" dirty="0"/>
          </a:p>
          <a:p>
            <a:pPr marL="0" indent="0">
              <a:buNone/>
            </a:pPr>
            <a:r>
              <a:rPr lang="en-US" dirty="0" smtClean="0">
                <a:solidFill>
                  <a:schemeClr val="tx2"/>
                </a:solidFill>
              </a:rPr>
              <a:t>11.2</a:t>
            </a:r>
            <a:r>
              <a:rPr lang="en-US" dirty="0" smtClean="0"/>
              <a:t> Discuss how communication relates to cultural diversity and social inequality.</a:t>
            </a:r>
          </a:p>
          <a:p>
            <a:endParaRPr lang="en-US" dirty="0"/>
          </a:p>
          <a:p>
            <a:pPr marL="0" indent="0">
              <a:buNone/>
            </a:pPr>
            <a:r>
              <a:rPr lang="en-US" dirty="0" smtClean="0">
                <a:solidFill>
                  <a:schemeClr val="tx2"/>
                </a:solidFill>
              </a:rPr>
              <a:t>11.3</a:t>
            </a:r>
            <a:r>
              <a:rPr lang="en-US" dirty="0" smtClean="0"/>
              <a:t> List examples of language change.</a:t>
            </a:r>
          </a:p>
        </p:txBody>
      </p:sp>
    </p:spTree>
    <p:extLst>
      <p:ext uri="{BB962C8B-B14F-4D97-AF65-F5344CB8AC3E}">
        <p14:creationId xmlns:p14="http://schemas.microsoft.com/office/powerpoint/2010/main" val="25449066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The Varieties of Human Communication</a:t>
            </a:r>
            <a:br>
              <a:rPr lang="en-US" sz="3600" dirty="0" smtClean="0"/>
            </a:br>
            <a:r>
              <a:rPr lang="en-US" sz="2400" dirty="0" smtClean="0"/>
              <a:t>11.1 Summarize the ways that humans communicate.</a:t>
            </a:r>
            <a:endParaRPr lang="en-US" sz="2400" dirty="0"/>
          </a:p>
        </p:txBody>
      </p:sp>
      <p:sp>
        <p:nvSpPr>
          <p:cNvPr id="3" name="Content Placeholder 2"/>
          <p:cNvSpPr>
            <a:spLocks noGrp="1"/>
          </p:cNvSpPr>
          <p:nvPr>
            <p:ph idx="1"/>
          </p:nvPr>
        </p:nvSpPr>
        <p:spPr/>
        <p:txBody>
          <a:bodyPr/>
          <a:lstStyle/>
          <a:p>
            <a:endParaRPr lang="en-US" dirty="0" smtClean="0"/>
          </a:p>
          <a:p>
            <a:r>
              <a:rPr lang="en-US" dirty="0" smtClean="0"/>
              <a:t>Language and Verbal Communication</a:t>
            </a:r>
          </a:p>
          <a:p>
            <a:endParaRPr lang="en-US" dirty="0" smtClean="0"/>
          </a:p>
          <a:p>
            <a:r>
              <a:rPr lang="en-US" dirty="0" smtClean="0"/>
              <a:t>Nonverbal Language</a:t>
            </a:r>
          </a:p>
          <a:p>
            <a:endParaRPr lang="en-US" dirty="0" smtClean="0"/>
          </a:p>
          <a:p>
            <a:r>
              <a:rPr lang="en-US" dirty="0" smtClean="0"/>
              <a:t>Communicating with Media and Information Technology</a:t>
            </a:r>
            <a:endParaRPr lang="en-US" dirty="0"/>
          </a:p>
        </p:txBody>
      </p:sp>
    </p:spTree>
    <p:extLst>
      <p:ext uri="{BB962C8B-B14F-4D97-AF65-F5344CB8AC3E}">
        <p14:creationId xmlns:p14="http://schemas.microsoft.com/office/powerpoint/2010/main" val="27784481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Language and Verbal Communication </a:t>
            </a:r>
            <a:r>
              <a:rPr lang="en-US" sz="3100" dirty="0" smtClean="0"/>
              <a:t>(1 of 4)</a:t>
            </a:r>
            <a:endParaRPr lang="en-US" sz="3100" dirty="0"/>
          </a:p>
        </p:txBody>
      </p:sp>
      <p:sp>
        <p:nvSpPr>
          <p:cNvPr id="3" name="Content Placeholder 2"/>
          <p:cNvSpPr>
            <a:spLocks noGrp="1"/>
          </p:cNvSpPr>
          <p:nvPr>
            <p:ph idx="1"/>
          </p:nvPr>
        </p:nvSpPr>
        <p:spPr/>
        <p:txBody>
          <a:bodyPr/>
          <a:lstStyle/>
          <a:p>
            <a:r>
              <a:rPr lang="en-US" dirty="0"/>
              <a:t>Communication: conveying meaningful messages from one person, animal, or insect to another </a:t>
            </a:r>
          </a:p>
          <a:p>
            <a:r>
              <a:rPr lang="en-US" dirty="0"/>
              <a:t>Language: form of communication that is based on a systematic set of learned and shared symbols and signs</a:t>
            </a:r>
          </a:p>
          <a:p>
            <a:endParaRPr lang="en-US" dirty="0"/>
          </a:p>
        </p:txBody>
      </p:sp>
    </p:spTree>
    <p:extLst>
      <p:ext uri="{BB962C8B-B14F-4D97-AF65-F5344CB8AC3E}">
        <p14:creationId xmlns:p14="http://schemas.microsoft.com/office/powerpoint/2010/main" val="33979861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Language and Verbal Communication </a:t>
            </a:r>
            <a:r>
              <a:rPr lang="en-US" sz="3100" dirty="0" smtClean="0"/>
              <a:t>(2 </a:t>
            </a:r>
            <a:r>
              <a:rPr lang="en-US" sz="3100" dirty="0"/>
              <a:t>of </a:t>
            </a:r>
            <a:r>
              <a:rPr lang="en-US" sz="3100" dirty="0" smtClean="0"/>
              <a:t>4)</a:t>
            </a:r>
            <a:endParaRPr lang="en-US" sz="3100" dirty="0"/>
          </a:p>
        </p:txBody>
      </p:sp>
      <p:sp>
        <p:nvSpPr>
          <p:cNvPr id="3" name="Content Placeholder 2"/>
          <p:cNvSpPr>
            <a:spLocks noGrp="1"/>
          </p:cNvSpPr>
          <p:nvPr>
            <p:ph idx="1"/>
          </p:nvPr>
        </p:nvSpPr>
        <p:spPr/>
        <p:txBody>
          <a:bodyPr/>
          <a:lstStyle/>
          <a:p>
            <a:r>
              <a:rPr lang="en-US" dirty="0"/>
              <a:t>Productivity: ability to create an infinite range of understandable messages efficiently</a:t>
            </a:r>
          </a:p>
          <a:p>
            <a:pPr lvl="1"/>
            <a:r>
              <a:rPr lang="en-US" dirty="0"/>
              <a:t>Due to rich variety of symbols</a:t>
            </a:r>
          </a:p>
          <a:p>
            <a:pPr lvl="1"/>
            <a:r>
              <a:rPr lang="en-US" dirty="0"/>
              <a:t>Allows for greater efficiency </a:t>
            </a:r>
            <a:r>
              <a:rPr lang="en-US" dirty="0" smtClean="0"/>
              <a:t>than </a:t>
            </a:r>
            <a:r>
              <a:rPr lang="en-US" dirty="0"/>
              <a:t>nonhuman primate call systems</a:t>
            </a:r>
          </a:p>
          <a:p>
            <a:r>
              <a:rPr lang="en-US" dirty="0"/>
              <a:t>Displacement: ability to refer to events in the past and future (displaced domains)</a:t>
            </a:r>
          </a:p>
          <a:p>
            <a:endParaRPr lang="en-US" dirty="0"/>
          </a:p>
        </p:txBody>
      </p:sp>
    </p:spTree>
    <p:extLst>
      <p:ext uri="{BB962C8B-B14F-4D97-AF65-F5344CB8AC3E}">
        <p14:creationId xmlns:p14="http://schemas.microsoft.com/office/powerpoint/2010/main" val="31247457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Language and Verbal Communication </a:t>
            </a:r>
            <a:r>
              <a:rPr lang="en-US" sz="3100" dirty="0" smtClean="0"/>
              <a:t>(3 </a:t>
            </a:r>
            <a:r>
              <a:rPr lang="en-US" sz="3100" dirty="0"/>
              <a:t>of </a:t>
            </a:r>
            <a:r>
              <a:rPr lang="en-US" sz="3100" dirty="0" smtClean="0"/>
              <a:t>4)</a:t>
            </a:r>
            <a:endParaRPr lang="en-US" sz="3100" dirty="0"/>
          </a:p>
        </p:txBody>
      </p:sp>
      <p:sp>
        <p:nvSpPr>
          <p:cNvPr id="3" name="Content Placeholder 2"/>
          <p:cNvSpPr>
            <a:spLocks noGrp="1"/>
          </p:cNvSpPr>
          <p:nvPr>
            <p:ph idx="1"/>
          </p:nvPr>
        </p:nvSpPr>
        <p:spPr/>
        <p:txBody>
          <a:bodyPr/>
          <a:lstStyle/>
          <a:p>
            <a:r>
              <a:rPr lang="en-US" dirty="0" smtClean="0"/>
              <a:t>Case study: </a:t>
            </a:r>
            <a:r>
              <a:rPr lang="en-US" dirty="0"/>
              <a:t>language among the Pirahã </a:t>
            </a:r>
          </a:p>
          <a:p>
            <a:pPr lvl="1"/>
            <a:r>
              <a:rPr lang="en-US" dirty="0" smtClean="0"/>
              <a:t>Little </a:t>
            </a:r>
            <a:r>
              <a:rPr lang="en-US" dirty="0"/>
              <a:t>evidence of productivity and displacement in Pirahã language</a:t>
            </a:r>
          </a:p>
          <a:p>
            <a:pPr lvl="1"/>
            <a:r>
              <a:rPr lang="en-US" dirty="0"/>
              <a:t>So is their language somehow deficient?</a:t>
            </a:r>
          </a:p>
          <a:p>
            <a:pPr lvl="1"/>
            <a:r>
              <a:rPr lang="en-US" dirty="0"/>
              <a:t>Answer: l</a:t>
            </a:r>
            <a:r>
              <a:rPr lang="en-US" dirty="0" smtClean="0"/>
              <a:t>inguist </a:t>
            </a:r>
            <a:r>
              <a:rPr lang="en-US" dirty="0"/>
              <a:t>Daniel Everett says no—their language is entirely adequate and emphasizes prosody (stress and intonation) to convey meaning </a:t>
            </a:r>
          </a:p>
          <a:p>
            <a:endParaRPr lang="en-US" dirty="0"/>
          </a:p>
        </p:txBody>
      </p:sp>
    </p:spTree>
    <p:extLst>
      <p:ext uri="{BB962C8B-B14F-4D97-AF65-F5344CB8AC3E}">
        <p14:creationId xmlns:p14="http://schemas.microsoft.com/office/powerpoint/2010/main" val="36431966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Map 11.1 Pirahã </a:t>
            </a:r>
            <a:r>
              <a:rPr lang="en-US" dirty="0" smtClean="0"/>
              <a:t>Reservation in Brazil</a:t>
            </a:r>
            <a:endParaRPr lang="en-US" dirty="0"/>
          </a:p>
        </p:txBody>
      </p:sp>
      <p:pic>
        <p:nvPicPr>
          <p:cNvPr id="4" name="Content Placeholder 3" descr="A map shows the Piraha Reservation near the Madeira River and the Maici River, tributaries of Brazil’s Amazon River. An inset globe shows area is in east-central South America. "/>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76073" y="1461063"/>
            <a:ext cx="5415327" cy="4863537"/>
          </a:xfrm>
        </p:spPr>
      </p:pic>
    </p:spTree>
    <p:extLst>
      <p:ext uri="{BB962C8B-B14F-4D97-AF65-F5344CB8AC3E}">
        <p14:creationId xmlns:p14="http://schemas.microsoft.com/office/powerpoint/2010/main" val="5669295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Language and Verbal Communication </a:t>
            </a:r>
            <a:r>
              <a:rPr lang="en-US" sz="3100" dirty="0" smtClean="0"/>
              <a:t>(4 </a:t>
            </a:r>
            <a:r>
              <a:rPr lang="en-US" sz="3100" dirty="0"/>
              <a:t>of </a:t>
            </a:r>
            <a:r>
              <a:rPr lang="en-US" sz="3100" dirty="0" smtClean="0"/>
              <a:t>4)</a:t>
            </a:r>
            <a:endParaRPr lang="en-US" sz="3100" dirty="0"/>
          </a:p>
        </p:txBody>
      </p:sp>
      <p:sp>
        <p:nvSpPr>
          <p:cNvPr id="3" name="Content Placeholder 2"/>
          <p:cNvSpPr>
            <a:spLocks noGrp="1"/>
          </p:cNvSpPr>
          <p:nvPr>
            <p:ph idx="1"/>
          </p:nvPr>
        </p:nvSpPr>
        <p:spPr/>
        <p:txBody>
          <a:bodyPr/>
          <a:lstStyle/>
          <a:p>
            <a:r>
              <a:rPr lang="en-US" dirty="0"/>
              <a:t>Three ways of formally </a:t>
            </a:r>
            <a:r>
              <a:rPr lang="en-US" dirty="0" smtClean="0"/>
              <a:t>analyzing </a:t>
            </a:r>
            <a:r>
              <a:rPr lang="en-US" dirty="0"/>
              <a:t>language:</a:t>
            </a:r>
          </a:p>
          <a:p>
            <a:pPr lvl="1"/>
            <a:r>
              <a:rPr lang="en-US" dirty="0"/>
              <a:t>Sounds</a:t>
            </a:r>
          </a:p>
          <a:p>
            <a:pPr lvl="2"/>
            <a:r>
              <a:rPr lang="en-US" dirty="0"/>
              <a:t>Study of phonemes and phonetics</a:t>
            </a:r>
          </a:p>
          <a:p>
            <a:pPr lvl="1"/>
            <a:r>
              <a:rPr lang="en-US" dirty="0"/>
              <a:t>Vocabulary</a:t>
            </a:r>
          </a:p>
          <a:p>
            <a:pPr lvl="2"/>
            <a:r>
              <a:rPr lang="en-US" dirty="0"/>
              <a:t>Ethnosemantics</a:t>
            </a:r>
          </a:p>
          <a:p>
            <a:pPr lvl="1"/>
            <a:r>
              <a:rPr lang="en-US" dirty="0"/>
              <a:t>Grammar or syntax</a:t>
            </a:r>
          </a:p>
          <a:p>
            <a:endParaRPr lang="en-US" dirty="0"/>
          </a:p>
        </p:txBody>
      </p:sp>
    </p:spTree>
    <p:extLst>
      <p:ext uri="{BB962C8B-B14F-4D97-AF65-F5344CB8AC3E}">
        <p14:creationId xmlns:p14="http://schemas.microsoft.com/office/powerpoint/2010/main" val="14327790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Anthropology Works: </a:t>
            </a:r>
            <a:br>
              <a:rPr lang="en-US" dirty="0" smtClean="0"/>
            </a:br>
            <a:r>
              <a:rPr lang="en-US" dirty="0" smtClean="0"/>
              <a:t>Narrating Troubles</a:t>
            </a:r>
            <a:endParaRPr lang="en-US" dirty="0"/>
          </a:p>
        </p:txBody>
      </p:sp>
      <p:sp>
        <p:nvSpPr>
          <p:cNvPr id="3" name="Content Placeholder 2"/>
          <p:cNvSpPr>
            <a:spLocks noGrp="1"/>
          </p:cNvSpPr>
          <p:nvPr>
            <p:ph idx="1"/>
          </p:nvPr>
        </p:nvSpPr>
        <p:spPr/>
        <p:txBody>
          <a:bodyPr/>
          <a:lstStyle/>
          <a:p>
            <a:r>
              <a:rPr lang="en-US" dirty="0"/>
              <a:t>Telling one’s trauma narratives as healing strategy</a:t>
            </a:r>
          </a:p>
          <a:p>
            <a:r>
              <a:rPr lang="en-US" dirty="0"/>
              <a:t>Victims of extreme violence during war in former Yugoslavia</a:t>
            </a:r>
          </a:p>
          <a:p>
            <a:r>
              <a:rPr lang="en-US" dirty="0"/>
              <a:t>Refugees in the United States</a:t>
            </a:r>
          </a:p>
          <a:p>
            <a:r>
              <a:rPr lang="en-US" dirty="0"/>
              <a:t>Narration of experiences helps reduce post-traumatic stress</a:t>
            </a:r>
          </a:p>
          <a:p>
            <a:r>
              <a:rPr lang="en-US" dirty="0"/>
              <a:t>May not be helpful </a:t>
            </a:r>
            <a:r>
              <a:rPr lang="en-US" dirty="0" smtClean="0"/>
              <a:t>with </a:t>
            </a:r>
            <a:r>
              <a:rPr lang="en-US" dirty="0"/>
              <a:t>all cultural groups</a:t>
            </a:r>
          </a:p>
          <a:p>
            <a:endParaRPr lang="en-US" dirty="0"/>
          </a:p>
        </p:txBody>
      </p:sp>
    </p:spTree>
    <p:extLst>
      <p:ext uri="{BB962C8B-B14F-4D97-AF65-F5344CB8AC3E}">
        <p14:creationId xmlns:p14="http://schemas.microsoft.com/office/powerpoint/2010/main" val="32680613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11.2 Bosnia and Herzegovina</a:t>
            </a:r>
            <a:endParaRPr lang="en-US" dirty="0"/>
          </a:p>
        </p:txBody>
      </p:sp>
      <p:pic>
        <p:nvPicPr>
          <p:cNvPr id="4" name="Content Placeholder 3" descr="A map shows the country of Bosnia and Herzegovina and its capital city of Sarajevo. The country is bounded by Croatia to the west and north, and Serbia and Montenegro to the east. An inset globe shows the area is in Eastern Europe."/>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847196" y="1463754"/>
            <a:ext cx="3646770" cy="4784646"/>
          </a:xfrm>
        </p:spPr>
      </p:pic>
    </p:spTree>
    <p:extLst>
      <p:ext uri="{BB962C8B-B14F-4D97-AF65-F5344CB8AC3E}">
        <p14:creationId xmlns:p14="http://schemas.microsoft.com/office/powerpoint/2010/main" val="11903633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Nonverbal Language</a:t>
            </a:r>
            <a:endParaRPr lang="en-US" dirty="0"/>
          </a:p>
        </p:txBody>
      </p:sp>
      <p:sp>
        <p:nvSpPr>
          <p:cNvPr id="3" name="Content Placeholder 2"/>
          <p:cNvSpPr>
            <a:spLocks noGrp="1"/>
          </p:cNvSpPr>
          <p:nvPr>
            <p:ph idx="1"/>
          </p:nvPr>
        </p:nvSpPr>
        <p:spPr/>
        <p:txBody>
          <a:bodyPr/>
          <a:lstStyle/>
          <a:p>
            <a:r>
              <a:rPr lang="en-US" dirty="0"/>
              <a:t>Sign language: uses mainly hand gestures to communicate; culturally variable</a:t>
            </a:r>
          </a:p>
          <a:p>
            <a:r>
              <a:rPr lang="en-US" dirty="0"/>
              <a:t>Gestures</a:t>
            </a:r>
          </a:p>
          <a:p>
            <a:r>
              <a:rPr lang="en-US" dirty="0" smtClean="0"/>
              <a:t>Silence </a:t>
            </a:r>
            <a:endParaRPr lang="en-US" dirty="0"/>
          </a:p>
          <a:p>
            <a:pPr lvl="1"/>
            <a:r>
              <a:rPr lang="en-US" dirty="0" smtClean="0"/>
              <a:t>Example</a:t>
            </a:r>
            <a:r>
              <a:rPr lang="en-US" dirty="0"/>
              <a:t>: the Western Apache of Arizona</a:t>
            </a:r>
          </a:p>
          <a:p>
            <a:r>
              <a:rPr lang="en-US" dirty="0"/>
              <a:t>Body language including dress, </a:t>
            </a:r>
            <a:r>
              <a:rPr lang="en-US" dirty="0" smtClean="0"/>
              <a:t>hairstyles</a:t>
            </a:r>
            <a:r>
              <a:rPr lang="en-US" dirty="0"/>
              <a:t>, </a:t>
            </a:r>
            <a:r>
              <a:rPr lang="en-US" dirty="0" smtClean="0"/>
              <a:t>posture, </a:t>
            </a:r>
            <a:r>
              <a:rPr lang="en-US" dirty="0"/>
              <a:t>eye contact</a:t>
            </a:r>
          </a:p>
        </p:txBody>
      </p:sp>
    </p:spTree>
    <p:extLst>
      <p:ext uri="{BB962C8B-B14F-4D97-AF65-F5344CB8AC3E}">
        <p14:creationId xmlns:p14="http://schemas.microsoft.com/office/powerpoint/2010/main" val="2709819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11.3 Western Apache Reservation in Arizona</a:t>
            </a:r>
            <a:endParaRPr lang="en-US" dirty="0"/>
          </a:p>
        </p:txBody>
      </p:sp>
      <p:pic>
        <p:nvPicPr>
          <p:cNvPr id="4" name="Content Placeholder 3" descr="A map shows the Western Apache Reservation, and the village of Cibecue, in east-central Arizona along the banks of Salt River, a tributary of the Gila River. An inset globe shows the area is in the Southwest United States."/>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362200" y="1459324"/>
            <a:ext cx="4419599" cy="4807715"/>
          </a:xfrm>
        </p:spPr>
      </p:pic>
    </p:spTree>
    <p:extLst>
      <p:ext uri="{BB962C8B-B14F-4D97-AF65-F5344CB8AC3E}">
        <p14:creationId xmlns:p14="http://schemas.microsoft.com/office/powerpoint/2010/main" val="24022836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Communicating with Media and Information Technology </a:t>
            </a:r>
            <a:r>
              <a:rPr lang="en-US" sz="3100" dirty="0" smtClean="0"/>
              <a:t>(1 of 3)</a:t>
            </a:r>
            <a:endParaRPr lang="en-US" sz="3100" dirty="0"/>
          </a:p>
        </p:txBody>
      </p:sp>
      <p:sp>
        <p:nvSpPr>
          <p:cNvPr id="3" name="Content Placeholder 2"/>
          <p:cNvSpPr>
            <a:spLocks noGrp="1"/>
          </p:cNvSpPr>
          <p:nvPr>
            <p:ph idx="1"/>
          </p:nvPr>
        </p:nvSpPr>
        <p:spPr/>
        <p:txBody>
          <a:bodyPr/>
          <a:lstStyle/>
          <a:p>
            <a:r>
              <a:rPr lang="en-US" dirty="0"/>
              <a:t>Media </a:t>
            </a:r>
            <a:r>
              <a:rPr lang="en-US" dirty="0" smtClean="0"/>
              <a:t>anthropologists</a:t>
            </a:r>
          </a:p>
          <a:p>
            <a:pPr lvl="1"/>
            <a:r>
              <a:rPr lang="en-US" dirty="0"/>
              <a:t>S</a:t>
            </a:r>
            <a:r>
              <a:rPr lang="en-US" dirty="0" smtClean="0"/>
              <a:t>tudy </a:t>
            </a:r>
            <a:r>
              <a:rPr lang="en-US" dirty="0"/>
              <a:t>the media process and content, the audience </a:t>
            </a:r>
            <a:r>
              <a:rPr lang="en-US" dirty="0" smtClean="0"/>
              <a:t>response, </a:t>
            </a:r>
            <a:r>
              <a:rPr lang="en-US" dirty="0"/>
              <a:t>and the social effects of media presentations </a:t>
            </a:r>
            <a:endParaRPr lang="en-US" dirty="0" smtClean="0"/>
          </a:p>
          <a:p>
            <a:r>
              <a:rPr lang="en-US" dirty="0" smtClean="0"/>
              <a:t>Critical media anthropologists</a:t>
            </a:r>
          </a:p>
          <a:p>
            <a:pPr lvl="1"/>
            <a:r>
              <a:rPr lang="en-US" dirty="0" smtClean="0"/>
              <a:t>Ask </a:t>
            </a:r>
            <a:r>
              <a:rPr lang="en-US" dirty="0"/>
              <a:t>to what degree access to media messages is liberating or controlling, and whose interests the media serve </a:t>
            </a:r>
          </a:p>
          <a:p>
            <a:pPr lvl="1"/>
            <a:endParaRPr lang="en-US" dirty="0"/>
          </a:p>
          <a:p>
            <a:endParaRPr lang="en-US" dirty="0"/>
          </a:p>
          <a:p>
            <a:endParaRPr lang="en-US" dirty="0"/>
          </a:p>
        </p:txBody>
      </p:sp>
    </p:spTree>
    <p:extLst>
      <p:ext uri="{BB962C8B-B14F-4D97-AF65-F5344CB8AC3E}">
        <p14:creationId xmlns:p14="http://schemas.microsoft.com/office/powerpoint/2010/main" val="11001841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Communicating with Media and Information Technology </a:t>
            </a:r>
            <a:r>
              <a:rPr lang="en-US" sz="3100" dirty="0" smtClean="0"/>
              <a:t>(2 </a:t>
            </a:r>
            <a:r>
              <a:rPr lang="en-US" sz="3100" dirty="0"/>
              <a:t>of 3)</a:t>
            </a:r>
          </a:p>
        </p:txBody>
      </p:sp>
      <p:sp>
        <p:nvSpPr>
          <p:cNvPr id="3" name="Content Placeholder 2"/>
          <p:cNvSpPr>
            <a:spLocks noGrp="1"/>
          </p:cNvSpPr>
          <p:nvPr>
            <p:ph idx="1"/>
          </p:nvPr>
        </p:nvSpPr>
        <p:spPr/>
        <p:txBody>
          <a:bodyPr/>
          <a:lstStyle/>
          <a:p>
            <a:r>
              <a:rPr lang="en-US" dirty="0" smtClean="0"/>
              <a:t>Advertising for Latinos in the United States</a:t>
            </a:r>
          </a:p>
          <a:p>
            <a:pPr lvl="1"/>
            <a:r>
              <a:rPr lang="en-US" dirty="0" smtClean="0"/>
              <a:t>Study showed Latinos treated as unified, culturally specific market</a:t>
            </a:r>
          </a:p>
          <a:p>
            <a:pPr lvl="1"/>
            <a:r>
              <a:rPr lang="en-US" dirty="0" smtClean="0"/>
              <a:t>Dominant trope is “the family”</a:t>
            </a:r>
          </a:p>
          <a:p>
            <a:pPr lvl="1"/>
            <a:r>
              <a:rPr lang="en-US" dirty="0" smtClean="0"/>
              <a:t>The version of Spanish used is generic, with no regional idioms or accent</a:t>
            </a:r>
            <a:endParaRPr lang="en-US" dirty="0"/>
          </a:p>
        </p:txBody>
      </p:sp>
    </p:spTree>
    <p:extLst>
      <p:ext uri="{BB962C8B-B14F-4D97-AF65-F5344CB8AC3E}">
        <p14:creationId xmlns:p14="http://schemas.microsoft.com/office/powerpoint/2010/main" val="10921078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Communicating with Media and Information Technology </a:t>
            </a:r>
            <a:r>
              <a:rPr lang="en-US" sz="3100" dirty="0" smtClean="0"/>
              <a:t>(3 </a:t>
            </a:r>
            <a:r>
              <a:rPr lang="en-US" sz="3100" dirty="0"/>
              <a:t>of 3)</a:t>
            </a:r>
          </a:p>
        </p:txBody>
      </p:sp>
      <p:sp>
        <p:nvSpPr>
          <p:cNvPr id="3" name="Content Placeholder 2"/>
          <p:cNvSpPr>
            <a:spLocks noGrp="1"/>
          </p:cNvSpPr>
          <p:nvPr>
            <p:ph idx="1"/>
          </p:nvPr>
        </p:nvSpPr>
        <p:spPr/>
        <p:txBody>
          <a:bodyPr/>
          <a:lstStyle/>
          <a:p>
            <a:r>
              <a:rPr lang="en-US" dirty="0"/>
              <a:t>Digital divide refers to social inequality in access to new and emerging information technology and forms of communication</a:t>
            </a:r>
          </a:p>
          <a:p>
            <a:r>
              <a:rPr lang="en-US" dirty="0"/>
              <a:t>Local and global attempts to “cross the digital divide</a:t>
            </a:r>
            <a:r>
              <a:rPr lang="en-US" dirty="0" smtClean="0"/>
              <a:t>”</a:t>
            </a:r>
          </a:p>
          <a:p>
            <a:pPr lvl="1"/>
            <a:r>
              <a:rPr lang="en-US" dirty="0" smtClean="0"/>
              <a:t>Example: telecottages in Hungary</a:t>
            </a:r>
            <a:endParaRPr lang="en-US" dirty="0"/>
          </a:p>
          <a:p>
            <a:endParaRPr lang="en-US" dirty="0"/>
          </a:p>
        </p:txBody>
      </p:sp>
    </p:spTree>
    <p:extLst>
      <p:ext uri="{BB962C8B-B14F-4D97-AF65-F5344CB8AC3E}">
        <p14:creationId xmlns:p14="http://schemas.microsoft.com/office/powerpoint/2010/main" val="21857061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11.4 Hungary</a:t>
            </a:r>
            <a:endParaRPr lang="en-US" dirty="0"/>
          </a:p>
        </p:txBody>
      </p:sp>
      <p:pic>
        <p:nvPicPr>
          <p:cNvPr id="4" name="Content Placeholder 3" descr="A map shows Hungary and its capital city of Budapest, as well as the city Pecs. Hungary is bordered by Slovakia, Austria, Croatia, Serbia, Romania, and Ukraine. An inset globe shows the area is in central Europe."/>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81200" y="1507886"/>
            <a:ext cx="5105400" cy="4781966"/>
          </a:xfrm>
        </p:spPr>
      </p:pic>
    </p:spTree>
    <p:extLst>
      <p:ext uri="{BB962C8B-B14F-4D97-AF65-F5344CB8AC3E}">
        <p14:creationId xmlns:p14="http://schemas.microsoft.com/office/powerpoint/2010/main" val="9534442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Language, Diversity, and Inequality</a:t>
            </a:r>
            <a:br>
              <a:rPr lang="en-US" sz="3600" dirty="0" smtClean="0"/>
            </a:br>
            <a:r>
              <a:rPr lang="en-US" sz="2400" dirty="0"/>
              <a:t>11.2 Discuss how communication relates </a:t>
            </a:r>
            <a:r>
              <a:rPr lang="en-US" sz="2400" dirty="0" smtClean="0"/>
              <a:t>to cultural diversity </a:t>
            </a:r>
            <a:r>
              <a:rPr lang="en-US" sz="2400" dirty="0"/>
              <a:t>and </a:t>
            </a:r>
            <a:r>
              <a:rPr lang="en-US" sz="2400" dirty="0" smtClean="0"/>
              <a:t>social inequality</a:t>
            </a:r>
            <a:r>
              <a:rPr lang="en-US" sz="2400" dirty="0"/>
              <a:t>.</a:t>
            </a:r>
          </a:p>
        </p:txBody>
      </p:sp>
      <p:sp>
        <p:nvSpPr>
          <p:cNvPr id="3" name="Content Placeholder 2"/>
          <p:cNvSpPr>
            <a:spLocks noGrp="1"/>
          </p:cNvSpPr>
          <p:nvPr>
            <p:ph idx="1"/>
          </p:nvPr>
        </p:nvSpPr>
        <p:spPr/>
        <p:txBody>
          <a:bodyPr/>
          <a:lstStyle/>
          <a:p>
            <a:endParaRPr lang="en-US" dirty="0" smtClean="0"/>
          </a:p>
          <a:p>
            <a:r>
              <a:rPr lang="en-US" dirty="0" smtClean="0"/>
              <a:t>Language and Culture: Two Theories</a:t>
            </a:r>
          </a:p>
          <a:p>
            <a:endParaRPr lang="en-US" dirty="0" smtClean="0"/>
          </a:p>
          <a:p>
            <a:r>
              <a:rPr lang="en-US" dirty="0" smtClean="0"/>
              <a:t>Critical Discourse Analysis: Gender and “Race”</a:t>
            </a:r>
            <a:endParaRPr lang="en-US" dirty="0"/>
          </a:p>
        </p:txBody>
      </p:sp>
    </p:spTree>
    <p:extLst>
      <p:ext uri="{BB962C8B-B14F-4D97-AF65-F5344CB8AC3E}">
        <p14:creationId xmlns:p14="http://schemas.microsoft.com/office/powerpoint/2010/main" val="3906870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Language and Culture: Two Theories</a:t>
            </a:r>
            <a:endParaRPr lang="en-US" dirty="0"/>
          </a:p>
        </p:txBody>
      </p:sp>
      <p:sp>
        <p:nvSpPr>
          <p:cNvPr id="3" name="Content Placeholder 2"/>
          <p:cNvSpPr>
            <a:spLocks noGrp="1"/>
          </p:cNvSpPr>
          <p:nvPr>
            <p:ph idx="1"/>
          </p:nvPr>
        </p:nvSpPr>
        <p:spPr/>
        <p:txBody>
          <a:bodyPr/>
          <a:lstStyle/>
          <a:p>
            <a:r>
              <a:rPr lang="en-US" dirty="0" smtClean="0"/>
              <a:t>Sapir–Whorf hypothesis</a:t>
            </a:r>
          </a:p>
          <a:p>
            <a:pPr lvl="1"/>
            <a:r>
              <a:rPr lang="en-US" dirty="0"/>
              <a:t>L</a:t>
            </a:r>
            <a:r>
              <a:rPr lang="en-US" dirty="0" smtClean="0"/>
              <a:t>anguage </a:t>
            </a:r>
            <a:r>
              <a:rPr lang="en-US" dirty="0"/>
              <a:t>determines how we see the world and behavior</a:t>
            </a:r>
          </a:p>
          <a:p>
            <a:pPr lvl="1"/>
            <a:r>
              <a:rPr lang="en-US" dirty="0"/>
              <a:t>P</a:t>
            </a:r>
            <a:r>
              <a:rPr lang="en-US" dirty="0" smtClean="0"/>
              <a:t>eople </a:t>
            </a:r>
            <a:r>
              <a:rPr lang="en-US" dirty="0"/>
              <a:t>who speak different languages inhabit different “thought worlds”</a:t>
            </a:r>
          </a:p>
          <a:p>
            <a:r>
              <a:rPr lang="en-US" dirty="0" smtClean="0"/>
              <a:t>Sociolinguistics</a:t>
            </a:r>
          </a:p>
          <a:p>
            <a:pPr lvl="1"/>
            <a:r>
              <a:rPr lang="en-US" dirty="0"/>
              <a:t>S</a:t>
            </a:r>
            <a:r>
              <a:rPr lang="en-US" dirty="0" smtClean="0"/>
              <a:t>ocial </a:t>
            </a:r>
            <a:r>
              <a:rPr lang="en-US" dirty="0"/>
              <a:t>position determines the content, </a:t>
            </a:r>
            <a:r>
              <a:rPr lang="en-US" dirty="0" smtClean="0"/>
              <a:t>meaning, </a:t>
            </a:r>
            <a:r>
              <a:rPr lang="en-US" dirty="0"/>
              <a:t>and form of language</a:t>
            </a:r>
          </a:p>
          <a:p>
            <a:pPr lvl="1"/>
            <a:endParaRPr lang="en-US" dirty="0"/>
          </a:p>
        </p:txBody>
      </p:sp>
    </p:spTree>
    <p:extLst>
      <p:ext uri="{BB962C8B-B14F-4D97-AF65-F5344CB8AC3E}">
        <p14:creationId xmlns:p14="http://schemas.microsoft.com/office/powerpoint/2010/main" val="413726856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Critical Discourse Analysis: </a:t>
            </a:r>
            <a:br>
              <a:rPr lang="en-US" dirty="0" smtClean="0"/>
            </a:br>
            <a:r>
              <a:rPr lang="en-US" dirty="0" smtClean="0"/>
              <a:t>Gender and “Race” </a:t>
            </a:r>
            <a:r>
              <a:rPr lang="en-US" sz="3100" dirty="0" smtClean="0"/>
              <a:t>(1 of 8)</a:t>
            </a:r>
            <a:endParaRPr lang="en-US" sz="3100" dirty="0"/>
          </a:p>
        </p:txBody>
      </p:sp>
      <p:sp>
        <p:nvSpPr>
          <p:cNvPr id="3" name="Content Placeholder 2"/>
          <p:cNvSpPr>
            <a:spLocks noGrp="1"/>
          </p:cNvSpPr>
          <p:nvPr>
            <p:ph idx="1"/>
          </p:nvPr>
        </p:nvSpPr>
        <p:spPr/>
        <p:txBody>
          <a:bodyPr/>
          <a:lstStyle/>
          <a:p>
            <a:r>
              <a:rPr lang="en-US" dirty="0" smtClean="0"/>
              <a:t>Discourse</a:t>
            </a:r>
          </a:p>
          <a:p>
            <a:pPr lvl="1"/>
            <a:r>
              <a:rPr lang="en-US" dirty="0" smtClean="0"/>
              <a:t>Culturally </a:t>
            </a:r>
            <a:r>
              <a:rPr lang="en-US" dirty="0"/>
              <a:t>patterned verbal language including </a:t>
            </a:r>
            <a:r>
              <a:rPr lang="en-US" dirty="0" smtClean="0"/>
              <a:t>varieties of </a:t>
            </a:r>
            <a:r>
              <a:rPr lang="en-US" dirty="0"/>
              <a:t>speech, participation, and </a:t>
            </a:r>
            <a:r>
              <a:rPr lang="en-US" dirty="0" smtClean="0"/>
              <a:t>meaning</a:t>
            </a:r>
            <a:endParaRPr lang="en-US" dirty="0"/>
          </a:p>
          <a:p>
            <a:r>
              <a:rPr lang="en-US" dirty="0" smtClean="0"/>
              <a:t>Critical discourse </a:t>
            </a:r>
            <a:r>
              <a:rPr lang="en-US" dirty="0"/>
              <a:t>a</a:t>
            </a:r>
            <a:r>
              <a:rPr lang="en-US" dirty="0" smtClean="0"/>
              <a:t>nalysis</a:t>
            </a:r>
          </a:p>
          <a:p>
            <a:pPr lvl="1"/>
            <a:r>
              <a:rPr lang="en-US" dirty="0"/>
              <a:t>A</a:t>
            </a:r>
            <a:r>
              <a:rPr lang="en-US" dirty="0" smtClean="0"/>
              <a:t>n </a:t>
            </a:r>
            <a:r>
              <a:rPr lang="en-US" dirty="0"/>
              <a:t>approach within linguistic </a:t>
            </a:r>
            <a:r>
              <a:rPr lang="en-US" dirty="0" smtClean="0"/>
              <a:t>anthropology that </a:t>
            </a:r>
            <a:r>
              <a:rPr lang="en-US" dirty="0"/>
              <a:t>examines how power and social inequality </a:t>
            </a:r>
            <a:r>
              <a:rPr lang="en-US" dirty="0" smtClean="0"/>
              <a:t>are reflected </a:t>
            </a:r>
            <a:r>
              <a:rPr lang="en-US" dirty="0"/>
              <a:t>and reproduced in </a:t>
            </a:r>
            <a:r>
              <a:rPr lang="en-US" dirty="0" smtClean="0"/>
              <a:t>communication</a:t>
            </a:r>
            <a:endParaRPr lang="en-US" dirty="0"/>
          </a:p>
        </p:txBody>
      </p:sp>
    </p:spTree>
    <p:extLst>
      <p:ext uri="{BB962C8B-B14F-4D97-AF65-F5344CB8AC3E}">
        <p14:creationId xmlns:p14="http://schemas.microsoft.com/office/powerpoint/2010/main" val="28193106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Critical Discourse Analysis: </a:t>
            </a:r>
            <a:br>
              <a:rPr lang="en-US" dirty="0"/>
            </a:br>
            <a:r>
              <a:rPr lang="en-US" dirty="0" smtClean="0"/>
              <a:t>Gender </a:t>
            </a:r>
            <a:r>
              <a:rPr lang="en-US" dirty="0"/>
              <a:t>and “Race” </a:t>
            </a:r>
            <a:r>
              <a:rPr lang="en-US" sz="3100" dirty="0" smtClean="0"/>
              <a:t>(2 </a:t>
            </a:r>
            <a:r>
              <a:rPr lang="en-US" sz="3100" dirty="0"/>
              <a:t>of 8)</a:t>
            </a:r>
          </a:p>
        </p:txBody>
      </p:sp>
      <p:sp>
        <p:nvSpPr>
          <p:cNvPr id="3" name="Content Placeholder 2"/>
          <p:cNvSpPr>
            <a:spLocks noGrp="1"/>
          </p:cNvSpPr>
          <p:nvPr>
            <p:ph idx="1"/>
          </p:nvPr>
        </p:nvSpPr>
        <p:spPr/>
        <p:txBody>
          <a:bodyPr/>
          <a:lstStyle/>
          <a:p>
            <a:r>
              <a:rPr lang="en-US" dirty="0" smtClean="0"/>
              <a:t>Class and Accent in New York City</a:t>
            </a:r>
          </a:p>
          <a:p>
            <a:pPr lvl="1"/>
            <a:r>
              <a:rPr lang="en-US" dirty="0" smtClean="0"/>
              <a:t>William Labov’s research used informal observation of sales clerks’ speech in New York City department stores (a mix of stores catering to different income ranges)</a:t>
            </a:r>
          </a:p>
          <a:p>
            <a:pPr lvl="1"/>
            <a:r>
              <a:rPr lang="en-US" dirty="0" smtClean="0"/>
              <a:t>One finding was that the use of the consonant “r” was associated with class</a:t>
            </a:r>
            <a:endParaRPr lang="en-US" dirty="0"/>
          </a:p>
        </p:txBody>
      </p:sp>
    </p:spTree>
    <p:extLst>
      <p:ext uri="{BB962C8B-B14F-4D97-AF65-F5344CB8AC3E}">
        <p14:creationId xmlns:p14="http://schemas.microsoft.com/office/powerpoint/2010/main" val="26051739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Critical Discourse Analysis: </a:t>
            </a:r>
            <a:r>
              <a:rPr lang="en-US" dirty="0" smtClean="0"/>
              <a:t/>
            </a:r>
            <a:br>
              <a:rPr lang="en-US" dirty="0" smtClean="0"/>
            </a:br>
            <a:r>
              <a:rPr lang="en-US" dirty="0" smtClean="0"/>
              <a:t>Gender </a:t>
            </a:r>
            <a:r>
              <a:rPr lang="en-US" dirty="0"/>
              <a:t>and “Race” </a:t>
            </a:r>
            <a:r>
              <a:rPr lang="en-US" sz="3100" dirty="0" smtClean="0"/>
              <a:t>(3 </a:t>
            </a:r>
            <a:r>
              <a:rPr lang="en-US" sz="3100" dirty="0"/>
              <a:t>of 8)</a:t>
            </a:r>
          </a:p>
        </p:txBody>
      </p:sp>
      <p:sp>
        <p:nvSpPr>
          <p:cNvPr id="3" name="Content Placeholder 2"/>
          <p:cNvSpPr>
            <a:spLocks noGrp="1"/>
          </p:cNvSpPr>
          <p:nvPr>
            <p:ph idx="1"/>
          </p:nvPr>
        </p:nvSpPr>
        <p:spPr/>
        <p:txBody>
          <a:bodyPr>
            <a:normAutofit/>
          </a:bodyPr>
          <a:lstStyle/>
          <a:p>
            <a:r>
              <a:rPr lang="en-US" dirty="0" smtClean="0"/>
              <a:t>Gender in Euro-American Conversations</a:t>
            </a:r>
          </a:p>
          <a:p>
            <a:pPr lvl="1"/>
            <a:r>
              <a:rPr lang="en-US" dirty="0" smtClean="0"/>
              <a:t>Studies revealed differences in speech</a:t>
            </a:r>
          </a:p>
          <a:p>
            <a:pPr lvl="2"/>
            <a:r>
              <a:rPr lang="en-US" dirty="0" smtClean="0"/>
              <a:t>Compared with men, Euro-American women’s speech:</a:t>
            </a:r>
          </a:p>
          <a:p>
            <a:pPr lvl="3"/>
            <a:r>
              <a:rPr lang="en-US" dirty="0" smtClean="0"/>
              <a:t>Is more polite</a:t>
            </a:r>
          </a:p>
          <a:p>
            <a:pPr lvl="3"/>
            <a:r>
              <a:rPr lang="en-US" dirty="0" smtClean="0"/>
              <a:t>Uses rising intonation at end of sentences </a:t>
            </a:r>
          </a:p>
          <a:p>
            <a:pPr lvl="3"/>
            <a:r>
              <a:rPr lang="en-US" dirty="0" smtClean="0"/>
              <a:t>Makes frequent use of tag questions</a:t>
            </a:r>
          </a:p>
          <a:p>
            <a:pPr lvl="2"/>
            <a:r>
              <a:rPr lang="en-US" dirty="0" smtClean="0"/>
              <a:t>Men interrupt more frequently</a:t>
            </a:r>
          </a:p>
          <a:p>
            <a:pPr lvl="1"/>
            <a:r>
              <a:rPr lang="en-US" dirty="0"/>
              <a:t>Different conversational styles of Euro-American men and women may lead to </a:t>
            </a:r>
            <a:r>
              <a:rPr lang="en-US" dirty="0" smtClean="0"/>
              <a:t>miscommunication </a:t>
            </a:r>
            <a:r>
              <a:rPr lang="en-US" dirty="0"/>
              <a:t>(Tannen)</a:t>
            </a:r>
          </a:p>
          <a:p>
            <a:pPr lvl="1"/>
            <a:endParaRPr lang="en-US" dirty="0"/>
          </a:p>
        </p:txBody>
      </p:sp>
    </p:spTree>
    <p:extLst>
      <p:ext uri="{BB962C8B-B14F-4D97-AF65-F5344CB8AC3E}">
        <p14:creationId xmlns:p14="http://schemas.microsoft.com/office/powerpoint/2010/main" val="38730889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Critical Discourse Analysis: </a:t>
            </a:r>
            <a:r>
              <a:rPr lang="en-US" dirty="0" smtClean="0"/>
              <a:t/>
            </a:r>
            <a:br>
              <a:rPr lang="en-US" dirty="0" smtClean="0"/>
            </a:br>
            <a:r>
              <a:rPr lang="en-US" dirty="0" smtClean="0"/>
              <a:t>Gender </a:t>
            </a:r>
            <a:r>
              <a:rPr lang="en-US" dirty="0"/>
              <a:t>and “Race</a:t>
            </a:r>
            <a:r>
              <a:rPr lang="en-US" dirty="0" smtClean="0"/>
              <a:t>” </a:t>
            </a:r>
            <a:r>
              <a:rPr lang="en-US" sz="3100" dirty="0" smtClean="0"/>
              <a:t>(4 </a:t>
            </a:r>
            <a:r>
              <a:rPr lang="en-US" sz="3100" dirty="0"/>
              <a:t>of 8)</a:t>
            </a:r>
          </a:p>
        </p:txBody>
      </p:sp>
      <p:sp>
        <p:nvSpPr>
          <p:cNvPr id="3" name="Content Placeholder 2"/>
          <p:cNvSpPr>
            <a:spLocks noGrp="1"/>
          </p:cNvSpPr>
          <p:nvPr>
            <p:ph idx="1"/>
          </p:nvPr>
        </p:nvSpPr>
        <p:spPr/>
        <p:txBody>
          <a:bodyPr/>
          <a:lstStyle/>
          <a:p>
            <a:r>
              <a:rPr lang="en-US" dirty="0" smtClean="0"/>
              <a:t>Gender and Politeness in Japanese, and Those Naughty Teenage Girls</a:t>
            </a:r>
          </a:p>
          <a:p>
            <a:pPr lvl="1"/>
            <a:r>
              <a:rPr lang="en-US" dirty="0" smtClean="0"/>
              <a:t>Politeness and gender are reflected in the Japanese language</a:t>
            </a:r>
          </a:p>
          <a:p>
            <a:pPr lvl="2"/>
            <a:r>
              <a:rPr lang="en-US" dirty="0" smtClean="0"/>
              <a:t>Example: women refer to objects with prefix </a:t>
            </a:r>
            <a:r>
              <a:rPr lang="en-US" i="1" dirty="0" smtClean="0"/>
              <a:t>o-</a:t>
            </a:r>
            <a:r>
              <a:rPr lang="en-US" dirty="0" smtClean="0"/>
              <a:t>, men do not</a:t>
            </a:r>
          </a:p>
          <a:p>
            <a:pPr lvl="1"/>
            <a:r>
              <a:rPr lang="en-US" i="1" dirty="0" smtClean="0"/>
              <a:t>Kogals</a:t>
            </a:r>
            <a:r>
              <a:rPr lang="en-US" dirty="0" smtClean="0"/>
              <a:t> are young Japanese women who flout convention and also make use of emoticons</a:t>
            </a:r>
            <a:endParaRPr lang="en-US" i="1" dirty="0" smtClean="0"/>
          </a:p>
          <a:p>
            <a:pPr lvl="1"/>
            <a:endParaRPr lang="en-US" dirty="0"/>
          </a:p>
        </p:txBody>
      </p:sp>
    </p:spTree>
    <p:extLst>
      <p:ext uri="{BB962C8B-B14F-4D97-AF65-F5344CB8AC3E}">
        <p14:creationId xmlns:p14="http://schemas.microsoft.com/office/powerpoint/2010/main" val="173658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Critical Discourse Analysis: </a:t>
            </a:r>
            <a:r>
              <a:rPr lang="en-US" dirty="0" smtClean="0"/>
              <a:t/>
            </a:r>
            <a:br>
              <a:rPr lang="en-US" dirty="0" smtClean="0"/>
            </a:br>
            <a:r>
              <a:rPr lang="en-US" dirty="0" smtClean="0"/>
              <a:t>Gender </a:t>
            </a:r>
            <a:r>
              <a:rPr lang="en-US" dirty="0"/>
              <a:t>and “Race” </a:t>
            </a:r>
            <a:r>
              <a:rPr lang="en-US" sz="3100" dirty="0" smtClean="0"/>
              <a:t>(5 </a:t>
            </a:r>
            <a:r>
              <a:rPr lang="en-US" sz="3100" dirty="0"/>
              <a:t>of 8)</a:t>
            </a:r>
          </a:p>
        </p:txBody>
      </p:sp>
      <p:sp>
        <p:nvSpPr>
          <p:cNvPr id="3" name="Content Placeholder 2"/>
          <p:cNvSpPr>
            <a:spLocks noGrp="1"/>
          </p:cNvSpPr>
          <p:nvPr>
            <p:ph idx="1"/>
          </p:nvPr>
        </p:nvSpPr>
        <p:spPr/>
        <p:txBody>
          <a:bodyPr/>
          <a:lstStyle/>
          <a:p>
            <a:r>
              <a:rPr lang="en-US" dirty="0" smtClean="0"/>
              <a:t>“Fat Talk” among Euro-American Adolescent Girls</a:t>
            </a:r>
          </a:p>
          <a:p>
            <a:pPr lvl="1"/>
            <a:r>
              <a:rPr lang="en-US" dirty="0" smtClean="0"/>
              <a:t>Study of high </a:t>
            </a:r>
            <a:r>
              <a:rPr lang="en-US" dirty="0"/>
              <a:t>s</a:t>
            </a:r>
            <a:r>
              <a:rPr lang="en-US" dirty="0" smtClean="0"/>
              <a:t>chool girls in the United States demonstrated preoccupation with body weight in conversation</a:t>
            </a:r>
          </a:p>
          <a:p>
            <a:pPr lvl="1"/>
            <a:r>
              <a:rPr lang="en-US" dirty="0" smtClean="0"/>
              <a:t>“Fat talk” describes a discourse pattern in which  an exaggerated claim of obesity is made by one girl, followed by denial from her peers</a:t>
            </a:r>
          </a:p>
          <a:p>
            <a:pPr lvl="2"/>
            <a:r>
              <a:rPr lang="en-US" dirty="0" smtClean="0"/>
              <a:t>Function of the exchange?</a:t>
            </a:r>
          </a:p>
        </p:txBody>
      </p:sp>
    </p:spTree>
    <p:extLst>
      <p:ext uri="{BB962C8B-B14F-4D97-AF65-F5344CB8AC3E}">
        <p14:creationId xmlns:p14="http://schemas.microsoft.com/office/powerpoint/2010/main" val="30482636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Critical Discourse Analysis: </a:t>
            </a:r>
            <a:r>
              <a:rPr lang="en-US" dirty="0" smtClean="0"/>
              <a:t/>
            </a:r>
            <a:br>
              <a:rPr lang="en-US" dirty="0" smtClean="0"/>
            </a:br>
            <a:r>
              <a:rPr lang="en-US" dirty="0" smtClean="0"/>
              <a:t>Gender </a:t>
            </a:r>
            <a:r>
              <a:rPr lang="en-US" dirty="0"/>
              <a:t>and “Race” </a:t>
            </a:r>
            <a:r>
              <a:rPr lang="en-US" sz="3100" dirty="0" smtClean="0"/>
              <a:t>(6 </a:t>
            </a:r>
            <a:r>
              <a:rPr lang="en-US" sz="3100" dirty="0"/>
              <a:t>of 8)</a:t>
            </a:r>
          </a:p>
        </p:txBody>
      </p:sp>
      <p:sp>
        <p:nvSpPr>
          <p:cNvPr id="3" name="Content Placeholder 2"/>
          <p:cNvSpPr>
            <a:spLocks noGrp="1"/>
          </p:cNvSpPr>
          <p:nvPr>
            <p:ph idx="1"/>
          </p:nvPr>
        </p:nvSpPr>
        <p:spPr/>
        <p:txBody>
          <a:bodyPr/>
          <a:lstStyle/>
          <a:p>
            <a:r>
              <a:rPr lang="en-US" dirty="0" smtClean="0"/>
              <a:t>Gay Language and Belonging in Indonesia</a:t>
            </a:r>
          </a:p>
          <a:p>
            <a:pPr lvl="1"/>
            <a:r>
              <a:rPr lang="en-US" dirty="0" smtClean="0"/>
              <a:t>“Bahasa gay” includes a distinct vocabulary and plays humorously on elements of the standard language, bahasa Indonesia</a:t>
            </a:r>
          </a:p>
          <a:p>
            <a:pPr lvl="1"/>
            <a:r>
              <a:rPr lang="en-US" dirty="0" smtClean="0"/>
              <a:t>Conveys agency and freedom from official control</a:t>
            </a:r>
          </a:p>
          <a:p>
            <a:pPr lvl="1"/>
            <a:r>
              <a:rPr lang="en-US" dirty="0" smtClean="0"/>
              <a:t>Elements of bahasa gay are moving into the mainstream </a:t>
            </a:r>
            <a:endParaRPr lang="en-US" dirty="0"/>
          </a:p>
        </p:txBody>
      </p:sp>
    </p:spTree>
    <p:extLst>
      <p:ext uri="{BB962C8B-B14F-4D97-AF65-F5344CB8AC3E}">
        <p14:creationId xmlns:p14="http://schemas.microsoft.com/office/powerpoint/2010/main" val="98151601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Critical Discourse Analysis: </a:t>
            </a:r>
            <a:r>
              <a:rPr lang="en-US" dirty="0" smtClean="0"/>
              <a:t/>
            </a:r>
            <a:br>
              <a:rPr lang="en-US" dirty="0" smtClean="0"/>
            </a:br>
            <a:r>
              <a:rPr lang="en-US" dirty="0" smtClean="0"/>
              <a:t>Gender </a:t>
            </a:r>
            <a:r>
              <a:rPr lang="en-US" dirty="0"/>
              <a:t>and “Race” </a:t>
            </a:r>
            <a:r>
              <a:rPr lang="en-US" sz="3100" dirty="0" smtClean="0"/>
              <a:t>(7 </a:t>
            </a:r>
            <a:r>
              <a:rPr lang="en-US" sz="3100" dirty="0"/>
              <a:t>of 8)</a:t>
            </a:r>
          </a:p>
        </p:txBody>
      </p:sp>
      <p:sp>
        <p:nvSpPr>
          <p:cNvPr id="3" name="Content Placeholder 2"/>
          <p:cNvSpPr>
            <a:spLocks noGrp="1"/>
          </p:cNvSpPr>
          <p:nvPr>
            <p:ph idx="1"/>
          </p:nvPr>
        </p:nvSpPr>
        <p:spPr/>
        <p:txBody>
          <a:bodyPr/>
          <a:lstStyle/>
          <a:p>
            <a:r>
              <a:rPr lang="en-US" dirty="0" smtClean="0"/>
              <a:t>Cuing among the Akwesasne Mohawks</a:t>
            </a:r>
          </a:p>
          <a:p>
            <a:pPr lvl="1"/>
            <a:r>
              <a:rPr lang="en-US" dirty="0"/>
              <a:t>Akwesasne (Mohawk) Indians use frequent </a:t>
            </a:r>
            <a:r>
              <a:rPr lang="en-US" dirty="0" smtClean="0"/>
              <a:t>nonlinguistic </a:t>
            </a:r>
            <a:r>
              <a:rPr lang="en-US" dirty="0"/>
              <a:t>cues when discussing health problems</a:t>
            </a:r>
          </a:p>
          <a:p>
            <a:pPr lvl="1"/>
            <a:r>
              <a:rPr lang="en-US" dirty="0"/>
              <a:t>Care providers misinterpret the cues as indecisiveness and </a:t>
            </a:r>
            <a:r>
              <a:rPr lang="en-US" dirty="0" smtClean="0"/>
              <a:t>noncooperation</a:t>
            </a:r>
            <a:endParaRPr lang="en-US" dirty="0"/>
          </a:p>
          <a:p>
            <a:pPr lvl="1"/>
            <a:r>
              <a:rPr lang="en-US" dirty="0"/>
              <a:t>Cuing is in fact a sign of respect </a:t>
            </a:r>
          </a:p>
          <a:p>
            <a:pPr lvl="1"/>
            <a:endParaRPr lang="en-US" dirty="0"/>
          </a:p>
        </p:txBody>
      </p:sp>
    </p:spTree>
    <p:extLst>
      <p:ext uri="{BB962C8B-B14F-4D97-AF65-F5344CB8AC3E}">
        <p14:creationId xmlns:p14="http://schemas.microsoft.com/office/powerpoint/2010/main" val="31846177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a:t>Map </a:t>
            </a:r>
            <a:r>
              <a:rPr lang="en-US" sz="3200" dirty="0" smtClean="0"/>
              <a:t>11.5 Akwesasne </a:t>
            </a:r>
            <a:r>
              <a:rPr lang="en-US" sz="3200" dirty="0"/>
              <a:t>Territory in New York </a:t>
            </a:r>
            <a:r>
              <a:rPr lang="en-US" sz="3200" dirty="0" smtClean="0"/>
              <a:t>State, Ontario </a:t>
            </a:r>
            <a:r>
              <a:rPr lang="en-US" sz="3200" dirty="0"/>
              <a:t>Province, and Québec </a:t>
            </a:r>
            <a:r>
              <a:rPr lang="en-US" sz="3200" dirty="0" smtClean="0"/>
              <a:t>Province </a:t>
            </a:r>
            <a:endParaRPr lang="en-US" sz="3200" dirty="0"/>
          </a:p>
        </p:txBody>
      </p:sp>
      <p:pic>
        <p:nvPicPr>
          <p:cNvPr id="4" name="Content Placeholder 3" descr="A map shows the Akwesasne Reservation straddling the border between New York State and the Canadian province of Quebec, along the St. Lawrence River. Inset maps show the area is between Ottawa and Montreal, in northeast North Ame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00400" y="1426553"/>
            <a:ext cx="2590800" cy="4873257"/>
          </a:xfrm>
        </p:spPr>
      </p:pic>
    </p:spTree>
    <p:extLst>
      <p:ext uri="{BB962C8B-B14F-4D97-AF65-F5344CB8AC3E}">
        <p14:creationId xmlns:p14="http://schemas.microsoft.com/office/powerpoint/2010/main" val="12373991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Critical Discourse Analysis: </a:t>
            </a:r>
            <a:r>
              <a:rPr lang="en-US" dirty="0" smtClean="0"/>
              <a:t/>
            </a:r>
            <a:br>
              <a:rPr lang="en-US" dirty="0" smtClean="0"/>
            </a:br>
            <a:r>
              <a:rPr lang="en-US" dirty="0" smtClean="0"/>
              <a:t>Gender </a:t>
            </a:r>
            <a:r>
              <a:rPr lang="en-US" dirty="0"/>
              <a:t>and “Race” </a:t>
            </a:r>
            <a:r>
              <a:rPr lang="en-US" sz="3100" dirty="0" smtClean="0"/>
              <a:t>(8 </a:t>
            </a:r>
            <a:r>
              <a:rPr lang="en-US" sz="3100" dirty="0"/>
              <a:t>of 8)</a:t>
            </a:r>
          </a:p>
        </p:txBody>
      </p:sp>
      <p:sp>
        <p:nvSpPr>
          <p:cNvPr id="3" name="Content Placeholder 2"/>
          <p:cNvSpPr>
            <a:spLocks noGrp="1"/>
          </p:cNvSpPr>
          <p:nvPr>
            <p:ph idx="1"/>
          </p:nvPr>
        </p:nvSpPr>
        <p:spPr/>
        <p:txBody>
          <a:bodyPr>
            <a:normAutofit lnSpcReduction="10000"/>
          </a:bodyPr>
          <a:lstStyle/>
          <a:p>
            <a:r>
              <a:rPr lang="en-US" dirty="0"/>
              <a:t>African American English: Prejudice </a:t>
            </a:r>
            <a:r>
              <a:rPr lang="en-US" dirty="0" smtClean="0"/>
              <a:t>and Pride</a:t>
            </a:r>
          </a:p>
          <a:p>
            <a:pPr lvl="1"/>
            <a:r>
              <a:rPr lang="en-US" dirty="0"/>
              <a:t>Linguistic conservatives support teaching of </a:t>
            </a:r>
            <a:r>
              <a:rPr lang="en-US" dirty="0" smtClean="0"/>
              <a:t>Standard </a:t>
            </a:r>
            <a:r>
              <a:rPr lang="en-US" dirty="0"/>
              <a:t>American English in schools to African American children and no attention to AAE as they  believe it is a substandard language</a:t>
            </a:r>
          </a:p>
          <a:p>
            <a:pPr lvl="1"/>
            <a:r>
              <a:rPr lang="en-US" dirty="0"/>
              <a:t>AAE supporters say it is a language in its own right</a:t>
            </a:r>
          </a:p>
          <a:p>
            <a:pPr lvl="1"/>
            <a:r>
              <a:rPr lang="en-US" dirty="0"/>
              <a:t>AAE child speakers face becoming bilingual in school</a:t>
            </a:r>
          </a:p>
          <a:p>
            <a:pPr lvl="1"/>
            <a:r>
              <a:rPr lang="en-US" dirty="0"/>
              <a:t>Teachers need to recognize this and build on AAE strengths while also teaching s</a:t>
            </a:r>
            <a:r>
              <a:rPr lang="en-US" dirty="0" smtClean="0"/>
              <a:t>tandard </a:t>
            </a:r>
            <a:r>
              <a:rPr lang="en-US" dirty="0"/>
              <a:t>English </a:t>
            </a:r>
          </a:p>
          <a:p>
            <a:pPr lvl="1"/>
            <a:endParaRPr lang="en-US" dirty="0"/>
          </a:p>
        </p:txBody>
      </p:sp>
    </p:spTree>
    <p:extLst>
      <p:ext uri="{BB962C8B-B14F-4D97-AF65-F5344CB8AC3E}">
        <p14:creationId xmlns:p14="http://schemas.microsoft.com/office/powerpoint/2010/main" val="76910781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4000" dirty="0" smtClean="0"/>
              <a:t>Language and Communication Change</a:t>
            </a:r>
            <a:r>
              <a:rPr lang="en-US" sz="3600" dirty="0" smtClean="0"/>
              <a:t/>
            </a:r>
            <a:br>
              <a:rPr lang="en-US" sz="3600" dirty="0" smtClean="0"/>
            </a:br>
            <a:r>
              <a:rPr lang="en-US" sz="2400" dirty="0" smtClean="0"/>
              <a:t>11.3 List examples of language change.</a:t>
            </a:r>
            <a:endParaRPr lang="en-US" sz="2400" dirty="0"/>
          </a:p>
        </p:txBody>
      </p:sp>
      <p:sp>
        <p:nvSpPr>
          <p:cNvPr id="3" name="Content Placeholder 2"/>
          <p:cNvSpPr>
            <a:spLocks noGrp="1"/>
          </p:cNvSpPr>
          <p:nvPr>
            <p:ph idx="1"/>
          </p:nvPr>
        </p:nvSpPr>
        <p:spPr/>
        <p:txBody>
          <a:bodyPr>
            <a:normAutofit lnSpcReduction="10000"/>
          </a:bodyPr>
          <a:lstStyle/>
          <a:p>
            <a:r>
              <a:rPr lang="en-US" dirty="0" smtClean="0"/>
              <a:t>The Origins and History of Language</a:t>
            </a:r>
          </a:p>
          <a:p>
            <a:endParaRPr lang="en-US" dirty="0"/>
          </a:p>
          <a:p>
            <a:r>
              <a:rPr lang="en-US" dirty="0" smtClean="0"/>
              <a:t>Historical Linguistics</a:t>
            </a:r>
          </a:p>
          <a:p>
            <a:endParaRPr lang="en-US" dirty="0"/>
          </a:p>
          <a:p>
            <a:r>
              <a:rPr lang="en-US" dirty="0" smtClean="0"/>
              <a:t>Colonialism, Nationalism, and Globalization</a:t>
            </a:r>
          </a:p>
          <a:p>
            <a:endParaRPr lang="en-US" dirty="0" smtClean="0"/>
          </a:p>
          <a:p>
            <a:r>
              <a:rPr lang="en-US" dirty="0" smtClean="0"/>
              <a:t>Endangered Languages and Language Revitalization</a:t>
            </a:r>
            <a:endParaRPr lang="en-US" dirty="0"/>
          </a:p>
        </p:txBody>
      </p:sp>
    </p:spTree>
    <p:extLst>
      <p:ext uri="{BB962C8B-B14F-4D97-AF65-F5344CB8AC3E}">
        <p14:creationId xmlns:p14="http://schemas.microsoft.com/office/powerpoint/2010/main" val="10537554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Origins and History of Language</a:t>
            </a:r>
            <a:endParaRPr lang="en-US" dirty="0"/>
          </a:p>
        </p:txBody>
      </p:sp>
      <p:sp>
        <p:nvSpPr>
          <p:cNvPr id="3" name="Content Placeholder 2"/>
          <p:cNvSpPr>
            <a:spLocks noGrp="1"/>
          </p:cNvSpPr>
          <p:nvPr>
            <p:ph idx="1"/>
          </p:nvPr>
        </p:nvSpPr>
        <p:spPr/>
        <p:txBody>
          <a:bodyPr/>
          <a:lstStyle/>
          <a:p>
            <a:r>
              <a:rPr lang="en-US" dirty="0" smtClean="0"/>
              <a:t>Verbal language developed </a:t>
            </a:r>
            <a:r>
              <a:rPr lang="en-US" dirty="0"/>
              <a:t>between 100,000 and 50,000 years ago</a:t>
            </a:r>
          </a:p>
          <a:p>
            <a:r>
              <a:rPr lang="en-US" dirty="0" smtClean="0"/>
              <a:t>Writing </a:t>
            </a:r>
            <a:r>
              <a:rPr lang="en-US" dirty="0"/>
              <a:t>systems developed in the fourth millennium BCE</a:t>
            </a:r>
          </a:p>
          <a:p>
            <a:endParaRPr lang="en-US" dirty="0"/>
          </a:p>
        </p:txBody>
      </p:sp>
    </p:spTree>
    <p:extLst>
      <p:ext uri="{BB962C8B-B14F-4D97-AF65-F5344CB8AC3E}">
        <p14:creationId xmlns:p14="http://schemas.microsoft.com/office/powerpoint/2010/main" val="7427128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Historical Linguistics </a:t>
            </a:r>
            <a:r>
              <a:rPr lang="en-US" sz="2800" dirty="0" smtClean="0"/>
              <a:t>(1 of 4)</a:t>
            </a:r>
            <a:endParaRPr lang="en-US" sz="2800" dirty="0"/>
          </a:p>
        </p:txBody>
      </p:sp>
      <p:sp>
        <p:nvSpPr>
          <p:cNvPr id="3" name="Content Placeholder 2"/>
          <p:cNvSpPr>
            <a:spLocks noGrp="1"/>
          </p:cNvSpPr>
          <p:nvPr>
            <p:ph idx="1"/>
          </p:nvPr>
        </p:nvSpPr>
        <p:spPr/>
        <p:txBody>
          <a:bodyPr/>
          <a:lstStyle/>
          <a:p>
            <a:r>
              <a:rPr lang="en-US" dirty="0"/>
              <a:t>Study of language change through time</a:t>
            </a:r>
          </a:p>
          <a:p>
            <a:r>
              <a:rPr lang="en-US" dirty="0"/>
              <a:t>Concept of language families</a:t>
            </a:r>
          </a:p>
          <a:p>
            <a:pPr lvl="1"/>
            <a:r>
              <a:rPr lang="en-US" dirty="0"/>
              <a:t>Example</a:t>
            </a:r>
            <a:r>
              <a:rPr lang="en-US" dirty="0" smtClean="0"/>
              <a:t>: </a:t>
            </a:r>
            <a:r>
              <a:rPr lang="en-US" dirty="0"/>
              <a:t>the Indo-European Language Family</a:t>
            </a:r>
          </a:p>
          <a:p>
            <a:r>
              <a:rPr lang="en-US" dirty="0"/>
              <a:t>Role of migration</a:t>
            </a:r>
          </a:p>
          <a:p>
            <a:pPr lvl="1"/>
            <a:r>
              <a:rPr lang="en-US" dirty="0"/>
              <a:t>Bantu languages in Africa</a:t>
            </a:r>
          </a:p>
          <a:p>
            <a:endParaRPr lang="en-US" dirty="0"/>
          </a:p>
        </p:txBody>
      </p:sp>
    </p:spTree>
    <p:extLst>
      <p:ext uri="{BB962C8B-B14F-4D97-AF65-F5344CB8AC3E}">
        <p14:creationId xmlns:p14="http://schemas.microsoft.com/office/powerpoint/2010/main" val="266303454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11.6 Two Sites of Proto-Indo-European Origins</a:t>
            </a:r>
            <a:endParaRPr lang="en-US" dirty="0"/>
          </a:p>
        </p:txBody>
      </p:sp>
      <p:pic>
        <p:nvPicPr>
          <p:cNvPr id="4" name="Content Placeholder 3" descr="A map of Europe shows the areas of the Proto-Indo-European origins marked in present-day Ukraine and Turkey."/>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309019" y="1524000"/>
            <a:ext cx="4701381" cy="4701381"/>
          </a:xfrm>
        </p:spPr>
      </p:pic>
    </p:spTree>
    <p:extLst>
      <p:ext uri="{BB962C8B-B14F-4D97-AF65-F5344CB8AC3E}">
        <p14:creationId xmlns:p14="http://schemas.microsoft.com/office/powerpoint/2010/main" val="136157455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11.7 The Bantu Migrations </a:t>
            </a:r>
            <a:br>
              <a:rPr lang="en-US" dirty="0" smtClean="0"/>
            </a:br>
            <a:r>
              <a:rPr lang="en-US" dirty="0" smtClean="0"/>
              <a:t>in Africa</a:t>
            </a:r>
            <a:endParaRPr lang="en-US" dirty="0"/>
          </a:p>
        </p:txBody>
      </p:sp>
      <p:pic>
        <p:nvPicPr>
          <p:cNvPr id="4" name="Content Placeholder 3" descr="A map of Africa shows the areas of original Bantu groups, the initial spread of Bantu language in the second millennium BCE, and secondary spread of Bantu language in the first millennium BCE.&#10;&#10;The map shows the following data:&#10;• Original Bantu Groups: In west-central Africa around the area of the Congo River, and in central Africa to the west of Lake Victoria&#10;• Initial spread of Bantu language in the second millennium BCE: From west-central Africa toward Lake Victoria&#10;• Secondary spread of Bantu language in the first millennium BCE: East and south to include most areas of southern Africa&#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295852" y="1523999"/>
            <a:ext cx="4790748" cy="4763035"/>
          </a:xfrm>
        </p:spPr>
      </p:pic>
    </p:spTree>
    <p:extLst>
      <p:ext uri="{BB962C8B-B14F-4D97-AF65-F5344CB8AC3E}">
        <p14:creationId xmlns:p14="http://schemas.microsoft.com/office/powerpoint/2010/main" val="180575586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Historical Linguistics </a:t>
            </a:r>
            <a:r>
              <a:rPr lang="en-US" sz="2800" dirty="0" smtClean="0"/>
              <a:t>(2 of 4)</a:t>
            </a:r>
            <a:endParaRPr lang="en-US" sz="2800" dirty="0"/>
          </a:p>
        </p:txBody>
      </p:sp>
      <p:sp>
        <p:nvSpPr>
          <p:cNvPr id="3" name="Content Placeholder 2"/>
          <p:cNvSpPr>
            <a:spLocks noGrp="1"/>
          </p:cNvSpPr>
          <p:nvPr>
            <p:ph idx="1"/>
          </p:nvPr>
        </p:nvSpPr>
        <p:spPr/>
        <p:txBody>
          <a:bodyPr/>
          <a:lstStyle/>
          <a:p>
            <a:r>
              <a:rPr lang="en-US" dirty="0"/>
              <a:t>Evidence of earliest writing </a:t>
            </a:r>
            <a:r>
              <a:rPr lang="en-US" dirty="0" smtClean="0"/>
              <a:t>from Mesopotamia</a:t>
            </a:r>
            <a:r>
              <a:rPr lang="en-US" dirty="0"/>
              <a:t>, Egypt, and China</a:t>
            </a:r>
          </a:p>
          <a:p>
            <a:pPr lvl="1"/>
            <a:r>
              <a:rPr lang="en-US" dirty="0"/>
              <a:t>Logographs: signs that convey meaning</a:t>
            </a:r>
          </a:p>
          <a:p>
            <a:r>
              <a:rPr lang="en-US" dirty="0"/>
              <a:t>Writing and the rise of the state</a:t>
            </a:r>
          </a:p>
          <a:p>
            <a:pPr lvl="1"/>
            <a:r>
              <a:rPr lang="en-US" dirty="0"/>
              <a:t>An empire without writing: </a:t>
            </a:r>
          </a:p>
          <a:p>
            <a:pPr lvl="2"/>
            <a:r>
              <a:rPr lang="en-US" dirty="0" smtClean="0"/>
              <a:t>Khipu </a:t>
            </a:r>
            <a:r>
              <a:rPr lang="en-US" dirty="0"/>
              <a:t>among the Inca</a:t>
            </a:r>
          </a:p>
          <a:p>
            <a:endParaRPr lang="en-US" dirty="0"/>
          </a:p>
        </p:txBody>
      </p:sp>
    </p:spTree>
    <p:extLst>
      <p:ext uri="{BB962C8B-B14F-4D97-AF65-F5344CB8AC3E}">
        <p14:creationId xmlns:p14="http://schemas.microsoft.com/office/powerpoint/2010/main" val="319402074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Historical Linguistics </a:t>
            </a:r>
            <a:r>
              <a:rPr lang="en-US" sz="2800" dirty="0" smtClean="0"/>
              <a:t>(3 of 4)</a:t>
            </a:r>
            <a:endParaRPr lang="en-US" sz="2800" dirty="0"/>
          </a:p>
        </p:txBody>
      </p:sp>
      <p:pic>
        <p:nvPicPr>
          <p:cNvPr id="4" name="Content Placeholder 3" descr="An illustration shows the old style and new style for writing Chinese, with symbols for water, tree, child, and horse. In general the new strokes are straighter and more geometric rather than curvilinea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738574" y="1428135"/>
            <a:ext cx="3967026" cy="4896465"/>
          </a:xfrm>
        </p:spPr>
      </p:pic>
    </p:spTree>
    <p:extLst>
      <p:ext uri="{BB962C8B-B14F-4D97-AF65-F5344CB8AC3E}">
        <p14:creationId xmlns:p14="http://schemas.microsoft.com/office/powerpoint/2010/main" val="6823432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Historical Linguistics </a:t>
            </a:r>
            <a:r>
              <a:rPr lang="en-US" sz="2800" dirty="0" smtClean="0"/>
              <a:t>(4 of 4)</a:t>
            </a:r>
            <a:endParaRPr lang="en-US" sz="2800" dirty="0"/>
          </a:p>
        </p:txBody>
      </p:sp>
      <p:pic>
        <p:nvPicPr>
          <p:cNvPr id="4" name="Content Placeholder 3" descr="A photo shows about two dozen knotted strings of various colors and lengths; they are gathered at one end into a main cord."/>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688707" y="1428208"/>
            <a:ext cx="3788293" cy="4743992"/>
          </a:xfrm>
        </p:spPr>
      </p:pic>
    </p:spTree>
    <p:extLst>
      <p:ext uri="{BB962C8B-B14F-4D97-AF65-F5344CB8AC3E}">
        <p14:creationId xmlns:p14="http://schemas.microsoft.com/office/powerpoint/2010/main" val="16946491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Colonialism, Nationalism, and Globalization </a:t>
            </a:r>
            <a:r>
              <a:rPr lang="en-US" sz="3100" dirty="0" smtClean="0"/>
              <a:t>(1 of 3)</a:t>
            </a:r>
            <a:endParaRPr lang="en-US" sz="3100" dirty="0"/>
          </a:p>
        </p:txBody>
      </p:sp>
      <p:sp>
        <p:nvSpPr>
          <p:cNvPr id="3" name="Content Placeholder 2"/>
          <p:cNvSpPr>
            <a:spLocks noGrp="1"/>
          </p:cNvSpPr>
          <p:nvPr>
            <p:ph idx="1"/>
          </p:nvPr>
        </p:nvSpPr>
        <p:spPr/>
        <p:txBody>
          <a:bodyPr>
            <a:normAutofit fontScale="92500"/>
          </a:bodyPr>
          <a:lstStyle/>
          <a:p>
            <a:r>
              <a:rPr lang="en-US" dirty="0" smtClean="0"/>
              <a:t>Effects of </a:t>
            </a:r>
            <a:r>
              <a:rPr lang="en-US" dirty="0"/>
              <a:t>c</a:t>
            </a:r>
            <a:r>
              <a:rPr lang="en-US" dirty="0" smtClean="0"/>
              <a:t>olonialism</a:t>
            </a:r>
          </a:p>
          <a:p>
            <a:pPr lvl="1"/>
            <a:r>
              <a:rPr lang="en-US" dirty="0" smtClean="0"/>
              <a:t>Major </a:t>
            </a:r>
            <a:r>
              <a:rPr lang="en-US" dirty="0"/>
              <a:t>and varied effects on change in communication and language </a:t>
            </a:r>
          </a:p>
          <a:p>
            <a:pPr lvl="1"/>
            <a:r>
              <a:rPr lang="en-US" dirty="0"/>
              <a:t>Pidgins</a:t>
            </a:r>
          </a:p>
          <a:p>
            <a:pPr lvl="2"/>
            <a:r>
              <a:rPr lang="en-US" dirty="0"/>
              <a:t>Usually limited to functional </a:t>
            </a:r>
            <a:r>
              <a:rPr lang="en-US" dirty="0" smtClean="0"/>
              <a:t>domains; </a:t>
            </a:r>
            <a:r>
              <a:rPr lang="en-US" dirty="0"/>
              <a:t>for example, trade</a:t>
            </a:r>
          </a:p>
          <a:p>
            <a:pPr lvl="2"/>
            <a:r>
              <a:rPr lang="en-US" dirty="0"/>
              <a:t>Many have developed into creoles and even national languages</a:t>
            </a:r>
          </a:p>
          <a:p>
            <a:pPr lvl="1"/>
            <a:r>
              <a:rPr lang="en-US" dirty="0"/>
              <a:t>Spread of English and other colonial languages</a:t>
            </a:r>
          </a:p>
          <a:p>
            <a:pPr lvl="1"/>
            <a:r>
              <a:rPr lang="en-US" dirty="0"/>
              <a:t>Widespread linguistic pluralism and language borrowing</a:t>
            </a:r>
          </a:p>
          <a:p>
            <a:endParaRPr lang="en-US" dirty="0"/>
          </a:p>
        </p:txBody>
      </p:sp>
    </p:spTree>
    <p:extLst>
      <p:ext uri="{BB962C8B-B14F-4D97-AF65-F5344CB8AC3E}">
        <p14:creationId xmlns:p14="http://schemas.microsoft.com/office/powerpoint/2010/main" val="381540293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Colonialism, Nationalism, and Globalization </a:t>
            </a:r>
            <a:r>
              <a:rPr lang="en-US" sz="3100" dirty="0" smtClean="0"/>
              <a:t>(2 </a:t>
            </a:r>
            <a:r>
              <a:rPr lang="en-US" sz="3100" dirty="0"/>
              <a:t>of 3)</a:t>
            </a:r>
          </a:p>
        </p:txBody>
      </p:sp>
      <p:sp>
        <p:nvSpPr>
          <p:cNvPr id="3" name="Content Placeholder 2"/>
          <p:cNvSpPr>
            <a:spLocks noGrp="1"/>
          </p:cNvSpPr>
          <p:nvPr>
            <p:ph idx="1"/>
          </p:nvPr>
        </p:nvSpPr>
        <p:spPr/>
        <p:txBody>
          <a:bodyPr/>
          <a:lstStyle/>
          <a:p>
            <a:r>
              <a:rPr lang="en-US" dirty="0" smtClean="0"/>
              <a:t>Effects of nationalism</a:t>
            </a:r>
          </a:p>
          <a:p>
            <a:pPr lvl="1"/>
            <a:r>
              <a:rPr lang="en-US" dirty="0" smtClean="0"/>
              <a:t>Repression of local languages as nations work to assimilate minorities and indigenous peoples</a:t>
            </a:r>
          </a:p>
          <a:p>
            <a:pPr lvl="2"/>
            <a:r>
              <a:rPr lang="en-US" dirty="0" smtClean="0"/>
              <a:t>Direct methods include the declaration of a standard language and rules about language instruction in schools</a:t>
            </a:r>
          </a:p>
          <a:p>
            <a:pPr lvl="2"/>
            <a:r>
              <a:rPr lang="en-US" dirty="0" smtClean="0"/>
              <a:t>Indirect methods include discriminatory hiring on the basis of language</a:t>
            </a:r>
          </a:p>
        </p:txBody>
      </p:sp>
    </p:spTree>
    <p:extLst>
      <p:ext uri="{BB962C8B-B14F-4D97-AF65-F5344CB8AC3E}">
        <p14:creationId xmlns:p14="http://schemas.microsoft.com/office/powerpoint/2010/main" val="416825613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Colonialism, Nationalism, and Globalization </a:t>
            </a:r>
            <a:r>
              <a:rPr lang="en-US" sz="3100" dirty="0" smtClean="0"/>
              <a:t>(3 </a:t>
            </a:r>
            <a:r>
              <a:rPr lang="en-US" sz="3100" dirty="0"/>
              <a:t>of 3)</a:t>
            </a:r>
          </a:p>
        </p:txBody>
      </p:sp>
      <p:sp>
        <p:nvSpPr>
          <p:cNvPr id="3" name="Content Placeholder 2"/>
          <p:cNvSpPr>
            <a:spLocks noGrp="1"/>
          </p:cNvSpPr>
          <p:nvPr>
            <p:ph idx="1"/>
          </p:nvPr>
        </p:nvSpPr>
        <p:spPr/>
        <p:txBody>
          <a:bodyPr/>
          <a:lstStyle/>
          <a:p>
            <a:r>
              <a:rPr lang="en-US" dirty="0" smtClean="0"/>
              <a:t>Effects of globalization</a:t>
            </a:r>
          </a:p>
          <a:p>
            <a:pPr lvl="1"/>
            <a:r>
              <a:rPr lang="en-US" dirty="0"/>
              <a:t>Continued borrowing of words, phrases</a:t>
            </a:r>
          </a:p>
          <a:p>
            <a:pPr lvl="1"/>
            <a:r>
              <a:rPr lang="en-US" dirty="0"/>
              <a:t>Increased growth and spread of world/global languages</a:t>
            </a:r>
          </a:p>
          <a:p>
            <a:pPr lvl="1"/>
            <a:r>
              <a:rPr lang="en-US" dirty="0"/>
              <a:t>Continued decline of indigenous and small languages through loss of speakers; many languages going extinct</a:t>
            </a:r>
          </a:p>
          <a:p>
            <a:endParaRPr lang="en-US" dirty="0"/>
          </a:p>
        </p:txBody>
      </p:sp>
    </p:spTree>
    <p:extLst>
      <p:ext uri="{BB962C8B-B14F-4D97-AF65-F5344CB8AC3E}">
        <p14:creationId xmlns:p14="http://schemas.microsoft.com/office/powerpoint/2010/main" val="103413455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Culturama: </a:t>
            </a:r>
            <a:r>
              <a:rPr lang="en-US" dirty="0"/>
              <a:t>The Saami </a:t>
            </a:r>
            <a:r>
              <a:rPr lang="en-US" dirty="0" smtClean="0"/>
              <a:t>of Sápmi</a:t>
            </a:r>
            <a:r>
              <a:rPr lang="en-US" dirty="0"/>
              <a:t>, </a:t>
            </a:r>
            <a:r>
              <a:rPr lang="en-US" dirty="0" smtClean="0"/>
              <a:t/>
            </a:r>
            <a:br>
              <a:rPr lang="en-US" dirty="0" smtClean="0"/>
            </a:br>
            <a:r>
              <a:rPr lang="en-US" dirty="0" smtClean="0"/>
              <a:t>or Lapland </a:t>
            </a:r>
            <a:r>
              <a:rPr lang="en-US" sz="3100" dirty="0" smtClean="0"/>
              <a:t>(1 of 2)</a:t>
            </a:r>
            <a:endParaRPr lang="en-US" sz="3100" dirty="0"/>
          </a:p>
        </p:txBody>
      </p:sp>
      <p:sp>
        <p:nvSpPr>
          <p:cNvPr id="3" name="Content Placeholder 2"/>
          <p:cNvSpPr>
            <a:spLocks noGrp="1"/>
          </p:cNvSpPr>
          <p:nvPr>
            <p:ph idx="1"/>
          </p:nvPr>
        </p:nvSpPr>
        <p:spPr/>
        <p:txBody>
          <a:bodyPr>
            <a:normAutofit lnSpcReduction="10000"/>
          </a:bodyPr>
          <a:lstStyle/>
          <a:p>
            <a:r>
              <a:rPr lang="en-US" dirty="0"/>
              <a:t>Indigenous </a:t>
            </a:r>
            <a:r>
              <a:rPr lang="en-US" dirty="0" smtClean="0"/>
              <a:t>people </a:t>
            </a:r>
            <a:r>
              <a:rPr lang="en-US" dirty="0"/>
              <a:t>who live in the northernmost stretches of Norway, Sweden, Finland, and western Russia</a:t>
            </a:r>
          </a:p>
          <a:p>
            <a:r>
              <a:rPr lang="en-US" dirty="0"/>
              <a:t>Herding domesticated reindeer was the economic mainstay</a:t>
            </a:r>
          </a:p>
          <a:p>
            <a:r>
              <a:rPr lang="en-US" dirty="0"/>
              <a:t>Reindeer pastoralism has declined to about  </a:t>
            </a:r>
            <a:r>
              <a:rPr lang="en-US" dirty="0" smtClean="0"/>
              <a:t>10 percent </a:t>
            </a:r>
            <a:r>
              <a:rPr lang="en-US" dirty="0"/>
              <a:t>of the population</a:t>
            </a:r>
          </a:p>
          <a:p>
            <a:r>
              <a:rPr lang="en-US" dirty="0"/>
              <a:t>Now </a:t>
            </a:r>
            <a:r>
              <a:rPr lang="en-US" dirty="0" smtClean="0"/>
              <a:t>people are </a:t>
            </a:r>
            <a:r>
              <a:rPr lang="en-US" dirty="0"/>
              <a:t>farmers or work in trade, small-scale industry, handicrafts, services</a:t>
            </a:r>
          </a:p>
          <a:p>
            <a:endParaRPr lang="en-US" dirty="0"/>
          </a:p>
        </p:txBody>
      </p:sp>
    </p:spTree>
    <p:extLst>
      <p:ext uri="{BB962C8B-B14F-4D97-AF65-F5344CB8AC3E}">
        <p14:creationId xmlns:p14="http://schemas.microsoft.com/office/powerpoint/2010/main" val="349263753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Map </a:t>
            </a:r>
            <a:r>
              <a:rPr lang="en-US" dirty="0" smtClean="0"/>
              <a:t>11.8 The </a:t>
            </a:r>
            <a:r>
              <a:rPr lang="en-US" dirty="0"/>
              <a:t>Saami </a:t>
            </a:r>
            <a:r>
              <a:rPr lang="en-US" dirty="0" smtClean="0"/>
              <a:t>of Sápmi,</a:t>
            </a:r>
            <a:br>
              <a:rPr lang="en-US" dirty="0" smtClean="0"/>
            </a:br>
            <a:r>
              <a:rPr lang="en-US" dirty="0" smtClean="0"/>
              <a:t> </a:t>
            </a:r>
            <a:r>
              <a:rPr lang="en-US" dirty="0"/>
              <a:t>or Lapland </a:t>
            </a:r>
          </a:p>
        </p:txBody>
      </p:sp>
      <p:pic>
        <p:nvPicPr>
          <p:cNvPr id="4" name="Content Placeholder 3" descr="A map of Lapland shows it stretching across the northern parts of Norway, Sweden, Finland, and Russia; much of it is above the Arctic Circle. An inset globe shows the area is in northernmost Europe."/>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773136" y="1493059"/>
            <a:ext cx="3780064" cy="4755341"/>
          </a:xfrm>
        </p:spPr>
      </p:pic>
    </p:spTree>
    <p:extLst>
      <p:ext uri="{BB962C8B-B14F-4D97-AF65-F5344CB8AC3E}">
        <p14:creationId xmlns:p14="http://schemas.microsoft.com/office/powerpoint/2010/main" val="326933972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Culturama: The Saami of Sápmi, </a:t>
            </a:r>
            <a:r>
              <a:rPr lang="en-US" dirty="0" smtClean="0"/>
              <a:t/>
            </a:r>
            <a:br>
              <a:rPr lang="en-US" dirty="0" smtClean="0"/>
            </a:br>
            <a:r>
              <a:rPr lang="en-US" dirty="0" smtClean="0"/>
              <a:t>or </a:t>
            </a:r>
            <a:r>
              <a:rPr lang="en-US" dirty="0"/>
              <a:t>Lapland </a:t>
            </a:r>
            <a:r>
              <a:rPr lang="en-US" sz="3100" dirty="0" smtClean="0"/>
              <a:t>(2 </a:t>
            </a:r>
            <a:r>
              <a:rPr lang="en-US" sz="3100" dirty="0"/>
              <a:t>of 2)</a:t>
            </a:r>
          </a:p>
        </p:txBody>
      </p:sp>
      <p:sp>
        <p:nvSpPr>
          <p:cNvPr id="3" name="Content Placeholder 2"/>
          <p:cNvSpPr>
            <a:spLocks noGrp="1"/>
          </p:cNvSpPr>
          <p:nvPr>
            <p:ph idx="1"/>
          </p:nvPr>
        </p:nvSpPr>
        <p:spPr/>
        <p:txBody>
          <a:bodyPr/>
          <a:lstStyle/>
          <a:p>
            <a:r>
              <a:rPr lang="en-US" dirty="0"/>
              <a:t>Saami have experienced discrimination, exclusion, loss of territorial rights, and cultural and linguistic repression</a:t>
            </a:r>
          </a:p>
          <a:p>
            <a:r>
              <a:rPr lang="en-US" dirty="0"/>
              <a:t>Language is of central cultural value to the Saami, and efforts to maintain it have been </a:t>
            </a:r>
            <a:r>
              <a:rPr lang="en-US" dirty="0" smtClean="0"/>
              <a:t>under way </a:t>
            </a:r>
            <a:r>
              <a:rPr lang="en-US" dirty="0"/>
              <a:t>since the 1960s</a:t>
            </a:r>
          </a:p>
          <a:p>
            <a:r>
              <a:rPr lang="en-US" dirty="0"/>
              <a:t>The yoik, a traditional song form, is of </a:t>
            </a:r>
            <a:r>
              <a:rPr lang="en-US" dirty="0" smtClean="0"/>
              <a:t>particular </a:t>
            </a:r>
            <a:r>
              <a:rPr lang="en-US" dirty="0"/>
              <a:t>value</a:t>
            </a:r>
          </a:p>
          <a:p>
            <a:endParaRPr lang="en-US" dirty="0"/>
          </a:p>
        </p:txBody>
      </p:sp>
    </p:spTree>
    <p:extLst>
      <p:ext uri="{BB962C8B-B14F-4D97-AF65-F5344CB8AC3E}">
        <p14:creationId xmlns:p14="http://schemas.microsoft.com/office/powerpoint/2010/main" val="346153417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Endangered Languages </a:t>
            </a:r>
            <a:br>
              <a:rPr lang="en-US" dirty="0" smtClean="0"/>
            </a:br>
            <a:r>
              <a:rPr lang="en-US" dirty="0" smtClean="0"/>
              <a:t>and Language Revitalization </a:t>
            </a:r>
            <a:r>
              <a:rPr lang="en-US" sz="3100" dirty="0" smtClean="0"/>
              <a:t>(1 of 2)</a:t>
            </a:r>
            <a:endParaRPr lang="en-US" sz="3100" dirty="0"/>
          </a:p>
        </p:txBody>
      </p:sp>
      <p:sp>
        <p:nvSpPr>
          <p:cNvPr id="3" name="Content Placeholder 2"/>
          <p:cNvSpPr>
            <a:spLocks noGrp="1"/>
          </p:cNvSpPr>
          <p:nvPr>
            <p:ph idx="1"/>
          </p:nvPr>
        </p:nvSpPr>
        <p:spPr/>
        <p:txBody>
          <a:bodyPr>
            <a:normAutofit fontScale="92500"/>
          </a:bodyPr>
          <a:lstStyle/>
          <a:p>
            <a:r>
              <a:rPr lang="en-US" dirty="0" smtClean="0"/>
              <a:t>Scholars have proposed four phases of language loss</a:t>
            </a:r>
          </a:p>
          <a:p>
            <a:pPr lvl="1"/>
            <a:r>
              <a:rPr lang="en-US" dirty="0" smtClean="0"/>
              <a:t>Language shift: speakers have a limited vocabulary in their “native” language and may be more fluent in a secondary one</a:t>
            </a:r>
          </a:p>
          <a:p>
            <a:pPr lvl="1"/>
            <a:r>
              <a:rPr lang="en-US" dirty="0" smtClean="0"/>
              <a:t>Language endangerment: a language has fewer than 10,000 speakers</a:t>
            </a:r>
          </a:p>
          <a:p>
            <a:pPr lvl="1"/>
            <a:r>
              <a:rPr lang="en-US" dirty="0" smtClean="0"/>
              <a:t>Near-extinction: only a few elderly speakers remain</a:t>
            </a:r>
          </a:p>
          <a:p>
            <a:pPr lvl="1"/>
            <a:r>
              <a:rPr lang="en-US" dirty="0" smtClean="0"/>
              <a:t>Language extinction: the language has no competent speakers </a:t>
            </a:r>
            <a:endParaRPr lang="en-US" dirty="0"/>
          </a:p>
        </p:txBody>
      </p:sp>
    </p:spTree>
    <p:extLst>
      <p:ext uri="{BB962C8B-B14F-4D97-AF65-F5344CB8AC3E}">
        <p14:creationId xmlns:p14="http://schemas.microsoft.com/office/powerpoint/2010/main" val="9951941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Endangered Languages </a:t>
            </a:r>
            <a:r>
              <a:rPr lang="en-US" dirty="0" smtClean="0"/>
              <a:t/>
            </a:r>
            <a:br>
              <a:rPr lang="en-US" dirty="0" smtClean="0"/>
            </a:br>
            <a:r>
              <a:rPr lang="en-US" dirty="0" smtClean="0"/>
              <a:t>and </a:t>
            </a:r>
            <a:r>
              <a:rPr lang="en-US" dirty="0"/>
              <a:t>Language Revitalization </a:t>
            </a:r>
            <a:r>
              <a:rPr lang="en-US" sz="3100" dirty="0" smtClean="0"/>
              <a:t>(2 </a:t>
            </a:r>
            <a:r>
              <a:rPr lang="en-US" sz="3100" dirty="0"/>
              <a:t>of 2)</a:t>
            </a:r>
          </a:p>
        </p:txBody>
      </p:sp>
      <p:sp>
        <p:nvSpPr>
          <p:cNvPr id="3" name="Content Placeholder 2"/>
          <p:cNvSpPr>
            <a:spLocks noGrp="1"/>
          </p:cNvSpPr>
          <p:nvPr>
            <p:ph idx="1"/>
          </p:nvPr>
        </p:nvSpPr>
        <p:spPr/>
        <p:txBody>
          <a:bodyPr/>
          <a:lstStyle/>
          <a:p>
            <a:r>
              <a:rPr lang="en-US" dirty="0" smtClean="0"/>
              <a:t>Revitalization efforts</a:t>
            </a:r>
          </a:p>
          <a:p>
            <a:pPr lvl="1"/>
            <a:r>
              <a:rPr lang="en-US" dirty="0" smtClean="0"/>
              <a:t>May be opposed by governments that fear identity movements</a:t>
            </a:r>
          </a:p>
          <a:p>
            <a:r>
              <a:rPr lang="en-US" dirty="0" smtClean="0"/>
              <a:t>Strategies for revitalization efforts</a:t>
            </a:r>
          </a:p>
          <a:p>
            <a:pPr lvl="1"/>
            <a:r>
              <a:rPr lang="en-US" dirty="0" smtClean="0"/>
              <a:t>Formal classroom instruction</a:t>
            </a:r>
          </a:p>
          <a:p>
            <a:pPr lvl="1"/>
            <a:r>
              <a:rPr lang="en-US" dirty="0" smtClean="0"/>
              <a:t>A master–apprentice system</a:t>
            </a:r>
          </a:p>
          <a:p>
            <a:pPr lvl="1"/>
            <a:r>
              <a:rPr lang="en-US" dirty="0" smtClean="0"/>
              <a:t>Web-based tools and services</a:t>
            </a:r>
            <a:endParaRPr lang="en-US" dirty="0"/>
          </a:p>
        </p:txBody>
      </p:sp>
    </p:spTree>
    <p:extLst>
      <p:ext uri="{BB962C8B-B14F-4D97-AF65-F5344CB8AC3E}">
        <p14:creationId xmlns:p14="http://schemas.microsoft.com/office/powerpoint/2010/main" val="388824173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Think Like an Anthropologist: Should Dying Languages Be Revived? </a:t>
            </a:r>
            <a:r>
              <a:rPr lang="en-US" sz="3100" dirty="0" smtClean="0"/>
              <a:t>(1 of 2)</a:t>
            </a:r>
            <a:endParaRPr lang="en-US" sz="3100" dirty="0"/>
          </a:p>
        </p:txBody>
      </p:sp>
      <p:sp>
        <p:nvSpPr>
          <p:cNvPr id="3" name="Content Placeholder 2"/>
          <p:cNvSpPr>
            <a:spLocks noGrp="1"/>
          </p:cNvSpPr>
          <p:nvPr>
            <p:ph idx="1"/>
          </p:nvPr>
        </p:nvSpPr>
        <p:spPr/>
        <p:txBody>
          <a:bodyPr>
            <a:normAutofit/>
          </a:bodyPr>
          <a:lstStyle/>
          <a:p>
            <a:r>
              <a:rPr lang="en-US" dirty="0"/>
              <a:t>YES: Argument for revival based on demonstrated links between language survival, cultural survival of groups with </a:t>
            </a:r>
            <a:r>
              <a:rPr lang="en-US" dirty="0" smtClean="0"/>
              <a:t>local/ traditional knowledge </a:t>
            </a:r>
            <a:r>
              <a:rPr lang="en-US" dirty="0"/>
              <a:t>and biological/environmental survival</a:t>
            </a:r>
          </a:p>
          <a:p>
            <a:pPr lvl="1"/>
            <a:r>
              <a:rPr lang="en-US" dirty="0"/>
              <a:t>A sign of a culturally healthy planet</a:t>
            </a:r>
          </a:p>
          <a:p>
            <a:pPr lvl="1"/>
            <a:r>
              <a:rPr lang="en-US" dirty="0"/>
              <a:t>Language is an intrinsic part of culture</a:t>
            </a:r>
          </a:p>
          <a:p>
            <a:pPr lvl="1"/>
            <a:r>
              <a:rPr lang="en-US" dirty="0"/>
              <a:t>Dying cultures and dying languages are treasures lost forever </a:t>
            </a:r>
          </a:p>
          <a:p>
            <a:endParaRPr lang="en-US" dirty="0"/>
          </a:p>
        </p:txBody>
      </p:sp>
    </p:spTree>
    <p:extLst>
      <p:ext uri="{BB962C8B-B14F-4D97-AF65-F5344CB8AC3E}">
        <p14:creationId xmlns:p14="http://schemas.microsoft.com/office/powerpoint/2010/main" val="184804619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Think Like an Anthropologist: Should Dying Languages </a:t>
            </a:r>
            <a:r>
              <a:rPr lang="en-US" dirty="0" smtClean="0"/>
              <a:t>Be </a:t>
            </a:r>
            <a:r>
              <a:rPr lang="en-US" dirty="0"/>
              <a:t>Revived? </a:t>
            </a:r>
            <a:r>
              <a:rPr lang="en-US" sz="3100" dirty="0" smtClean="0"/>
              <a:t>(2 of </a:t>
            </a:r>
            <a:r>
              <a:rPr lang="en-US" sz="3100" dirty="0"/>
              <a:t>2)</a:t>
            </a:r>
          </a:p>
        </p:txBody>
      </p:sp>
      <p:sp>
        <p:nvSpPr>
          <p:cNvPr id="3" name="Content Placeholder 2"/>
          <p:cNvSpPr>
            <a:spLocks noGrp="1"/>
          </p:cNvSpPr>
          <p:nvPr>
            <p:ph idx="1"/>
          </p:nvPr>
        </p:nvSpPr>
        <p:spPr/>
        <p:txBody>
          <a:bodyPr/>
          <a:lstStyle/>
          <a:p>
            <a:r>
              <a:rPr lang="en-US" dirty="0"/>
              <a:t>NO: Darwinian view says that languages, like species, have to compete; losers die out and the strong </a:t>
            </a:r>
            <a:r>
              <a:rPr lang="en-US" dirty="0" smtClean="0"/>
              <a:t>survive, </a:t>
            </a:r>
            <a:r>
              <a:rPr lang="en-US" dirty="0"/>
              <a:t>so </a:t>
            </a:r>
            <a:r>
              <a:rPr lang="en-US" dirty="0" smtClean="0"/>
              <a:t>it is wasteful </a:t>
            </a:r>
            <a:r>
              <a:rPr lang="en-US" dirty="0"/>
              <a:t>to support programs to help dying languages survive</a:t>
            </a:r>
          </a:p>
          <a:p>
            <a:endParaRPr lang="en-US" dirty="0"/>
          </a:p>
        </p:txBody>
      </p:sp>
    </p:spTree>
    <p:extLst>
      <p:ext uri="{BB962C8B-B14F-4D97-AF65-F5344CB8AC3E}">
        <p14:creationId xmlns:p14="http://schemas.microsoft.com/office/powerpoint/2010/main" val="828907358"/>
      </p:ext>
    </p:extLst>
  </p:cSld>
  <p:clrMapOvr>
    <a:masterClrMapping/>
  </p:clrMapOvr>
  <p:timing>
    <p:tnLst>
      <p:par>
        <p:cT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337</TotalTime>
  <Words>2157</Words>
  <Application>Microsoft Office PowerPoint</Application>
  <PresentationFormat>On-screen Show (4:3)</PresentationFormat>
  <Paragraphs>219</Paragraphs>
  <Slides>45</Slides>
  <Notes>11</Notes>
  <HiddenSlides>0</HiddenSlides>
  <MMClips>0</MMClips>
  <ScaleCrop>false</ScaleCrop>
  <HeadingPairs>
    <vt:vector size="4" baseType="variant">
      <vt:variant>
        <vt:lpstr>Theme</vt:lpstr>
      </vt:variant>
      <vt:variant>
        <vt:i4>2</vt:i4>
      </vt:variant>
      <vt:variant>
        <vt:lpstr>Slide Titles</vt:lpstr>
      </vt:variant>
      <vt:variant>
        <vt:i4>45</vt:i4>
      </vt:variant>
    </vt:vector>
  </HeadingPairs>
  <TitlesOfParts>
    <vt:vector size="47" baseType="lpstr">
      <vt:lpstr>Beebe8e_PPT_master</vt:lpstr>
      <vt:lpstr>Office Theme</vt:lpstr>
      <vt:lpstr>PowerPoint Presentation</vt:lpstr>
      <vt:lpstr>Learning Objectives</vt:lpstr>
      <vt:lpstr>The Varieties of Human Communication 11.1 Summarize the ways that humans communicate.</vt:lpstr>
      <vt:lpstr>Language and Verbal Communication (1 of 4)</vt:lpstr>
      <vt:lpstr>Language and Verbal Communication (2 of 4)</vt:lpstr>
      <vt:lpstr>Language and Verbal Communication (3 of 4)</vt:lpstr>
      <vt:lpstr>Map 11.1 Pirahã Reservation in Brazil</vt:lpstr>
      <vt:lpstr>Language and Verbal Communication (4 of 4)</vt:lpstr>
      <vt:lpstr>Anthropology Works:  Narrating Troubles</vt:lpstr>
      <vt:lpstr>Map 11.2 Bosnia and Herzegovina</vt:lpstr>
      <vt:lpstr>Nonverbal Language</vt:lpstr>
      <vt:lpstr>Map 11.3 Western Apache Reservation in Arizona</vt:lpstr>
      <vt:lpstr>Communicating with Media and Information Technology (1 of 3)</vt:lpstr>
      <vt:lpstr>Communicating with Media and Information Technology (2 of 3)</vt:lpstr>
      <vt:lpstr>Communicating with Media and Information Technology (3 of 3)</vt:lpstr>
      <vt:lpstr>Map 11.4 Hungary</vt:lpstr>
      <vt:lpstr>Language, Diversity, and Inequality 11.2 Discuss how communication relates to cultural diversity and social inequality.</vt:lpstr>
      <vt:lpstr>Language and Culture: Two Theories</vt:lpstr>
      <vt:lpstr>Critical Discourse Analysis:  Gender and “Race” (1 of 8)</vt:lpstr>
      <vt:lpstr>Critical Discourse Analysis:  Gender and “Race” (2 of 8)</vt:lpstr>
      <vt:lpstr>Critical Discourse Analysis:  Gender and “Race” (3 of 8)</vt:lpstr>
      <vt:lpstr>Critical Discourse Analysis:  Gender and “Race” (4 of 8)</vt:lpstr>
      <vt:lpstr>Critical Discourse Analysis:  Gender and “Race” (5 of 8)</vt:lpstr>
      <vt:lpstr>Critical Discourse Analysis:  Gender and “Race” (6 of 8)</vt:lpstr>
      <vt:lpstr>Critical Discourse Analysis:  Gender and “Race” (7 of 8)</vt:lpstr>
      <vt:lpstr>Map 11.5 Akwesasne Territory in New York State, Ontario Province, and Québec Province </vt:lpstr>
      <vt:lpstr>Critical Discourse Analysis:  Gender and “Race” (8 of 8)</vt:lpstr>
      <vt:lpstr>Language and Communication Change 11.3 List examples of language change.</vt:lpstr>
      <vt:lpstr>The Origins and History of Language</vt:lpstr>
      <vt:lpstr>Historical Linguistics (1 of 4)</vt:lpstr>
      <vt:lpstr>Map 11.6 Two Sites of Proto-Indo-European Origins</vt:lpstr>
      <vt:lpstr>Map 11.7 The Bantu Migrations  in Africa</vt:lpstr>
      <vt:lpstr>Historical Linguistics (2 of 4)</vt:lpstr>
      <vt:lpstr>Historical Linguistics (3 of 4)</vt:lpstr>
      <vt:lpstr>Historical Linguistics (4 of 4)</vt:lpstr>
      <vt:lpstr>Colonialism, Nationalism, and Globalization (1 of 3)</vt:lpstr>
      <vt:lpstr>Colonialism, Nationalism, and Globalization (2 of 3)</vt:lpstr>
      <vt:lpstr>Colonialism, Nationalism, and Globalization (3 of 3)</vt:lpstr>
      <vt:lpstr>Culturama: The Saami of Sápmi,  or Lapland (1 of 2)</vt:lpstr>
      <vt:lpstr>Map 11.8 The Saami of Sápmi,  or Lapland </vt:lpstr>
      <vt:lpstr>Culturama: The Saami of Sápmi,  or Lapland (2 of 2)</vt:lpstr>
      <vt:lpstr>Endangered Languages  and Language Revitalization (1 of 2)</vt:lpstr>
      <vt:lpstr>Endangered Languages  and Language Revitalization (2 of 2)</vt:lpstr>
      <vt:lpstr>Think Like an Anthropologist: Should Dying Languages Be Revived? (1 of 2)</vt:lpstr>
      <vt:lpstr>Think Like an Anthropologist: Should Dying Languages Be Revived? (2 of 2)</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JH</cp:lastModifiedBy>
  <cp:revision>30</cp:revision>
  <dcterms:created xsi:type="dcterms:W3CDTF">2015-09-18T14:54:36Z</dcterms:created>
  <dcterms:modified xsi:type="dcterms:W3CDTF">2016-04-06T14:22:54Z</dcterms:modified>
</cp:coreProperties>
</file>