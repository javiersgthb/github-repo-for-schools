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44"/>
  </p:notesMasterIdLst>
  <p:sldIdLst>
    <p:sldId id="257" r:id="rId3"/>
    <p:sldId id="256" r:id="rId4"/>
    <p:sldId id="259" r:id="rId5"/>
    <p:sldId id="258" r:id="rId6"/>
    <p:sldId id="260" r:id="rId7"/>
    <p:sldId id="268" r:id="rId8"/>
    <p:sldId id="261" r:id="rId9"/>
    <p:sldId id="262" r:id="rId10"/>
    <p:sldId id="263" r:id="rId11"/>
    <p:sldId id="264" r:id="rId12"/>
    <p:sldId id="265" r:id="rId13"/>
    <p:sldId id="266" r:id="rId14"/>
    <p:sldId id="267" r:id="rId15"/>
    <p:sldId id="269" r:id="rId16"/>
    <p:sldId id="270" r:id="rId17"/>
    <p:sldId id="271" r:id="rId18"/>
    <p:sldId id="272" r:id="rId19"/>
    <p:sldId id="273" r:id="rId20"/>
    <p:sldId id="276" r:id="rId21"/>
    <p:sldId id="274" r:id="rId22"/>
    <p:sldId id="275" r:id="rId23"/>
    <p:sldId id="277" r:id="rId24"/>
    <p:sldId id="279" r:id="rId25"/>
    <p:sldId id="278" r:id="rId26"/>
    <p:sldId id="282" r:id="rId27"/>
    <p:sldId id="280" r:id="rId28"/>
    <p:sldId id="281" r:id="rId29"/>
    <p:sldId id="283" r:id="rId30"/>
    <p:sldId id="284" r:id="rId31"/>
    <p:sldId id="285" r:id="rId32"/>
    <p:sldId id="286" r:id="rId33"/>
    <p:sldId id="287" r:id="rId34"/>
    <p:sldId id="288" r:id="rId35"/>
    <p:sldId id="289" r:id="rId36"/>
    <p:sldId id="290" r:id="rId37"/>
    <p:sldId id="291" r:id="rId38"/>
    <p:sldId id="292" r:id="rId39"/>
    <p:sldId id="293" r:id="rId40"/>
    <p:sldId id="295" r:id="rId41"/>
    <p:sldId id="294" r:id="rId42"/>
    <p:sldId id="296"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89637" autoAdjust="0"/>
  </p:normalViewPr>
  <p:slideViewPr>
    <p:cSldViewPr>
      <p:cViewPr varScale="1">
        <p:scale>
          <a:sx n="76" d="100"/>
          <a:sy n="76" d="100"/>
        </p:scale>
        <p:origin x="-1536"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E3BCA8-D1A3-40FB-960B-5352A772617E}" type="datetimeFigureOut">
              <a:rPr lang="en-US" smtClean="0"/>
              <a:t>4/8/2016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CA76E5-D64C-4D36-B111-C368F528060E}" type="slidenum">
              <a:rPr lang="en-US" smtClean="0"/>
              <a:t>‹#›</a:t>
            </a:fld>
            <a:endParaRPr lang="en-US" dirty="0"/>
          </a:p>
        </p:txBody>
      </p:sp>
    </p:spTree>
    <p:extLst>
      <p:ext uri="{BB962C8B-B14F-4D97-AF65-F5344CB8AC3E}">
        <p14:creationId xmlns:p14="http://schemas.microsoft.com/office/powerpoint/2010/main" val="1241121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kern="1200" dirty="0" smtClean="0">
                <a:solidFill>
                  <a:schemeClr val="tx1"/>
                </a:solidFill>
                <a:latin typeface="+mn-lt"/>
                <a:ea typeface="+mn-ea"/>
                <a:cs typeface="+mn-cs"/>
              </a:rPr>
              <a:t>For a better classroom presentation flow, the order of some topics in this lecture outline differs slightly from the order of topics in the text and, where this occurs, some figures and tables are out of numerical order.</a:t>
            </a:r>
            <a:endParaRPr lang="en-US" sz="1600" dirty="0"/>
          </a:p>
        </p:txBody>
      </p:sp>
      <p:sp>
        <p:nvSpPr>
          <p:cNvPr id="4" name="Slide Number Placeholder 3"/>
          <p:cNvSpPr>
            <a:spLocks noGrp="1"/>
          </p:cNvSpPr>
          <p:nvPr>
            <p:ph type="sldNum" sz="quarter" idx="10"/>
          </p:nvPr>
        </p:nvSpPr>
        <p:spPr/>
        <p:txBody>
          <a:bodyPr/>
          <a:lstStyle/>
          <a:p>
            <a:fld id="{38CA76E5-D64C-4D36-B111-C368F528060E}" type="slidenum">
              <a:rPr lang="en-US" smtClean="0"/>
              <a:t>1</a:t>
            </a:fld>
            <a:endParaRPr lang="en-US" dirty="0"/>
          </a:p>
        </p:txBody>
      </p:sp>
    </p:spTree>
    <p:extLst>
      <p:ext uri="{BB962C8B-B14F-4D97-AF65-F5344CB8AC3E}">
        <p14:creationId xmlns:p14="http://schemas.microsoft.com/office/powerpoint/2010/main" val="1827126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Yorúbà wood carving follows esthetic principles that require clarity</a:t>
            </a:r>
            <a:r>
              <a:rPr lang="en-US" baseline="0" dirty="0" smtClean="0"/>
              <a:t> </a:t>
            </a:r>
            <a:r>
              <a:rPr lang="en-US" dirty="0" smtClean="0"/>
              <a:t>of line and form, a polished surface that creates a play of light and</a:t>
            </a:r>
            <a:r>
              <a:rPr lang="en-US" baseline="0" dirty="0" smtClean="0"/>
              <a:t> </a:t>
            </a:r>
            <a:r>
              <a:rPr lang="en-US" dirty="0" smtClean="0"/>
              <a:t>shadows, symmetry, and the depiction of human figures that are</a:t>
            </a:r>
            <a:r>
              <a:rPr lang="en-US" baseline="0" dirty="0" smtClean="0"/>
              <a:t> </a:t>
            </a:r>
            <a:r>
              <a:rPr lang="en-US" dirty="0" smtClean="0"/>
              <a:t>neither</a:t>
            </a:r>
            <a:r>
              <a:rPr lang="en-US" baseline="0" dirty="0" smtClean="0"/>
              <a:t> </a:t>
            </a:r>
            <a:r>
              <a:rPr lang="en-US" dirty="0" smtClean="0"/>
              <a:t>completely abstract nor completely realistic.</a:t>
            </a:r>
            <a:endParaRPr lang="en-US" dirty="0"/>
          </a:p>
        </p:txBody>
      </p:sp>
      <p:sp>
        <p:nvSpPr>
          <p:cNvPr id="4" name="Slide Number Placeholder 3"/>
          <p:cNvSpPr>
            <a:spLocks noGrp="1"/>
          </p:cNvSpPr>
          <p:nvPr>
            <p:ph type="sldNum" sz="quarter" idx="10"/>
          </p:nvPr>
        </p:nvSpPr>
        <p:spPr/>
        <p:txBody>
          <a:bodyPr/>
          <a:lstStyle/>
          <a:p>
            <a:fld id="{38CA76E5-D64C-4D36-B111-C368F528060E}" type="slidenum">
              <a:rPr lang="en-US" smtClean="0"/>
              <a:t>9</a:t>
            </a:fld>
            <a:endParaRPr lang="en-US" dirty="0"/>
          </a:p>
        </p:txBody>
      </p:sp>
    </p:spTree>
    <p:extLst>
      <p:ext uri="{BB962C8B-B14F-4D97-AF65-F5344CB8AC3E}">
        <p14:creationId xmlns:p14="http://schemas.microsoft.com/office/powerpoint/2010/main" val="1828307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display of African artifacts collected by British colonial-era explorers and early anthropologists, shown with minimal labels, at the</a:t>
            </a:r>
            <a:r>
              <a:rPr lang="en-US" baseline="0" dirty="0" smtClean="0"/>
              <a:t> </a:t>
            </a:r>
            <a:r>
              <a:rPr lang="en-US" dirty="0" smtClean="0"/>
              <a:t>Powell-Cotton Museum in Kent, southeast England. This museum is moving toward exhibits that provide more context while preserving</a:t>
            </a:r>
            <a:r>
              <a:rPr lang="en-US" baseline="0" dirty="0" smtClean="0"/>
              <a:t> </a:t>
            </a:r>
            <a:r>
              <a:rPr lang="en-US" dirty="0" smtClean="0"/>
              <a:t>some of its “colonialist” exhibits as examples of their time.</a:t>
            </a:r>
            <a:endParaRPr lang="en-US" dirty="0"/>
          </a:p>
        </p:txBody>
      </p:sp>
      <p:sp>
        <p:nvSpPr>
          <p:cNvPr id="4" name="Slide Number Placeholder 3"/>
          <p:cNvSpPr>
            <a:spLocks noGrp="1"/>
          </p:cNvSpPr>
          <p:nvPr>
            <p:ph type="sldNum" sz="quarter" idx="10"/>
          </p:nvPr>
        </p:nvSpPr>
        <p:spPr/>
        <p:txBody>
          <a:bodyPr/>
          <a:lstStyle/>
          <a:p>
            <a:fld id="{38CA76E5-D64C-4D36-B111-C368F528060E}" type="slidenum">
              <a:rPr lang="en-US" smtClean="0"/>
              <a:t>23</a:t>
            </a:fld>
            <a:endParaRPr lang="en-US" dirty="0"/>
          </a:p>
        </p:txBody>
      </p:sp>
    </p:spTree>
    <p:extLst>
      <p:ext uri="{BB962C8B-B14F-4D97-AF65-F5344CB8AC3E}">
        <p14:creationId xmlns:p14="http://schemas.microsoft.com/office/powerpoint/2010/main" val="531771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Republic of Costa Rica was the first country in the world to constitutionally abolish its army, and it has largely escaped the violence that its neighbors have endured. Agriculture is the basis of the economy, with tourism—especially ecotourism—playing an increasing role. Most of the 4.6 million inhabitants of Costa Rica are descended from Spanish colonialists. Less than three percent are Afro-Costa Ricans, and less than two percent, or around 50,000, are indigenous people. Seventy-five percent of the people are Roman Catholic and 14 percent Protestant. The official language is Spanish.</a:t>
            </a:r>
            <a:endParaRPr lang="en-US" dirty="0"/>
          </a:p>
        </p:txBody>
      </p:sp>
      <p:sp>
        <p:nvSpPr>
          <p:cNvPr id="4" name="Slide Number Placeholder 3"/>
          <p:cNvSpPr>
            <a:spLocks noGrp="1"/>
          </p:cNvSpPr>
          <p:nvPr>
            <p:ph type="sldNum" sz="quarter" idx="10"/>
          </p:nvPr>
        </p:nvSpPr>
        <p:spPr/>
        <p:txBody>
          <a:bodyPr/>
          <a:lstStyle/>
          <a:p>
            <a:fld id="{38CA76E5-D64C-4D36-B111-C368F528060E}" type="slidenum">
              <a:rPr lang="en-US" smtClean="0"/>
              <a:t>31</a:t>
            </a:fld>
            <a:endParaRPr lang="en-US" dirty="0"/>
          </a:p>
        </p:txBody>
      </p:sp>
    </p:spTree>
    <p:extLst>
      <p:ext uri="{BB962C8B-B14F-4D97-AF65-F5344CB8AC3E}">
        <p14:creationId xmlns:p14="http://schemas.microsoft.com/office/powerpoint/2010/main" val="956133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heartland of Gullah culture is in the lowcountry areas of South Carolina, Georgia, and Florida, and on the Sea Islands.</a:t>
            </a:r>
            <a:endParaRPr lang="en-US" dirty="0"/>
          </a:p>
        </p:txBody>
      </p:sp>
      <p:sp>
        <p:nvSpPr>
          <p:cNvPr id="4" name="Slide Number Placeholder 3"/>
          <p:cNvSpPr>
            <a:spLocks noGrp="1"/>
          </p:cNvSpPr>
          <p:nvPr>
            <p:ph type="sldNum" sz="quarter" idx="10"/>
          </p:nvPr>
        </p:nvSpPr>
        <p:spPr/>
        <p:txBody>
          <a:bodyPr/>
          <a:lstStyle/>
          <a:p>
            <a:fld id="{38CA76E5-D64C-4D36-B111-C368F528060E}" type="slidenum">
              <a:rPr lang="en-US" smtClean="0"/>
              <a:t>33</a:t>
            </a:fld>
            <a:endParaRPr lang="en-US" dirty="0"/>
          </a:p>
        </p:txBody>
      </p:sp>
    </p:spTree>
    <p:extLst>
      <p:ext uri="{BB962C8B-B14F-4D97-AF65-F5344CB8AC3E}">
        <p14:creationId xmlns:p14="http://schemas.microsoft.com/office/powerpoint/2010/main" val="2949362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4/8/2016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4/8/2016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4/8/2016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4/8/2016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4/8/2016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4/8/2016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4/8/2016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image" Target="../media/image2.emf"/><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13</a:t>
            </a:r>
            <a:endParaRPr lang="en-US" dirty="0"/>
          </a:p>
        </p:txBody>
      </p:sp>
      <p:sp>
        <p:nvSpPr>
          <p:cNvPr id="3" name="Text Placeholder 2"/>
          <p:cNvSpPr>
            <a:spLocks noGrp="1"/>
          </p:cNvSpPr>
          <p:nvPr>
            <p:ph type="body" sz="quarter" idx="15"/>
          </p:nvPr>
        </p:nvSpPr>
        <p:spPr/>
        <p:txBody>
          <a:bodyPr/>
          <a:lstStyle/>
          <a:p>
            <a:r>
              <a:rPr lang="en-US" dirty="0" smtClean="0"/>
              <a:t>Expressive Culture</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lstStyle/>
          <a:p>
            <a:pPr marL="0" indent="0">
              <a:buNone/>
            </a:pPr>
            <a:r>
              <a:rPr lang="en-US" dirty="0" smtClean="0">
                <a:solidFill>
                  <a:schemeClr val="tx2"/>
                </a:solidFill>
              </a:rPr>
              <a:t>13.1</a:t>
            </a:r>
            <a:r>
              <a:rPr lang="en-US" dirty="0" smtClean="0"/>
              <a:t> Summarize how culture is expressed through art.</a:t>
            </a:r>
          </a:p>
          <a:p>
            <a:endParaRPr lang="en-US" dirty="0"/>
          </a:p>
          <a:p>
            <a:pPr marL="0" indent="0">
              <a:buNone/>
            </a:pPr>
            <a:r>
              <a:rPr lang="en-US" dirty="0" smtClean="0">
                <a:solidFill>
                  <a:schemeClr val="tx2"/>
                </a:solidFill>
              </a:rPr>
              <a:t>13.2</a:t>
            </a:r>
            <a:r>
              <a:rPr lang="en-US" dirty="0" smtClean="0"/>
              <a:t> Illustrate what play and leisure reveal about culture.</a:t>
            </a:r>
          </a:p>
          <a:p>
            <a:endParaRPr lang="en-US" dirty="0"/>
          </a:p>
          <a:p>
            <a:pPr marL="0" indent="0">
              <a:buNone/>
            </a:pPr>
            <a:r>
              <a:rPr lang="en-US" dirty="0" smtClean="0">
                <a:solidFill>
                  <a:schemeClr val="tx2"/>
                </a:solidFill>
              </a:rPr>
              <a:t>13.3</a:t>
            </a:r>
            <a:r>
              <a:rPr lang="en-US" dirty="0" smtClean="0"/>
              <a:t> Explain how cultural heritage is a contested resource in contemporary times.</a:t>
            </a:r>
          </a:p>
        </p:txBody>
      </p:sp>
    </p:spTree>
    <p:extLst>
      <p:ext uri="{BB962C8B-B14F-4D97-AF65-F5344CB8AC3E}">
        <p14:creationId xmlns:p14="http://schemas.microsoft.com/office/powerpoint/2010/main" val="25449066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Expressive Culture</a:t>
            </a:r>
            <a:endParaRPr lang="en-US" dirty="0"/>
          </a:p>
        </p:txBody>
      </p:sp>
      <p:sp>
        <p:nvSpPr>
          <p:cNvPr id="3" name="Content Placeholder 2"/>
          <p:cNvSpPr>
            <a:spLocks noGrp="1"/>
          </p:cNvSpPr>
          <p:nvPr>
            <p:ph idx="1"/>
          </p:nvPr>
        </p:nvSpPr>
        <p:spPr/>
        <p:txBody>
          <a:bodyPr/>
          <a:lstStyle/>
          <a:p>
            <a:r>
              <a:rPr lang="en-US" dirty="0" smtClean="0"/>
              <a:t>Expressive culture</a:t>
            </a:r>
          </a:p>
          <a:p>
            <a:pPr lvl="1"/>
            <a:r>
              <a:rPr lang="en-US" dirty="0" smtClean="0"/>
              <a:t>Behavior and beliefs related to art, leisure, and play</a:t>
            </a:r>
            <a:endParaRPr lang="en-US" dirty="0"/>
          </a:p>
        </p:txBody>
      </p:sp>
    </p:spTree>
    <p:extLst>
      <p:ext uri="{BB962C8B-B14F-4D97-AF65-F5344CB8AC3E}">
        <p14:creationId xmlns:p14="http://schemas.microsoft.com/office/powerpoint/2010/main" val="12412935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4000" dirty="0" smtClean="0"/>
              <a:t>Art and Culture</a:t>
            </a:r>
            <a:r>
              <a:rPr lang="en-US" sz="3200" dirty="0" smtClean="0"/>
              <a:t/>
            </a:r>
            <a:br>
              <a:rPr lang="en-US" sz="3200" dirty="0" smtClean="0"/>
            </a:br>
            <a:r>
              <a:rPr lang="en-US" sz="2800" dirty="0" smtClean="0"/>
              <a:t>13.1 Summarize how culture is expressed through art.</a:t>
            </a:r>
            <a:endParaRPr lang="en-US" sz="2800" dirty="0"/>
          </a:p>
        </p:txBody>
      </p:sp>
      <p:sp>
        <p:nvSpPr>
          <p:cNvPr id="3" name="Content Placeholder 2"/>
          <p:cNvSpPr>
            <a:spLocks noGrp="1"/>
          </p:cNvSpPr>
          <p:nvPr>
            <p:ph idx="1"/>
          </p:nvPr>
        </p:nvSpPr>
        <p:spPr/>
        <p:txBody>
          <a:bodyPr>
            <a:normAutofit fontScale="92500" lnSpcReduction="20000"/>
          </a:bodyPr>
          <a:lstStyle/>
          <a:p>
            <a:r>
              <a:rPr lang="en-US" dirty="0"/>
              <a:t>What </a:t>
            </a:r>
            <a:r>
              <a:rPr lang="en-US" dirty="0" smtClean="0"/>
              <a:t>Is </a:t>
            </a:r>
            <a:r>
              <a:rPr lang="en-US" dirty="0"/>
              <a:t>A</a:t>
            </a:r>
            <a:r>
              <a:rPr lang="en-US" dirty="0" smtClean="0"/>
              <a:t>rt?</a:t>
            </a:r>
          </a:p>
          <a:p>
            <a:endParaRPr lang="en-US" dirty="0"/>
          </a:p>
          <a:p>
            <a:r>
              <a:rPr lang="en-US" dirty="0" smtClean="0"/>
              <a:t>Studying Art in Society</a:t>
            </a:r>
          </a:p>
          <a:p>
            <a:pPr marL="0" indent="0">
              <a:buNone/>
            </a:pPr>
            <a:r>
              <a:rPr lang="en-US" dirty="0" smtClean="0"/>
              <a:t>	</a:t>
            </a:r>
            <a:endParaRPr lang="en-US" dirty="0"/>
          </a:p>
          <a:p>
            <a:r>
              <a:rPr lang="en-US" dirty="0"/>
              <a:t>Performance </a:t>
            </a:r>
            <a:r>
              <a:rPr lang="en-US" dirty="0" smtClean="0"/>
              <a:t>Arts</a:t>
            </a:r>
          </a:p>
          <a:p>
            <a:endParaRPr lang="en-US" dirty="0"/>
          </a:p>
          <a:p>
            <a:r>
              <a:rPr lang="en-US" dirty="0"/>
              <a:t>Architecture and </a:t>
            </a:r>
            <a:r>
              <a:rPr lang="en-US" dirty="0" smtClean="0"/>
              <a:t>Decorative Arts</a:t>
            </a:r>
          </a:p>
          <a:p>
            <a:endParaRPr lang="en-US" dirty="0"/>
          </a:p>
          <a:p>
            <a:r>
              <a:rPr lang="en-US" dirty="0"/>
              <a:t>Museums and Culture</a:t>
            </a:r>
          </a:p>
          <a:p>
            <a:pPr marL="0" indent="0">
              <a:buNone/>
            </a:pPr>
            <a:endParaRPr lang="en-US" dirty="0"/>
          </a:p>
        </p:txBody>
      </p:sp>
    </p:spTree>
    <p:extLst>
      <p:ext uri="{BB962C8B-B14F-4D97-AF65-F5344CB8AC3E}">
        <p14:creationId xmlns:p14="http://schemas.microsoft.com/office/powerpoint/2010/main" val="27784481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Art? </a:t>
            </a:r>
            <a:r>
              <a:rPr lang="en-US" sz="2800" dirty="0" smtClean="0"/>
              <a:t>(1 of 5)</a:t>
            </a:r>
            <a:endParaRPr lang="en-US" sz="2800" dirty="0"/>
          </a:p>
        </p:txBody>
      </p:sp>
      <p:sp>
        <p:nvSpPr>
          <p:cNvPr id="3" name="Content Placeholder 2"/>
          <p:cNvSpPr>
            <a:spLocks noGrp="1"/>
          </p:cNvSpPr>
          <p:nvPr>
            <p:ph idx="1"/>
          </p:nvPr>
        </p:nvSpPr>
        <p:spPr/>
        <p:txBody>
          <a:bodyPr/>
          <a:lstStyle/>
          <a:p>
            <a:r>
              <a:rPr lang="en-US" dirty="0" smtClean="0"/>
              <a:t>Anthropological definition of art</a:t>
            </a:r>
          </a:p>
          <a:p>
            <a:pPr lvl="1"/>
            <a:r>
              <a:rPr lang="en-US" dirty="0" smtClean="0"/>
              <a:t>The </a:t>
            </a:r>
            <a:r>
              <a:rPr lang="en-US" dirty="0"/>
              <a:t>application of imagination, skill, and style to </a:t>
            </a:r>
            <a:r>
              <a:rPr lang="en-US" dirty="0" smtClean="0"/>
              <a:t>matter, movement</a:t>
            </a:r>
            <a:r>
              <a:rPr lang="en-US" dirty="0"/>
              <a:t>, and sound that goes beyond what is purely </a:t>
            </a:r>
            <a:r>
              <a:rPr lang="en-US" dirty="0" smtClean="0"/>
              <a:t>practical</a:t>
            </a:r>
          </a:p>
          <a:p>
            <a:pPr lvl="2"/>
            <a:r>
              <a:rPr lang="en-US" dirty="0" smtClean="0"/>
              <a:t>A broad definition to encompass the (emic) definitions of art among diverse cultures</a:t>
            </a:r>
            <a:endParaRPr lang="en-US" dirty="0"/>
          </a:p>
        </p:txBody>
      </p:sp>
    </p:spTree>
    <p:extLst>
      <p:ext uri="{BB962C8B-B14F-4D97-AF65-F5344CB8AC3E}">
        <p14:creationId xmlns:p14="http://schemas.microsoft.com/office/powerpoint/2010/main" val="7792488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Art? </a:t>
            </a:r>
            <a:r>
              <a:rPr lang="en-US" sz="2800" dirty="0" smtClean="0"/>
              <a:t>(2 of 5)</a:t>
            </a:r>
            <a:endParaRPr lang="en-US" sz="2800" dirty="0"/>
          </a:p>
        </p:txBody>
      </p:sp>
      <p:sp>
        <p:nvSpPr>
          <p:cNvPr id="3" name="Content Placeholder 2"/>
          <p:cNvSpPr>
            <a:spLocks noGrp="1"/>
          </p:cNvSpPr>
          <p:nvPr>
            <p:ph idx="1"/>
          </p:nvPr>
        </p:nvSpPr>
        <p:spPr/>
        <p:txBody>
          <a:bodyPr/>
          <a:lstStyle/>
          <a:p>
            <a:r>
              <a:rPr lang="en-US" dirty="0" smtClean="0"/>
              <a:t>The traditional Western view distinguishes “fine” art and “folk” art</a:t>
            </a:r>
          </a:p>
          <a:p>
            <a:pPr lvl="1"/>
            <a:r>
              <a:rPr lang="en-US" dirty="0" smtClean="0"/>
              <a:t>“Fine” art</a:t>
            </a:r>
          </a:p>
          <a:p>
            <a:pPr lvl="2"/>
            <a:r>
              <a:rPr lang="en-US" dirty="0" smtClean="0"/>
              <a:t>Created by an artist with formal training</a:t>
            </a:r>
          </a:p>
          <a:p>
            <a:pPr lvl="2"/>
            <a:r>
              <a:rPr lang="en-US" dirty="0" smtClean="0"/>
              <a:t>Produced for market sale</a:t>
            </a:r>
          </a:p>
          <a:p>
            <a:pPr lvl="2"/>
            <a:r>
              <a:rPr lang="en-US" dirty="0" smtClean="0"/>
              <a:t>Artist identifies himself or herself as creator</a:t>
            </a:r>
          </a:p>
          <a:p>
            <a:pPr lvl="2"/>
            <a:r>
              <a:rPr lang="en-US" dirty="0" smtClean="0"/>
              <a:t>Does not have any practical, everyday use</a:t>
            </a:r>
          </a:p>
          <a:p>
            <a:pPr lvl="1"/>
            <a:r>
              <a:rPr lang="en-US" dirty="0" smtClean="0"/>
              <a:t>“Folk” art</a:t>
            </a:r>
          </a:p>
          <a:p>
            <a:pPr lvl="2"/>
            <a:r>
              <a:rPr lang="en-US" dirty="0" smtClean="0"/>
              <a:t>The absence of, or opposite characteristics of, “fine” art</a:t>
            </a:r>
          </a:p>
        </p:txBody>
      </p:sp>
    </p:spTree>
    <p:extLst>
      <p:ext uri="{BB962C8B-B14F-4D97-AF65-F5344CB8AC3E}">
        <p14:creationId xmlns:p14="http://schemas.microsoft.com/office/powerpoint/2010/main" val="29396796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Art? </a:t>
            </a:r>
            <a:r>
              <a:rPr lang="en-US" sz="2800" dirty="0" smtClean="0"/>
              <a:t>(3 of 5)</a:t>
            </a:r>
            <a:endParaRPr lang="en-US" sz="2800" dirty="0"/>
          </a:p>
        </p:txBody>
      </p:sp>
      <p:sp>
        <p:nvSpPr>
          <p:cNvPr id="3" name="Content Placeholder 2"/>
          <p:cNvSpPr>
            <a:spLocks noGrp="1"/>
          </p:cNvSpPr>
          <p:nvPr>
            <p:ph idx="1"/>
          </p:nvPr>
        </p:nvSpPr>
        <p:spPr/>
        <p:txBody>
          <a:bodyPr/>
          <a:lstStyle/>
          <a:p>
            <a:r>
              <a:rPr lang="en-US" dirty="0"/>
              <a:t>All cultures have some form of art and have a sense of what makes something “art”</a:t>
            </a:r>
          </a:p>
          <a:p>
            <a:pPr lvl="1"/>
            <a:r>
              <a:rPr lang="en-US" dirty="0" smtClean="0"/>
              <a:t>Example: the Pirahã </a:t>
            </a:r>
            <a:r>
              <a:rPr lang="en-US" dirty="0"/>
              <a:t>of the Amazon, who have almost no material art, use rich prosody in their language</a:t>
            </a:r>
          </a:p>
          <a:p>
            <a:endParaRPr lang="en-US" dirty="0"/>
          </a:p>
        </p:txBody>
      </p:sp>
    </p:spTree>
    <p:extLst>
      <p:ext uri="{BB962C8B-B14F-4D97-AF65-F5344CB8AC3E}">
        <p14:creationId xmlns:p14="http://schemas.microsoft.com/office/powerpoint/2010/main" val="13849722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t>
            </a:r>
            <a:r>
              <a:rPr lang="en-US" dirty="0" smtClean="0"/>
              <a:t>Is </a:t>
            </a:r>
            <a:r>
              <a:rPr lang="en-US" dirty="0"/>
              <a:t>Art</a:t>
            </a:r>
            <a:r>
              <a:rPr lang="en-US" dirty="0" smtClean="0"/>
              <a:t>? </a:t>
            </a:r>
            <a:r>
              <a:rPr lang="en-US" sz="2800" dirty="0" smtClean="0"/>
              <a:t>(4 of 5)</a:t>
            </a:r>
            <a:endParaRPr lang="en-US" sz="2800" dirty="0"/>
          </a:p>
        </p:txBody>
      </p:sp>
      <p:sp>
        <p:nvSpPr>
          <p:cNvPr id="3" name="Content Placeholder 2"/>
          <p:cNvSpPr>
            <a:spLocks noGrp="1"/>
          </p:cNvSpPr>
          <p:nvPr>
            <p:ph idx="1"/>
          </p:nvPr>
        </p:nvSpPr>
        <p:spPr/>
        <p:txBody>
          <a:bodyPr/>
          <a:lstStyle/>
          <a:p>
            <a:r>
              <a:rPr lang="en-US" dirty="0" smtClean="0"/>
              <a:t>Ethno-esthetics</a:t>
            </a:r>
          </a:p>
          <a:p>
            <a:pPr lvl="1"/>
            <a:r>
              <a:rPr lang="en-US" dirty="0" smtClean="0"/>
              <a:t>Refers </a:t>
            </a:r>
            <a:r>
              <a:rPr lang="en-US" dirty="0"/>
              <a:t>to local cultural definitions of what is art and what is good </a:t>
            </a:r>
            <a:r>
              <a:rPr lang="en-US" dirty="0" smtClean="0"/>
              <a:t>art</a:t>
            </a:r>
            <a:endParaRPr lang="en-US" dirty="0"/>
          </a:p>
          <a:p>
            <a:pPr lvl="1"/>
            <a:r>
              <a:rPr lang="en-US" dirty="0" smtClean="0"/>
              <a:t>Example</a:t>
            </a:r>
            <a:r>
              <a:rPr lang="en-US" dirty="0"/>
              <a:t>: wood-carving standards in West </a:t>
            </a:r>
            <a:r>
              <a:rPr lang="en-US" dirty="0" smtClean="0"/>
              <a:t>Africa</a:t>
            </a:r>
          </a:p>
          <a:p>
            <a:pPr lvl="2"/>
            <a:r>
              <a:rPr lang="en-US" dirty="0" smtClean="0"/>
              <a:t>Figures should be portrayed midway between complete abstraction and complete realism</a:t>
            </a:r>
          </a:p>
          <a:p>
            <a:pPr lvl="2"/>
            <a:r>
              <a:rPr lang="en-US" dirty="0" smtClean="0"/>
              <a:t>Humans should be depicted at their physical peak (not in old age or childhood)</a:t>
            </a:r>
          </a:p>
          <a:p>
            <a:pPr lvl="2"/>
            <a:r>
              <a:rPr lang="en-US" dirty="0" smtClean="0"/>
              <a:t>Should exhibit symmetry, luminosity of surface, and clarity of line and form</a:t>
            </a:r>
            <a:endParaRPr lang="en-US" dirty="0"/>
          </a:p>
          <a:p>
            <a:endParaRPr lang="en-US" dirty="0"/>
          </a:p>
        </p:txBody>
      </p:sp>
    </p:spTree>
    <p:extLst>
      <p:ext uri="{BB962C8B-B14F-4D97-AF65-F5344CB8AC3E}">
        <p14:creationId xmlns:p14="http://schemas.microsoft.com/office/powerpoint/2010/main" val="31437560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t>
            </a:r>
            <a:r>
              <a:rPr lang="en-US" dirty="0" smtClean="0"/>
              <a:t>Is </a:t>
            </a:r>
            <a:r>
              <a:rPr lang="en-US" dirty="0"/>
              <a:t>Art</a:t>
            </a:r>
            <a:r>
              <a:rPr lang="en-US" dirty="0" smtClean="0"/>
              <a:t>? </a:t>
            </a:r>
            <a:r>
              <a:rPr lang="en-US" sz="2800" dirty="0" smtClean="0"/>
              <a:t>(5 of 5)</a:t>
            </a:r>
            <a:endParaRPr lang="en-US" sz="2800" dirty="0"/>
          </a:p>
        </p:txBody>
      </p:sp>
      <p:pic>
        <p:nvPicPr>
          <p:cNvPr id="4" name="Content Placeholder 3" descr="Two Yoruba wood statues show a man and a woman with elongated heads, large eyes and mouths, square shoulders, long arms, and short legs."/>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438400" y="1511089"/>
            <a:ext cx="4343400" cy="4863335"/>
          </a:xfrm>
        </p:spPr>
      </p:pic>
    </p:spTree>
    <p:extLst>
      <p:ext uri="{BB962C8B-B14F-4D97-AF65-F5344CB8AC3E}">
        <p14:creationId xmlns:p14="http://schemas.microsoft.com/office/powerpoint/2010/main" val="19261131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Studying Art in Society </a:t>
            </a:r>
            <a:r>
              <a:rPr lang="en-US" sz="2800" dirty="0" smtClean="0"/>
              <a:t>(1 of 4)</a:t>
            </a:r>
            <a:endParaRPr lang="en-US" sz="2800" dirty="0"/>
          </a:p>
        </p:txBody>
      </p:sp>
      <p:sp>
        <p:nvSpPr>
          <p:cNvPr id="3" name="Content Placeholder 2"/>
          <p:cNvSpPr>
            <a:spLocks noGrp="1"/>
          </p:cNvSpPr>
          <p:nvPr>
            <p:ph idx="1"/>
          </p:nvPr>
        </p:nvSpPr>
        <p:spPr/>
        <p:txBody>
          <a:bodyPr/>
          <a:lstStyle/>
          <a:p>
            <a:r>
              <a:rPr lang="en-US" dirty="0"/>
              <a:t>Influence of Franz Boas in first half of the </a:t>
            </a:r>
            <a:r>
              <a:rPr lang="en-US" dirty="0" smtClean="0"/>
              <a:t>twentieth </a:t>
            </a:r>
            <a:r>
              <a:rPr lang="en-US" dirty="0"/>
              <a:t>century</a:t>
            </a:r>
          </a:p>
          <a:p>
            <a:pPr lvl="1"/>
            <a:r>
              <a:rPr lang="en-US" dirty="0"/>
              <a:t>Learning by doing (apprenticeship)</a:t>
            </a:r>
          </a:p>
          <a:p>
            <a:pPr lvl="1"/>
            <a:r>
              <a:rPr lang="en-US" dirty="0"/>
              <a:t>Topical focus </a:t>
            </a:r>
            <a:r>
              <a:rPr lang="en-US" dirty="0" smtClean="0"/>
              <a:t>on:</a:t>
            </a:r>
            <a:endParaRPr lang="en-US" dirty="0"/>
          </a:p>
          <a:p>
            <a:pPr lvl="2"/>
            <a:r>
              <a:rPr lang="en-US" dirty="0"/>
              <a:t>T</a:t>
            </a:r>
            <a:r>
              <a:rPr lang="en-US" dirty="0" smtClean="0"/>
              <a:t>he </a:t>
            </a:r>
            <a:r>
              <a:rPr lang="en-US" dirty="0"/>
              <a:t>artist in cultural context</a:t>
            </a:r>
          </a:p>
          <a:p>
            <a:pPr lvl="2"/>
            <a:r>
              <a:rPr lang="en-US" dirty="0"/>
              <a:t>The process of creating and using art</a:t>
            </a:r>
          </a:p>
          <a:p>
            <a:pPr lvl="2"/>
            <a:r>
              <a:rPr lang="en-US" dirty="0"/>
              <a:t>S</a:t>
            </a:r>
            <a:r>
              <a:rPr lang="en-US" dirty="0" smtClean="0"/>
              <a:t>ocial </a:t>
            </a:r>
            <a:r>
              <a:rPr lang="en-US" dirty="0"/>
              <a:t>functions of art</a:t>
            </a:r>
          </a:p>
          <a:p>
            <a:endParaRPr lang="en-US" dirty="0"/>
          </a:p>
        </p:txBody>
      </p:sp>
    </p:spTree>
    <p:extLst>
      <p:ext uri="{BB962C8B-B14F-4D97-AF65-F5344CB8AC3E}">
        <p14:creationId xmlns:p14="http://schemas.microsoft.com/office/powerpoint/2010/main" val="13110316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Studying Art in Society </a:t>
            </a:r>
            <a:r>
              <a:rPr lang="en-US" sz="2800" dirty="0" smtClean="0"/>
              <a:t>(2 </a:t>
            </a:r>
            <a:r>
              <a:rPr lang="en-US" sz="2800" dirty="0"/>
              <a:t>of 4)</a:t>
            </a:r>
          </a:p>
        </p:txBody>
      </p:sp>
      <p:sp>
        <p:nvSpPr>
          <p:cNvPr id="3" name="Content Placeholder 2"/>
          <p:cNvSpPr>
            <a:spLocks noGrp="1"/>
          </p:cNvSpPr>
          <p:nvPr>
            <p:ph idx="1"/>
          </p:nvPr>
        </p:nvSpPr>
        <p:spPr/>
        <p:txBody>
          <a:bodyPr/>
          <a:lstStyle/>
          <a:p>
            <a:r>
              <a:rPr lang="en-US" dirty="0" smtClean="0"/>
              <a:t>The anthropologist as apprentice</a:t>
            </a:r>
          </a:p>
          <a:p>
            <a:pPr lvl="1"/>
            <a:r>
              <a:rPr lang="en-US" dirty="0" smtClean="0"/>
              <a:t>Example: John </a:t>
            </a:r>
            <a:r>
              <a:rPr lang="en-US" dirty="0"/>
              <a:t>Chernoff’s study of drumming in Ghana</a:t>
            </a:r>
          </a:p>
          <a:p>
            <a:pPr lvl="2"/>
            <a:r>
              <a:rPr lang="en-US" dirty="0" smtClean="0"/>
              <a:t>Had </a:t>
            </a:r>
            <a:r>
              <a:rPr lang="en-US" dirty="0"/>
              <a:t>to learn about the culture and how drumming fits into it in order to become an expert drummer</a:t>
            </a:r>
          </a:p>
          <a:p>
            <a:pPr lvl="1"/>
            <a:endParaRPr lang="en-US" dirty="0"/>
          </a:p>
          <a:p>
            <a:pPr lvl="1"/>
            <a:endParaRPr lang="en-US" dirty="0"/>
          </a:p>
        </p:txBody>
      </p:sp>
    </p:spTree>
    <p:extLst>
      <p:ext uri="{BB962C8B-B14F-4D97-AF65-F5344CB8AC3E}">
        <p14:creationId xmlns:p14="http://schemas.microsoft.com/office/powerpoint/2010/main" val="5742359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Studying Art in Society </a:t>
            </a:r>
            <a:r>
              <a:rPr lang="en-US" sz="2800" dirty="0" smtClean="0"/>
              <a:t>(3 </a:t>
            </a:r>
            <a:r>
              <a:rPr lang="en-US" sz="2800" dirty="0"/>
              <a:t>of 4)</a:t>
            </a:r>
          </a:p>
        </p:txBody>
      </p:sp>
      <p:sp>
        <p:nvSpPr>
          <p:cNvPr id="3" name="Content Placeholder 2"/>
          <p:cNvSpPr>
            <a:spLocks noGrp="1"/>
          </p:cNvSpPr>
          <p:nvPr>
            <p:ph idx="1"/>
          </p:nvPr>
        </p:nvSpPr>
        <p:spPr/>
        <p:txBody>
          <a:bodyPr>
            <a:normAutofit lnSpcReduction="10000"/>
          </a:bodyPr>
          <a:lstStyle/>
          <a:p>
            <a:r>
              <a:rPr lang="en-US" dirty="0" smtClean="0"/>
              <a:t>Focus on the Artist</a:t>
            </a:r>
          </a:p>
          <a:p>
            <a:pPr lvl="1"/>
            <a:r>
              <a:rPr lang="en-US" dirty="0" smtClean="0"/>
              <a:t>Is art the product of tradition or individual agency?</a:t>
            </a:r>
          </a:p>
          <a:p>
            <a:pPr lvl="2"/>
            <a:r>
              <a:rPr lang="en-US" dirty="0" smtClean="0"/>
              <a:t>Example: Ruth Bunzel’s research in the U.S. southwest on Native American potters</a:t>
            </a:r>
          </a:p>
          <a:p>
            <a:pPr lvl="1"/>
            <a:r>
              <a:rPr lang="en-US" dirty="0" smtClean="0"/>
              <a:t>Social status of the artist and art</a:t>
            </a:r>
          </a:p>
          <a:p>
            <a:pPr lvl="1"/>
            <a:r>
              <a:rPr lang="en-US" dirty="0" smtClean="0"/>
              <a:t>Relationship to mode of livelihood</a:t>
            </a:r>
          </a:p>
          <a:p>
            <a:pPr lvl="2"/>
            <a:r>
              <a:rPr lang="en-US" dirty="0" smtClean="0"/>
              <a:t>More specialization and training expected in state-level societies</a:t>
            </a:r>
          </a:p>
          <a:p>
            <a:pPr lvl="2"/>
            <a:r>
              <a:rPr lang="en-US" dirty="0" smtClean="0"/>
              <a:t>Foraging and other small-scale societies offer equal access to art-making</a:t>
            </a:r>
          </a:p>
          <a:p>
            <a:pPr lvl="1"/>
            <a:endParaRPr lang="en-US" dirty="0"/>
          </a:p>
        </p:txBody>
      </p:sp>
    </p:spTree>
    <p:extLst>
      <p:ext uri="{BB962C8B-B14F-4D97-AF65-F5344CB8AC3E}">
        <p14:creationId xmlns:p14="http://schemas.microsoft.com/office/powerpoint/2010/main" val="37480214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Studying Art in Society </a:t>
            </a:r>
            <a:r>
              <a:rPr lang="en-US" sz="2800" dirty="0" smtClean="0"/>
              <a:t>(4 </a:t>
            </a:r>
            <a:r>
              <a:rPr lang="en-US" sz="2800" dirty="0"/>
              <a:t>of 4)</a:t>
            </a:r>
          </a:p>
        </p:txBody>
      </p:sp>
      <p:sp>
        <p:nvSpPr>
          <p:cNvPr id="3" name="Content Placeholder 2"/>
          <p:cNvSpPr>
            <a:spLocks noGrp="1"/>
          </p:cNvSpPr>
          <p:nvPr>
            <p:ph idx="1"/>
          </p:nvPr>
        </p:nvSpPr>
        <p:spPr/>
        <p:txBody>
          <a:bodyPr/>
          <a:lstStyle/>
          <a:p>
            <a:r>
              <a:rPr lang="en-US" dirty="0" smtClean="0"/>
              <a:t>Microcultures, Art, and Power</a:t>
            </a:r>
          </a:p>
          <a:p>
            <a:pPr lvl="1"/>
            <a:r>
              <a:rPr lang="en-US" dirty="0" smtClean="0"/>
              <a:t>Art may be used to legitimize power structures or gender roles</a:t>
            </a:r>
          </a:p>
          <a:p>
            <a:pPr lvl="2"/>
            <a:r>
              <a:rPr lang="en-US" dirty="0" smtClean="0"/>
              <a:t>Example: study of women in male strip clubs in Florida</a:t>
            </a:r>
          </a:p>
          <a:p>
            <a:pPr lvl="1"/>
            <a:r>
              <a:rPr lang="en-US" dirty="0" smtClean="0"/>
              <a:t>Art may be used as a vehicle of protest against inequality</a:t>
            </a:r>
          </a:p>
          <a:p>
            <a:pPr lvl="2"/>
            <a:r>
              <a:rPr lang="en-US" dirty="0" smtClean="0"/>
              <a:t>Example: hip-hop and verbal arts among urban Black youth in the United States</a:t>
            </a:r>
          </a:p>
        </p:txBody>
      </p:sp>
    </p:spTree>
    <p:extLst>
      <p:ext uri="{BB962C8B-B14F-4D97-AF65-F5344CB8AC3E}">
        <p14:creationId xmlns:p14="http://schemas.microsoft.com/office/powerpoint/2010/main" val="30447897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Arts </a:t>
            </a:r>
            <a:r>
              <a:rPr lang="en-US" sz="2800" dirty="0" smtClean="0"/>
              <a:t>(1 of 4)</a:t>
            </a:r>
            <a:endParaRPr lang="en-US" sz="2800" dirty="0"/>
          </a:p>
        </p:txBody>
      </p:sp>
      <p:sp>
        <p:nvSpPr>
          <p:cNvPr id="3" name="Content Placeholder 2"/>
          <p:cNvSpPr>
            <a:spLocks noGrp="1"/>
          </p:cNvSpPr>
          <p:nvPr>
            <p:ph idx="1"/>
          </p:nvPr>
        </p:nvSpPr>
        <p:spPr/>
        <p:txBody>
          <a:bodyPr/>
          <a:lstStyle/>
          <a:p>
            <a:r>
              <a:rPr lang="en-US" dirty="0" smtClean="0"/>
              <a:t>Ethnomusicology</a:t>
            </a:r>
          </a:p>
          <a:p>
            <a:pPr lvl="1"/>
            <a:r>
              <a:rPr lang="en-US" dirty="0" smtClean="0"/>
              <a:t>The </a:t>
            </a:r>
            <a:r>
              <a:rPr lang="en-US" dirty="0"/>
              <a:t>cross-cultural study of music</a:t>
            </a:r>
          </a:p>
          <a:p>
            <a:pPr lvl="1"/>
            <a:r>
              <a:rPr lang="en-US" dirty="0"/>
              <a:t>Well-established field of study linking cultural anthropology and musicology</a:t>
            </a:r>
          </a:p>
          <a:p>
            <a:pPr lvl="1"/>
            <a:r>
              <a:rPr lang="en-US" dirty="0"/>
              <a:t>Studies music both from technical aspects (sound) and cultural context and meaning</a:t>
            </a:r>
          </a:p>
          <a:p>
            <a:pPr lvl="1"/>
            <a:endParaRPr lang="en-US" dirty="0"/>
          </a:p>
        </p:txBody>
      </p:sp>
    </p:spTree>
    <p:extLst>
      <p:ext uri="{BB962C8B-B14F-4D97-AF65-F5344CB8AC3E}">
        <p14:creationId xmlns:p14="http://schemas.microsoft.com/office/powerpoint/2010/main" val="10414133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Arts </a:t>
            </a:r>
            <a:r>
              <a:rPr lang="en-US" sz="2800" dirty="0" smtClean="0"/>
              <a:t>(2 </a:t>
            </a:r>
            <a:r>
              <a:rPr lang="en-US" sz="2800" dirty="0"/>
              <a:t>of 4)</a:t>
            </a:r>
          </a:p>
        </p:txBody>
      </p:sp>
      <p:sp>
        <p:nvSpPr>
          <p:cNvPr id="3" name="Content Placeholder 2"/>
          <p:cNvSpPr>
            <a:spLocks noGrp="1"/>
          </p:cNvSpPr>
          <p:nvPr>
            <p:ph idx="1"/>
          </p:nvPr>
        </p:nvSpPr>
        <p:spPr/>
        <p:txBody>
          <a:bodyPr/>
          <a:lstStyle/>
          <a:p>
            <a:r>
              <a:rPr lang="en-US" dirty="0" smtClean="0"/>
              <a:t>Music and Gender among the Temiar of Malaysia</a:t>
            </a:r>
            <a:endParaRPr lang="en-US" dirty="0"/>
          </a:p>
          <a:p>
            <a:pPr lvl="1"/>
            <a:r>
              <a:rPr lang="en-US" dirty="0"/>
              <a:t>Gender division of participation and roles in music reflects overall societal patterns of social and gender equality</a:t>
            </a:r>
          </a:p>
          <a:p>
            <a:endParaRPr lang="en-US" dirty="0"/>
          </a:p>
        </p:txBody>
      </p:sp>
    </p:spTree>
    <p:extLst>
      <p:ext uri="{BB962C8B-B14F-4D97-AF65-F5344CB8AC3E}">
        <p14:creationId xmlns:p14="http://schemas.microsoft.com/office/powerpoint/2010/main" val="1559190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Arts </a:t>
            </a:r>
            <a:r>
              <a:rPr lang="en-US" sz="2800" dirty="0" smtClean="0"/>
              <a:t>(3 </a:t>
            </a:r>
            <a:r>
              <a:rPr lang="en-US" sz="2800" dirty="0"/>
              <a:t>of 4)</a:t>
            </a:r>
          </a:p>
        </p:txBody>
      </p:sp>
      <p:sp>
        <p:nvSpPr>
          <p:cNvPr id="3" name="Content Placeholder 2"/>
          <p:cNvSpPr>
            <a:spLocks noGrp="1"/>
          </p:cNvSpPr>
          <p:nvPr>
            <p:ph idx="1"/>
          </p:nvPr>
        </p:nvSpPr>
        <p:spPr/>
        <p:txBody>
          <a:bodyPr/>
          <a:lstStyle/>
          <a:p>
            <a:r>
              <a:rPr lang="en-US" dirty="0" smtClean="0"/>
              <a:t>Country Music and Globalization in Brazil</a:t>
            </a:r>
          </a:p>
          <a:p>
            <a:pPr lvl="1"/>
            <a:r>
              <a:rPr lang="en-US" dirty="0" smtClean="0"/>
              <a:t>Brazilian </a:t>
            </a:r>
            <a:r>
              <a:rPr lang="en-US" dirty="0"/>
              <a:t>country music, música </a:t>
            </a:r>
            <a:r>
              <a:rPr lang="en-US" dirty="0" smtClean="0"/>
              <a:t>sertaneja, draws heavily on U.S. country music influences but features Brazilian themes</a:t>
            </a:r>
          </a:p>
          <a:p>
            <a:pPr lvl="2"/>
            <a:r>
              <a:rPr lang="en-US" dirty="0" smtClean="0"/>
              <a:t>Dupla singers demonstrate a focus on kinship and caring</a:t>
            </a:r>
            <a:endParaRPr lang="en-US" dirty="0"/>
          </a:p>
        </p:txBody>
      </p:sp>
    </p:spTree>
    <p:extLst>
      <p:ext uri="{BB962C8B-B14F-4D97-AF65-F5344CB8AC3E}">
        <p14:creationId xmlns:p14="http://schemas.microsoft.com/office/powerpoint/2010/main" val="4681553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Arts </a:t>
            </a:r>
            <a:r>
              <a:rPr lang="en-US" sz="2800" dirty="0" smtClean="0"/>
              <a:t>(4 </a:t>
            </a:r>
            <a:r>
              <a:rPr lang="en-US" sz="2800" dirty="0"/>
              <a:t>of 4)</a:t>
            </a:r>
          </a:p>
        </p:txBody>
      </p:sp>
      <p:sp>
        <p:nvSpPr>
          <p:cNvPr id="3" name="Content Placeholder 2"/>
          <p:cNvSpPr>
            <a:spLocks noGrp="1"/>
          </p:cNvSpPr>
          <p:nvPr>
            <p:ph idx="1"/>
          </p:nvPr>
        </p:nvSpPr>
        <p:spPr/>
        <p:txBody>
          <a:bodyPr/>
          <a:lstStyle/>
          <a:p>
            <a:r>
              <a:rPr lang="en-US" dirty="0" smtClean="0"/>
              <a:t>Theater and Myth in South India</a:t>
            </a:r>
          </a:p>
          <a:p>
            <a:pPr lvl="1"/>
            <a:r>
              <a:rPr lang="en-US" dirty="0" smtClean="0"/>
              <a:t>Kathakali theater</a:t>
            </a:r>
          </a:p>
          <a:p>
            <a:pPr lvl="2"/>
            <a:r>
              <a:rPr lang="en-US" dirty="0"/>
              <a:t>Blend of mythology, acting, and music</a:t>
            </a:r>
          </a:p>
          <a:p>
            <a:pPr lvl="2"/>
            <a:r>
              <a:rPr lang="en-US" dirty="0"/>
              <a:t>Dramatizes great Hindu </a:t>
            </a:r>
            <a:r>
              <a:rPr lang="en-US" dirty="0" smtClean="0"/>
              <a:t>epics</a:t>
            </a:r>
          </a:p>
          <a:p>
            <a:pPr lvl="2"/>
            <a:r>
              <a:rPr lang="en-US" dirty="0" smtClean="0"/>
              <a:t>Makeup designates character types and moral qualities</a:t>
            </a:r>
            <a:endParaRPr lang="en-US" dirty="0"/>
          </a:p>
        </p:txBody>
      </p:sp>
    </p:spTree>
    <p:extLst>
      <p:ext uri="{BB962C8B-B14F-4D97-AF65-F5344CB8AC3E}">
        <p14:creationId xmlns:p14="http://schemas.microsoft.com/office/powerpoint/2010/main" val="37917590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Architecture and Decorative Arts </a:t>
            </a:r>
            <a:r>
              <a:rPr lang="en-US" sz="2800" dirty="0" smtClean="0"/>
              <a:t>(1 of 3)</a:t>
            </a:r>
            <a:endParaRPr lang="en-US" sz="2800" dirty="0"/>
          </a:p>
        </p:txBody>
      </p:sp>
      <p:sp>
        <p:nvSpPr>
          <p:cNvPr id="3" name="Content Placeholder 2"/>
          <p:cNvSpPr>
            <a:spLocks noGrp="1"/>
          </p:cNvSpPr>
          <p:nvPr>
            <p:ph idx="1"/>
          </p:nvPr>
        </p:nvSpPr>
        <p:spPr/>
        <p:txBody>
          <a:bodyPr/>
          <a:lstStyle/>
          <a:p>
            <a:r>
              <a:rPr lang="en-US" dirty="0"/>
              <a:t>May reflect class differences and social </a:t>
            </a:r>
            <a:r>
              <a:rPr lang="en-US" dirty="0" smtClean="0"/>
              <a:t>rank</a:t>
            </a:r>
          </a:p>
          <a:p>
            <a:r>
              <a:rPr lang="en-US" dirty="0"/>
              <a:t>Heterotopia: something formed from elements drawn </a:t>
            </a:r>
            <a:r>
              <a:rPr lang="en-US" dirty="0" smtClean="0"/>
              <a:t>from multiple </a:t>
            </a:r>
            <a:r>
              <a:rPr lang="en-US" dirty="0"/>
              <a:t>and diverse </a:t>
            </a:r>
            <a:r>
              <a:rPr lang="en-US" dirty="0" smtClean="0"/>
              <a:t>contexts</a:t>
            </a:r>
          </a:p>
          <a:p>
            <a:pPr lvl="1"/>
            <a:r>
              <a:rPr lang="en-US" dirty="0" smtClean="0"/>
              <a:t>Example: European gardens in colonial times</a:t>
            </a:r>
          </a:p>
          <a:p>
            <a:pPr lvl="2"/>
            <a:r>
              <a:rPr lang="en-US" dirty="0" smtClean="0"/>
              <a:t>Included a diversity of species, perhaps to convey a sense of worldliness and sophistication</a:t>
            </a:r>
            <a:endParaRPr lang="en-US" dirty="0"/>
          </a:p>
          <a:p>
            <a:endParaRPr lang="en-US" dirty="0"/>
          </a:p>
        </p:txBody>
      </p:sp>
    </p:spTree>
    <p:extLst>
      <p:ext uri="{BB962C8B-B14F-4D97-AF65-F5344CB8AC3E}">
        <p14:creationId xmlns:p14="http://schemas.microsoft.com/office/powerpoint/2010/main" val="6364608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Architecture and Decorative Arts </a:t>
            </a:r>
            <a:r>
              <a:rPr lang="en-US" sz="2800" dirty="0" smtClean="0"/>
              <a:t>(2 </a:t>
            </a:r>
            <a:r>
              <a:rPr lang="en-US" sz="2800" dirty="0"/>
              <a:t>of 3)</a:t>
            </a:r>
          </a:p>
        </p:txBody>
      </p:sp>
      <p:sp>
        <p:nvSpPr>
          <p:cNvPr id="3" name="Content Placeholder 2"/>
          <p:cNvSpPr>
            <a:spLocks noGrp="1"/>
          </p:cNvSpPr>
          <p:nvPr>
            <p:ph idx="1"/>
          </p:nvPr>
        </p:nvSpPr>
        <p:spPr/>
        <p:txBody>
          <a:bodyPr/>
          <a:lstStyle/>
          <a:p>
            <a:r>
              <a:rPr lang="en-US" dirty="0"/>
              <a:t>Architecture related to mode of livelihood and political organization</a:t>
            </a:r>
          </a:p>
          <a:p>
            <a:pPr lvl="1"/>
            <a:r>
              <a:rPr lang="en-US" dirty="0"/>
              <a:t>Forager dwellings are the image of the family and not wider society</a:t>
            </a:r>
          </a:p>
          <a:p>
            <a:pPr lvl="1"/>
            <a:r>
              <a:rPr lang="en-US" dirty="0"/>
              <a:t>Pastoralists have designed portable structures </a:t>
            </a:r>
            <a:r>
              <a:rPr lang="en-US" dirty="0" smtClean="0"/>
              <a:t>such as </a:t>
            </a:r>
            <a:r>
              <a:rPr lang="en-US" dirty="0"/>
              <a:t>the </a:t>
            </a:r>
            <a:r>
              <a:rPr lang="en-US" dirty="0" smtClean="0"/>
              <a:t>teepee </a:t>
            </a:r>
            <a:r>
              <a:rPr lang="en-US" dirty="0"/>
              <a:t>and the yert</a:t>
            </a:r>
          </a:p>
          <a:p>
            <a:pPr lvl="1"/>
            <a:r>
              <a:rPr lang="en-US" dirty="0"/>
              <a:t>States show their power through the construction of monuments</a:t>
            </a:r>
          </a:p>
          <a:p>
            <a:endParaRPr lang="en-US" dirty="0"/>
          </a:p>
        </p:txBody>
      </p:sp>
    </p:spTree>
    <p:extLst>
      <p:ext uri="{BB962C8B-B14F-4D97-AF65-F5344CB8AC3E}">
        <p14:creationId xmlns:p14="http://schemas.microsoft.com/office/powerpoint/2010/main" val="30206783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Architecture and Decorative Arts </a:t>
            </a:r>
            <a:r>
              <a:rPr lang="en-US" sz="2800" dirty="0" smtClean="0"/>
              <a:t>(3 </a:t>
            </a:r>
            <a:r>
              <a:rPr lang="en-US" sz="2800" dirty="0"/>
              <a:t>of 3)</a:t>
            </a:r>
          </a:p>
        </p:txBody>
      </p:sp>
      <p:sp>
        <p:nvSpPr>
          <p:cNvPr id="3" name="Content Placeholder 2"/>
          <p:cNvSpPr>
            <a:spLocks noGrp="1"/>
          </p:cNvSpPr>
          <p:nvPr>
            <p:ph idx="1"/>
          </p:nvPr>
        </p:nvSpPr>
        <p:spPr/>
        <p:txBody>
          <a:bodyPr>
            <a:normAutofit/>
          </a:bodyPr>
          <a:lstStyle/>
          <a:p>
            <a:r>
              <a:rPr lang="en-US" dirty="0" smtClean="0"/>
              <a:t>Gardens and Flowers</a:t>
            </a:r>
          </a:p>
          <a:p>
            <a:pPr lvl="1"/>
            <a:r>
              <a:rPr lang="en-US" dirty="0"/>
              <a:t>Decorative gardens are a product of state-level </a:t>
            </a:r>
            <a:r>
              <a:rPr lang="en-US" dirty="0" smtClean="0"/>
              <a:t>societies</a:t>
            </a:r>
          </a:p>
          <a:p>
            <a:pPr lvl="1"/>
            <a:r>
              <a:rPr lang="en-US" dirty="0" smtClean="0"/>
              <a:t>Japanese </a:t>
            </a:r>
            <a:r>
              <a:rPr lang="en-US" dirty="0"/>
              <a:t>gardens may contain no flowers</a:t>
            </a:r>
          </a:p>
          <a:p>
            <a:pPr lvl="1"/>
            <a:r>
              <a:rPr lang="en-US" dirty="0"/>
              <a:t>Traditional Muslim gardens are enclosed by four walls</a:t>
            </a:r>
          </a:p>
          <a:p>
            <a:pPr lvl="1"/>
            <a:r>
              <a:rPr lang="en-US" dirty="0"/>
              <a:t>Cross-cultural variation of importance of flowers in art: flowers are not a prominent motif in African art, perhaps related to the environment</a:t>
            </a:r>
          </a:p>
          <a:p>
            <a:pPr lvl="1"/>
            <a:endParaRPr lang="en-US" dirty="0"/>
          </a:p>
        </p:txBody>
      </p:sp>
    </p:spTree>
    <p:extLst>
      <p:ext uri="{BB962C8B-B14F-4D97-AF65-F5344CB8AC3E}">
        <p14:creationId xmlns:p14="http://schemas.microsoft.com/office/powerpoint/2010/main" val="9687836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Museums and Culture </a:t>
            </a:r>
            <a:r>
              <a:rPr lang="en-US" sz="2800" dirty="0" smtClean="0"/>
              <a:t>(1 of 3)</a:t>
            </a:r>
            <a:endParaRPr lang="en-US" sz="2800" dirty="0"/>
          </a:p>
        </p:txBody>
      </p:sp>
      <p:sp>
        <p:nvSpPr>
          <p:cNvPr id="3" name="Content Placeholder 2"/>
          <p:cNvSpPr>
            <a:spLocks noGrp="1"/>
          </p:cNvSpPr>
          <p:nvPr>
            <p:ph idx="1"/>
          </p:nvPr>
        </p:nvSpPr>
        <p:spPr/>
        <p:txBody>
          <a:bodyPr/>
          <a:lstStyle/>
          <a:p>
            <a:r>
              <a:rPr lang="en-US" dirty="0"/>
              <a:t>A museum collects, preserves, interprets, and displays objects on a regular basis</a:t>
            </a:r>
          </a:p>
          <a:p>
            <a:r>
              <a:rPr lang="en-US" dirty="0" smtClean="0"/>
              <a:t>At </a:t>
            </a:r>
            <a:r>
              <a:rPr lang="en-US" dirty="0"/>
              <a:t>least two functions:</a:t>
            </a:r>
          </a:p>
          <a:p>
            <a:pPr lvl="1"/>
            <a:r>
              <a:rPr lang="en-US" dirty="0"/>
              <a:t>Esthetic</a:t>
            </a:r>
          </a:p>
          <a:p>
            <a:pPr lvl="1"/>
            <a:r>
              <a:rPr lang="en-US" dirty="0"/>
              <a:t>Educational</a:t>
            </a:r>
          </a:p>
          <a:p>
            <a:endParaRPr lang="en-US" dirty="0"/>
          </a:p>
        </p:txBody>
      </p:sp>
    </p:spTree>
    <p:extLst>
      <p:ext uri="{BB962C8B-B14F-4D97-AF65-F5344CB8AC3E}">
        <p14:creationId xmlns:p14="http://schemas.microsoft.com/office/powerpoint/2010/main" val="3879688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Museums and Culture </a:t>
            </a:r>
            <a:r>
              <a:rPr lang="en-US" sz="2800" dirty="0" smtClean="0"/>
              <a:t>(2 of 3)</a:t>
            </a:r>
            <a:endParaRPr lang="en-US" sz="2800" dirty="0"/>
          </a:p>
        </p:txBody>
      </p:sp>
      <p:sp>
        <p:nvSpPr>
          <p:cNvPr id="3" name="Content Placeholder 2"/>
          <p:cNvSpPr>
            <a:spLocks noGrp="1"/>
          </p:cNvSpPr>
          <p:nvPr>
            <p:ph idx="1"/>
          </p:nvPr>
        </p:nvSpPr>
        <p:spPr/>
        <p:txBody>
          <a:bodyPr/>
          <a:lstStyle/>
          <a:p>
            <a:r>
              <a:rPr lang="en-US" dirty="0" smtClean="0"/>
              <a:t>Critique of ethnographic </a:t>
            </a:r>
            <a:r>
              <a:rPr lang="en-US" dirty="0"/>
              <a:t>m</a:t>
            </a:r>
            <a:r>
              <a:rPr lang="en-US" dirty="0" smtClean="0"/>
              <a:t>useum collections and displays</a:t>
            </a:r>
          </a:p>
          <a:p>
            <a:pPr lvl="1"/>
            <a:r>
              <a:rPr lang="en-US" dirty="0" smtClean="0"/>
              <a:t>Who </a:t>
            </a:r>
            <a:r>
              <a:rPr lang="en-US" dirty="0"/>
              <a:t>gets to represent whom</a:t>
            </a:r>
          </a:p>
          <a:p>
            <a:pPr lvl="1"/>
            <a:r>
              <a:rPr lang="en-US" dirty="0"/>
              <a:t>Who owns particular objects; repatriation</a:t>
            </a:r>
          </a:p>
          <a:p>
            <a:pPr lvl="1"/>
            <a:r>
              <a:rPr lang="en-US" dirty="0" smtClean="0"/>
              <a:t>Need </a:t>
            </a:r>
            <a:r>
              <a:rPr lang="en-US" dirty="0"/>
              <a:t>to provide ethnographic context</a:t>
            </a:r>
          </a:p>
          <a:p>
            <a:endParaRPr lang="en-US" dirty="0"/>
          </a:p>
        </p:txBody>
      </p:sp>
    </p:spTree>
    <p:extLst>
      <p:ext uri="{BB962C8B-B14F-4D97-AF65-F5344CB8AC3E}">
        <p14:creationId xmlns:p14="http://schemas.microsoft.com/office/powerpoint/2010/main" val="34195431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Museums and Culture </a:t>
            </a:r>
            <a:r>
              <a:rPr lang="en-US" sz="2800" dirty="0" smtClean="0"/>
              <a:t>(3 </a:t>
            </a:r>
            <a:r>
              <a:rPr lang="en-US" sz="2800" dirty="0"/>
              <a:t>of 3)</a:t>
            </a:r>
          </a:p>
        </p:txBody>
      </p:sp>
      <p:pic>
        <p:nvPicPr>
          <p:cNvPr id="4" name="Content Placeholder 3" descr="A photo shows beaded jewelry, an animal skin hat, and artifacts with labels. "/>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45365" y="1600200"/>
            <a:ext cx="6053269" cy="4525963"/>
          </a:xfrm>
        </p:spPr>
      </p:pic>
    </p:spTree>
    <p:extLst>
      <p:ext uri="{BB962C8B-B14F-4D97-AF65-F5344CB8AC3E}">
        <p14:creationId xmlns:p14="http://schemas.microsoft.com/office/powerpoint/2010/main" val="32311510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Play, Leisure, and Culture </a:t>
            </a:r>
            <a:r>
              <a:rPr lang="en-US" sz="2800" dirty="0" smtClean="0"/>
              <a:t>(1 of 3)</a:t>
            </a:r>
            <a:br>
              <a:rPr lang="en-US" sz="2800" dirty="0" smtClean="0"/>
            </a:br>
            <a:r>
              <a:rPr lang="en-US" sz="2400" dirty="0" smtClean="0"/>
              <a:t>13.2 Illustrate what play and leisure reveal about culture.</a:t>
            </a:r>
            <a:endParaRPr lang="en-US" sz="2400" dirty="0"/>
          </a:p>
        </p:txBody>
      </p:sp>
      <p:sp>
        <p:nvSpPr>
          <p:cNvPr id="3" name="Content Placeholder 2"/>
          <p:cNvSpPr>
            <a:spLocks noGrp="1"/>
          </p:cNvSpPr>
          <p:nvPr>
            <p:ph idx="1"/>
          </p:nvPr>
        </p:nvSpPr>
        <p:spPr/>
        <p:txBody>
          <a:bodyPr/>
          <a:lstStyle/>
          <a:p>
            <a:endParaRPr lang="en-US" dirty="0" smtClean="0"/>
          </a:p>
          <a:p>
            <a:r>
              <a:rPr lang="en-US" dirty="0" smtClean="0"/>
              <a:t>Games and Sports as a Cultural Microcosm</a:t>
            </a:r>
          </a:p>
          <a:p>
            <a:endParaRPr lang="en-US" dirty="0" smtClean="0"/>
          </a:p>
          <a:p>
            <a:r>
              <a:rPr lang="en-US" dirty="0" smtClean="0"/>
              <a:t>Leisure Travel</a:t>
            </a:r>
            <a:endParaRPr lang="en-US" dirty="0"/>
          </a:p>
        </p:txBody>
      </p:sp>
    </p:spTree>
    <p:extLst>
      <p:ext uri="{BB962C8B-B14F-4D97-AF65-F5344CB8AC3E}">
        <p14:creationId xmlns:p14="http://schemas.microsoft.com/office/powerpoint/2010/main" val="13444901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Play, Leisure, and </a:t>
            </a:r>
            <a:r>
              <a:rPr lang="en-US" dirty="0" smtClean="0"/>
              <a:t>Culture </a:t>
            </a:r>
            <a:r>
              <a:rPr lang="en-US" sz="2800" dirty="0" smtClean="0"/>
              <a:t>(2 of 3)</a:t>
            </a:r>
            <a:endParaRPr lang="en-US" sz="2800" dirty="0"/>
          </a:p>
        </p:txBody>
      </p:sp>
      <p:sp>
        <p:nvSpPr>
          <p:cNvPr id="3" name="Content Placeholder 2"/>
          <p:cNvSpPr>
            <a:spLocks noGrp="1"/>
          </p:cNvSpPr>
          <p:nvPr>
            <p:ph idx="1"/>
          </p:nvPr>
        </p:nvSpPr>
        <p:spPr/>
        <p:txBody>
          <a:bodyPr/>
          <a:lstStyle/>
          <a:p>
            <a:r>
              <a:rPr lang="en-US" dirty="0"/>
              <a:t>What is “play”?</a:t>
            </a:r>
          </a:p>
          <a:p>
            <a:pPr lvl="1"/>
            <a:r>
              <a:rPr lang="en-US" dirty="0"/>
              <a:t>Unnecessary activity (though may be functional in some ways)</a:t>
            </a:r>
          </a:p>
          <a:p>
            <a:pPr lvl="1"/>
            <a:r>
              <a:rPr lang="en-US" dirty="0"/>
              <a:t>Limited in terms of time (it has a beginning and ending)</a:t>
            </a:r>
          </a:p>
          <a:p>
            <a:pPr lvl="1"/>
            <a:r>
              <a:rPr lang="en-US" dirty="0"/>
              <a:t>Rules for how to play</a:t>
            </a:r>
          </a:p>
          <a:p>
            <a:pPr lvl="1"/>
            <a:r>
              <a:rPr lang="en-US" dirty="0"/>
              <a:t>May involve chance and tension</a:t>
            </a:r>
          </a:p>
          <a:p>
            <a:pPr lvl="1"/>
            <a:r>
              <a:rPr lang="en-US" dirty="0"/>
              <a:t>May or may not be competitive</a:t>
            </a:r>
          </a:p>
          <a:p>
            <a:endParaRPr lang="en-US" dirty="0"/>
          </a:p>
        </p:txBody>
      </p:sp>
    </p:spTree>
    <p:extLst>
      <p:ext uri="{BB962C8B-B14F-4D97-AF65-F5344CB8AC3E}">
        <p14:creationId xmlns:p14="http://schemas.microsoft.com/office/powerpoint/2010/main" val="7493976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Play, Leisure, and </a:t>
            </a:r>
            <a:r>
              <a:rPr lang="en-US" dirty="0" smtClean="0"/>
              <a:t>Culture </a:t>
            </a:r>
            <a:r>
              <a:rPr lang="en-US" sz="2800" dirty="0" smtClean="0"/>
              <a:t>(3 of 3)</a:t>
            </a:r>
            <a:endParaRPr lang="en-US" sz="2800" dirty="0"/>
          </a:p>
        </p:txBody>
      </p:sp>
      <p:sp>
        <p:nvSpPr>
          <p:cNvPr id="3" name="Content Placeholder 2"/>
          <p:cNvSpPr>
            <a:spLocks noGrp="1"/>
          </p:cNvSpPr>
          <p:nvPr>
            <p:ph idx="1"/>
          </p:nvPr>
        </p:nvSpPr>
        <p:spPr/>
        <p:txBody>
          <a:bodyPr>
            <a:normAutofit fontScale="92500"/>
          </a:bodyPr>
          <a:lstStyle/>
          <a:p>
            <a:r>
              <a:rPr lang="en-US" dirty="0" smtClean="0"/>
              <a:t>What is “leisure”?</a:t>
            </a:r>
          </a:p>
          <a:p>
            <a:pPr lvl="1"/>
            <a:r>
              <a:rPr lang="en-US" dirty="0" smtClean="0"/>
              <a:t>Overlaps with play, but does not necessarily include rules, chance, or tension</a:t>
            </a:r>
          </a:p>
          <a:p>
            <a:pPr lvl="2"/>
            <a:r>
              <a:rPr lang="en-US" dirty="0" smtClean="0"/>
              <a:t>Examples: lying on a beach, vacation travel</a:t>
            </a:r>
          </a:p>
          <a:p>
            <a:r>
              <a:rPr lang="en-US" dirty="0" smtClean="0"/>
              <a:t>Anthropologists study play and leisure within their cultural contexts as part of social systems</a:t>
            </a:r>
          </a:p>
          <a:p>
            <a:pPr lvl="1"/>
            <a:r>
              <a:rPr lang="en-US" dirty="0" smtClean="0"/>
              <a:t>Social roles and social status of participants?</a:t>
            </a:r>
          </a:p>
          <a:p>
            <a:pPr lvl="1"/>
            <a:r>
              <a:rPr lang="en-US" dirty="0" smtClean="0"/>
              <a:t>Related to group identity?</a:t>
            </a:r>
          </a:p>
          <a:p>
            <a:pPr lvl="1"/>
            <a:r>
              <a:rPr lang="en-US" dirty="0" smtClean="0"/>
              <a:t>How has it changed over time?</a:t>
            </a:r>
          </a:p>
          <a:p>
            <a:pPr lvl="2"/>
            <a:endParaRPr lang="en-US" dirty="0" smtClean="0"/>
          </a:p>
        </p:txBody>
      </p:sp>
    </p:spTree>
    <p:extLst>
      <p:ext uri="{BB962C8B-B14F-4D97-AF65-F5344CB8AC3E}">
        <p14:creationId xmlns:p14="http://schemas.microsoft.com/office/powerpoint/2010/main" val="27046838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Games and Sports </a:t>
            </a:r>
            <a:br>
              <a:rPr lang="en-US" dirty="0" smtClean="0"/>
            </a:br>
            <a:r>
              <a:rPr lang="en-US" dirty="0" smtClean="0"/>
              <a:t>as a Cultural Microcosm </a:t>
            </a:r>
            <a:r>
              <a:rPr lang="en-US" sz="3100" dirty="0" smtClean="0"/>
              <a:t>(1 of 3)</a:t>
            </a:r>
            <a:endParaRPr lang="en-US" sz="3100" dirty="0"/>
          </a:p>
        </p:txBody>
      </p:sp>
      <p:sp>
        <p:nvSpPr>
          <p:cNvPr id="3" name="Content Placeholder 2"/>
          <p:cNvSpPr>
            <a:spLocks noGrp="1"/>
          </p:cNvSpPr>
          <p:nvPr>
            <p:ph idx="1"/>
          </p:nvPr>
        </p:nvSpPr>
        <p:spPr/>
        <p:txBody>
          <a:bodyPr/>
          <a:lstStyle/>
          <a:p>
            <a:r>
              <a:rPr lang="en-US" dirty="0" smtClean="0"/>
              <a:t>Clifford Geertz suggests sports can be models </a:t>
            </a:r>
            <a:r>
              <a:rPr lang="en-US" i="1" dirty="0" smtClean="0"/>
              <a:t>of </a:t>
            </a:r>
            <a:r>
              <a:rPr lang="en-US" dirty="0" smtClean="0"/>
              <a:t>and models </a:t>
            </a:r>
            <a:r>
              <a:rPr lang="en-US" i="1" dirty="0" smtClean="0"/>
              <a:t>for</a:t>
            </a:r>
            <a:r>
              <a:rPr lang="en-US" dirty="0" smtClean="0"/>
              <a:t> a culture</a:t>
            </a:r>
          </a:p>
          <a:p>
            <a:pPr lvl="1"/>
            <a:r>
              <a:rPr lang="en-US" dirty="0" smtClean="0"/>
              <a:t>Example: baseball players from the United States and Japan</a:t>
            </a:r>
          </a:p>
          <a:p>
            <a:pPr lvl="2"/>
            <a:r>
              <a:rPr lang="en-US" dirty="0" smtClean="0"/>
              <a:t>U.S. players tend to have an individualistic attitude</a:t>
            </a:r>
          </a:p>
          <a:p>
            <a:pPr lvl="2"/>
            <a:r>
              <a:rPr lang="en-US" dirty="0" smtClean="0"/>
              <a:t>Japanese players, in accordance with the Japanese concept of </a:t>
            </a:r>
            <a:r>
              <a:rPr lang="en-US" i="1" dirty="0" smtClean="0"/>
              <a:t>wa</a:t>
            </a:r>
            <a:r>
              <a:rPr lang="en-US" dirty="0" smtClean="0"/>
              <a:t>, are more team-oriented</a:t>
            </a:r>
          </a:p>
        </p:txBody>
      </p:sp>
    </p:spTree>
    <p:extLst>
      <p:ext uri="{BB962C8B-B14F-4D97-AF65-F5344CB8AC3E}">
        <p14:creationId xmlns:p14="http://schemas.microsoft.com/office/powerpoint/2010/main" val="8809414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Games and Sports </a:t>
            </a:r>
            <a:r>
              <a:rPr lang="en-US" dirty="0" smtClean="0"/>
              <a:t/>
            </a:r>
            <a:br>
              <a:rPr lang="en-US" dirty="0" smtClean="0"/>
            </a:br>
            <a:r>
              <a:rPr lang="en-US" dirty="0" smtClean="0"/>
              <a:t>as </a:t>
            </a:r>
            <a:r>
              <a:rPr lang="en-US" dirty="0"/>
              <a:t>a Cultural </a:t>
            </a:r>
            <a:r>
              <a:rPr lang="en-US" dirty="0" smtClean="0"/>
              <a:t>Microcosm </a:t>
            </a:r>
            <a:r>
              <a:rPr lang="en-US" sz="3100" dirty="0" smtClean="0"/>
              <a:t>(2 of 3)</a:t>
            </a:r>
            <a:endParaRPr lang="en-US" sz="3100" dirty="0"/>
          </a:p>
        </p:txBody>
      </p:sp>
      <p:sp>
        <p:nvSpPr>
          <p:cNvPr id="3" name="Content Placeholder 2"/>
          <p:cNvSpPr>
            <a:spLocks noGrp="1"/>
          </p:cNvSpPr>
          <p:nvPr>
            <p:ph idx="1"/>
          </p:nvPr>
        </p:nvSpPr>
        <p:spPr/>
        <p:txBody>
          <a:bodyPr/>
          <a:lstStyle/>
          <a:p>
            <a:r>
              <a:rPr lang="en-US" dirty="0" smtClean="0"/>
              <a:t>Sports </a:t>
            </a:r>
            <a:r>
              <a:rPr lang="en-US" dirty="0"/>
              <a:t>and Spirituality: Male </a:t>
            </a:r>
            <a:r>
              <a:rPr lang="en-US" dirty="0" smtClean="0"/>
              <a:t>Wrestling in India</a:t>
            </a:r>
          </a:p>
          <a:p>
            <a:pPr lvl="1"/>
            <a:r>
              <a:rPr lang="en-US" dirty="0"/>
              <a:t>Study of Hindu male </a:t>
            </a:r>
            <a:r>
              <a:rPr lang="en-US" dirty="0" smtClean="0"/>
              <a:t>wrestlers</a:t>
            </a:r>
            <a:endParaRPr lang="en-US" dirty="0"/>
          </a:p>
          <a:p>
            <a:pPr lvl="2"/>
            <a:r>
              <a:rPr lang="en-US" dirty="0"/>
              <a:t>Physical and mental discipline</a:t>
            </a:r>
          </a:p>
          <a:p>
            <a:pPr lvl="2"/>
            <a:r>
              <a:rPr lang="en-US" dirty="0"/>
              <a:t>Dietary rules</a:t>
            </a:r>
          </a:p>
          <a:p>
            <a:pPr lvl="2"/>
            <a:r>
              <a:rPr lang="en-US" dirty="0"/>
              <a:t>Similarities with Hindu ascetics</a:t>
            </a:r>
          </a:p>
          <a:p>
            <a:pPr lvl="1"/>
            <a:endParaRPr lang="en-US" dirty="0"/>
          </a:p>
        </p:txBody>
      </p:sp>
    </p:spTree>
    <p:extLst>
      <p:ext uri="{BB962C8B-B14F-4D97-AF65-F5344CB8AC3E}">
        <p14:creationId xmlns:p14="http://schemas.microsoft.com/office/powerpoint/2010/main" val="35714444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Games and Sports </a:t>
            </a:r>
            <a:r>
              <a:rPr lang="en-US" dirty="0" smtClean="0"/>
              <a:t/>
            </a:r>
            <a:br>
              <a:rPr lang="en-US" dirty="0" smtClean="0"/>
            </a:br>
            <a:r>
              <a:rPr lang="en-US" dirty="0" smtClean="0"/>
              <a:t>as </a:t>
            </a:r>
            <a:r>
              <a:rPr lang="en-US" dirty="0"/>
              <a:t>a Cultural </a:t>
            </a:r>
            <a:r>
              <a:rPr lang="en-US" dirty="0" smtClean="0"/>
              <a:t>Microcosm </a:t>
            </a:r>
            <a:r>
              <a:rPr lang="en-US" sz="3100" dirty="0" smtClean="0"/>
              <a:t>(3 of 3)</a:t>
            </a:r>
            <a:endParaRPr lang="en-US" sz="3100" dirty="0"/>
          </a:p>
        </p:txBody>
      </p:sp>
      <p:sp>
        <p:nvSpPr>
          <p:cNvPr id="3" name="Content Placeholder 2"/>
          <p:cNvSpPr>
            <a:spLocks noGrp="1"/>
          </p:cNvSpPr>
          <p:nvPr>
            <p:ph idx="1"/>
          </p:nvPr>
        </p:nvSpPr>
        <p:spPr/>
        <p:txBody>
          <a:bodyPr>
            <a:normAutofit/>
          </a:bodyPr>
          <a:lstStyle/>
          <a:p>
            <a:r>
              <a:rPr lang="en-US" dirty="0"/>
              <a:t>Play, Pleasure, and Pain</a:t>
            </a:r>
          </a:p>
          <a:p>
            <a:pPr lvl="1"/>
            <a:r>
              <a:rPr lang="en-US" dirty="0" smtClean="0"/>
              <a:t>Blood sports</a:t>
            </a:r>
            <a:endParaRPr lang="en-US" dirty="0"/>
          </a:p>
          <a:p>
            <a:pPr lvl="2"/>
            <a:r>
              <a:rPr lang="en-US" dirty="0"/>
              <a:t>Competition that explicitly seeks to bring about the flow of blood (animal, human)</a:t>
            </a:r>
          </a:p>
          <a:p>
            <a:pPr lvl="1"/>
            <a:r>
              <a:rPr lang="en-US" dirty="0" smtClean="0"/>
              <a:t>Why</a:t>
            </a:r>
            <a:r>
              <a:rPr lang="en-US" dirty="0"/>
              <a:t>? Various explanations:</a:t>
            </a:r>
          </a:p>
          <a:p>
            <a:pPr lvl="2"/>
            <a:r>
              <a:rPr lang="en-US" dirty="0" smtClean="0"/>
              <a:t>Sadistic </a:t>
            </a:r>
            <a:r>
              <a:rPr lang="en-US" dirty="0"/>
              <a:t>tendencies of spectators/participants</a:t>
            </a:r>
          </a:p>
          <a:p>
            <a:pPr lvl="2"/>
            <a:r>
              <a:rPr lang="en-US" dirty="0"/>
              <a:t>Self-validation, especially of males</a:t>
            </a:r>
          </a:p>
          <a:p>
            <a:pPr lvl="2"/>
            <a:r>
              <a:rPr lang="en-US" dirty="0"/>
              <a:t>Symbolic of triumph of culture over nature</a:t>
            </a:r>
          </a:p>
          <a:p>
            <a:endParaRPr lang="en-US" dirty="0"/>
          </a:p>
          <a:p>
            <a:endParaRPr lang="en-US" dirty="0"/>
          </a:p>
        </p:txBody>
      </p:sp>
    </p:spTree>
    <p:extLst>
      <p:ext uri="{BB962C8B-B14F-4D97-AF65-F5344CB8AC3E}">
        <p14:creationId xmlns:p14="http://schemas.microsoft.com/office/powerpoint/2010/main" val="38367900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Leisure Travel</a:t>
            </a:r>
            <a:endParaRPr lang="en-US" dirty="0"/>
          </a:p>
        </p:txBody>
      </p:sp>
      <p:sp>
        <p:nvSpPr>
          <p:cNvPr id="3" name="Content Placeholder 2"/>
          <p:cNvSpPr>
            <a:spLocks noGrp="1"/>
          </p:cNvSpPr>
          <p:nvPr>
            <p:ph idx="1"/>
          </p:nvPr>
        </p:nvSpPr>
        <p:spPr/>
        <p:txBody>
          <a:bodyPr>
            <a:normAutofit fontScale="92500"/>
          </a:bodyPr>
          <a:lstStyle/>
          <a:p>
            <a:r>
              <a:rPr lang="en-US" dirty="0"/>
              <a:t>Often marketed as providing an “authentic” view of “primitive” cultures</a:t>
            </a:r>
          </a:p>
          <a:p>
            <a:r>
              <a:rPr lang="en-US" dirty="0"/>
              <a:t>Tourists often seek to find the culture the tourist industry defines rather than the real one</a:t>
            </a:r>
          </a:p>
          <a:p>
            <a:r>
              <a:rPr lang="en-US" dirty="0"/>
              <a:t>Anthropologists are concerned with the impact of tourism on indigenous </a:t>
            </a:r>
            <a:r>
              <a:rPr lang="en-US" dirty="0" smtClean="0"/>
              <a:t>peoples</a:t>
            </a:r>
          </a:p>
          <a:p>
            <a:r>
              <a:rPr lang="en-US" dirty="0" smtClean="0"/>
              <a:t>Some local communities have taken an active role to secure proceeds and maintain the location</a:t>
            </a:r>
          </a:p>
          <a:p>
            <a:pPr lvl="1"/>
            <a:r>
              <a:rPr lang="en-US" dirty="0" smtClean="0"/>
              <a:t>Example: Guanacaste National Park, Costa Rica</a:t>
            </a:r>
            <a:endParaRPr lang="en-US" dirty="0"/>
          </a:p>
          <a:p>
            <a:endParaRPr lang="en-US" dirty="0"/>
          </a:p>
        </p:txBody>
      </p:sp>
    </p:spTree>
    <p:extLst>
      <p:ext uri="{BB962C8B-B14F-4D97-AF65-F5344CB8AC3E}">
        <p14:creationId xmlns:p14="http://schemas.microsoft.com/office/powerpoint/2010/main" val="1052209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13.2 Costa Rica</a:t>
            </a:r>
            <a:endParaRPr lang="en-US" dirty="0"/>
          </a:p>
        </p:txBody>
      </p:sp>
      <p:pic>
        <p:nvPicPr>
          <p:cNvPr id="4" name="Content Placeholder 3" descr="A map of Costa Rica shows its capital San Jose and Guanacaste National Park. Costa Rica is bordered by Nicaragua to the north and Panama to the south. An inset map shows Costa Rica is in Central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389170" y="1447800"/>
            <a:ext cx="4468830" cy="4800501"/>
          </a:xfrm>
        </p:spPr>
      </p:pic>
    </p:spTree>
    <p:extLst>
      <p:ext uri="{BB962C8B-B14F-4D97-AF65-F5344CB8AC3E}">
        <p14:creationId xmlns:p14="http://schemas.microsoft.com/office/powerpoint/2010/main" val="10434738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Culturama: The Gullah </a:t>
            </a:r>
            <a:br>
              <a:rPr lang="en-US" dirty="0" smtClean="0"/>
            </a:br>
            <a:r>
              <a:rPr lang="en-US" dirty="0" smtClean="0"/>
              <a:t>of South Carolina </a:t>
            </a:r>
            <a:r>
              <a:rPr lang="en-US" sz="3100" dirty="0" smtClean="0"/>
              <a:t>(1 of 2)</a:t>
            </a:r>
            <a:endParaRPr lang="en-US" sz="3100" dirty="0"/>
          </a:p>
        </p:txBody>
      </p:sp>
      <p:sp>
        <p:nvSpPr>
          <p:cNvPr id="3" name="Content Placeholder 2"/>
          <p:cNvSpPr>
            <a:spLocks noGrp="1"/>
          </p:cNvSpPr>
          <p:nvPr>
            <p:ph idx="1"/>
          </p:nvPr>
        </p:nvSpPr>
        <p:spPr/>
        <p:txBody>
          <a:bodyPr>
            <a:normAutofit fontScale="92500" lnSpcReduction="10000"/>
          </a:bodyPr>
          <a:lstStyle/>
          <a:p>
            <a:r>
              <a:rPr lang="en-US" dirty="0"/>
              <a:t>The Gullah are descended from African slaves originating in West and Central Africa</a:t>
            </a:r>
          </a:p>
          <a:p>
            <a:r>
              <a:rPr lang="en-US" dirty="0"/>
              <a:t>The slaves brought with them knowledge about how to grow and harvest rice in swamps</a:t>
            </a:r>
          </a:p>
          <a:p>
            <a:r>
              <a:rPr lang="en-US" dirty="0"/>
              <a:t>Developed tidal irrigation methods of rice growing</a:t>
            </a:r>
          </a:p>
          <a:p>
            <a:r>
              <a:rPr lang="en-US" dirty="0"/>
              <a:t>Handwoven nets are masterpieces of </a:t>
            </a:r>
            <a:r>
              <a:rPr lang="en-US" dirty="0" smtClean="0"/>
              <a:t>folk </a:t>
            </a:r>
            <a:r>
              <a:rPr lang="en-US" dirty="0"/>
              <a:t>art</a:t>
            </a:r>
          </a:p>
          <a:p>
            <a:r>
              <a:rPr lang="en-US" dirty="0"/>
              <a:t>Textile arts include quilts that tell a story in their several panels</a:t>
            </a:r>
          </a:p>
          <a:p>
            <a:endParaRPr lang="en-US" dirty="0"/>
          </a:p>
        </p:txBody>
      </p:sp>
    </p:spTree>
    <p:extLst>
      <p:ext uri="{BB962C8B-B14F-4D97-AF65-F5344CB8AC3E}">
        <p14:creationId xmlns:p14="http://schemas.microsoft.com/office/powerpoint/2010/main" val="1695265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13.3 The Gullah Region</a:t>
            </a:r>
            <a:endParaRPr lang="en-US" dirty="0"/>
          </a:p>
        </p:txBody>
      </p:sp>
      <p:pic>
        <p:nvPicPr>
          <p:cNvPr id="4" name="Content Placeholder 3" descr="A map shows the Gullah region along the eastern coasts of North Carolina, South Carolina, and Georgia, including the cities of Charleston, Beaufort, and Savannah. An inset map shows the area is in the southeastern United States."/>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471953" y="1516145"/>
            <a:ext cx="4462247" cy="4808455"/>
          </a:xfrm>
        </p:spPr>
      </p:pic>
    </p:spTree>
    <p:extLst>
      <p:ext uri="{BB962C8B-B14F-4D97-AF65-F5344CB8AC3E}">
        <p14:creationId xmlns:p14="http://schemas.microsoft.com/office/powerpoint/2010/main" val="234239263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Culturama: The Gullah </a:t>
            </a:r>
            <a:r>
              <a:rPr lang="en-US" dirty="0" smtClean="0"/>
              <a:t/>
            </a:r>
            <a:br>
              <a:rPr lang="en-US" dirty="0" smtClean="0"/>
            </a:br>
            <a:r>
              <a:rPr lang="en-US" dirty="0" smtClean="0"/>
              <a:t>of </a:t>
            </a:r>
            <a:r>
              <a:rPr lang="en-US" dirty="0"/>
              <a:t>South Carolina </a:t>
            </a:r>
            <a:r>
              <a:rPr lang="en-US" sz="3100" dirty="0" smtClean="0"/>
              <a:t>(2 </a:t>
            </a:r>
            <a:r>
              <a:rPr lang="en-US" sz="3100" dirty="0"/>
              <a:t>of 2)</a:t>
            </a:r>
          </a:p>
        </p:txBody>
      </p:sp>
      <p:sp>
        <p:nvSpPr>
          <p:cNvPr id="3" name="Content Placeholder 2"/>
          <p:cNvSpPr>
            <a:spLocks noGrp="1"/>
          </p:cNvSpPr>
          <p:nvPr>
            <p:ph idx="1"/>
          </p:nvPr>
        </p:nvSpPr>
        <p:spPr/>
        <p:txBody>
          <a:bodyPr>
            <a:normAutofit fontScale="92500" lnSpcReduction="20000"/>
          </a:bodyPr>
          <a:lstStyle/>
          <a:p>
            <a:r>
              <a:rPr lang="en-US" dirty="0" smtClean="0"/>
              <a:t>Cuisine </a:t>
            </a:r>
            <a:r>
              <a:rPr lang="en-US" dirty="0"/>
              <a:t>combines African and Indian elements</a:t>
            </a:r>
          </a:p>
          <a:p>
            <a:r>
              <a:rPr lang="en-US" dirty="0"/>
              <a:t>Has become a major tourist attraction</a:t>
            </a:r>
          </a:p>
          <a:p>
            <a:r>
              <a:rPr lang="en-US" dirty="0"/>
              <a:t>Particularly identified with sweetgrass baskets (woven by men and women)</a:t>
            </a:r>
          </a:p>
          <a:p>
            <a:pPr lvl="1"/>
            <a:r>
              <a:rPr lang="en-US" dirty="0"/>
              <a:t>Demand for sweetgrass has created a conflict between Gullah cultural producers and land developers</a:t>
            </a:r>
          </a:p>
          <a:p>
            <a:pPr lvl="1"/>
            <a:r>
              <a:rPr lang="en-US" dirty="0"/>
              <a:t>Development is destroying the land on which sweetgrass grows</a:t>
            </a:r>
          </a:p>
          <a:p>
            <a:pPr lvl="1"/>
            <a:r>
              <a:rPr lang="en-US" dirty="0"/>
              <a:t>Planners are trying to find ways to devote land to growing sweetgrass</a:t>
            </a:r>
          </a:p>
          <a:p>
            <a:endParaRPr lang="en-US" dirty="0"/>
          </a:p>
        </p:txBody>
      </p:sp>
    </p:spTree>
    <p:extLst>
      <p:ext uri="{BB962C8B-B14F-4D97-AF65-F5344CB8AC3E}">
        <p14:creationId xmlns:p14="http://schemas.microsoft.com/office/powerpoint/2010/main" val="42186652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Change in Expressive Culture</a:t>
            </a:r>
            <a:r>
              <a:rPr lang="en-US" sz="3200" dirty="0" smtClean="0"/>
              <a:t/>
            </a:r>
            <a:br>
              <a:rPr lang="en-US" sz="3200" dirty="0" smtClean="0"/>
            </a:br>
            <a:r>
              <a:rPr lang="en-US" sz="2000" dirty="0" smtClean="0"/>
              <a:t>13.3 Explain how cultural heritage is a contested resource in </a:t>
            </a:r>
            <a:br>
              <a:rPr lang="en-US" sz="2000" dirty="0" smtClean="0"/>
            </a:br>
            <a:r>
              <a:rPr lang="en-US" sz="2000" dirty="0" smtClean="0"/>
              <a:t>contemporary times.</a:t>
            </a:r>
            <a:endParaRPr lang="en-US" sz="2000" dirty="0"/>
          </a:p>
        </p:txBody>
      </p:sp>
      <p:sp>
        <p:nvSpPr>
          <p:cNvPr id="3" name="Content Placeholder 2"/>
          <p:cNvSpPr>
            <a:spLocks noGrp="1"/>
          </p:cNvSpPr>
          <p:nvPr>
            <p:ph idx="1"/>
          </p:nvPr>
        </p:nvSpPr>
        <p:spPr/>
        <p:txBody>
          <a:bodyPr/>
          <a:lstStyle/>
          <a:p>
            <a:endParaRPr lang="en-US" dirty="0" smtClean="0"/>
          </a:p>
          <a:p>
            <a:r>
              <a:rPr lang="en-US" dirty="0" smtClean="0"/>
              <a:t>Colonialism and Syncretism</a:t>
            </a:r>
          </a:p>
          <a:p>
            <a:endParaRPr lang="en-US" dirty="0" smtClean="0"/>
          </a:p>
          <a:p>
            <a:r>
              <a:rPr lang="en-US" dirty="0" smtClean="0"/>
              <a:t>Tourism’s Complex Effects</a:t>
            </a:r>
          </a:p>
          <a:p>
            <a:endParaRPr lang="en-US" dirty="0" smtClean="0"/>
          </a:p>
          <a:p>
            <a:r>
              <a:rPr lang="en-US" dirty="0" smtClean="0"/>
              <a:t>Cultural Heritage as a Contested Resource</a:t>
            </a:r>
            <a:endParaRPr lang="en-US" dirty="0"/>
          </a:p>
        </p:txBody>
      </p:sp>
    </p:spTree>
    <p:extLst>
      <p:ext uri="{BB962C8B-B14F-4D97-AF65-F5344CB8AC3E}">
        <p14:creationId xmlns:p14="http://schemas.microsoft.com/office/powerpoint/2010/main" val="38701971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Colonialism and Syncretism</a:t>
            </a:r>
            <a:endParaRPr lang="en-US" dirty="0"/>
          </a:p>
        </p:txBody>
      </p:sp>
      <p:sp>
        <p:nvSpPr>
          <p:cNvPr id="3" name="Content Placeholder 2"/>
          <p:cNvSpPr>
            <a:spLocks noGrp="1"/>
          </p:cNvSpPr>
          <p:nvPr>
            <p:ph idx="1"/>
          </p:nvPr>
        </p:nvSpPr>
        <p:spPr/>
        <p:txBody>
          <a:bodyPr/>
          <a:lstStyle/>
          <a:p>
            <a:r>
              <a:rPr lang="en-US" dirty="0" smtClean="0"/>
              <a:t>Example: cricket </a:t>
            </a:r>
            <a:r>
              <a:rPr lang="en-US" dirty="0"/>
              <a:t>in the Trobriand Islands</a:t>
            </a:r>
          </a:p>
          <a:p>
            <a:pPr lvl="1"/>
            <a:r>
              <a:rPr lang="en-US" dirty="0"/>
              <a:t>British colonialists launched cricket playing in the islands as a replacement for warfare</a:t>
            </a:r>
          </a:p>
          <a:p>
            <a:pPr lvl="1"/>
            <a:r>
              <a:rPr lang="en-US" dirty="0"/>
              <a:t>Over time, the Trobrianders have remade British-style cricket into a syncretized form that fits with their </a:t>
            </a:r>
            <a:r>
              <a:rPr lang="en-US" dirty="0" smtClean="0"/>
              <a:t>culture, </a:t>
            </a:r>
            <a:r>
              <a:rPr lang="en-US" dirty="0"/>
              <a:t>including status competition and </a:t>
            </a:r>
            <a:r>
              <a:rPr lang="en-US" dirty="0" smtClean="0"/>
              <a:t>intergroup </a:t>
            </a:r>
            <a:r>
              <a:rPr lang="en-US" dirty="0"/>
              <a:t>feasting </a:t>
            </a:r>
          </a:p>
          <a:p>
            <a:endParaRPr lang="en-US" dirty="0"/>
          </a:p>
        </p:txBody>
      </p:sp>
    </p:spTree>
    <p:extLst>
      <p:ext uri="{BB962C8B-B14F-4D97-AF65-F5344CB8AC3E}">
        <p14:creationId xmlns:p14="http://schemas.microsoft.com/office/powerpoint/2010/main" val="9272273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Tourism’s Complex Effects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a:t>Tourism, especially international tourism, has brought a demand for “traditional” forms of expressive culture</a:t>
            </a:r>
          </a:p>
          <a:p>
            <a:pPr lvl="1"/>
            <a:r>
              <a:rPr lang="en-US" dirty="0" smtClean="0"/>
              <a:t>Example: Vietnamese water puppetry</a:t>
            </a:r>
            <a:endParaRPr lang="en-US" dirty="0"/>
          </a:p>
          <a:p>
            <a:r>
              <a:rPr lang="en-US" dirty="0"/>
              <a:t>Raises questions of “authenticity” when </a:t>
            </a:r>
            <a:r>
              <a:rPr lang="en-US" dirty="0" smtClean="0"/>
              <a:t>traditional forms </a:t>
            </a:r>
            <a:r>
              <a:rPr lang="en-US" dirty="0"/>
              <a:t>are changed to please tourists’ desires and schedules</a:t>
            </a:r>
          </a:p>
        </p:txBody>
      </p:sp>
    </p:spTree>
    <p:extLst>
      <p:ext uri="{BB962C8B-B14F-4D97-AF65-F5344CB8AC3E}">
        <p14:creationId xmlns:p14="http://schemas.microsoft.com/office/powerpoint/2010/main" val="288837717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Tourism’s Complex Effects </a:t>
            </a:r>
            <a:r>
              <a:rPr lang="en-US" sz="2800" dirty="0" smtClean="0"/>
              <a:t>(2 </a:t>
            </a:r>
            <a:r>
              <a:rPr lang="en-US" sz="2800" dirty="0"/>
              <a:t>of 2)</a:t>
            </a:r>
          </a:p>
        </p:txBody>
      </p:sp>
      <p:sp>
        <p:nvSpPr>
          <p:cNvPr id="3" name="Content Placeholder 2"/>
          <p:cNvSpPr>
            <a:spLocks noGrp="1"/>
          </p:cNvSpPr>
          <p:nvPr>
            <p:ph idx="1"/>
          </p:nvPr>
        </p:nvSpPr>
        <p:spPr/>
        <p:txBody>
          <a:bodyPr>
            <a:normAutofit/>
          </a:bodyPr>
          <a:lstStyle/>
          <a:p>
            <a:r>
              <a:rPr lang="en-US" dirty="0" smtClean="0"/>
              <a:t>Positive result of global tourism is recognition of:</a:t>
            </a:r>
          </a:p>
          <a:p>
            <a:pPr lvl="1"/>
            <a:r>
              <a:rPr lang="en-US" dirty="0" smtClean="0"/>
              <a:t>Material cultural heritage</a:t>
            </a:r>
          </a:p>
          <a:p>
            <a:pPr lvl="2"/>
            <a:r>
              <a:rPr lang="en-US" dirty="0" smtClean="0"/>
              <a:t>The </a:t>
            </a:r>
            <a:r>
              <a:rPr lang="en-US" dirty="0"/>
              <a:t>sites, monuments, </a:t>
            </a:r>
            <a:r>
              <a:rPr lang="en-US" dirty="0" smtClean="0"/>
              <a:t>buildings, and </a:t>
            </a:r>
            <a:r>
              <a:rPr lang="en-US" dirty="0"/>
              <a:t>movable objects considered to have outstanding value </a:t>
            </a:r>
            <a:r>
              <a:rPr lang="en-US" dirty="0" smtClean="0"/>
              <a:t>to humanity</a:t>
            </a:r>
          </a:p>
          <a:p>
            <a:pPr lvl="1"/>
            <a:r>
              <a:rPr lang="en-US" dirty="0" smtClean="0"/>
              <a:t>Intangible cultural heritage</a:t>
            </a:r>
          </a:p>
          <a:p>
            <a:pPr lvl="2"/>
            <a:r>
              <a:rPr lang="en-US" dirty="0"/>
              <a:t>UNESCO’s view of culture as </a:t>
            </a:r>
            <a:r>
              <a:rPr lang="en-US" dirty="0" smtClean="0"/>
              <a:t>manifested in </a:t>
            </a:r>
            <a:r>
              <a:rPr lang="en-US" dirty="0"/>
              <a:t>oral traditions, languages, performing arts, </a:t>
            </a:r>
            <a:r>
              <a:rPr lang="en-US" dirty="0" smtClean="0"/>
              <a:t>rituals and </a:t>
            </a:r>
            <a:r>
              <a:rPr lang="en-US" dirty="0"/>
              <a:t>festive events, knowledge and practices about nature </a:t>
            </a:r>
            <a:r>
              <a:rPr lang="en-US" dirty="0" smtClean="0"/>
              <a:t>and the </a:t>
            </a:r>
            <a:r>
              <a:rPr lang="en-US" dirty="0"/>
              <a:t>universe, and craftmaking</a:t>
            </a:r>
          </a:p>
        </p:txBody>
      </p:sp>
    </p:spTree>
    <p:extLst>
      <p:ext uri="{BB962C8B-B14F-4D97-AF65-F5344CB8AC3E}">
        <p14:creationId xmlns:p14="http://schemas.microsoft.com/office/powerpoint/2010/main" val="168772989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Anthropology Works: A </a:t>
            </a:r>
            <a:r>
              <a:rPr lang="en-US" dirty="0"/>
              <a:t>Strategy on Cultural Heritage for the World Bank</a:t>
            </a:r>
          </a:p>
        </p:txBody>
      </p:sp>
      <p:sp>
        <p:nvSpPr>
          <p:cNvPr id="3" name="Content Placeholder 2"/>
          <p:cNvSpPr>
            <a:spLocks noGrp="1"/>
          </p:cNvSpPr>
          <p:nvPr>
            <p:ph idx="1"/>
          </p:nvPr>
        </p:nvSpPr>
        <p:spPr/>
        <p:txBody>
          <a:bodyPr>
            <a:normAutofit/>
          </a:bodyPr>
          <a:lstStyle/>
          <a:p>
            <a:r>
              <a:rPr lang="en-US" dirty="0"/>
              <a:t>Michael Cernea, cultural anthropologist, worked for the World Bank for over 30 years</a:t>
            </a:r>
          </a:p>
          <a:p>
            <a:r>
              <a:rPr lang="en-US" dirty="0"/>
              <a:t>One area of work was to engage the World Bank in linking economic development via tourism to cultural heritage preservation</a:t>
            </a:r>
          </a:p>
          <a:p>
            <a:r>
              <a:rPr lang="en-US" dirty="0"/>
              <a:t>He developed a strategy for the World Bank for the Middle East and North Africa</a:t>
            </a:r>
          </a:p>
          <a:p>
            <a:pPr marL="0" indent="0">
              <a:buNone/>
            </a:pPr>
            <a:endParaRPr lang="en-US" dirty="0"/>
          </a:p>
        </p:txBody>
      </p:sp>
    </p:spTree>
    <p:extLst>
      <p:ext uri="{BB962C8B-B14F-4D97-AF65-F5344CB8AC3E}">
        <p14:creationId xmlns:p14="http://schemas.microsoft.com/office/powerpoint/2010/main" val="311417923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Cultural Heritage as a </a:t>
            </a:r>
            <a:br>
              <a:rPr lang="en-US" dirty="0" smtClean="0"/>
            </a:br>
            <a:r>
              <a:rPr lang="en-US" dirty="0" smtClean="0"/>
              <a:t>Contested Resource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Issues related to cultural heritage use and preservation</a:t>
            </a:r>
          </a:p>
          <a:p>
            <a:pPr lvl="1"/>
            <a:r>
              <a:rPr lang="en-US" dirty="0"/>
              <a:t>Who defines cultural heritage in terms of what </a:t>
            </a:r>
            <a:r>
              <a:rPr lang="en-US" dirty="0" smtClean="0"/>
              <a:t>is authentic or </a:t>
            </a:r>
            <a:r>
              <a:rPr lang="en-US" dirty="0"/>
              <a:t>inauthentic</a:t>
            </a:r>
          </a:p>
          <a:p>
            <a:pPr lvl="1"/>
            <a:r>
              <a:rPr lang="en-US" dirty="0" smtClean="0"/>
              <a:t>How </a:t>
            </a:r>
            <a:r>
              <a:rPr lang="en-US" dirty="0"/>
              <a:t>to design and carry out cultural heritage </a:t>
            </a:r>
            <a:r>
              <a:rPr lang="en-US" dirty="0" smtClean="0"/>
              <a:t>preservation to address </a:t>
            </a:r>
            <a:r>
              <a:rPr lang="en-US" dirty="0"/>
              <a:t>both insider </a:t>
            </a:r>
            <a:r>
              <a:rPr lang="en-US" dirty="0" smtClean="0"/>
              <a:t>and outsider roles </a:t>
            </a:r>
            <a:r>
              <a:rPr lang="en-US" dirty="0"/>
              <a:t>and interests</a:t>
            </a:r>
          </a:p>
          <a:p>
            <a:pPr lvl="1"/>
            <a:r>
              <a:rPr lang="en-US" dirty="0" smtClean="0"/>
              <a:t>The </a:t>
            </a:r>
            <a:r>
              <a:rPr lang="en-US" dirty="0"/>
              <a:t>grim reality of how power, either local or </a:t>
            </a:r>
            <a:r>
              <a:rPr lang="en-US" dirty="0" smtClean="0"/>
              <a:t>global, can </a:t>
            </a:r>
            <a:r>
              <a:rPr lang="en-US" dirty="0"/>
              <a:t>overwhelm local efforts to define and manage </a:t>
            </a:r>
            <a:r>
              <a:rPr lang="en-US" dirty="0" smtClean="0"/>
              <a:t>cultural heritage </a:t>
            </a:r>
            <a:r>
              <a:rPr lang="en-US" dirty="0"/>
              <a:t>for the benefit of local people, </a:t>
            </a:r>
            <a:r>
              <a:rPr lang="en-US" dirty="0" smtClean="0"/>
              <a:t>especially the </a:t>
            </a:r>
            <a:r>
              <a:rPr lang="en-US" dirty="0"/>
              <a:t>poor</a:t>
            </a:r>
          </a:p>
        </p:txBody>
      </p:sp>
    </p:spTree>
    <p:extLst>
      <p:ext uri="{BB962C8B-B14F-4D97-AF65-F5344CB8AC3E}">
        <p14:creationId xmlns:p14="http://schemas.microsoft.com/office/powerpoint/2010/main" val="54806610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Art for Good</a:t>
            </a:r>
            <a:endParaRPr lang="en-US" dirty="0"/>
          </a:p>
        </p:txBody>
      </p:sp>
      <p:sp>
        <p:nvSpPr>
          <p:cNvPr id="3" name="Content Placeholder 2"/>
          <p:cNvSpPr>
            <a:spLocks noGrp="1"/>
          </p:cNvSpPr>
          <p:nvPr>
            <p:ph idx="1"/>
          </p:nvPr>
        </p:nvSpPr>
        <p:spPr/>
        <p:txBody>
          <a:bodyPr/>
          <a:lstStyle/>
          <a:p>
            <a:r>
              <a:rPr lang="en-US" dirty="0" smtClean="0"/>
              <a:t>Emily Joy Rothchild’s work in Hamburg, Germany</a:t>
            </a:r>
          </a:p>
          <a:p>
            <a:pPr lvl="1"/>
            <a:r>
              <a:rPr lang="en-US" dirty="0" smtClean="0"/>
              <a:t>Research on a school intended to integrate children of immigrants into German society</a:t>
            </a:r>
          </a:p>
          <a:p>
            <a:pPr lvl="1"/>
            <a:r>
              <a:rPr lang="en-US" dirty="0" smtClean="0"/>
              <a:t>Children take classes in rap, dance, “beat-box,” and graffiti art</a:t>
            </a:r>
          </a:p>
          <a:p>
            <a:pPr lvl="1"/>
            <a:r>
              <a:rPr lang="en-US" dirty="0" smtClean="0"/>
              <a:t>Provides the Muslim students a way to express views against discrimination and terrorism</a:t>
            </a:r>
          </a:p>
        </p:txBody>
      </p:sp>
    </p:spTree>
    <p:extLst>
      <p:ext uri="{BB962C8B-B14F-4D97-AF65-F5344CB8AC3E}">
        <p14:creationId xmlns:p14="http://schemas.microsoft.com/office/powerpoint/2010/main" val="1777912964"/>
      </p:ext>
    </p:extLst>
  </p:cSld>
  <p:clrMapOvr>
    <a:masterClrMapping/>
  </p:clrMapOvr>
  <p:timing>
    <p:tnLst>
      <p:par>
        <p:cT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392</TotalTime>
  <Words>2013</Words>
  <Application>Microsoft Office PowerPoint</Application>
  <PresentationFormat>On-screen Show (4:3)</PresentationFormat>
  <Paragraphs>220</Paragraphs>
  <Slides>41</Slides>
  <Notes>5</Notes>
  <HiddenSlides>0</HiddenSlides>
  <MMClips>0</MMClips>
  <ScaleCrop>false</ScaleCrop>
  <HeadingPairs>
    <vt:vector size="4" baseType="variant">
      <vt:variant>
        <vt:lpstr>Theme</vt:lpstr>
      </vt:variant>
      <vt:variant>
        <vt:i4>2</vt:i4>
      </vt:variant>
      <vt:variant>
        <vt:lpstr>Slide Titles</vt:lpstr>
      </vt:variant>
      <vt:variant>
        <vt:i4>41</vt:i4>
      </vt:variant>
    </vt:vector>
  </HeadingPairs>
  <TitlesOfParts>
    <vt:vector size="43" baseType="lpstr">
      <vt:lpstr>Beebe8e_PPT_master</vt:lpstr>
      <vt:lpstr>Office Theme</vt:lpstr>
      <vt:lpstr>PowerPoint Presentation</vt:lpstr>
      <vt:lpstr>Learning Objectives</vt:lpstr>
      <vt:lpstr>Expressive Culture</vt:lpstr>
      <vt:lpstr>Art and Culture 13.1 Summarize how culture is expressed through art.</vt:lpstr>
      <vt:lpstr>What Is Art? (1 of 5)</vt:lpstr>
      <vt:lpstr>What Is Art? (2 of 5)</vt:lpstr>
      <vt:lpstr>What Is Art? (3 of 5)</vt:lpstr>
      <vt:lpstr>What Is Art? (4 of 5)</vt:lpstr>
      <vt:lpstr>What Is Art? (5 of 5)</vt:lpstr>
      <vt:lpstr>Studying Art in Society (1 of 4)</vt:lpstr>
      <vt:lpstr>Studying Art in Society (2 of 4)</vt:lpstr>
      <vt:lpstr>Studying Art in Society (3 of 4)</vt:lpstr>
      <vt:lpstr>Studying Art in Society (4 of 4)</vt:lpstr>
      <vt:lpstr>Performance Arts (1 of 4)</vt:lpstr>
      <vt:lpstr>Performance Arts (2 of 4)</vt:lpstr>
      <vt:lpstr>Performance Arts (3 of 4)</vt:lpstr>
      <vt:lpstr>Performance Arts (4 of 4)</vt:lpstr>
      <vt:lpstr>Architecture and Decorative Arts (1 of 3)</vt:lpstr>
      <vt:lpstr>Architecture and Decorative Arts (2 of 3)</vt:lpstr>
      <vt:lpstr>Architecture and Decorative Arts (3 of 3)</vt:lpstr>
      <vt:lpstr>Museums and Culture (1 of 3)</vt:lpstr>
      <vt:lpstr>Museums and Culture (2 of 3)</vt:lpstr>
      <vt:lpstr>Museums and Culture (3 of 3)</vt:lpstr>
      <vt:lpstr>Play, Leisure, and Culture (1 of 3) 13.2 Illustrate what play and leisure reveal about culture.</vt:lpstr>
      <vt:lpstr>Play, Leisure, and Culture (2 of 3)</vt:lpstr>
      <vt:lpstr>Play, Leisure, and Culture (3 of 3)</vt:lpstr>
      <vt:lpstr>Games and Sports  as a Cultural Microcosm (1 of 3)</vt:lpstr>
      <vt:lpstr>Games and Sports  as a Cultural Microcosm (2 of 3)</vt:lpstr>
      <vt:lpstr>Games and Sports  as a Cultural Microcosm (3 of 3)</vt:lpstr>
      <vt:lpstr>Leisure Travel</vt:lpstr>
      <vt:lpstr>Map 13.2 Costa Rica</vt:lpstr>
      <vt:lpstr>Culturama: The Gullah  of South Carolina (1 of 2)</vt:lpstr>
      <vt:lpstr>Map 13.3 The Gullah Region</vt:lpstr>
      <vt:lpstr>Culturama: The Gullah  of South Carolina (2 of 2)</vt:lpstr>
      <vt:lpstr>Change in Expressive Culture 13.3 Explain how cultural heritage is a contested resource in  contemporary times.</vt:lpstr>
      <vt:lpstr>Colonialism and Syncretism</vt:lpstr>
      <vt:lpstr>Tourism’s Complex Effects (1 of 2)</vt:lpstr>
      <vt:lpstr>Tourism’s Complex Effects (2 of 2)</vt:lpstr>
      <vt:lpstr>Anthropology Works: A Strategy on Cultural Heritage for the World Bank</vt:lpstr>
      <vt:lpstr>Cultural Heritage as a  Contested Resource</vt:lpstr>
      <vt:lpstr>Art for Good</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JH</cp:lastModifiedBy>
  <cp:revision>30</cp:revision>
  <dcterms:created xsi:type="dcterms:W3CDTF">2015-09-18T14:54:36Z</dcterms:created>
  <dcterms:modified xsi:type="dcterms:W3CDTF">2016-04-08T13:50:48Z</dcterms:modified>
</cp:coreProperties>
</file>