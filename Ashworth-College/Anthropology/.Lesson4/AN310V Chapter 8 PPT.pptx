
<file path=[Content_Types].xml><?xml version="1.0" encoding="utf-8"?>
<Types xmlns="http://schemas.openxmlformats.org/package/2006/content-types">
  <Default Extension="xml" ContentType="application/xml"/>
  <Default Extension="jpeg" ContentType="image/jpeg"/>
  <Default Extension="bin" ContentType="application/vnd.openxmlformats-officedocument.presentationml.printerSettings"/>
  <Default Extension="rels" ContentType="application/vnd.openxmlformats-package.relationships+xml"/>
  <Default Extension="jpg" ContentType="image/jpeg"/>
  <Default Extension="emf" ContentType="image/x-em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48" r:id="rId2"/>
  </p:sldMasterIdLst>
  <p:notesMasterIdLst>
    <p:notesMasterId r:id="rId46"/>
  </p:notesMasterIdLst>
  <p:sldIdLst>
    <p:sldId id="257" r:id="rId3"/>
    <p:sldId id="256" r:id="rId4"/>
    <p:sldId id="260" r:id="rId5"/>
    <p:sldId id="261" r:id="rId6"/>
    <p:sldId id="258" r:id="rId7"/>
    <p:sldId id="259" r:id="rId8"/>
    <p:sldId id="262" r:id="rId9"/>
    <p:sldId id="263" r:id="rId10"/>
    <p:sldId id="264" r:id="rId11"/>
    <p:sldId id="265" r:id="rId12"/>
    <p:sldId id="266" r:id="rId13"/>
    <p:sldId id="281" r:id="rId14"/>
    <p:sldId id="282" r:id="rId15"/>
    <p:sldId id="298" r:id="rId16"/>
    <p:sldId id="283" r:id="rId17"/>
    <p:sldId id="284" r:id="rId18"/>
    <p:sldId id="267" r:id="rId19"/>
    <p:sldId id="268" r:id="rId20"/>
    <p:sldId id="269" r:id="rId21"/>
    <p:sldId id="270" r:id="rId22"/>
    <p:sldId id="271" r:id="rId23"/>
    <p:sldId id="272" r:id="rId24"/>
    <p:sldId id="273" r:id="rId25"/>
    <p:sldId id="277" r:id="rId26"/>
    <p:sldId id="274" r:id="rId27"/>
    <p:sldId id="275" r:id="rId28"/>
    <p:sldId id="276" r:id="rId29"/>
    <p:sldId id="278" r:id="rId30"/>
    <p:sldId id="279" r:id="rId31"/>
    <p:sldId id="280"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0264" autoAdjust="0"/>
  </p:normalViewPr>
  <p:slideViewPr>
    <p:cSldViewPr>
      <p:cViewPr>
        <p:scale>
          <a:sx n="90" d="100"/>
          <a:sy n="90" d="100"/>
        </p:scale>
        <p:origin x="-768" y="-224"/>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46" Type="http://schemas.openxmlformats.org/officeDocument/2006/relationships/notesMaster" Target="notesMasters/notesMaster1.xml"/><Relationship Id="rId47" Type="http://schemas.openxmlformats.org/officeDocument/2006/relationships/printerSettings" Target="printerSettings/printerSettings1.bin"/><Relationship Id="rId48" Type="http://schemas.openxmlformats.org/officeDocument/2006/relationships/presProps" Target="presProps.xml"/><Relationship Id="rId49" Type="http://schemas.openxmlformats.org/officeDocument/2006/relationships/viewProps" Target="viewProps.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50" Type="http://schemas.openxmlformats.org/officeDocument/2006/relationships/theme" Target="theme/theme1.xml"/><Relationship Id="rId51" Type="http://schemas.openxmlformats.org/officeDocument/2006/relationships/tableStyles" Target="tableStyles.xml"/><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9" Type="http://schemas.openxmlformats.org/officeDocument/2006/relationships/slide" Target="slides/slide7.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37" Type="http://schemas.openxmlformats.org/officeDocument/2006/relationships/slide" Target="slides/slide35.xml"/><Relationship Id="rId38" Type="http://schemas.openxmlformats.org/officeDocument/2006/relationships/slide" Target="slides/slide36.xml"/><Relationship Id="rId39" Type="http://schemas.openxmlformats.org/officeDocument/2006/relationships/slide" Target="slides/slide37.xml"/><Relationship Id="rId40" Type="http://schemas.openxmlformats.org/officeDocument/2006/relationships/slide" Target="slides/slide38.xml"/><Relationship Id="rId41" Type="http://schemas.openxmlformats.org/officeDocument/2006/relationships/slide" Target="slides/slide39.xml"/><Relationship Id="rId42" Type="http://schemas.openxmlformats.org/officeDocument/2006/relationships/slide" Target="slides/slide40.xml"/><Relationship Id="rId43" Type="http://schemas.openxmlformats.org/officeDocument/2006/relationships/slide" Target="slides/slide41.xml"/><Relationship Id="rId44" Type="http://schemas.openxmlformats.org/officeDocument/2006/relationships/slide" Target="slides/slide42.xml"/><Relationship Id="rId45" Type="http://schemas.openxmlformats.org/officeDocument/2006/relationships/slide" Target="slides/slide4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DB25E32-40C8-4F77-A82C-2245335E9F17}" type="datetimeFigureOut">
              <a:rPr lang="en-US" smtClean="0"/>
              <a:t>4/5/16</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9DA3059-A93F-48FA-B2FB-0E980BBD5A22}" type="slidenum">
              <a:rPr lang="en-US" smtClean="0"/>
              <a:t>‹#›</a:t>
            </a:fld>
            <a:endParaRPr lang="en-US" dirty="0"/>
          </a:p>
        </p:txBody>
      </p:sp>
    </p:spTree>
    <p:extLst>
      <p:ext uri="{BB962C8B-B14F-4D97-AF65-F5344CB8AC3E}">
        <p14:creationId xmlns:p14="http://schemas.microsoft.com/office/powerpoint/2010/main" val="26400170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Republic of Ireland’s population is 4.6 million. The geography is</a:t>
            </a:r>
            <a:r>
              <a:rPr lang="en-US" baseline="0" dirty="0" smtClean="0"/>
              <a:t> </a:t>
            </a:r>
            <a:r>
              <a:rPr lang="en-US" dirty="0" smtClean="0"/>
              <a:t>low central plains surrounded by a ring of mountains. Membership</a:t>
            </a:r>
            <a:r>
              <a:rPr lang="en-US" baseline="0" dirty="0" smtClean="0"/>
              <a:t> </a:t>
            </a:r>
            <a:r>
              <a:rPr lang="en-US" dirty="0" smtClean="0"/>
              <a:t>in the European Union (EU) and the rising standard of living earned</a:t>
            </a:r>
            <a:r>
              <a:rPr lang="en-US" baseline="0" dirty="0" smtClean="0"/>
              <a:t> </a:t>
            </a:r>
            <a:r>
              <a:rPr lang="en-US" dirty="0" smtClean="0"/>
              <a:t>Ireland the nickname of the Celtic Tiger. Its economic opportunities</a:t>
            </a:r>
            <a:r>
              <a:rPr lang="en-US" baseline="0" dirty="0" smtClean="0"/>
              <a:t> </a:t>
            </a:r>
            <a:r>
              <a:rPr lang="en-US" dirty="0" smtClean="0"/>
              <a:t>attracted immigrants from places as diverse as Romania, China,</a:t>
            </a:r>
            <a:r>
              <a:rPr lang="en-US" baseline="0" dirty="0" smtClean="0"/>
              <a:t> </a:t>
            </a:r>
            <a:r>
              <a:rPr lang="en-US" dirty="0" smtClean="0"/>
              <a:t>and Nigeria. The</a:t>
            </a:r>
            <a:r>
              <a:rPr lang="en-US" baseline="0" dirty="0" smtClean="0"/>
              <a:t> </a:t>
            </a:r>
            <a:r>
              <a:rPr lang="en-US" dirty="0" smtClean="0"/>
              <a:t>financial crisis that began in 2008 has had major</a:t>
            </a:r>
            <a:r>
              <a:rPr lang="en-US" baseline="0" dirty="0" smtClean="0"/>
              <a:t> </a:t>
            </a:r>
            <a:r>
              <a:rPr lang="en-US" dirty="0" smtClean="0"/>
              <a:t>negative effects on the economy. Most people are Roman Catholics,</a:t>
            </a:r>
            <a:r>
              <a:rPr lang="en-US" baseline="0" dirty="0" smtClean="0"/>
              <a:t> </a:t>
            </a:r>
            <a:r>
              <a:rPr lang="en-US" dirty="0" smtClean="0"/>
              <a:t>followed by the Anglican Church of Ireland.</a:t>
            </a:r>
            <a:endParaRPr lang="en-US" dirty="0"/>
          </a:p>
        </p:txBody>
      </p:sp>
      <p:sp>
        <p:nvSpPr>
          <p:cNvPr id="4" name="Slide Number Placeholder 3"/>
          <p:cNvSpPr>
            <a:spLocks noGrp="1"/>
          </p:cNvSpPr>
          <p:nvPr>
            <p:ph type="sldNum" sz="quarter" idx="10"/>
          </p:nvPr>
        </p:nvSpPr>
        <p:spPr/>
        <p:txBody>
          <a:bodyPr/>
          <a:lstStyle/>
          <a:p>
            <a:fld id="{D9DA3059-A93F-48FA-B2FB-0E980BBD5A22}" type="slidenum">
              <a:rPr lang="en-US" smtClean="0"/>
              <a:t>4</a:t>
            </a:fld>
            <a:endParaRPr lang="en-US" dirty="0"/>
          </a:p>
        </p:txBody>
      </p:sp>
    </p:spTree>
    <p:extLst>
      <p:ext uri="{BB962C8B-B14F-4D97-AF65-F5344CB8AC3E}">
        <p14:creationId xmlns:p14="http://schemas.microsoft.com/office/powerpoint/2010/main" val="41331086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formal name of Hong Kong is the Hong Kong Special</a:t>
            </a:r>
            <a:r>
              <a:rPr lang="en-US" baseline="0" dirty="0" smtClean="0"/>
              <a:t> </a:t>
            </a:r>
            <a:r>
              <a:rPr lang="en-US" dirty="0" smtClean="0"/>
              <a:t>Administrative Region of the People’s Republic of China. A</a:t>
            </a:r>
            <a:r>
              <a:rPr lang="en-US" baseline="0" dirty="0" smtClean="0"/>
              <a:t> </a:t>
            </a:r>
            <a:r>
              <a:rPr lang="en-US" dirty="0" smtClean="0"/>
              <a:t>world center of finance and trade, it lacks natural resources and</a:t>
            </a:r>
            <a:r>
              <a:rPr lang="en-US" baseline="0" dirty="0" smtClean="0"/>
              <a:t> </a:t>
            </a:r>
            <a:r>
              <a:rPr lang="en-US" dirty="0" smtClean="0"/>
              <a:t>agricultural land, so it imports most of its food and raw materials.</a:t>
            </a:r>
            <a:r>
              <a:rPr lang="en-US" baseline="0" dirty="0" smtClean="0"/>
              <a:t> </a:t>
            </a:r>
            <a:r>
              <a:rPr lang="en-US" dirty="0" smtClean="0"/>
              <a:t>With seven million residents, Hong Kong’s population density is</a:t>
            </a:r>
            <a:r>
              <a:rPr lang="en-US" baseline="0" dirty="0" smtClean="0"/>
              <a:t> </a:t>
            </a:r>
            <a:r>
              <a:rPr lang="en-US" dirty="0" smtClean="0"/>
              <a:t>extremely high while its fertility rate, at 1.1, is among the world’s</a:t>
            </a:r>
            <a:r>
              <a:rPr lang="en-US" baseline="0" dirty="0" smtClean="0"/>
              <a:t> </a:t>
            </a:r>
            <a:r>
              <a:rPr lang="en-US" dirty="0" smtClean="0"/>
              <a:t>lowest. Most of the population is ethnic Chinese, and many practice</a:t>
            </a:r>
            <a:r>
              <a:rPr lang="en-US" baseline="0" dirty="0" smtClean="0"/>
              <a:t> </a:t>
            </a:r>
            <a:r>
              <a:rPr lang="en-US" dirty="0" smtClean="0"/>
              <a:t>ancestor worship. Ten percent of the population is Christian.</a:t>
            </a:r>
            <a:r>
              <a:rPr lang="en-US" baseline="0" dirty="0" smtClean="0"/>
              <a:t> </a:t>
            </a:r>
            <a:r>
              <a:rPr lang="en-US" dirty="0" smtClean="0"/>
              <a:t>Religious freedom is protected through Hong Kong’s constitution.</a:t>
            </a:r>
            <a:endParaRPr lang="en-US" dirty="0"/>
          </a:p>
        </p:txBody>
      </p:sp>
      <p:sp>
        <p:nvSpPr>
          <p:cNvPr id="4" name="Slide Number Placeholder 3"/>
          <p:cNvSpPr>
            <a:spLocks noGrp="1"/>
          </p:cNvSpPr>
          <p:nvPr>
            <p:ph type="sldNum" sz="quarter" idx="10"/>
          </p:nvPr>
        </p:nvSpPr>
        <p:spPr/>
        <p:txBody>
          <a:bodyPr/>
          <a:lstStyle/>
          <a:p>
            <a:fld id="{D9DA3059-A93F-48FA-B2FB-0E980BBD5A22}" type="slidenum">
              <a:rPr lang="en-US" smtClean="0"/>
              <a:t>14</a:t>
            </a:fld>
            <a:endParaRPr lang="en-US" dirty="0"/>
          </a:p>
        </p:txBody>
      </p:sp>
    </p:spTree>
    <p:extLst>
      <p:ext uri="{BB962C8B-B14F-4D97-AF65-F5344CB8AC3E}">
        <p14:creationId xmlns:p14="http://schemas.microsoft.com/office/powerpoint/2010/main" val="8317723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shaded area shows the traditional</a:t>
            </a:r>
            <a:r>
              <a:rPr lang="en-US" baseline="0" dirty="0" smtClean="0"/>
              <a:t> </a:t>
            </a:r>
            <a:r>
              <a:rPr lang="en-US" dirty="0" smtClean="0"/>
              <a:t>heartland of Minangkabau culture in</a:t>
            </a:r>
            <a:r>
              <a:rPr lang="en-US" baseline="0" dirty="0" smtClean="0"/>
              <a:t> </a:t>
            </a:r>
            <a:r>
              <a:rPr lang="en-US" dirty="0" smtClean="0"/>
              <a:t>western Sumatra. Many Minangkabau</a:t>
            </a:r>
            <a:r>
              <a:rPr lang="en-US" baseline="0" dirty="0" smtClean="0"/>
              <a:t> </a:t>
            </a:r>
            <a:r>
              <a:rPr lang="en-US" dirty="0" smtClean="0"/>
              <a:t>people live elsewhere in Sumatra and in</a:t>
            </a:r>
            <a:r>
              <a:rPr lang="en-US" baseline="0" dirty="0" smtClean="0"/>
              <a:t> </a:t>
            </a:r>
            <a:r>
              <a:rPr lang="en-US" dirty="0" smtClean="0"/>
              <a:t>neighboring Malaysia.</a:t>
            </a:r>
            <a:endParaRPr lang="en-US" dirty="0"/>
          </a:p>
        </p:txBody>
      </p:sp>
      <p:sp>
        <p:nvSpPr>
          <p:cNvPr id="4" name="Slide Number Placeholder 3"/>
          <p:cNvSpPr>
            <a:spLocks noGrp="1"/>
          </p:cNvSpPr>
          <p:nvPr>
            <p:ph type="sldNum" sz="quarter" idx="10"/>
          </p:nvPr>
        </p:nvSpPr>
        <p:spPr/>
        <p:txBody>
          <a:bodyPr/>
          <a:lstStyle/>
          <a:p>
            <a:fld id="{D9DA3059-A93F-48FA-B2FB-0E980BBD5A22}" type="slidenum">
              <a:rPr lang="en-US" smtClean="0"/>
              <a:t>16</a:t>
            </a:fld>
            <a:endParaRPr lang="en-US" dirty="0"/>
          </a:p>
        </p:txBody>
      </p:sp>
    </p:spTree>
    <p:extLst>
      <p:ext uri="{BB962C8B-B14F-4D97-AF65-F5344CB8AC3E}">
        <p14:creationId xmlns:p14="http://schemas.microsoft.com/office/powerpoint/2010/main" val="3039334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 The Republic of Ghana has over 25 million people. Ghana has rich</a:t>
            </a:r>
            <a:r>
              <a:rPr lang="en-US" baseline="0" dirty="0" smtClean="0"/>
              <a:t> </a:t>
            </a:r>
            <a:r>
              <a:rPr lang="en-US" dirty="0" smtClean="0"/>
              <a:t>natural resources and exports gold, timber, and cocoa. Agriculture</a:t>
            </a:r>
            <a:r>
              <a:rPr lang="en-US" baseline="0" dirty="0" smtClean="0"/>
              <a:t> </a:t>
            </a:r>
            <a:r>
              <a:rPr lang="en-US" dirty="0" smtClean="0"/>
              <a:t>is the basis of the domestic economy.</a:t>
            </a:r>
            <a:r>
              <a:rPr lang="en-US" baseline="0" dirty="0" smtClean="0"/>
              <a:t> </a:t>
            </a:r>
            <a:r>
              <a:rPr lang="en-US" dirty="0" smtClean="0"/>
              <a:t>Several ethnic groups exist,</a:t>
            </a:r>
            <a:r>
              <a:rPr lang="en-US" baseline="0" dirty="0" smtClean="0"/>
              <a:t> </a:t>
            </a:r>
            <a:r>
              <a:rPr lang="en-US" dirty="0" smtClean="0"/>
              <a:t>with the Akan people constituting over 40 percent of the population.</a:t>
            </a:r>
            <a:r>
              <a:rPr lang="en-US" baseline="0" dirty="0" smtClean="0"/>
              <a:t> </a:t>
            </a:r>
            <a:r>
              <a:rPr lang="en-US" dirty="0" smtClean="0"/>
              <a:t>English is the official language, but another 80 or so languages are</a:t>
            </a:r>
            <a:r>
              <a:rPr lang="en-US" baseline="0" dirty="0" smtClean="0"/>
              <a:t> </a:t>
            </a:r>
            <a:r>
              <a:rPr lang="en-US" dirty="0" smtClean="0"/>
              <a:t>also spoken.</a:t>
            </a:r>
            <a:r>
              <a:rPr lang="en-US" baseline="0" dirty="0" smtClean="0"/>
              <a:t> </a:t>
            </a:r>
            <a:r>
              <a:rPr lang="en-US" dirty="0" smtClean="0"/>
              <a:t>Over 60 percent of the people are Christian, 20 percent</a:t>
            </a:r>
            <a:r>
              <a:rPr lang="en-US" baseline="0" dirty="0" smtClean="0"/>
              <a:t> </a:t>
            </a:r>
            <a:r>
              <a:rPr lang="en-US" dirty="0" smtClean="0"/>
              <a:t>follow traditional religions, and 16 percent are Muslim.</a:t>
            </a:r>
            <a:endParaRPr lang="en-US" dirty="0"/>
          </a:p>
        </p:txBody>
      </p:sp>
      <p:sp>
        <p:nvSpPr>
          <p:cNvPr id="4" name="Slide Number Placeholder 3"/>
          <p:cNvSpPr>
            <a:spLocks noGrp="1"/>
          </p:cNvSpPr>
          <p:nvPr>
            <p:ph type="sldNum" sz="quarter" idx="10"/>
          </p:nvPr>
        </p:nvSpPr>
        <p:spPr/>
        <p:txBody>
          <a:bodyPr/>
          <a:lstStyle/>
          <a:p>
            <a:fld id="{D9DA3059-A93F-48FA-B2FB-0E980BBD5A22}" type="slidenum">
              <a:rPr lang="en-US" smtClean="0"/>
              <a:t>18</a:t>
            </a:fld>
            <a:endParaRPr lang="en-US" dirty="0"/>
          </a:p>
        </p:txBody>
      </p:sp>
    </p:spTree>
    <p:extLst>
      <p:ext uri="{BB962C8B-B14F-4D97-AF65-F5344CB8AC3E}">
        <p14:creationId xmlns:p14="http://schemas.microsoft.com/office/powerpoint/2010/main" val="25840732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states of southern India, compared to the northern states, have</a:t>
            </a:r>
            <a:r>
              <a:rPr lang="en-US" baseline="0" dirty="0" smtClean="0"/>
              <a:t> </a:t>
            </a:r>
            <a:r>
              <a:rPr lang="en-US" dirty="0" smtClean="0"/>
              <a:t>lower population density, lower fertility rates, higher literacy rates,</a:t>
            </a:r>
            <a:r>
              <a:rPr lang="en-US" baseline="0" dirty="0" smtClean="0"/>
              <a:t> </a:t>
            </a:r>
            <a:r>
              <a:rPr lang="en-US" dirty="0" smtClean="0"/>
              <a:t>and less severe gender inequality. Agriculture is the mainstay of</a:t>
            </a:r>
            <a:r>
              <a:rPr lang="en-US" baseline="0" dirty="0" smtClean="0"/>
              <a:t> </a:t>
            </a:r>
            <a:r>
              <a:rPr lang="en-US" dirty="0" smtClean="0"/>
              <a:t>the region’s economy, and the population is predominantly rural.</a:t>
            </a:r>
            <a:r>
              <a:rPr lang="en-US" baseline="0" dirty="0" smtClean="0"/>
              <a:t> </a:t>
            </a:r>
            <a:r>
              <a:rPr lang="en-US" dirty="0" smtClean="0"/>
              <a:t>Industry, information technology, and business process outsourcing</a:t>
            </a:r>
            <a:r>
              <a:rPr lang="en-US" baseline="0" dirty="0" smtClean="0"/>
              <a:t> </a:t>
            </a:r>
            <a:r>
              <a:rPr lang="en-US" dirty="0" smtClean="0"/>
              <a:t>(BPO) are of rising importance in several cities in the region.</a:t>
            </a:r>
            <a:endParaRPr lang="en-US" dirty="0"/>
          </a:p>
        </p:txBody>
      </p:sp>
      <p:sp>
        <p:nvSpPr>
          <p:cNvPr id="4" name="Slide Number Placeholder 3"/>
          <p:cNvSpPr>
            <a:spLocks noGrp="1"/>
          </p:cNvSpPr>
          <p:nvPr>
            <p:ph type="sldNum" sz="quarter" idx="10"/>
          </p:nvPr>
        </p:nvSpPr>
        <p:spPr/>
        <p:txBody>
          <a:bodyPr/>
          <a:lstStyle/>
          <a:p>
            <a:fld id="{D9DA3059-A93F-48FA-B2FB-0E980BBD5A22}" type="slidenum">
              <a:rPr lang="en-US" smtClean="0"/>
              <a:t>24</a:t>
            </a:fld>
            <a:endParaRPr lang="en-US" dirty="0"/>
          </a:p>
        </p:txBody>
      </p:sp>
    </p:spTree>
    <p:extLst>
      <p:ext uri="{BB962C8B-B14F-4D97-AF65-F5344CB8AC3E}">
        <p14:creationId xmlns:p14="http://schemas.microsoft.com/office/powerpoint/2010/main" val="39017072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Kelabit people’s homeland is the Kelabit Highlands in Sarawak,</a:t>
            </a:r>
            <a:r>
              <a:rPr lang="en-US" baseline="0" dirty="0" smtClean="0"/>
              <a:t> </a:t>
            </a:r>
            <a:r>
              <a:rPr lang="en-US" dirty="0" smtClean="0"/>
              <a:t>a plateau ringed by mountain peaks that are forest covered. One of</a:t>
            </a:r>
            <a:r>
              <a:rPr lang="en-US" baseline="0" dirty="0" smtClean="0"/>
              <a:t> </a:t>
            </a:r>
            <a:r>
              <a:rPr lang="en-US" dirty="0" smtClean="0"/>
              <a:t>Malaysia’s smallest indigenous tribes, they number around 6,000</a:t>
            </a:r>
            <a:r>
              <a:rPr lang="en-US" baseline="0" dirty="0" smtClean="0"/>
              <a:t> </a:t>
            </a:r>
            <a:r>
              <a:rPr lang="en-US" dirty="0" smtClean="0"/>
              <a:t>people, or 0.4 percent of Sarawak’s population of 1.5 million, and</a:t>
            </a:r>
            <a:r>
              <a:rPr lang="en-US" baseline="0" dirty="0" smtClean="0"/>
              <a:t> </a:t>
            </a:r>
            <a:r>
              <a:rPr lang="en-US" dirty="0" smtClean="0"/>
              <a:t>0.03 percent of Malaysia’s total population of 30 million.</a:t>
            </a:r>
            <a:r>
              <a:rPr lang="en-US" baseline="0" dirty="0" smtClean="0"/>
              <a:t> </a:t>
            </a:r>
            <a:r>
              <a:rPr lang="en-US" dirty="0" smtClean="0"/>
              <a:t>Less than one-third of the Kelabit people now live</a:t>
            </a:r>
            <a:r>
              <a:rPr lang="en-US" baseline="0" dirty="0" smtClean="0"/>
              <a:t> </a:t>
            </a:r>
            <a:r>
              <a:rPr lang="en-US" dirty="0" smtClean="0"/>
              <a:t>in the highlands.</a:t>
            </a:r>
            <a:endParaRPr lang="en-US" dirty="0"/>
          </a:p>
        </p:txBody>
      </p:sp>
      <p:sp>
        <p:nvSpPr>
          <p:cNvPr id="4" name="Slide Number Placeholder 3"/>
          <p:cNvSpPr>
            <a:spLocks noGrp="1"/>
          </p:cNvSpPr>
          <p:nvPr>
            <p:ph type="sldNum" sz="quarter" idx="10"/>
          </p:nvPr>
        </p:nvSpPr>
        <p:spPr/>
        <p:txBody>
          <a:bodyPr/>
          <a:lstStyle/>
          <a:p>
            <a:fld id="{D9DA3059-A93F-48FA-B2FB-0E980BBD5A22}" type="slidenum">
              <a:rPr lang="en-US" smtClean="0"/>
              <a:t>43</a:t>
            </a:fld>
            <a:endParaRPr lang="en-US" dirty="0"/>
          </a:p>
        </p:txBody>
      </p:sp>
    </p:spTree>
    <p:extLst>
      <p:ext uri="{BB962C8B-B14F-4D97-AF65-F5344CB8AC3E}">
        <p14:creationId xmlns:p14="http://schemas.microsoft.com/office/powerpoint/2010/main" val="20852099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13" name="Text Placeholder 8"/>
          <p:cNvSpPr>
            <a:spLocks noGrp="1"/>
          </p:cNvSpPr>
          <p:nvPr>
            <p:ph type="body" sz="quarter" idx="14" hasCustomPrompt="1"/>
          </p:nvPr>
        </p:nvSpPr>
        <p:spPr>
          <a:xfrm>
            <a:off x="5029200" y="1600201"/>
            <a:ext cx="3657600" cy="1600199"/>
          </a:xfrm>
        </p:spPr>
        <p:txBody>
          <a:bodyPr anchor="b">
            <a:noAutofit/>
          </a:bodyPr>
          <a:lstStyle>
            <a:lvl1pPr marL="0" indent="0">
              <a:spcBef>
                <a:spcPts val="0"/>
              </a:spcBef>
              <a:buNone/>
              <a:defRPr sz="4400" baseline="0"/>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r>
              <a:rPr lang="en-US" dirty="0" smtClean="0"/>
              <a:t>Chapter ##</a:t>
            </a:r>
            <a:endParaRPr lang="en-US" dirty="0"/>
          </a:p>
        </p:txBody>
      </p:sp>
      <p:sp>
        <p:nvSpPr>
          <p:cNvPr id="14" name="Text Placeholder 8"/>
          <p:cNvSpPr>
            <a:spLocks noGrp="1"/>
          </p:cNvSpPr>
          <p:nvPr>
            <p:ph type="body" sz="quarter" idx="15" hasCustomPrompt="1"/>
          </p:nvPr>
        </p:nvSpPr>
        <p:spPr>
          <a:xfrm>
            <a:off x="5029200" y="3200400"/>
            <a:ext cx="3657600" cy="2925763"/>
          </a:xfrm>
        </p:spPr>
        <p:txBody>
          <a:bodyPr>
            <a:noAutofit/>
          </a:bodyPr>
          <a:lstStyle>
            <a:lvl1pPr marL="0" indent="0">
              <a:spcBef>
                <a:spcPts val="0"/>
              </a:spcBef>
              <a:buNone/>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dirty="0" smtClean="0"/>
              <a:t>Chapter title</a:t>
            </a:r>
            <a:endParaRPr lang="en-US" dirty="0"/>
          </a:p>
        </p:txBody>
      </p:sp>
    </p:spTree>
    <p:extLst>
      <p:ext uri="{BB962C8B-B14F-4D97-AF65-F5344CB8AC3E}">
        <p14:creationId xmlns:p14="http://schemas.microsoft.com/office/powerpoint/2010/main" val="38060569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Tree>
    <p:extLst>
      <p:ext uri="{BB962C8B-B14F-4D97-AF65-F5344CB8AC3E}">
        <p14:creationId xmlns:p14="http://schemas.microsoft.com/office/powerpoint/2010/main" val="12550956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27EA71BB-F166-457D-824C-4683A02A486E}" type="datetimeFigureOut">
              <a:rPr lang="en-US" smtClean="0"/>
              <a:t>4/5/16</a:t>
            </a:fld>
            <a:endParaRPr lang="en-US" dirty="0"/>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US" dirty="0"/>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4A28207B-0906-41D1-A0F3-2D9ADD17E136}" type="slidenum">
              <a:rPr lang="en-US" smtClean="0"/>
              <a:t>‹#›</a:t>
            </a:fld>
            <a:endParaRPr lang="en-US" dirty="0"/>
          </a:p>
        </p:txBody>
      </p:sp>
    </p:spTree>
    <p:extLst>
      <p:ext uri="{BB962C8B-B14F-4D97-AF65-F5344CB8AC3E}">
        <p14:creationId xmlns:p14="http://schemas.microsoft.com/office/powerpoint/2010/main" val="41401908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27EA71BB-F166-457D-824C-4683A02A486E}" type="datetimeFigureOut">
              <a:rPr lang="en-US" smtClean="0"/>
              <a:t>4/5/16</a:t>
            </a:fld>
            <a:endParaRPr lang="en-US" dirty="0"/>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US" dirty="0"/>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4A28207B-0906-41D1-A0F3-2D9ADD17E136}" type="slidenum">
              <a:rPr lang="en-US" smtClean="0"/>
              <a:t>‹#›</a:t>
            </a:fld>
            <a:endParaRPr lang="en-US" dirty="0"/>
          </a:p>
        </p:txBody>
      </p:sp>
    </p:spTree>
    <p:extLst>
      <p:ext uri="{BB962C8B-B14F-4D97-AF65-F5344CB8AC3E}">
        <p14:creationId xmlns:p14="http://schemas.microsoft.com/office/powerpoint/2010/main" val="26780486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a:xfrm>
            <a:off x="457200" y="6356350"/>
            <a:ext cx="2133600" cy="365125"/>
          </a:xfrm>
          <a:prstGeom prst="rect">
            <a:avLst/>
          </a:prstGeom>
        </p:spPr>
        <p:txBody>
          <a:bodyPr/>
          <a:lstStyle/>
          <a:p>
            <a:fld id="{27EA71BB-F166-457D-824C-4683A02A486E}" type="datetimeFigureOut">
              <a:rPr lang="en-US" smtClean="0"/>
              <a:t>4/5/16</a:t>
            </a:fld>
            <a:endParaRPr lang="en-US" dirty="0"/>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endParaRPr lang="en-US" dirty="0"/>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p>
            <a:fld id="{4A28207B-0906-41D1-A0F3-2D9ADD17E136}" type="slidenum">
              <a:rPr lang="en-US" smtClean="0"/>
              <a:t>‹#›</a:t>
            </a:fld>
            <a:endParaRPr lang="en-US" dirty="0"/>
          </a:p>
        </p:txBody>
      </p:sp>
    </p:spTree>
    <p:extLst>
      <p:ext uri="{BB962C8B-B14F-4D97-AF65-F5344CB8AC3E}">
        <p14:creationId xmlns:p14="http://schemas.microsoft.com/office/powerpoint/2010/main" val="5718418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a:xfrm>
            <a:off x="457200" y="6356350"/>
            <a:ext cx="2133600" cy="365125"/>
          </a:xfrm>
          <a:prstGeom prst="rect">
            <a:avLst/>
          </a:prstGeom>
        </p:spPr>
        <p:txBody>
          <a:bodyPr/>
          <a:lstStyle/>
          <a:p>
            <a:fld id="{27EA71BB-F166-457D-824C-4683A02A486E}" type="datetimeFigureOut">
              <a:rPr lang="en-US" smtClean="0"/>
              <a:t>4/5/16</a:t>
            </a:fld>
            <a:endParaRPr lang="en-US" dirty="0"/>
          </a:p>
        </p:txBody>
      </p:sp>
      <p:sp>
        <p:nvSpPr>
          <p:cNvPr id="8" name="Footer Placeholder 7"/>
          <p:cNvSpPr>
            <a:spLocks noGrp="1"/>
          </p:cNvSpPr>
          <p:nvPr>
            <p:ph type="ftr" sz="quarter" idx="11"/>
          </p:nvPr>
        </p:nvSpPr>
        <p:spPr>
          <a:xfrm>
            <a:off x="3124200" y="6356350"/>
            <a:ext cx="2895600" cy="365125"/>
          </a:xfrm>
          <a:prstGeom prst="rect">
            <a:avLst/>
          </a:prstGeom>
        </p:spPr>
        <p:txBody>
          <a:bodyPr/>
          <a:lstStyle/>
          <a:p>
            <a:endParaRPr lang="en-US" dirty="0"/>
          </a:p>
        </p:txBody>
      </p:sp>
      <p:sp>
        <p:nvSpPr>
          <p:cNvPr id="9" name="Slide Number Placeholder 8"/>
          <p:cNvSpPr>
            <a:spLocks noGrp="1"/>
          </p:cNvSpPr>
          <p:nvPr>
            <p:ph type="sldNum" sz="quarter" idx="12"/>
          </p:nvPr>
        </p:nvSpPr>
        <p:spPr>
          <a:xfrm>
            <a:off x="6553200" y="6356350"/>
            <a:ext cx="2133600" cy="365125"/>
          </a:xfrm>
          <a:prstGeom prst="rect">
            <a:avLst/>
          </a:prstGeom>
        </p:spPr>
        <p:txBody>
          <a:bodyPr/>
          <a:lstStyle/>
          <a:p>
            <a:fld id="{4A28207B-0906-41D1-A0F3-2D9ADD17E136}" type="slidenum">
              <a:rPr lang="en-US" smtClean="0"/>
              <a:t>‹#›</a:t>
            </a:fld>
            <a:endParaRPr lang="en-US" dirty="0"/>
          </a:p>
        </p:txBody>
      </p:sp>
    </p:spTree>
    <p:extLst>
      <p:ext uri="{BB962C8B-B14F-4D97-AF65-F5344CB8AC3E}">
        <p14:creationId xmlns:p14="http://schemas.microsoft.com/office/powerpoint/2010/main" val="29906772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a:xfrm>
            <a:off x="457200" y="6356350"/>
            <a:ext cx="2133600" cy="365125"/>
          </a:xfrm>
          <a:prstGeom prst="rect">
            <a:avLst/>
          </a:prstGeom>
        </p:spPr>
        <p:txBody>
          <a:bodyPr/>
          <a:lstStyle/>
          <a:p>
            <a:fld id="{27EA71BB-F166-457D-824C-4683A02A486E}" type="datetimeFigureOut">
              <a:rPr lang="en-US" smtClean="0"/>
              <a:t>4/5/16</a:t>
            </a:fld>
            <a:endParaRPr lang="en-US" dirty="0"/>
          </a:p>
        </p:txBody>
      </p:sp>
      <p:sp>
        <p:nvSpPr>
          <p:cNvPr id="4" name="Footer Placeholder 3"/>
          <p:cNvSpPr>
            <a:spLocks noGrp="1"/>
          </p:cNvSpPr>
          <p:nvPr>
            <p:ph type="ftr" sz="quarter" idx="11"/>
          </p:nvPr>
        </p:nvSpPr>
        <p:spPr>
          <a:xfrm>
            <a:off x="3124200" y="6356350"/>
            <a:ext cx="2895600" cy="365125"/>
          </a:xfrm>
          <a:prstGeom prst="rect">
            <a:avLst/>
          </a:prstGeom>
        </p:spPr>
        <p:txBody>
          <a:bodyPr/>
          <a:lstStyle/>
          <a:p>
            <a:endParaRPr lang="en-US" dirty="0"/>
          </a:p>
        </p:txBody>
      </p:sp>
      <p:sp>
        <p:nvSpPr>
          <p:cNvPr id="5" name="Slide Number Placeholder 4"/>
          <p:cNvSpPr>
            <a:spLocks noGrp="1"/>
          </p:cNvSpPr>
          <p:nvPr>
            <p:ph type="sldNum" sz="quarter" idx="12"/>
          </p:nvPr>
        </p:nvSpPr>
        <p:spPr>
          <a:xfrm>
            <a:off x="6553200" y="6356350"/>
            <a:ext cx="2133600" cy="365125"/>
          </a:xfrm>
          <a:prstGeom prst="rect">
            <a:avLst/>
          </a:prstGeom>
        </p:spPr>
        <p:txBody>
          <a:bodyPr/>
          <a:lstStyle/>
          <a:p>
            <a:fld id="{4A28207B-0906-41D1-A0F3-2D9ADD17E136}" type="slidenum">
              <a:rPr lang="en-US" smtClean="0"/>
              <a:t>‹#›</a:t>
            </a:fld>
            <a:endParaRPr lang="en-US" dirty="0"/>
          </a:p>
        </p:txBody>
      </p:sp>
    </p:spTree>
    <p:extLst>
      <p:ext uri="{BB962C8B-B14F-4D97-AF65-F5344CB8AC3E}">
        <p14:creationId xmlns:p14="http://schemas.microsoft.com/office/powerpoint/2010/main" val="37589115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0"/>
            <a:ext cx="2133600" cy="365125"/>
          </a:xfrm>
          <a:prstGeom prst="rect">
            <a:avLst/>
          </a:prstGeom>
        </p:spPr>
        <p:txBody>
          <a:bodyPr/>
          <a:lstStyle/>
          <a:p>
            <a:fld id="{27EA71BB-F166-457D-824C-4683A02A486E}" type="datetimeFigureOut">
              <a:rPr lang="en-US" smtClean="0"/>
              <a:t>4/5/16</a:t>
            </a:fld>
            <a:endParaRPr lang="en-US" dirty="0"/>
          </a:p>
        </p:txBody>
      </p:sp>
      <p:sp>
        <p:nvSpPr>
          <p:cNvPr id="3" name="Footer Placeholder 2"/>
          <p:cNvSpPr>
            <a:spLocks noGrp="1"/>
          </p:cNvSpPr>
          <p:nvPr>
            <p:ph type="ftr" sz="quarter" idx="11"/>
          </p:nvPr>
        </p:nvSpPr>
        <p:spPr>
          <a:xfrm>
            <a:off x="3124200" y="6356350"/>
            <a:ext cx="2895600" cy="365125"/>
          </a:xfrm>
          <a:prstGeom prst="rect">
            <a:avLst/>
          </a:prstGeom>
        </p:spPr>
        <p:txBody>
          <a:bodyPr/>
          <a:lstStyle/>
          <a:p>
            <a:endParaRPr lang="en-US" dirty="0"/>
          </a:p>
        </p:txBody>
      </p:sp>
      <p:sp>
        <p:nvSpPr>
          <p:cNvPr id="4" name="Slide Number Placeholder 3"/>
          <p:cNvSpPr>
            <a:spLocks noGrp="1"/>
          </p:cNvSpPr>
          <p:nvPr>
            <p:ph type="sldNum" sz="quarter" idx="12"/>
          </p:nvPr>
        </p:nvSpPr>
        <p:spPr>
          <a:xfrm>
            <a:off x="6553200" y="6356350"/>
            <a:ext cx="2133600" cy="365125"/>
          </a:xfrm>
          <a:prstGeom prst="rect">
            <a:avLst/>
          </a:prstGeom>
        </p:spPr>
        <p:txBody>
          <a:bodyPr/>
          <a:lstStyle/>
          <a:p>
            <a:fld id="{4A28207B-0906-41D1-A0F3-2D9ADD17E136}" type="slidenum">
              <a:rPr lang="en-US" smtClean="0"/>
              <a:t>‹#›</a:t>
            </a:fld>
            <a:endParaRPr lang="en-US" dirty="0"/>
          </a:p>
        </p:txBody>
      </p:sp>
    </p:spTree>
    <p:extLst>
      <p:ext uri="{BB962C8B-B14F-4D97-AF65-F5344CB8AC3E}">
        <p14:creationId xmlns:p14="http://schemas.microsoft.com/office/powerpoint/2010/main" val="643102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fld id="{27EA71BB-F166-457D-824C-4683A02A486E}" type="datetimeFigureOut">
              <a:rPr lang="en-US" smtClean="0"/>
              <a:t>4/5/16</a:t>
            </a:fld>
            <a:endParaRPr lang="en-US" dirty="0"/>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endParaRPr lang="en-US" dirty="0"/>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p>
            <a:fld id="{4A28207B-0906-41D1-A0F3-2D9ADD17E136}" type="slidenum">
              <a:rPr lang="en-US" smtClean="0"/>
              <a:t>‹#›</a:t>
            </a:fld>
            <a:endParaRPr lang="en-US" dirty="0"/>
          </a:p>
        </p:txBody>
      </p:sp>
    </p:spTree>
    <p:extLst>
      <p:ext uri="{BB962C8B-B14F-4D97-AF65-F5344CB8AC3E}">
        <p14:creationId xmlns:p14="http://schemas.microsoft.com/office/powerpoint/2010/main" val="294210556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emf"/><Relationship Id="rId4" Type="http://schemas.openxmlformats.org/officeDocument/2006/relationships/image" Target="../media/image2.emf"/><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4.xml"/><Relationship Id="rId4" Type="http://schemas.openxmlformats.org/officeDocument/2006/relationships/slideLayout" Target="../slideLayouts/slideLayout5.xml"/><Relationship Id="rId5" Type="http://schemas.openxmlformats.org/officeDocument/2006/relationships/slideLayout" Target="../slideLayouts/slideLayout6.xml"/><Relationship Id="rId6" Type="http://schemas.openxmlformats.org/officeDocument/2006/relationships/slideLayout" Target="../slideLayouts/slideLayout7.xml"/><Relationship Id="rId7" Type="http://schemas.openxmlformats.org/officeDocument/2006/relationships/slideLayout" Target="../slideLayouts/slideLayout8.xml"/><Relationship Id="rId8" Type="http://schemas.openxmlformats.org/officeDocument/2006/relationships/slideLayout" Target="../slideLayouts/slideLayout9.xml"/><Relationship Id="rId9" Type="http://schemas.openxmlformats.org/officeDocument/2006/relationships/theme" Target="../theme/theme2.xml"/><Relationship Id="rId10" Type="http://schemas.openxmlformats.org/officeDocument/2006/relationships/image" Target="../media/image2.emf"/><Relationship Id="rId1" Type="http://schemas.openxmlformats.org/officeDocument/2006/relationships/slideLayout" Target="../slideLayouts/slideLayout2.xml"/><Relationship Id="rId2"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1" name="Rectangle 10"/>
          <p:cNvSpPr/>
          <p:nvPr/>
        </p:nvSpPr>
        <p:spPr bwMode="white">
          <a:xfrm>
            <a:off x="0" y="0"/>
            <a:ext cx="9144000" cy="13716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grpSp>
        <p:nvGrpSpPr>
          <p:cNvPr id="7" name="Group 6"/>
          <p:cNvGrpSpPr/>
          <p:nvPr/>
        </p:nvGrpSpPr>
        <p:grpSpPr>
          <a:xfrm>
            <a:off x="0" y="6400800"/>
            <a:ext cx="9137650" cy="457200"/>
            <a:chOff x="0" y="6511925"/>
            <a:chExt cx="9137650" cy="430213"/>
          </a:xfrm>
          <a:solidFill>
            <a:schemeClr val="accent1">
              <a:lumMod val="75000"/>
            </a:schemeClr>
          </a:solidFill>
        </p:grpSpPr>
        <p:pic>
          <p:nvPicPr>
            <p:cNvPr id="8" name="Always Learning Logo" descr="Pearson: Always Learning Logo"/>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black">
            <a:xfrm>
              <a:off x="0" y="6511926"/>
              <a:ext cx="1660525" cy="43021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9" name="Pearson Logo"/>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black">
            <a:xfrm>
              <a:off x="7696200" y="6511925"/>
              <a:ext cx="1441450" cy="430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pic>
        <p:sp>
          <p:nvSpPr>
            <p:cNvPr id="10" name="Copyright" descr="Copyright 2015, 2012, 2009"/>
            <p:cNvSpPr txBox="1">
              <a:spLocks noChangeArrowheads="1"/>
            </p:cNvSpPr>
            <p:nvPr/>
          </p:nvSpPr>
          <p:spPr bwMode="auto">
            <a:xfrm>
              <a:off x="1600200" y="6511926"/>
              <a:ext cx="6130132" cy="430212"/>
            </a:xfrm>
            <a:prstGeom prst="rect">
              <a:avLst/>
            </a:prstGeom>
            <a:grpFill/>
            <a:ln w="9525">
              <a:noFill/>
              <a:miter lim="800000"/>
              <a:headEnd/>
              <a:tailEnd/>
            </a:ln>
          </p:spPr>
          <p:txBody>
            <a:bodyPr lIns="0" tIns="0" rIns="0" bIns="0" anchor="ctr"/>
            <a:lstStyle>
              <a:lvl1pPr eaLnBrk="0" hangingPunct="0">
                <a:defRPr sz="2400">
                  <a:solidFill>
                    <a:schemeClr val="tx1"/>
                  </a:solidFill>
                  <a:latin typeface="Arial" panose="020B0604020202020204" pitchFamily="34" charset="0"/>
                </a:defRPr>
              </a:lvl1pPr>
              <a:lvl2pPr marL="37931725" indent="-37474525"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marL="457200" eaLnBrk="0" fontAlgn="base" hangingPunct="0">
                <a:spcBef>
                  <a:spcPct val="0"/>
                </a:spcBef>
                <a:spcAft>
                  <a:spcPct val="0"/>
                </a:spcAft>
                <a:defRPr sz="2400">
                  <a:solidFill>
                    <a:schemeClr val="tx1"/>
                  </a:solidFill>
                  <a:latin typeface="Arial" panose="020B0604020202020204" pitchFamily="34" charset="0"/>
                </a:defRPr>
              </a:lvl6pPr>
              <a:lvl7pPr marL="914400" eaLnBrk="0" fontAlgn="base" hangingPunct="0">
                <a:spcBef>
                  <a:spcPct val="0"/>
                </a:spcBef>
                <a:spcAft>
                  <a:spcPct val="0"/>
                </a:spcAft>
                <a:defRPr sz="2400">
                  <a:solidFill>
                    <a:schemeClr val="tx1"/>
                  </a:solidFill>
                  <a:latin typeface="Arial" panose="020B0604020202020204" pitchFamily="34" charset="0"/>
                </a:defRPr>
              </a:lvl7pPr>
              <a:lvl8pPr marL="1371600" eaLnBrk="0" fontAlgn="base" hangingPunct="0">
                <a:spcBef>
                  <a:spcPct val="0"/>
                </a:spcBef>
                <a:spcAft>
                  <a:spcPct val="0"/>
                </a:spcAft>
                <a:defRPr sz="2400">
                  <a:solidFill>
                    <a:schemeClr val="tx1"/>
                  </a:solidFill>
                  <a:latin typeface="Arial" panose="020B0604020202020204" pitchFamily="34" charset="0"/>
                </a:defRPr>
              </a:lvl8pPr>
              <a:lvl9pPr marL="1828800" eaLnBrk="0" fontAlgn="base" hangingPunct="0">
                <a:spcBef>
                  <a:spcPct val="0"/>
                </a:spcBef>
                <a:spcAft>
                  <a:spcPct val="0"/>
                </a:spcAft>
                <a:defRPr sz="2400">
                  <a:solidFill>
                    <a:schemeClr val="tx1"/>
                  </a:solidFill>
                  <a:latin typeface="Arial" panose="020B0604020202020204" pitchFamily="34" charset="0"/>
                </a:defRPr>
              </a:lvl9pPr>
            </a:lstStyle>
            <a:p>
              <a:pPr algn="ctr">
                <a:defRPr/>
              </a:pPr>
              <a:r>
                <a:rPr lang="en-US" altLang="en-US" sz="1200" b="0" dirty="0" smtClean="0">
                  <a:solidFill>
                    <a:schemeClr val="bg1"/>
                  </a:solidFill>
                  <a:latin typeface="Verdana" panose="020B0604030504040204" pitchFamily="34" charset="0"/>
                  <a:ea typeface="Verdana" panose="020B0604030504040204" pitchFamily="34" charset="0"/>
                  <a:cs typeface="Verdana" panose="020B0604030504040204" pitchFamily="34" charset="0"/>
                </a:rPr>
                <a:t>Copyright © 2017,</a:t>
              </a:r>
              <a:r>
                <a:rPr lang="en-US" altLang="en-US" sz="1200" b="0" baseline="0" dirty="0" smtClean="0">
                  <a:solidFill>
                    <a:schemeClr val="bg1"/>
                  </a:solidFill>
                  <a:latin typeface="Verdana" panose="020B0604030504040204" pitchFamily="34" charset="0"/>
                  <a:ea typeface="Verdana" panose="020B0604030504040204" pitchFamily="34" charset="0"/>
                  <a:cs typeface="Verdana" panose="020B0604030504040204" pitchFamily="34" charset="0"/>
                </a:rPr>
                <a:t> 2013, 2011 </a:t>
              </a:r>
              <a:r>
                <a:rPr lang="en-US" altLang="en-US" sz="1200" b="0" dirty="0" smtClean="0">
                  <a:solidFill>
                    <a:schemeClr val="bg1"/>
                  </a:solidFill>
                  <a:latin typeface="Verdana" panose="020B0604030504040204" pitchFamily="34" charset="0"/>
                  <a:ea typeface="Verdana" panose="020B0604030504040204" pitchFamily="34" charset="0"/>
                  <a:cs typeface="Verdana" panose="020B0604030504040204" pitchFamily="34" charset="0"/>
                </a:rPr>
                <a:t>Pearson Education, Inc.</a:t>
              </a:r>
              <a:r>
                <a:rPr lang="en-US" altLang="en-US" sz="1200" b="0" baseline="0" dirty="0" smtClean="0">
                  <a:solidFill>
                    <a:schemeClr val="bg1"/>
                  </a:solidFill>
                  <a:latin typeface="Verdana" panose="020B0604030504040204" pitchFamily="34" charset="0"/>
                  <a:ea typeface="Verdana" panose="020B0604030504040204" pitchFamily="34" charset="0"/>
                  <a:cs typeface="Verdana" panose="020B0604030504040204" pitchFamily="34" charset="0"/>
                </a:rPr>
                <a:t> </a:t>
              </a:r>
              <a:r>
                <a:rPr lang="en-US" altLang="en-US" sz="1200" b="0" dirty="0" smtClean="0">
                  <a:solidFill>
                    <a:schemeClr val="bg1"/>
                  </a:solidFill>
                  <a:latin typeface="Verdana" panose="020B0604030504040204" pitchFamily="34" charset="0"/>
                  <a:ea typeface="Verdana" panose="020B0604030504040204" pitchFamily="34" charset="0"/>
                  <a:cs typeface="Verdana" panose="020B0604030504040204" pitchFamily="34" charset="0"/>
                </a:rPr>
                <a:t>All Rights Reserved</a:t>
              </a:r>
            </a:p>
          </p:txBody>
        </p:sp>
      </p:grpSp>
      <p:sp>
        <p:nvSpPr>
          <p:cNvPr id="13" name="Title 10"/>
          <p:cNvSpPr txBox="1">
            <a:spLocks/>
          </p:cNvSpPr>
          <p:nvPr/>
        </p:nvSpPr>
        <p:spPr>
          <a:xfrm>
            <a:off x="457200" y="215372"/>
            <a:ext cx="8229600" cy="601058"/>
          </a:xfrm>
          <a:prstGeom prst="rect">
            <a:avLst/>
          </a:prstGeom>
        </p:spPr>
        <p:txBody>
          <a:bodyPr anchor="t"/>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4400" dirty="0" smtClean="0">
                <a:solidFill>
                  <a:schemeClr val="bg1"/>
                </a:solidFill>
              </a:rPr>
              <a:t>Cultural</a:t>
            </a:r>
            <a:r>
              <a:rPr lang="en-US" sz="4400" baseline="0" dirty="0" smtClean="0">
                <a:solidFill>
                  <a:schemeClr val="bg1"/>
                </a:solidFill>
              </a:rPr>
              <a:t> Anthropology</a:t>
            </a:r>
            <a:endParaRPr lang="en-US" sz="4400" dirty="0">
              <a:solidFill>
                <a:schemeClr val="bg1"/>
              </a:solidFill>
            </a:endParaRPr>
          </a:p>
        </p:txBody>
      </p:sp>
      <p:sp>
        <p:nvSpPr>
          <p:cNvPr id="14" name="Text Placeholder 6"/>
          <p:cNvSpPr txBox="1">
            <a:spLocks/>
          </p:cNvSpPr>
          <p:nvPr/>
        </p:nvSpPr>
        <p:spPr>
          <a:xfrm>
            <a:off x="457200" y="816430"/>
            <a:ext cx="8229600" cy="478970"/>
          </a:xfrm>
          <a:prstGeom prst="rect">
            <a:avLst/>
          </a:prstGeom>
        </p:spPr>
        <p:txBody>
          <a:bodyPr>
            <a:noAutofit/>
          </a:bodyPr>
          <a:lstStyle>
            <a:lvl1pPr marL="0" indent="0" algn="l" defTabSz="914400" rtl="0" eaLnBrk="1" latinLnBrk="0" hangingPunct="1">
              <a:spcBef>
                <a:spcPts val="0"/>
              </a:spcBef>
              <a:buFont typeface="Arial" panose="020B0604020202020204" pitchFamily="34" charset="0"/>
              <a:buNone/>
              <a:defRPr sz="2400" kern="1200">
                <a:solidFill>
                  <a:schemeClr val="bg1"/>
                </a:solidFill>
                <a:latin typeface="+mn-lt"/>
                <a:ea typeface="+mn-ea"/>
                <a:cs typeface="+mn-cs"/>
              </a:defRPr>
            </a:lvl1pPr>
            <a:lvl2pPr marL="0" indent="0" algn="l" defTabSz="914400" rtl="0" eaLnBrk="1" latinLnBrk="0" hangingPunct="1">
              <a:spcBef>
                <a:spcPts val="0"/>
              </a:spcBef>
              <a:buFont typeface="Arial" panose="020B0604020202020204" pitchFamily="34" charset="0"/>
              <a:buNone/>
              <a:defRPr sz="2400" kern="1200">
                <a:solidFill>
                  <a:schemeClr val="bg1"/>
                </a:solidFill>
                <a:latin typeface="+mn-lt"/>
                <a:ea typeface="+mn-ea"/>
                <a:cs typeface="+mn-cs"/>
              </a:defRPr>
            </a:lvl2pPr>
            <a:lvl3pPr marL="0" indent="0" algn="l" defTabSz="914400" rtl="0" eaLnBrk="1" latinLnBrk="0" hangingPunct="1">
              <a:spcBef>
                <a:spcPts val="0"/>
              </a:spcBef>
              <a:buFont typeface="Arial" panose="020B0604020202020204" pitchFamily="34" charset="0"/>
              <a:buNone/>
              <a:defRPr sz="2400" kern="1200">
                <a:solidFill>
                  <a:schemeClr val="bg1"/>
                </a:solidFill>
                <a:latin typeface="+mn-lt"/>
                <a:ea typeface="+mn-ea"/>
                <a:cs typeface="+mn-cs"/>
              </a:defRPr>
            </a:lvl3pPr>
            <a:lvl4pPr marL="0" indent="0" algn="l" defTabSz="914400" rtl="0" eaLnBrk="1" latinLnBrk="0" hangingPunct="1">
              <a:spcBef>
                <a:spcPts val="0"/>
              </a:spcBef>
              <a:buFont typeface="Arial" panose="020B0604020202020204" pitchFamily="34" charset="0"/>
              <a:buNone/>
              <a:defRPr sz="2400" kern="1200">
                <a:solidFill>
                  <a:schemeClr val="bg1"/>
                </a:solidFill>
                <a:latin typeface="+mn-lt"/>
                <a:ea typeface="+mn-ea"/>
                <a:cs typeface="+mn-cs"/>
              </a:defRPr>
            </a:lvl4pPr>
            <a:lvl5pPr marL="0" indent="0" algn="l" defTabSz="914400" rtl="0" eaLnBrk="1" latinLnBrk="0" hangingPunct="1">
              <a:spcBef>
                <a:spcPts val="0"/>
              </a:spcBef>
              <a:buFont typeface="Arial" panose="020B0604020202020204" pitchFamily="34" charset="0"/>
              <a:buNone/>
              <a:defRPr sz="2400" kern="1200">
                <a:solidFill>
                  <a:schemeClr val="bg1"/>
                </a:solidFill>
                <a:latin typeface="+mn-lt"/>
                <a:ea typeface="+mn-ea"/>
                <a:cs typeface="+mn-cs"/>
              </a:defRPr>
            </a:lvl5pPr>
            <a:lvl6pPr marL="0" indent="0" algn="l" defTabSz="914400" rtl="0" eaLnBrk="1" latinLnBrk="0" hangingPunct="1">
              <a:spcBef>
                <a:spcPts val="0"/>
              </a:spcBef>
              <a:buFont typeface="Arial" panose="020B0604020202020204" pitchFamily="34" charset="0"/>
              <a:buNone/>
              <a:defRPr sz="2400" kern="1200">
                <a:solidFill>
                  <a:schemeClr val="bg1"/>
                </a:solidFill>
                <a:latin typeface="+mn-lt"/>
                <a:ea typeface="+mn-ea"/>
                <a:cs typeface="+mn-cs"/>
              </a:defRPr>
            </a:lvl6pPr>
            <a:lvl7pPr marL="0" indent="0" algn="l" defTabSz="914400" rtl="0" eaLnBrk="1" latinLnBrk="0" hangingPunct="1">
              <a:spcBef>
                <a:spcPts val="0"/>
              </a:spcBef>
              <a:buFont typeface="Arial" panose="020B0604020202020204" pitchFamily="34" charset="0"/>
              <a:buNone/>
              <a:defRPr sz="2400" kern="1200">
                <a:solidFill>
                  <a:schemeClr val="bg1"/>
                </a:solidFill>
                <a:latin typeface="+mn-lt"/>
                <a:ea typeface="+mn-ea"/>
                <a:cs typeface="+mn-cs"/>
              </a:defRPr>
            </a:lvl7pPr>
            <a:lvl8pPr marL="0" indent="0" algn="l" defTabSz="914400" rtl="0" eaLnBrk="1" latinLnBrk="0" hangingPunct="1">
              <a:spcBef>
                <a:spcPts val="0"/>
              </a:spcBef>
              <a:buFont typeface="Arial" panose="020B0604020202020204" pitchFamily="34" charset="0"/>
              <a:buNone/>
              <a:defRPr sz="2400" kern="1200">
                <a:solidFill>
                  <a:schemeClr val="bg1"/>
                </a:solidFill>
                <a:latin typeface="+mn-lt"/>
                <a:ea typeface="+mn-ea"/>
                <a:cs typeface="+mn-cs"/>
              </a:defRPr>
            </a:lvl8pPr>
            <a:lvl9pPr marL="0" indent="0" algn="l" defTabSz="914400" rtl="0" eaLnBrk="1" latinLnBrk="0" hangingPunct="1">
              <a:spcBef>
                <a:spcPts val="0"/>
              </a:spcBef>
              <a:buFont typeface="Arial" panose="020B0604020202020204" pitchFamily="34" charset="0"/>
              <a:buNone/>
              <a:defRPr sz="2400" kern="1200">
                <a:solidFill>
                  <a:schemeClr val="bg1"/>
                </a:solidFill>
                <a:latin typeface="+mn-lt"/>
                <a:ea typeface="+mn-ea"/>
                <a:cs typeface="+mn-cs"/>
              </a:defRPr>
            </a:lvl9pPr>
          </a:lstStyle>
          <a:p>
            <a:r>
              <a:rPr lang="en-US" dirty="0" smtClean="0"/>
              <a:t>Eighth</a:t>
            </a:r>
            <a:r>
              <a:rPr lang="en-US" baseline="0" dirty="0" smtClean="0"/>
              <a:t> </a:t>
            </a:r>
            <a:r>
              <a:rPr lang="en-US" dirty="0" smtClean="0"/>
              <a:t>Edition</a:t>
            </a:r>
            <a:endParaRPr lang="en-US" dirty="0"/>
          </a:p>
        </p:txBody>
      </p:sp>
    </p:spTree>
    <p:extLst>
      <p:ext uri="{BB962C8B-B14F-4D97-AF65-F5344CB8AC3E}">
        <p14:creationId xmlns:p14="http://schemas.microsoft.com/office/powerpoint/2010/main" val="3671177032"/>
      </p:ext>
    </p:extLst>
  </p:cSld>
  <p:clrMap bg1="lt1" tx1="dk1" bg2="lt2" tx2="dk2" accent1="accent1" accent2="accent2" accent3="accent3" accent4="accent4" accent5="accent5" accent6="accent6" hlink="hlink" folHlink="folHlink"/>
  <p:sldLayoutIdLst>
    <p:sldLayoutId id="2147483672" r:id="rId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 name="Rectangle 9"/>
          <p:cNvSpPr/>
          <p:nvPr/>
        </p:nvSpPr>
        <p:spPr bwMode="white">
          <a:xfrm>
            <a:off x="0" y="0"/>
            <a:ext cx="9144000" cy="13716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grpSp>
        <p:nvGrpSpPr>
          <p:cNvPr id="7" name="Group 6"/>
          <p:cNvGrpSpPr/>
          <p:nvPr/>
        </p:nvGrpSpPr>
        <p:grpSpPr>
          <a:xfrm>
            <a:off x="0" y="6400800"/>
            <a:ext cx="9144000" cy="457200"/>
            <a:chOff x="0" y="6511925"/>
            <a:chExt cx="9137650" cy="430213"/>
          </a:xfrm>
          <a:solidFill>
            <a:schemeClr val="accent1">
              <a:lumMod val="75000"/>
            </a:schemeClr>
          </a:solidFill>
        </p:grpSpPr>
        <p:pic>
          <p:nvPicPr>
            <p:cNvPr id="8" name="Pearson Logo"/>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black">
            <a:xfrm>
              <a:off x="7696200" y="6511925"/>
              <a:ext cx="1441450" cy="430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pic>
        <p:sp>
          <p:nvSpPr>
            <p:cNvPr id="9" name="Copyright" descr="Copyright 2015, 2012, 2009"/>
            <p:cNvSpPr txBox="1">
              <a:spLocks noChangeArrowheads="1"/>
            </p:cNvSpPr>
            <p:nvPr/>
          </p:nvSpPr>
          <p:spPr bwMode="auto">
            <a:xfrm>
              <a:off x="0" y="6511926"/>
              <a:ext cx="7696200" cy="430212"/>
            </a:xfrm>
            <a:prstGeom prst="rect">
              <a:avLst/>
            </a:prstGeom>
            <a:grpFill/>
            <a:ln w="9525">
              <a:noFill/>
              <a:miter lim="800000"/>
              <a:headEnd/>
              <a:tailEnd/>
            </a:ln>
          </p:spPr>
          <p:txBody>
            <a:bodyPr lIns="0" tIns="0" rIns="0" bIns="0" anchor="ctr"/>
            <a:lstStyle>
              <a:lvl1pPr eaLnBrk="0" hangingPunct="0">
                <a:defRPr sz="2400">
                  <a:solidFill>
                    <a:schemeClr val="tx1"/>
                  </a:solidFill>
                  <a:latin typeface="Arial" panose="020B0604020202020204" pitchFamily="34" charset="0"/>
                </a:defRPr>
              </a:lvl1pPr>
              <a:lvl2pPr marL="37931725" indent="-37474525"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marL="457200" eaLnBrk="0" fontAlgn="base" hangingPunct="0">
                <a:spcBef>
                  <a:spcPct val="0"/>
                </a:spcBef>
                <a:spcAft>
                  <a:spcPct val="0"/>
                </a:spcAft>
                <a:defRPr sz="2400">
                  <a:solidFill>
                    <a:schemeClr val="tx1"/>
                  </a:solidFill>
                  <a:latin typeface="Arial" panose="020B0604020202020204" pitchFamily="34" charset="0"/>
                </a:defRPr>
              </a:lvl6pPr>
              <a:lvl7pPr marL="914400" eaLnBrk="0" fontAlgn="base" hangingPunct="0">
                <a:spcBef>
                  <a:spcPct val="0"/>
                </a:spcBef>
                <a:spcAft>
                  <a:spcPct val="0"/>
                </a:spcAft>
                <a:defRPr sz="2400">
                  <a:solidFill>
                    <a:schemeClr val="tx1"/>
                  </a:solidFill>
                  <a:latin typeface="Arial" panose="020B0604020202020204" pitchFamily="34" charset="0"/>
                </a:defRPr>
              </a:lvl7pPr>
              <a:lvl8pPr marL="1371600" eaLnBrk="0" fontAlgn="base" hangingPunct="0">
                <a:spcBef>
                  <a:spcPct val="0"/>
                </a:spcBef>
                <a:spcAft>
                  <a:spcPct val="0"/>
                </a:spcAft>
                <a:defRPr sz="2400">
                  <a:solidFill>
                    <a:schemeClr val="tx1"/>
                  </a:solidFill>
                  <a:latin typeface="Arial" panose="020B0604020202020204" pitchFamily="34" charset="0"/>
                </a:defRPr>
              </a:lvl8pPr>
              <a:lvl9pPr marL="1828800" eaLnBrk="0" fontAlgn="base" hangingPunct="0">
                <a:spcBef>
                  <a:spcPct val="0"/>
                </a:spcBef>
                <a:spcAft>
                  <a:spcPct val="0"/>
                </a:spcAft>
                <a:defRPr sz="2400">
                  <a:solidFill>
                    <a:schemeClr val="tx1"/>
                  </a:solidFill>
                  <a:latin typeface="Arial" panose="020B0604020202020204" pitchFamily="34" charset="0"/>
                </a:defRPr>
              </a:lvl9pPr>
            </a:lstStyle>
            <a:p>
              <a:pPr algn="l">
                <a:defRPr/>
              </a:pPr>
              <a:r>
                <a:rPr lang="en-US" altLang="en-US" sz="1200" b="0" dirty="0" smtClean="0">
                  <a:solidFill>
                    <a:schemeClr val="bg1"/>
                  </a:solidFill>
                  <a:latin typeface="Verdana" panose="020B0604030504040204" pitchFamily="34" charset="0"/>
                  <a:ea typeface="Verdana" panose="020B0604030504040204" pitchFamily="34" charset="0"/>
                  <a:cs typeface="Verdana" panose="020B0604030504040204" pitchFamily="34" charset="0"/>
                </a:rPr>
                <a:t>  Copyright © 2017, 2013, 2011 Pearson Education, Inc.</a:t>
              </a:r>
              <a:r>
                <a:rPr lang="en-US" altLang="en-US" sz="1200" b="0" baseline="0" dirty="0" smtClean="0">
                  <a:solidFill>
                    <a:schemeClr val="bg1"/>
                  </a:solidFill>
                  <a:latin typeface="Verdana" panose="020B0604030504040204" pitchFamily="34" charset="0"/>
                  <a:ea typeface="Verdana" panose="020B0604030504040204" pitchFamily="34" charset="0"/>
                  <a:cs typeface="Verdana" panose="020B0604030504040204" pitchFamily="34" charset="0"/>
                </a:rPr>
                <a:t> </a:t>
              </a:r>
              <a:r>
                <a:rPr lang="en-US" altLang="en-US" sz="1200" b="0" dirty="0" smtClean="0">
                  <a:solidFill>
                    <a:schemeClr val="bg1"/>
                  </a:solidFill>
                  <a:latin typeface="Verdana" panose="020B0604030504040204" pitchFamily="34" charset="0"/>
                  <a:ea typeface="Verdana" panose="020B0604030504040204" pitchFamily="34" charset="0"/>
                  <a:cs typeface="Verdana" panose="020B0604030504040204" pitchFamily="34" charset="0"/>
                </a:rPr>
                <a:t>All Rights Reserved</a:t>
              </a:r>
            </a:p>
          </p:txBody>
        </p:sp>
      </p:grpSp>
    </p:spTree>
    <p:extLst>
      <p:ext uri="{BB962C8B-B14F-4D97-AF65-F5344CB8AC3E}">
        <p14:creationId xmlns:p14="http://schemas.microsoft.com/office/powerpoint/2010/main" val="36221566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txStyles>
    <p:titleStyle>
      <a:lvl1pPr algn="ctr" defTabSz="914400" rtl="0" eaLnBrk="1" latinLnBrk="0" hangingPunct="1">
        <a:spcBef>
          <a:spcPct val="0"/>
        </a:spcBef>
        <a:buNone/>
        <a:defRPr sz="4400" kern="1200">
          <a:solidFill>
            <a:schemeClr val="bg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image" Target="../media/image4.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5.jpe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6.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7.jpe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8.jpe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9.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4"/>
          </p:nvPr>
        </p:nvSpPr>
        <p:spPr/>
        <p:txBody>
          <a:bodyPr/>
          <a:lstStyle/>
          <a:p>
            <a:r>
              <a:rPr lang="en-US" dirty="0" smtClean="0"/>
              <a:t>Chapter 8</a:t>
            </a:r>
            <a:endParaRPr lang="en-US" dirty="0"/>
          </a:p>
        </p:txBody>
      </p:sp>
      <p:sp>
        <p:nvSpPr>
          <p:cNvPr id="3" name="Text Placeholder 2"/>
          <p:cNvSpPr>
            <a:spLocks noGrp="1"/>
          </p:cNvSpPr>
          <p:nvPr>
            <p:ph type="body" sz="quarter" idx="15"/>
          </p:nvPr>
        </p:nvSpPr>
        <p:spPr/>
        <p:txBody>
          <a:bodyPr/>
          <a:lstStyle/>
          <a:p>
            <a:r>
              <a:rPr lang="en-US" dirty="0" smtClean="0"/>
              <a:t>Kinship and Domestic Life</a:t>
            </a: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000" y="1600200"/>
            <a:ext cx="3679722" cy="4562855"/>
          </a:xfrm>
          <a:prstGeom prst="rect">
            <a:avLst/>
          </a:prstGeom>
        </p:spPr>
      </p:pic>
    </p:spTree>
    <p:extLst>
      <p:ext uri="{BB962C8B-B14F-4D97-AF65-F5344CB8AC3E}">
        <p14:creationId xmlns:p14="http://schemas.microsoft.com/office/powerpoint/2010/main" val="2436185768"/>
      </p:ext>
    </p:extLst>
  </p:cSld>
  <p:clrMapOvr>
    <a:masterClrMapping/>
  </p:clrMapOvr>
  <p:timing>
    <p:tnLst>
      <p:par>
        <p:cTn xmlns:p14="http://schemas.microsoft.com/office/powerpoint/2010/mai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Learning Objectives</a:t>
            </a:r>
            <a:endParaRPr lang="en-US" dirty="0"/>
          </a:p>
        </p:txBody>
      </p:sp>
      <p:sp>
        <p:nvSpPr>
          <p:cNvPr id="5" name="Content Placeholder 4"/>
          <p:cNvSpPr>
            <a:spLocks noGrp="1"/>
          </p:cNvSpPr>
          <p:nvPr>
            <p:ph idx="1"/>
          </p:nvPr>
        </p:nvSpPr>
        <p:spPr/>
        <p:txBody>
          <a:bodyPr/>
          <a:lstStyle/>
          <a:p>
            <a:pPr marL="0" indent="0">
              <a:buNone/>
            </a:pPr>
            <a:r>
              <a:rPr lang="en-US" dirty="0" smtClean="0">
                <a:solidFill>
                  <a:schemeClr val="tx2"/>
                </a:solidFill>
              </a:rPr>
              <a:t>8.1</a:t>
            </a:r>
            <a:r>
              <a:rPr lang="en-US" dirty="0" smtClean="0"/>
              <a:t> Define the three ways cultures create kinship.</a:t>
            </a:r>
          </a:p>
          <a:p>
            <a:pPr marL="0" indent="0">
              <a:buNone/>
            </a:pPr>
            <a:endParaRPr lang="en-US" dirty="0"/>
          </a:p>
          <a:p>
            <a:pPr marL="0" indent="0">
              <a:buNone/>
            </a:pPr>
            <a:r>
              <a:rPr lang="en-US" dirty="0" smtClean="0">
                <a:solidFill>
                  <a:schemeClr val="tx2"/>
                </a:solidFill>
              </a:rPr>
              <a:t>8.2</a:t>
            </a:r>
            <a:r>
              <a:rPr lang="en-US" dirty="0" smtClean="0"/>
              <a:t> Recognize how anthropologists define and study households and domestic life.</a:t>
            </a:r>
          </a:p>
          <a:p>
            <a:pPr marL="0" indent="0">
              <a:buNone/>
            </a:pPr>
            <a:endParaRPr lang="en-US" dirty="0"/>
          </a:p>
          <a:p>
            <a:pPr marL="0" indent="0">
              <a:buNone/>
            </a:pPr>
            <a:r>
              <a:rPr lang="en-US" dirty="0" smtClean="0">
                <a:solidFill>
                  <a:schemeClr val="tx2"/>
                </a:solidFill>
              </a:rPr>
              <a:t>8.3</a:t>
            </a:r>
            <a:r>
              <a:rPr lang="en-US" dirty="0" smtClean="0"/>
              <a:t> Illustrate how kinship and households are changing.</a:t>
            </a:r>
            <a:endParaRPr lang="en-US" dirty="0"/>
          </a:p>
        </p:txBody>
      </p:sp>
    </p:spTree>
    <p:extLst>
      <p:ext uri="{BB962C8B-B14F-4D97-AF65-F5344CB8AC3E}">
        <p14:creationId xmlns:p14="http://schemas.microsoft.com/office/powerpoint/2010/main" val="2544906674"/>
      </p:ext>
    </p:extLst>
  </p:cSld>
  <p:clrMapOvr>
    <a:masterClrMapping/>
  </p:clrMapOvr>
  <p:timing>
    <p:tnLst>
      <p:par>
        <p:cTn xmlns:p14="http://schemas.microsoft.com/office/powerpoint/2010/mai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Kinship and Domestic Life</a:t>
            </a: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What is kinship?</a:t>
            </a:r>
          </a:p>
          <a:p>
            <a:pPr lvl="1"/>
            <a:r>
              <a:rPr lang="en-US" dirty="0" smtClean="0"/>
              <a:t>Sense </a:t>
            </a:r>
            <a:r>
              <a:rPr lang="en-US" dirty="0"/>
              <a:t>of being related to another person(s)</a:t>
            </a:r>
          </a:p>
          <a:p>
            <a:pPr lvl="1"/>
            <a:r>
              <a:rPr lang="en-US" dirty="0"/>
              <a:t>Set by cultural rules (sometimes laws)</a:t>
            </a:r>
          </a:p>
          <a:p>
            <a:pPr lvl="1"/>
            <a:r>
              <a:rPr lang="en-US" dirty="0"/>
              <a:t>Often taken for granted as being “natural” rather than cultural</a:t>
            </a:r>
          </a:p>
          <a:p>
            <a:pPr lvl="1"/>
            <a:r>
              <a:rPr lang="en-US" dirty="0"/>
              <a:t>Links with all aspects of culture</a:t>
            </a:r>
          </a:p>
          <a:p>
            <a:pPr lvl="1"/>
            <a:r>
              <a:rPr lang="en-US" dirty="0"/>
              <a:t>Not all cultures define kinship on the basis of “blood</a:t>
            </a:r>
            <a:r>
              <a:rPr lang="en-US" dirty="0" smtClean="0"/>
              <a:t>”</a:t>
            </a:r>
          </a:p>
          <a:p>
            <a:pPr lvl="2"/>
            <a:r>
              <a:rPr lang="en-US" dirty="0" smtClean="0"/>
              <a:t>Example: Tory Islanders</a:t>
            </a:r>
            <a:endParaRPr lang="en-US" dirty="0"/>
          </a:p>
          <a:p>
            <a:r>
              <a:rPr lang="en-US" dirty="0" smtClean="0"/>
              <a:t>Kinship system:</a:t>
            </a:r>
          </a:p>
          <a:p>
            <a:pPr lvl="1"/>
            <a:r>
              <a:rPr lang="en-US" dirty="0"/>
              <a:t>T</a:t>
            </a:r>
            <a:r>
              <a:rPr lang="en-US" dirty="0" smtClean="0"/>
              <a:t>he </a:t>
            </a:r>
            <a:r>
              <a:rPr lang="en-US" dirty="0"/>
              <a:t>predominant form of kin relationships in a culture and the kind of behavior involved</a:t>
            </a:r>
          </a:p>
          <a:p>
            <a:pPr lvl="1"/>
            <a:endParaRPr lang="en-US" dirty="0" smtClean="0"/>
          </a:p>
          <a:p>
            <a:pPr lvl="1"/>
            <a:endParaRPr lang="en-US" dirty="0"/>
          </a:p>
        </p:txBody>
      </p:sp>
    </p:spTree>
    <p:extLst>
      <p:ext uri="{BB962C8B-B14F-4D97-AF65-F5344CB8AC3E}">
        <p14:creationId xmlns:p14="http://schemas.microsoft.com/office/powerpoint/2010/main" val="4061627163"/>
      </p:ext>
    </p:extLst>
  </p:cSld>
  <p:clrMapOvr>
    <a:masterClrMapping/>
  </p:clrMapOvr>
  <p:timing>
    <p:tnLst>
      <p:par>
        <p:cTn xmlns:p14="http://schemas.microsoft.com/office/powerpoint/2010/mai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Map 8.1 Ireland</a:t>
            </a:r>
            <a:endParaRPr lang="en-US" dirty="0"/>
          </a:p>
        </p:txBody>
      </p:sp>
      <p:pic>
        <p:nvPicPr>
          <p:cNvPr id="4" name="Content Placeholder 3" descr="A map shows tiny Tory Island off the west coast of Donegal, the northernmost county of Ireland. Inset maps show the area is in the British Isles."/>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3200400" y="1435961"/>
            <a:ext cx="2743200" cy="4854441"/>
          </a:xfrm>
        </p:spPr>
      </p:pic>
    </p:spTree>
    <p:extLst>
      <p:ext uri="{BB962C8B-B14F-4D97-AF65-F5344CB8AC3E}">
        <p14:creationId xmlns:p14="http://schemas.microsoft.com/office/powerpoint/2010/main" val="2381125833"/>
      </p:ext>
    </p:extLst>
  </p:cSld>
  <p:clrMapOvr>
    <a:masterClrMapping/>
  </p:clrMapOvr>
  <p:timing>
    <p:tnLst>
      <p:par>
        <p:cTn xmlns:p14="http://schemas.microsoft.com/office/powerpoint/2010/mai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dirty="0" smtClean="0"/>
              <a:t>How Cultures Create Kinship</a:t>
            </a:r>
            <a:r>
              <a:rPr lang="en-US" sz="3600" dirty="0"/>
              <a:t/>
            </a:r>
            <a:br>
              <a:rPr lang="en-US" sz="3600" dirty="0"/>
            </a:br>
            <a:r>
              <a:rPr lang="en-US" sz="2400" dirty="0" smtClean="0"/>
              <a:t>8.1 Define the three ways cultures create kinship.</a:t>
            </a:r>
            <a:endParaRPr lang="en-US" sz="2400" dirty="0"/>
          </a:p>
        </p:txBody>
      </p:sp>
      <p:sp>
        <p:nvSpPr>
          <p:cNvPr id="3" name="Content Placeholder 2"/>
          <p:cNvSpPr>
            <a:spLocks noGrp="1"/>
          </p:cNvSpPr>
          <p:nvPr>
            <p:ph idx="1"/>
          </p:nvPr>
        </p:nvSpPr>
        <p:spPr/>
        <p:txBody>
          <a:bodyPr>
            <a:normAutofit lnSpcReduction="10000"/>
          </a:bodyPr>
          <a:lstStyle/>
          <a:p>
            <a:r>
              <a:rPr lang="en-US" dirty="0" smtClean="0"/>
              <a:t>Studying Kinship: From Formal Analysis to Kinship in Action</a:t>
            </a:r>
          </a:p>
          <a:p>
            <a:endParaRPr lang="en-US" dirty="0"/>
          </a:p>
          <a:p>
            <a:r>
              <a:rPr lang="en-US" dirty="0" smtClean="0"/>
              <a:t>Descent</a:t>
            </a:r>
          </a:p>
          <a:p>
            <a:endParaRPr lang="en-US" dirty="0" smtClean="0"/>
          </a:p>
          <a:p>
            <a:r>
              <a:rPr lang="en-US" dirty="0" smtClean="0"/>
              <a:t>Sharing</a:t>
            </a:r>
          </a:p>
          <a:p>
            <a:endParaRPr lang="en-US" dirty="0" smtClean="0"/>
          </a:p>
          <a:p>
            <a:r>
              <a:rPr lang="en-US" dirty="0" smtClean="0"/>
              <a:t>Marriage</a:t>
            </a:r>
          </a:p>
          <a:p>
            <a:endParaRPr lang="en-US" dirty="0"/>
          </a:p>
          <a:p>
            <a:endParaRPr lang="en-US" dirty="0"/>
          </a:p>
        </p:txBody>
      </p:sp>
    </p:spTree>
    <p:extLst>
      <p:ext uri="{BB962C8B-B14F-4D97-AF65-F5344CB8AC3E}">
        <p14:creationId xmlns:p14="http://schemas.microsoft.com/office/powerpoint/2010/main" val="2778448196"/>
      </p:ext>
    </p:extLst>
  </p:cSld>
  <p:clrMapOvr>
    <a:masterClrMapping/>
  </p:clrMapOvr>
  <p:timing>
    <p:tnLst>
      <p:par>
        <p:cTn xmlns:p14="http://schemas.microsoft.com/office/powerpoint/2010/mai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fontScale="90000"/>
          </a:bodyPr>
          <a:lstStyle/>
          <a:p>
            <a:r>
              <a:rPr lang="en-US" dirty="0"/>
              <a:t>Studying Kinship: From Formal Analysis to Kinship in </a:t>
            </a:r>
            <a:r>
              <a:rPr lang="en-US" dirty="0" smtClean="0"/>
              <a:t>Action </a:t>
            </a:r>
            <a:r>
              <a:rPr lang="en-US" sz="3100" dirty="0" smtClean="0"/>
              <a:t>(1 of 2)</a:t>
            </a:r>
            <a:endParaRPr lang="en-US" sz="3100" dirty="0"/>
          </a:p>
        </p:txBody>
      </p:sp>
      <p:sp>
        <p:nvSpPr>
          <p:cNvPr id="3" name="Content Placeholder 2"/>
          <p:cNvSpPr>
            <a:spLocks noGrp="1"/>
          </p:cNvSpPr>
          <p:nvPr>
            <p:ph idx="1"/>
          </p:nvPr>
        </p:nvSpPr>
        <p:spPr/>
        <p:txBody>
          <a:bodyPr/>
          <a:lstStyle/>
          <a:p>
            <a:r>
              <a:rPr lang="en-US" dirty="0"/>
              <a:t>Anthropologists collected data on kinship terms and relationships around the world</a:t>
            </a:r>
          </a:p>
          <a:p>
            <a:pPr lvl="1"/>
            <a:r>
              <a:rPr lang="en-US" dirty="0"/>
              <a:t>Created categories, or types of kinship systems with similar features, named after a particular culture, such as “</a:t>
            </a:r>
            <a:r>
              <a:rPr lang="en-US" dirty="0" smtClean="0"/>
              <a:t>Eskimo” or “Iroquois” kinship</a:t>
            </a:r>
          </a:p>
          <a:p>
            <a:pPr lvl="1"/>
            <a:r>
              <a:rPr lang="en-US" dirty="0" smtClean="0"/>
              <a:t>These categories are no longer in prominent use by anthropologists</a:t>
            </a:r>
            <a:endParaRPr lang="en-US" dirty="0"/>
          </a:p>
          <a:p>
            <a:r>
              <a:rPr lang="en-US" dirty="0"/>
              <a:t>Kinship diagrams used as a descriptive and analytical tool</a:t>
            </a:r>
          </a:p>
          <a:p>
            <a:endParaRPr lang="en-US" dirty="0"/>
          </a:p>
        </p:txBody>
      </p:sp>
    </p:spTree>
    <p:extLst>
      <p:ext uri="{BB962C8B-B14F-4D97-AF65-F5344CB8AC3E}">
        <p14:creationId xmlns:p14="http://schemas.microsoft.com/office/powerpoint/2010/main" val="9647144"/>
      </p:ext>
    </p:extLst>
  </p:cSld>
  <p:clrMapOvr>
    <a:masterClrMapping/>
  </p:clrMapOvr>
  <p:timing>
    <p:tnLst>
      <p:par>
        <p:cTn xmlns:p14="http://schemas.microsoft.com/office/powerpoint/2010/mai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fontScale="90000"/>
          </a:bodyPr>
          <a:lstStyle/>
          <a:p>
            <a:r>
              <a:rPr lang="en-US" dirty="0"/>
              <a:t>Studying Kinship: From Formal Analysis to Kinship in </a:t>
            </a:r>
            <a:r>
              <a:rPr lang="en-US" dirty="0" smtClean="0"/>
              <a:t>Action </a:t>
            </a:r>
            <a:r>
              <a:rPr lang="en-US" sz="3100" dirty="0" smtClean="0"/>
              <a:t>(2 of 2)</a:t>
            </a:r>
            <a:endParaRPr lang="en-US" sz="3100" dirty="0"/>
          </a:p>
        </p:txBody>
      </p:sp>
      <p:sp>
        <p:nvSpPr>
          <p:cNvPr id="3" name="Content Placeholder 2"/>
          <p:cNvSpPr>
            <a:spLocks noGrp="1"/>
          </p:cNvSpPr>
          <p:nvPr>
            <p:ph idx="1"/>
          </p:nvPr>
        </p:nvSpPr>
        <p:spPr/>
        <p:txBody>
          <a:bodyPr/>
          <a:lstStyle/>
          <a:p>
            <a:r>
              <a:rPr lang="en-US" dirty="0" smtClean="0"/>
              <a:t>Two classic kinship types:</a:t>
            </a:r>
          </a:p>
          <a:p>
            <a:pPr lvl="1"/>
            <a:r>
              <a:rPr lang="en-US" dirty="0" smtClean="0"/>
              <a:t>Eskimo: Similar to most Euro-Americans. Has unique terms for kin within the nuclear household; </a:t>
            </a:r>
            <a:r>
              <a:rPr lang="en-US" dirty="0"/>
              <a:t>s</a:t>
            </a:r>
            <a:r>
              <a:rPr lang="en-US" dirty="0" smtClean="0"/>
              <a:t>ame terms for relatives on mother’s and father’s sides</a:t>
            </a:r>
          </a:p>
          <a:p>
            <a:pPr lvl="1"/>
            <a:r>
              <a:rPr lang="en-US" dirty="0" smtClean="0"/>
              <a:t>Iroquois: Different terms for relatives on mother’s and father’s sides; merges mother and mother’s sisters</a:t>
            </a:r>
            <a:endParaRPr lang="en-US" dirty="0"/>
          </a:p>
        </p:txBody>
      </p:sp>
    </p:spTree>
    <p:extLst>
      <p:ext uri="{BB962C8B-B14F-4D97-AF65-F5344CB8AC3E}">
        <p14:creationId xmlns:p14="http://schemas.microsoft.com/office/powerpoint/2010/main" val="3811578754"/>
      </p:ext>
    </p:extLst>
  </p:cSld>
  <p:clrMapOvr>
    <a:masterClrMapping/>
  </p:clrMapOvr>
  <p:timing>
    <p:tnLst>
      <p:par>
        <p:cTn xmlns:p14="http://schemas.microsoft.com/office/powerpoint/2010/mai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Descent </a:t>
            </a:r>
            <a:r>
              <a:rPr lang="en-US" sz="2800" dirty="0" smtClean="0"/>
              <a:t>(1 of 4)</a:t>
            </a:r>
            <a:endParaRPr lang="en-US" sz="2800" dirty="0"/>
          </a:p>
        </p:txBody>
      </p:sp>
      <p:sp>
        <p:nvSpPr>
          <p:cNvPr id="3" name="Content Placeholder 2"/>
          <p:cNvSpPr>
            <a:spLocks noGrp="1"/>
          </p:cNvSpPr>
          <p:nvPr>
            <p:ph idx="1"/>
          </p:nvPr>
        </p:nvSpPr>
        <p:spPr/>
        <p:txBody>
          <a:bodyPr/>
          <a:lstStyle/>
          <a:p>
            <a:r>
              <a:rPr lang="en-US" dirty="0"/>
              <a:t>Kinship </a:t>
            </a:r>
            <a:r>
              <a:rPr lang="en-US" dirty="0" smtClean="0"/>
              <a:t>created through </a:t>
            </a:r>
            <a:r>
              <a:rPr lang="en-US" dirty="0"/>
              <a:t>birth into a particular group</a:t>
            </a:r>
          </a:p>
          <a:p>
            <a:r>
              <a:rPr lang="en-US" dirty="0" smtClean="0"/>
              <a:t>Two </a:t>
            </a:r>
            <a:r>
              <a:rPr lang="en-US" dirty="0"/>
              <a:t>major types:</a:t>
            </a:r>
          </a:p>
          <a:p>
            <a:pPr lvl="1"/>
            <a:r>
              <a:rPr lang="en-US" dirty="0"/>
              <a:t>Unilineal</a:t>
            </a:r>
          </a:p>
          <a:p>
            <a:pPr lvl="1"/>
            <a:r>
              <a:rPr lang="en-US" dirty="0"/>
              <a:t>Bilineal</a:t>
            </a:r>
          </a:p>
          <a:p>
            <a:endParaRPr lang="en-US" dirty="0"/>
          </a:p>
        </p:txBody>
      </p:sp>
    </p:spTree>
    <p:extLst>
      <p:ext uri="{BB962C8B-B14F-4D97-AF65-F5344CB8AC3E}">
        <p14:creationId xmlns:p14="http://schemas.microsoft.com/office/powerpoint/2010/main" val="2790674169"/>
      </p:ext>
    </p:extLst>
  </p:cSld>
  <p:clrMapOvr>
    <a:masterClrMapping/>
  </p:clrMapOvr>
  <p:timing>
    <p:tnLst>
      <p:par>
        <p:cTn xmlns:p14="http://schemas.microsoft.com/office/powerpoint/2010/mai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Descent </a:t>
            </a:r>
            <a:r>
              <a:rPr lang="en-US" sz="2800" dirty="0" smtClean="0"/>
              <a:t>(2 </a:t>
            </a:r>
            <a:r>
              <a:rPr lang="en-US" sz="2800" dirty="0"/>
              <a:t>of 4)</a:t>
            </a:r>
          </a:p>
        </p:txBody>
      </p:sp>
      <p:sp>
        <p:nvSpPr>
          <p:cNvPr id="3" name="Content Placeholder 2"/>
          <p:cNvSpPr>
            <a:spLocks noGrp="1"/>
          </p:cNvSpPr>
          <p:nvPr>
            <p:ph idx="1"/>
          </p:nvPr>
        </p:nvSpPr>
        <p:spPr/>
        <p:txBody>
          <a:bodyPr>
            <a:normAutofit/>
          </a:bodyPr>
          <a:lstStyle/>
          <a:p>
            <a:r>
              <a:rPr lang="en-US" dirty="0" err="1" smtClean="0"/>
              <a:t>Unilineal</a:t>
            </a:r>
            <a:r>
              <a:rPr lang="en-US" dirty="0" smtClean="0"/>
              <a:t> descent</a:t>
            </a:r>
          </a:p>
          <a:p>
            <a:pPr lvl="1"/>
            <a:r>
              <a:rPr lang="en-US" dirty="0"/>
              <a:t>Basis of kinship in 60 percent of the world’s cultures</a:t>
            </a:r>
          </a:p>
          <a:p>
            <a:pPr lvl="1"/>
            <a:r>
              <a:rPr lang="en-US" dirty="0"/>
              <a:t>Most associated with </a:t>
            </a:r>
            <a:r>
              <a:rPr lang="en-US" dirty="0" smtClean="0"/>
              <a:t>pastoralist, horticultural, </a:t>
            </a:r>
            <a:r>
              <a:rPr lang="en-US" dirty="0"/>
              <a:t>and agricultural modes of livelihood</a:t>
            </a:r>
          </a:p>
          <a:p>
            <a:pPr lvl="1"/>
            <a:r>
              <a:rPr lang="en-US" dirty="0"/>
              <a:t>Two major types of unilineal descent:</a:t>
            </a:r>
          </a:p>
          <a:p>
            <a:pPr lvl="2"/>
            <a:r>
              <a:rPr lang="en-US" dirty="0"/>
              <a:t>Patrilineal (through the male line)</a:t>
            </a:r>
          </a:p>
          <a:p>
            <a:pPr lvl="2"/>
            <a:r>
              <a:rPr lang="en-US" dirty="0"/>
              <a:t>Matrilineal (through the female line)</a:t>
            </a:r>
          </a:p>
        </p:txBody>
      </p:sp>
    </p:spTree>
    <p:extLst>
      <p:ext uri="{BB962C8B-B14F-4D97-AF65-F5344CB8AC3E}">
        <p14:creationId xmlns:p14="http://schemas.microsoft.com/office/powerpoint/2010/main" val="1962992773"/>
      </p:ext>
    </p:extLst>
  </p:cSld>
  <p:clrMapOvr>
    <a:masterClrMapping/>
  </p:clrMapOvr>
  <p:timing>
    <p:tnLst>
      <p:par>
        <p:cTn xmlns:p14="http://schemas.microsoft.com/office/powerpoint/2010/mai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Descent </a:t>
            </a:r>
            <a:r>
              <a:rPr lang="en-US" sz="2800" dirty="0" smtClean="0"/>
              <a:t>(3 </a:t>
            </a:r>
            <a:r>
              <a:rPr lang="en-US" sz="2800" dirty="0"/>
              <a:t>of 4)</a:t>
            </a:r>
          </a:p>
        </p:txBody>
      </p:sp>
      <p:sp>
        <p:nvSpPr>
          <p:cNvPr id="3" name="Content Placeholder 2"/>
          <p:cNvSpPr>
            <a:spLocks noGrp="1"/>
          </p:cNvSpPr>
          <p:nvPr>
            <p:ph idx="1"/>
          </p:nvPr>
        </p:nvSpPr>
        <p:spPr/>
        <p:txBody>
          <a:bodyPr/>
          <a:lstStyle/>
          <a:p>
            <a:r>
              <a:rPr lang="en-US" dirty="0" smtClean="0"/>
              <a:t>Bilineal descent</a:t>
            </a:r>
          </a:p>
          <a:p>
            <a:pPr lvl="1"/>
            <a:r>
              <a:rPr lang="en-US" dirty="0" smtClean="0"/>
              <a:t>Descent </a:t>
            </a:r>
            <a:r>
              <a:rPr lang="en-US" dirty="0"/>
              <a:t>is traced equally from both parents</a:t>
            </a:r>
          </a:p>
          <a:p>
            <a:pPr lvl="1"/>
            <a:r>
              <a:rPr lang="en-US" dirty="0"/>
              <a:t>Married couples live away from their parents (neolocal residence)</a:t>
            </a:r>
          </a:p>
          <a:p>
            <a:pPr lvl="1"/>
            <a:r>
              <a:rPr lang="en-US" dirty="0"/>
              <a:t>Inheritance is allocated equally among all children regardless of their </a:t>
            </a:r>
            <a:r>
              <a:rPr lang="en-US" dirty="0" smtClean="0"/>
              <a:t>gender</a:t>
            </a:r>
            <a:endParaRPr lang="en-US" dirty="0"/>
          </a:p>
          <a:p>
            <a:endParaRPr lang="en-US" dirty="0"/>
          </a:p>
        </p:txBody>
      </p:sp>
    </p:spTree>
    <p:extLst>
      <p:ext uri="{BB962C8B-B14F-4D97-AF65-F5344CB8AC3E}">
        <p14:creationId xmlns:p14="http://schemas.microsoft.com/office/powerpoint/2010/main" val="3314599070"/>
      </p:ext>
    </p:extLst>
  </p:cSld>
  <p:clrMapOvr>
    <a:masterClrMapping/>
  </p:clrMapOvr>
  <p:timing>
    <p:tnLst>
      <p:par>
        <p:cTn xmlns:p14="http://schemas.microsoft.com/office/powerpoint/2010/mai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Descent </a:t>
            </a:r>
            <a:r>
              <a:rPr lang="en-US" sz="2800" dirty="0" smtClean="0"/>
              <a:t>(4 </a:t>
            </a:r>
            <a:r>
              <a:rPr lang="en-US" sz="2800" dirty="0"/>
              <a:t>of 4)</a:t>
            </a:r>
          </a:p>
        </p:txBody>
      </p:sp>
      <p:sp>
        <p:nvSpPr>
          <p:cNvPr id="3" name="Content Placeholder 2"/>
          <p:cNvSpPr>
            <a:spLocks noGrp="1"/>
          </p:cNvSpPr>
          <p:nvPr>
            <p:ph idx="1"/>
          </p:nvPr>
        </p:nvSpPr>
        <p:spPr/>
        <p:txBody>
          <a:bodyPr/>
          <a:lstStyle/>
          <a:p>
            <a:r>
              <a:rPr lang="en-US" dirty="0" smtClean="0"/>
              <a:t>Bilineal descent often found </a:t>
            </a:r>
            <a:r>
              <a:rPr lang="en-US" dirty="0"/>
              <a:t>in foraging and industrial</a:t>
            </a:r>
            <a:r>
              <a:rPr lang="en-US" dirty="0" smtClean="0"/>
              <a:t>/digital cultures</a:t>
            </a:r>
            <a:endParaRPr lang="en-US" dirty="0"/>
          </a:p>
          <a:p>
            <a:r>
              <a:rPr lang="en-US" dirty="0"/>
              <a:t>Examples: </a:t>
            </a:r>
          </a:p>
          <a:p>
            <a:pPr lvl="1"/>
            <a:r>
              <a:rPr lang="en-US" dirty="0"/>
              <a:t>Euro-Americans </a:t>
            </a:r>
          </a:p>
          <a:p>
            <a:pPr lvl="1"/>
            <a:r>
              <a:rPr lang="en-US" dirty="0"/>
              <a:t>Ju/wasi</a:t>
            </a:r>
          </a:p>
          <a:p>
            <a:pPr lvl="1"/>
            <a:r>
              <a:rPr lang="en-US" dirty="0"/>
              <a:t>Innu (Inuit)</a:t>
            </a:r>
          </a:p>
          <a:p>
            <a:endParaRPr lang="en-US" dirty="0"/>
          </a:p>
        </p:txBody>
      </p:sp>
    </p:spTree>
    <p:extLst>
      <p:ext uri="{BB962C8B-B14F-4D97-AF65-F5344CB8AC3E}">
        <p14:creationId xmlns:p14="http://schemas.microsoft.com/office/powerpoint/2010/main" val="1887317276"/>
      </p:ext>
    </p:extLst>
  </p:cSld>
  <p:clrMapOvr>
    <a:masterClrMapping/>
  </p:clrMapOvr>
  <p:timing>
    <p:tnLst>
      <p:par>
        <p:cTn xmlns:p14="http://schemas.microsoft.com/office/powerpoint/2010/mai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fontScale="90000"/>
          </a:bodyPr>
          <a:lstStyle/>
          <a:p>
            <a:r>
              <a:rPr lang="en-US" dirty="0" smtClean="0"/>
              <a:t>Think Like an Anthropologist: </a:t>
            </a:r>
            <a:br>
              <a:rPr lang="en-US" dirty="0" smtClean="0"/>
            </a:br>
            <a:r>
              <a:rPr lang="en-US" dirty="0" smtClean="0"/>
              <a:t>What’s in a Name? </a:t>
            </a:r>
            <a:r>
              <a:rPr lang="en-US" sz="3100" dirty="0" smtClean="0"/>
              <a:t>(1 of 2)</a:t>
            </a:r>
            <a:endParaRPr lang="en-US" sz="3100" dirty="0"/>
          </a:p>
        </p:txBody>
      </p:sp>
      <p:sp>
        <p:nvSpPr>
          <p:cNvPr id="3" name="Content Placeholder 2"/>
          <p:cNvSpPr>
            <a:spLocks noGrp="1"/>
          </p:cNvSpPr>
          <p:nvPr>
            <p:ph idx="1"/>
          </p:nvPr>
        </p:nvSpPr>
        <p:spPr/>
        <p:txBody>
          <a:bodyPr>
            <a:normAutofit lnSpcReduction="10000"/>
          </a:bodyPr>
          <a:lstStyle/>
          <a:p>
            <a:r>
              <a:rPr lang="en-US" dirty="0" smtClean="0"/>
              <a:t>In village of Ha Tsuen, personal </a:t>
            </a:r>
            <a:r>
              <a:rPr lang="en-US" dirty="0"/>
              <a:t>naming system reflects importance and power of males</a:t>
            </a:r>
          </a:p>
          <a:p>
            <a:r>
              <a:rPr lang="en-US" dirty="0" smtClean="0"/>
              <a:t>All </a:t>
            </a:r>
            <a:r>
              <a:rPr lang="en-US" dirty="0"/>
              <a:t>babies are given a </a:t>
            </a:r>
            <a:r>
              <a:rPr lang="en-US" i="1" dirty="0" smtClean="0"/>
              <a:t>ming</a:t>
            </a:r>
            <a:endParaRPr lang="en-US" i="1" dirty="0"/>
          </a:p>
          <a:p>
            <a:pPr lvl="1"/>
            <a:r>
              <a:rPr lang="en-US" dirty="0"/>
              <a:t>A boy’s </a:t>
            </a:r>
            <a:r>
              <a:rPr lang="en-US" i="1" dirty="0"/>
              <a:t>ming</a:t>
            </a:r>
            <a:r>
              <a:rPr lang="en-US" dirty="0"/>
              <a:t> is distinctive and flattering</a:t>
            </a:r>
          </a:p>
          <a:p>
            <a:pPr lvl="1"/>
            <a:r>
              <a:rPr lang="en-US" dirty="0"/>
              <a:t>Girls’ </a:t>
            </a:r>
            <a:r>
              <a:rPr lang="en-US" i="1" dirty="0"/>
              <a:t>mings</a:t>
            </a:r>
            <a:r>
              <a:rPr lang="en-US" dirty="0"/>
              <a:t> often have negative connotations</a:t>
            </a:r>
          </a:p>
          <a:p>
            <a:r>
              <a:rPr lang="en-US" dirty="0" smtClean="0"/>
              <a:t>Ritual </a:t>
            </a:r>
            <a:r>
              <a:rPr lang="en-US" dirty="0"/>
              <a:t>importance: </a:t>
            </a:r>
            <a:r>
              <a:rPr lang="en-US" dirty="0" smtClean="0"/>
              <a:t>A </a:t>
            </a:r>
            <a:r>
              <a:rPr lang="en-US" dirty="0"/>
              <a:t>30-day ceremony is held for all babies, but the ceremony for a boy is as elaborate as the family can </a:t>
            </a:r>
            <a:r>
              <a:rPr lang="en-US" dirty="0" smtClean="0"/>
              <a:t>afford</a:t>
            </a:r>
            <a:endParaRPr lang="en-US" dirty="0"/>
          </a:p>
          <a:p>
            <a:endParaRPr lang="en-US" dirty="0"/>
          </a:p>
        </p:txBody>
      </p:sp>
    </p:spTree>
    <p:extLst>
      <p:ext uri="{BB962C8B-B14F-4D97-AF65-F5344CB8AC3E}">
        <p14:creationId xmlns:p14="http://schemas.microsoft.com/office/powerpoint/2010/main" val="3787227147"/>
      </p:ext>
    </p:extLst>
  </p:cSld>
  <p:clrMapOvr>
    <a:masterClrMapping/>
  </p:clrMapOvr>
  <p:timing>
    <p:tnLst>
      <p:par>
        <p:cTn xmlns:p14="http://schemas.microsoft.com/office/powerpoint/2010/mai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fontScale="90000"/>
          </a:bodyPr>
          <a:lstStyle/>
          <a:p>
            <a:r>
              <a:rPr lang="en-US" dirty="0"/>
              <a:t>Think Like an Anthropologist: </a:t>
            </a:r>
            <a:r>
              <a:rPr lang="en-US" dirty="0" smtClean="0"/>
              <a:t/>
            </a:r>
            <a:br>
              <a:rPr lang="en-US" dirty="0" smtClean="0"/>
            </a:br>
            <a:r>
              <a:rPr lang="en-US" dirty="0" smtClean="0"/>
              <a:t>What’s </a:t>
            </a:r>
            <a:r>
              <a:rPr lang="en-US" dirty="0"/>
              <a:t>in a Name</a:t>
            </a:r>
            <a:r>
              <a:rPr lang="en-US" dirty="0" smtClean="0"/>
              <a:t>? </a:t>
            </a:r>
            <a:r>
              <a:rPr lang="en-US" sz="3100" dirty="0" smtClean="0"/>
              <a:t>(2 of 2)</a:t>
            </a:r>
            <a:endParaRPr lang="en-US" sz="3100" dirty="0"/>
          </a:p>
        </p:txBody>
      </p:sp>
      <p:sp>
        <p:nvSpPr>
          <p:cNvPr id="3" name="Content Placeholder 2"/>
          <p:cNvSpPr>
            <a:spLocks noGrp="1"/>
          </p:cNvSpPr>
          <p:nvPr>
            <p:ph idx="1"/>
          </p:nvPr>
        </p:nvSpPr>
        <p:spPr/>
        <p:txBody>
          <a:bodyPr>
            <a:normAutofit/>
          </a:bodyPr>
          <a:lstStyle/>
          <a:p>
            <a:r>
              <a:rPr lang="en-US" dirty="0"/>
              <a:t>A man is given or chooses </a:t>
            </a:r>
            <a:r>
              <a:rPr lang="en-US" i="1" dirty="0"/>
              <a:t>tzu</a:t>
            </a:r>
            <a:r>
              <a:rPr lang="en-US" dirty="0"/>
              <a:t> (marriage name) and has a </a:t>
            </a:r>
            <a:r>
              <a:rPr lang="en-US" i="1" dirty="0"/>
              <a:t>wai hao </a:t>
            </a:r>
            <a:r>
              <a:rPr lang="en-US" dirty="0"/>
              <a:t>(public nickname</a:t>
            </a:r>
            <a:r>
              <a:rPr lang="en-US" dirty="0" smtClean="0"/>
              <a:t>)</a:t>
            </a:r>
            <a:endParaRPr lang="en-US" dirty="0"/>
          </a:p>
          <a:p>
            <a:r>
              <a:rPr lang="en-US" dirty="0"/>
              <a:t>When a woman marries, her </a:t>
            </a:r>
            <a:r>
              <a:rPr lang="en-US" i="1" dirty="0"/>
              <a:t>ming</a:t>
            </a:r>
            <a:r>
              <a:rPr lang="en-US" dirty="0"/>
              <a:t> ceases to exist</a:t>
            </a:r>
          </a:p>
          <a:p>
            <a:r>
              <a:rPr lang="en-US" dirty="0"/>
              <a:t>Husband refers to her as </a:t>
            </a:r>
            <a:r>
              <a:rPr lang="en-US" i="1" dirty="0"/>
              <a:t>nei jen </a:t>
            </a:r>
            <a:r>
              <a:rPr lang="en-US" dirty="0"/>
              <a:t>(inner person)</a:t>
            </a:r>
          </a:p>
          <a:p>
            <a:r>
              <a:rPr lang="en-US" dirty="0"/>
              <a:t>May also be referred to by teknonyms (names </a:t>
            </a:r>
            <a:r>
              <a:rPr lang="en-US" dirty="0" smtClean="0"/>
              <a:t>based </a:t>
            </a:r>
            <a:r>
              <a:rPr lang="en-US" dirty="0"/>
              <a:t>on </a:t>
            </a:r>
            <a:r>
              <a:rPr lang="en-US" dirty="0" smtClean="0"/>
              <a:t>a person’s </a:t>
            </a:r>
            <a:r>
              <a:rPr lang="en-US" dirty="0"/>
              <a:t>relationship to someone else, as in “wife of so and so”)</a:t>
            </a:r>
          </a:p>
          <a:p>
            <a:endParaRPr lang="en-US" dirty="0"/>
          </a:p>
        </p:txBody>
      </p:sp>
    </p:spTree>
    <p:extLst>
      <p:ext uri="{BB962C8B-B14F-4D97-AF65-F5344CB8AC3E}">
        <p14:creationId xmlns:p14="http://schemas.microsoft.com/office/powerpoint/2010/main" val="3981374923"/>
      </p:ext>
    </p:extLst>
  </p:cSld>
  <p:clrMapOvr>
    <a:masterClrMapping/>
  </p:clrMapOvr>
  <p:timing>
    <p:tnLst>
      <p:par>
        <p:cTn xmlns:p14="http://schemas.microsoft.com/office/powerpoint/2010/mai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Map 8.2 Hong Kong</a:t>
            </a:r>
            <a:endParaRPr lang="en-US" dirty="0"/>
          </a:p>
        </p:txBody>
      </p:sp>
      <p:pic>
        <p:nvPicPr>
          <p:cNvPr id="4" name="Content Placeholder 3" descr="A map shows that Hong Kong includes the island of Lantau, Hong Kong Island, and the New Territories with the city of Kowloon. The islands are in the South China Sea and the New Territories is a peninsula of China. An inset globe shows the area is in Southeast Asia."/>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2567410" y="1600200"/>
            <a:ext cx="4009180" cy="4525963"/>
          </a:xfrm>
        </p:spPr>
      </p:pic>
    </p:spTree>
    <p:extLst>
      <p:ext uri="{BB962C8B-B14F-4D97-AF65-F5344CB8AC3E}">
        <p14:creationId xmlns:p14="http://schemas.microsoft.com/office/powerpoint/2010/main" val="2889304603"/>
      </p:ext>
    </p:extLst>
  </p:cSld>
  <p:clrMapOvr>
    <a:masterClrMapping/>
  </p:clrMapOvr>
  <p:timing>
    <p:tnLst>
      <p:par>
        <p:cTn xmlns:p14="http://schemas.microsoft.com/office/powerpoint/2010/mai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fontScale="90000"/>
          </a:bodyPr>
          <a:lstStyle/>
          <a:p>
            <a:r>
              <a:rPr lang="en-US" dirty="0" smtClean="0"/>
              <a:t>Culturama: </a:t>
            </a:r>
            <a:br>
              <a:rPr lang="en-US" dirty="0" smtClean="0"/>
            </a:br>
            <a:r>
              <a:rPr lang="en-US" dirty="0" smtClean="0"/>
              <a:t>The Minangkabau of Indonesia</a:t>
            </a:r>
            <a:endParaRPr lang="en-US" dirty="0"/>
          </a:p>
        </p:txBody>
      </p:sp>
      <p:sp>
        <p:nvSpPr>
          <p:cNvPr id="3" name="Content Placeholder 2"/>
          <p:cNvSpPr>
            <a:spLocks noGrp="1"/>
          </p:cNvSpPr>
          <p:nvPr>
            <p:ph idx="1"/>
          </p:nvPr>
        </p:nvSpPr>
        <p:spPr/>
        <p:txBody>
          <a:bodyPr>
            <a:normAutofit fontScale="85000" lnSpcReduction="10000"/>
          </a:bodyPr>
          <a:lstStyle/>
          <a:p>
            <a:r>
              <a:rPr lang="en-US" dirty="0"/>
              <a:t>World’s largest matrilineal culture</a:t>
            </a:r>
          </a:p>
          <a:p>
            <a:r>
              <a:rPr lang="en-US" dirty="0"/>
              <a:t>Economy based mainly on rice farming</a:t>
            </a:r>
          </a:p>
          <a:p>
            <a:r>
              <a:rPr lang="en-US" dirty="0"/>
              <a:t>Some men and women work in cities and then return home</a:t>
            </a:r>
          </a:p>
          <a:p>
            <a:r>
              <a:rPr lang="en-US" dirty="0"/>
              <a:t>Women hold power through control of lineage land</a:t>
            </a:r>
          </a:p>
          <a:p>
            <a:r>
              <a:rPr lang="en-US" dirty="0"/>
              <a:t>Sub-matrilineage groups of adult women and girls live together in a lineage house</a:t>
            </a:r>
          </a:p>
          <a:p>
            <a:r>
              <a:rPr lang="en-US" dirty="0"/>
              <a:t>Men and older boys often live separately</a:t>
            </a:r>
          </a:p>
          <a:p>
            <a:r>
              <a:rPr lang="en-US" dirty="0"/>
              <a:t>In the household, the senior woman controls the power and makes all decisions</a:t>
            </a:r>
          </a:p>
          <a:p>
            <a:endParaRPr lang="en-US" dirty="0"/>
          </a:p>
        </p:txBody>
      </p:sp>
    </p:spTree>
    <p:extLst>
      <p:ext uri="{BB962C8B-B14F-4D97-AF65-F5344CB8AC3E}">
        <p14:creationId xmlns:p14="http://schemas.microsoft.com/office/powerpoint/2010/main" val="3134726100"/>
      </p:ext>
    </p:extLst>
  </p:cSld>
  <p:clrMapOvr>
    <a:masterClrMapping/>
  </p:clrMapOvr>
  <p:timing>
    <p:tnLst>
      <p:par>
        <p:cTn xmlns:p14="http://schemas.microsoft.com/office/powerpoint/2010/mai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fontScale="90000"/>
          </a:bodyPr>
          <a:lstStyle/>
          <a:p>
            <a:r>
              <a:rPr lang="en-US" dirty="0" smtClean="0"/>
              <a:t>Map 8.3 Minangkabau Region </a:t>
            </a:r>
            <a:br>
              <a:rPr lang="en-US" dirty="0" smtClean="0"/>
            </a:br>
            <a:r>
              <a:rPr lang="en-US" dirty="0" smtClean="0"/>
              <a:t>in Indonesia</a:t>
            </a:r>
            <a:endParaRPr lang="en-US" dirty="0"/>
          </a:p>
        </p:txBody>
      </p:sp>
      <p:pic>
        <p:nvPicPr>
          <p:cNvPr id="4" name="Content Placeholder 3" descr="A map shows the Minangkabau region on the southwest coast of the Indonesian island of Sumatra. The map also shows the Indonesian city of Banda Aceh, Singapore, and part of Malaysia and its capital city of Kuala Lumpur. An inset globe shows the area is in Southeast Asia."/>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2616292" y="1508251"/>
            <a:ext cx="3936908" cy="4740149"/>
          </a:xfrm>
        </p:spPr>
      </p:pic>
    </p:spTree>
    <p:extLst>
      <p:ext uri="{BB962C8B-B14F-4D97-AF65-F5344CB8AC3E}">
        <p14:creationId xmlns:p14="http://schemas.microsoft.com/office/powerpoint/2010/main" val="3064526228"/>
      </p:ext>
    </p:extLst>
  </p:cSld>
  <p:clrMapOvr>
    <a:masterClrMapping/>
  </p:clrMapOvr>
  <p:timing>
    <p:tnLst>
      <p:par>
        <p:cTn xmlns:p14="http://schemas.microsoft.com/office/powerpoint/2010/mai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Sharing</a:t>
            </a:r>
            <a:endParaRPr lang="en-US" dirty="0"/>
          </a:p>
        </p:txBody>
      </p:sp>
      <p:sp>
        <p:nvSpPr>
          <p:cNvPr id="3" name="Content Placeholder 2"/>
          <p:cNvSpPr>
            <a:spLocks noGrp="1"/>
          </p:cNvSpPr>
          <p:nvPr>
            <p:ph idx="1"/>
          </p:nvPr>
        </p:nvSpPr>
        <p:spPr/>
        <p:txBody>
          <a:bodyPr/>
          <a:lstStyle/>
          <a:p>
            <a:r>
              <a:rPr lang="en-US" dirty="0" smtClean="0"/>
              <a:t>Kinship through sharing</a:t>
            </a:r>
          </a:p>
          <a:p>
            <a:pPr lvl="1"/>
            <a:r>
              <a:rPr lang="en-US" dirty="0" smtClean="0"/>
              <a:t>Food sharing</a:t>
            </a:r>
          </a:p>
          <a:p>
            <a:pPr lvl="1"/>
            <a:r>
              <a:rPr lang="en-US" dirty="0" smtClean="0"/>
              <a:t>Godparenthood</a:t>
            </a:r>
          </a:p>
          <a:p>
            <a:pPr lvl="1"/>
            <a:r>
              <a:rPr lang="en-US" dirty="0" smtClean="0"/>
              <a:t>Adoption and fostering</a:t>
            </a:r>
          </a:p>
          <a:p>
            <a:pPr lvl="2"/>
            <a:r>
              <a:rPr lang="en-US" dirty="0" smtClean="0"/>
              <a:t>Example: child fostering in Ghana</a:t>
            </a:r>
            <a:endParaRPr lang="en-US" dirty="0"/>
          </a:p>
        </p:txBody>
      </p:sp>
    </p:spTree>
    <p:extLst>
      <p:ext uri="{BB962C8B-B14F-4D97-AF65-F5344CB8AC3E}">
        <p14:creationId xmlns:p14="http://schemas.microsoft.com/office/powerpoint/2010/main" val="3647030386"/>
      </p:ext>
    </p:extLst>
  </p:cSld>
  <p:clrMapOvr>
    <a:masterClrMapping/>
  </p:clrMapOvr>
  <p:timing>
    <p:tnLst>
      <p:par>
        <p:cTn xmlns:p14="http://schemas.microsoft.com/office/powerpoint/2010/mai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Map 8.5 Ghana</a:t>
            </a:r>
            <a:endParaRPr lang="en-US" dirty="0"/>
          </a:p>
        </p:txBody>
      </p:sp>
      <p:pic>
        <p:nvPicPr>
          <p:cNvPr id="4" name="Content Placeholder 3" descr="A map of Ghana shows its capital city of Accra on the Gulf of Guinea, along with the Ashanti Plateau and Lake Volta. Ghana is bounded by Cote D’Ivoire to the west, Burkina Faso to the north, and Togo to the east. An inset globe shows the area is in west-central Africa."/>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2819400" y="1453357"/>
            <a:ext cx="3505199" cy="4819649"/>
          </a:xfrm>
        </p:spPr>
      </p:pic>
    </p:spTree>
    <p:extLst>
      <p:ext uri="{BB962C8B-B14F-4D97-AF65-F5344CB8AC3E}">
        <p14:creationId xmlns:p14="http://schemas.microsoft.com/office/powerpoint/2010/main" val="1763326133"/>
      </p:ext>
    </p:extLst>
  </p:cSld>
  <p:clrMapOvr>
    <a:masterClrMapping/>
  </p:clrMapOvr>
  <p:timing>
    <p:tnLst>
      <p:par>
        <p:cTn xmlns:p14="http://schemas.microsoft.com/office/powerpoint/2010/mai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Marriage </a:t>
            </a:r>
            <a:r>
              <a:rPr lang="en-US" sz="2800" dirty="0" smtClean="0"/>
              <a:t>(1 of 10)</a:t>
            </a:r>
            <a:endParaRPr lang="en-US" sz="2800" dirty="0"/>
          </a:p>
        </p:txBody>
      </p:sp>
      <p:sp>
        <p:nvSpPr>
          <p:cNvPr id="3" name="Content Placeholder 2"/>
          <p:cNvSpPr>
            <a:spLocks noGrp="1"/>
          </p:cNvSpPr>
          <p:nvPr>
            <p:ph idx="1"/>
          </p:nvPr>
        </p:nvSpPr>
        <p:spPr/>
        <p:txBody>
          <a:bodyPr/>
          <a:lstStyle/>
          <a:p>
            <a:r>
              <a:rPr lang="en-US" dirty="0" smtClean="0"/>
              <a:t>What is marriage?</a:t>
            </a:r>
          </a:p>
          <a:p>
            <a:pPr lvl="1"/>
            <a:r>
              <a:rPr lang="en-US" dirty="0" smtClean="0"/>
              <a:t>Number </a:t>
            </a:r>
            <a:r>
              <a:rPr lang="en-US" dirty="0"/>
              <a:t>of people involved</a:t>
            </a:r>
          </a:p>
          <a:p>
            <a:pPr lvl="1"/>
            <a:r>
              <a:rPr lang="en-US" dirty="0" smtClean="0"/>
              <a:t>Gender</a:t>
            </a:r>
            <a:r>
              <a:rPr lang="en-US" dirty="0"/>
              <a:t>/sexual orientation of people involved</a:t>
            </a:r>
          </a:p>
          <a:p>
            <a:pPr lvl="1"/>
            <a:r>
              <a:rPr lang="en-US" dirty="0" smtClean="0"/>
              <a:t>Functions </a:t>
            </a:r>
            <a:r>
              <a:rPr lang="en-US" dirty="0"/>
              <a:t>of the relationship—sexual intercourse, legitimacy of children, shared property, </a:t>
            </a:r>
            <a:r>
              <a:rPr lang="en-US" dirty="0" smtClean="0"/>
              <a:t>coresidence?</a:t>
            </a:r>
            <a:endParaRPr lang="en-US" dirty="0"/>
          </a:p>
        </p:txBody>
      </p:sp>
    </p:spTree>
    <p:extLst>
      <p:ext uri="{BB962C8B-B14F-4D97-AF65-F5344CB8AC3E}">
        <p14:creationId xmlns:p14="http://schemas.microsoft.com/office/powerpoint/2010/main" val="3702660811"/>
      </p:ext>
    </p:extLst>
  </p:cSld>
  <p:clrMapOvr>
    <a:masterClrMapping/>
  </p:clrMapOvr>
  <p:timing>
    <p:tnLst>
      <p:par>
        <p:cTn xmlns:p14="http://schemas.microsoft.com/office/powerpoint/2010/mai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Marriage </a:t>
            </a:r>
            <a:r>
              <a:rPr lang="en-US" sz="2800" dirty="0" smtClean="0"/>
              <a:t>(2 </a:t>
            </a:r>
            <a:r>
              <a:rPr lang="en-US" sz="2800" dirty="0"/>
              <a:t>of 10)</a:t>
            </a:r>
          </a:p>
        </p:txBody>
      </p:sp>
      <p:sp>
        <p:nvSpPr>
          <p:cNvPr id="3" name="Content Placeholder 2"/>
          <p:cNvSpPr>
            <a:spLocks noGrp="1"/>
          </p:cNvSpPr>
          <p:nvPr>
            <p:ph idx="1"/>
          </p:nvPr>
        </p:nvSpPr>
        <p:spPr/>
        <p:txBody>
          <a:bodyPr/>
          <a:lstStyle/>
          <a:p>
            <a:r>
              <a:rPr lang="en-US" dirty="0" smtClean="0"/>
              <a:t>A comprehensive definition?</a:t>
            </a:r>
          </a:p>
          <a:p>
            <a:pPr lvl="1"/>
            <a:r>
              <a:rPr lang="en-US" dirty="0"/>
              <a:t>Marriage is a more or less stable union, usually between two </a:t>
            </a:r>
            <a:r>
              <a:rPr lang="en-US" dirty="0" smtClean="0"/>
              <a:t>people, </a:t>
            </a:r>
            <a:r>
              <a:rPr lang="en-US" dirty="0"/>
              <a:t>who may or may not be </a:t>
            </a:r>
            <a:r>
              <a:rPr lang="en-US" dirty="0" smtClean="0"/>
              <a:t>coresidential</a:t>
            </a:r>
            <a:r>
              <a:rPr lang="en-US" dirty="0"/>
              <a:t>, sexually involved with each other, and procreative with each other </a:t>
            </a:r>
          </a:p>
        </p:txBody>
      </p:sp>
    </p:spTree>
    <p:extLst>
      <p:ext uri="{BB962C8B-B14F-4D97-AF65-F5344CB8AC3E}">
        <p14:creationId xmlns:p14="http://schemas.microsoft.com/office/powerpoint/2010/main" val="3474714287"/>
      </p:ext>
    </p:extLst>
  </p:cSld>
  <p:clrMapOvr>
    <a:masterClrMapping/>
  </p:clrMapOvr>
  <p:timing>
    <p:tnLst>
      <p:par>
        <p:cTn xmlns:p14="http://schemas.microsoft.com/office/powerpoint/2010/mai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Marriage </a:t>
            </a:r>
            <a:r>
              <a:rPr lang="en-US" sz="2800" dirty="0" smtClean="0"/>
              <a:t>(3 </a:t>
            </a:r>
            <a:r>
              <a:rPr lang="en-US" sz="2800" dirty="0"/>
              <a:t>of 10)</a:t>
            </a:r>
          </a:p>
        </p:txBody>
      </p:sp>
      <p:sp>
        <p:nvSpPr>
          <p:cNvPr id="3" name="Content Placeholder 2"/>
          <p:cNvSpPr>
            <a:spLocks noGrp="1"/>
          </p:cNvSpPr>
          <p:nvPr>
            <p:ph idx="1"/>
          </p:nvPr>
        </p:nvSpPr>
        <p:spPr/>
        <p:txBody>
          <a:bodyPr/>
          <a:lstStyle/>
          <a:p>
            <a:r>
              <a:rPr lang="en-US" dirty="0" smtClean="0"/>
              <a:t>Rules for finding a marriage partner</a:t>
            </a:r>
          </a:p>
          <a:p>
            <a:pPr lvl="1"/>
            <a:r>
              <a:rPr lang="en-US" dirty="0" smtClean="0"/>
              <a:t>Rules of exclusion</a:t>
            </a:r>
          </a:p>
          <a:p>
            <a:pPr lvl="1"/>
            <a:r>
              <a:rPr lang="en-US" dirty="0" smtClean="0"/>
              <a:t>Preference </a:t>
            </a:r>
            <a:r>
              <a:rPr lang="en-US" dirty="0"/>
              <a:t>rules</a:t>
            </a:r>
          </a:p>
          <a:p>
            <a:pPr lvl="2"/>
            <a:r>
              <a:rPr lang="en-US" dirty="0"/>
              <a:t>Features such as age, height, looks, wealth, education</a:t>
            </a:r>
          </a:p>
          <a:p>
            <a:pPr lvl="2"/>
            <a:r>
              <a:rPr lang="en-US" dirty="0"/>
              <a:t>Cousin marriage in some cultures</a:t>
            </a:r>
          </a:p>
          <a:p>
            <a:pPr lvl="2"/>
            <a:r>
              <a:rPr lang="en-US" dirty="0"/>
              <a:t>Romantic love in some cultures</a:t>
            </a:r>
          </a:p>
          <a:p>
            <a:pPr lvl="2"/>
            <a:r>
              <a:rPr lang="en-US" dirty="0"/>
              <a:t>Marriage gifts</a:t>
            </a:r>
          </a:p>
          <a:p>
            <a:endParaRPr lang="en-US" dirty="0"/>
          </a:p>
        </p:txBody>
      </p:sp>
    </p:spTree>
    <p:extLst>
      <p:ext uri="{BB962C8B-B14F-4D97-AF65-F5344CB8AC3E}">
        <p14:creationId xmlns:p14="http://schemas.microsoft.com/office/powerpoint/2010/main" val="3670736114"/>
      </p:ext>
    </p:extLst>
  </p:cSld>
  <p:clrMapOvr>
    <a:masterClrMapping/>
  </p:clrMapOvr>
  <p:timing>
    <p:tnLst>
      <p:par>
        <p:cTn xmlns:p14="http://schemas.microsoft.com/office/powerpoint/2010/mai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Marriage </a:t>
            </a:r>
            <a:r>
              <a:rPr lang="en-US" sz="2800" dirty="0" smtClean="0"/>
              <a:t>(4 </a:t>
            </a:r>
            <a:r>
              <a:rPr lang="en-US" sz="2800" dirty="0"/>
              <a:t>of 10)</a:t>
            </a:r>
          </a:p>
        </p:txBody>
      </p:sp>
      <p:sp>
        <p:nvSpPr>
          <p:cNvPr id="3" name="Content Placeholder 2"/>
          <p:cNvSpPr>
            <a:spLocks noGrp="1"/>
          </p:cNvSpPr>
          <p:nvPr>
            <p:ph idx="1"/>
          </p:nvPr>
        </p:nvSpPr>
        <p:spPr/>
        <p:txBody>
          <a:bodyPr/>
          <a:lstStyle/>
          <a:p>
            <a:r>
              <a:rPr lang="en-US" dirty="0" smtClean="0"/>
              <a:t>Exclusion rule: </a:t>
            </a:r>
            <a:r>
              <a:rPr lang="en-US" dirty="0"/>
              <a:t>t</a:t>
            </a:r>
            <a:r>
              <a:rPr lang="en-US" dirty="0" smtClean="0"/>
              <a:t>he incest </a:t>
            </a:r>
            <a:r>
              <a:rPr lang="en-US" dirty="0"/>
              <a:t>t</a:t>
            </a:r>
            <a:r>
              <a:rPr lang="en-US" dirty="0" smtClean="0"/>
              <a:t>aboo</a:t>
            </a:r>
          </a:p>
          <a:p>
            <a:pPr lvl="1"/>
            <a:r>
              <a:rPr lang="en-US" dirty="0"/>
              <a:t>All cultures have some form of incest taboo</a:t>
            </a:r>
          </a:p>
          <a:p>
            <a:pPr lvl="1"/>
            <a:r>
              <a:rPr lang="en-US" dirty="0"/>
              <a:t>An incest taboo forbids sexual intercourse and/or marriage between certain kin</a:t>
            </a:r>
          </a:p>
          <a:p>
            <a:pPr lvl="1"/>
            <a:r>
              <a:rPr lang="en-US" dirty="0"/>
              <a:t>Cultural variation in which kin are excluded </a:t>
            </a:r>
          </a:p>
          <a:p>
            <a:pPr lvl="1"/>
            <a:r>
              <a:rPr lang="en-US" dirty="0"/>
              <a:t>Lévi-Strauss linked the incest taboo with the origin of exchange among humans</a:t>
            </a:r>
          </a:p>
          <a:p>
            <a:pPr lvl="1"/>
            <a:endParaRPr lang="en-US" dirty="0"/>
          </a:p>
        </p:txBody>
      </p:sp>
    </p:spTree>
    <p:extLst>
      <p:ext uri="{BB962C8B-B14F-4D97-AF65-F5344CB8AC3E}">
        <p14:creationId xmlns:p14="http://schemas.microsoft.com/office/powerpoint/2010/main" val="594988558"/>
      </p:ext>
    </p:extLst>
  </p:cSld>
  <p:clrMapOvr>
    <a:masterClrMapping/>
  </p:clrMapOvr>
  <p:timing>
    <p:tnLst>
      <p:par>
        <p:cTn xmlns:p14="http://schemas.microsoft.com/office/powerpoint/2010/mai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Marriage </a:t>
            </a:r>
            <a:r>
              <a:rPr lang="en-US" sz="2800" dirty="0" smtClean="0"/>
              <a:t>(5 </a:t>
            </a:r>
            <a:r>
              <a:rPr lang="en-US" sz="2800" dirty="0"/>
              <a:t>of 10)</a:t>
            </a:r>
          </a:p>
        </p:txBody>
      </p:sp>
      <p:sp>
        <p:nvSpPr>
          <p:cNvPr id="3" name="Content Placeholder 2"/>
          <p:cNvSpPr>
            <a:spLocks noGrp="1"/>
          </p:cNvSpPr>
          <p:nvPr>
            <p:ph idx="1"/>
          </p:nvPr>
        </p:nvSpPr>
        <p:spPr/>
        <p:txBody>
          <a:bodyPr>
            <a:normAutofit/>
          </a:bodyPr>
          <a:lstStyle/>
          <a:p>
            <a:r>
              <a:rPr lang="en-US" dirty="0" smtClean="0"/>
              <a:t>Cousin marriage</a:t>
            </a:r>
          </a:p>
          <a:p>
            <a:pPr lvl="1"/>
            <a:r>
              <a:rPr lang="en-US" dirty="0" smtClean="0"/>
              <a:t>Forbidden </a:t>
            </a:r>
            <a:r>
              <a:rPr lang="en-US" dirty="0"/>
              <a:t>in some cultures</a:t>
            </a:r>
          </a:p>
          <a:p>
            <a:pPr lvl="1"/>
            <a:r>
              <a:rPr lang="en-US" dirty="0"/>
              <a:t>Preferred in some </a:t>
            </a:r>
            <a:r>
              <a:rPr lang="en-US" dirty="0" smtClean="0"/>
              <a:t>cultures</a:t>
            </a:r>
          </a:p>
          <a:p>
            <a:pPr lvl="1"/>
            <a:r>
              <a:rPr lang="en-US" dirty="0" smtClean="0"/>
              <a:t>Various </a:t>
            </a:r>
            <a:r>
              <a:rPr lang="en-US" dirty="0"/>
              <a:t>definitions of what is a </a:t>
            </a:r>
            <a:r>
              <a:rPr lang="en-US" dirty="0" smtClean="0"/>
              <a:t>cousin</a:t>
            </a:r>
          </a:p>
          <a:p>
            <a:pPr lvl="1"/>
            <a:r>
              <a:rPr lang="en-US" dirty="0" smtClean="0"/>
              <a:t>Various </a:t>
            </a:r>
            <a:r>
              <a:rPr lang="en-US" dirty="0"/>
              <a:t>patterns of preference </a:t>
            </a:r>
            <a:endParaRPr lang="en-US" dirty="0" smtClean="0"/>
          </a:p>
          <a:p>
            <a:pPr lvl="2"/>
            <a:r>
              <a:rPr lang="en-US" dirty="0" smtClean="0"/>
              <a:t>For </a:t>
            </a:r>
            <a:r>
              <a:rPr lang="en-US" dirty="0"/>
              <a:t>cousins on </a:t>
            </a:r>
            <a:r>
              <a:rPr lang="en-US" dirty="0" smtClean="0"/>
              <a:t>one </a:t>
            </a:r>
            <a:r>
              <a:rPr lang="en-US" dirty="0"/>
              <a:t>“side” of the family (mother’s or father’s</a:t>
            </a:r>
            <a:r>
              <a:rPr lang="en-US" dirty="0" smtClean="0"/>
              <a:t>)</a:t>
            </a:r>
          </a:p>
          <a:p>
            <a:pPr lvl="2"/>
            <a:r>
              <a:rPr lang="en-US" dirty="0" smtClean="0"/>
              <a:t>For </a:t>
            </a:r>
            <a:r>
              <a:rPr lang="en-US" dirty="0"/>
              <a:t>cross-cousins or parallel </a:t>
            </a:r>
            <a:r>
              <a:rPr lang="en-US" dirty="0" smtClean="0"/>
              <a:t>cousins</a:t>
            </a:r>
          </a:p>
          <a:p>
            <a:pPr lvl="2"/>
            <a:r>
              <a:rPr lang="en-US" dirty="0" smtClean="0"/>
              <a:t>Example: South India</a:t>
            </a:r>
            <a:endParaRPr lang="en-US" dirty="0"/>
          </a:p>
          <a:p>
            <a:endParaRPr lang="en-US" dirty="0"/>
          </a:p>
        </p:txBody>
      </p:sp>
    </p:spTree>
    <p:extLst>
      <p:ext uri="{BB962C8B-B14F-4D97-AF65-F5344CB8AC3E}">
        <p14:creationId xmlns:p14="http://schemas.microsoft.com/office/powerpoint/2010/main" val="2690318950"/>
      </p:ext>
    </p:extLst>
  </p:cSld>
  <p:clrMapOvr>
    <a:masterClrMapping/>
  </p:clrMapOvr>
  <p:timing>
    <p:tnLst>
      <p:par>
        <p:cTn xmlns:p14="http://schemas.microsoft.com/office/powerpoint/2010/mai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Map 8.4 South India</a:t>
            </a:r>
            <a:endParaRPr lang="en-US" dirty="0"/>
          </a:p>
        </p:txBody>
      </p:sp>
      <p:pic>
        <p:nvPicPr>
          <p:cNvPr id="4" name="Content Placeholder 3" descr="A map shows the following states and cities in southern India: Karnataka (Bangalore and Hampi), Andhra Pradesh (Hyderabad), Tamil Nadu (Chennai (Madras), and Kerala (Thiruvananthapuram). Sri Lanka is close by in the Indian Ocean. Two inset maps show the area is in southern India."/>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3276600" y="1426028"/>
            <a:ext cx="2743200" cy="4898572"/>
          </a:xfrm>
        </p:spPr>
      </p:pic>
    </p:spTree>
    <p:extLst>
      <p:ext uri="{BB962C8B-B14F-4D97-AF65-F5344CB8AC3E}">
        <p14:creationId xmlns:p14="http://schemas.microsoft.com/office/powerpoint/2010/main" val="1086276234"/>
      </p:ext>
    </p:extLst>
  </p:cSld>
  <p:clrMapOvr>
    <a:masterClrMapping/>
  </p:clrMapOvr>
  <p:timing>
    <p:tnLst>
      <p:par>
        <p:cTn xmlns:p14="http://schemas.microsoft.com/office/powerpoint/2010/mai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Marriage </a:t>
            </a:r>
            <a:r>
              <a:rPr lang="en-US" sz="2800" dirty="0" smtClean="0"/>
              <a:t>(6 </a:t>
            </a:r>
            <a:r>
              <a:rPr lang="en-US" sz="2800" dirty="0"/>
              <a:t>of 10)</a:t>
            </a:r>
          </a:p>
        </p:txBody>
      </p:sp>
      <p:sp>
        <p:nvSpPr>
          <p:cNvPr id="3" name="Content Placeholder 2"/>
          <p:cNvSpPr>
            <a:spLocks noGrp="1"/>
          </p:cNvSpPr>
          <p:nvPr>
            <p:ph idx="1"/>
          </p:nvPr>
        </p:nvSpPr>
        <p:spPr/>
        <p:txBody>
          <a:bodyPr/>
          <a:lstStyle/>
          <a:p>
            <a:r>
              <a:rPr lang="en-US" dirty="0" smtClean="0"/>
              <a:t>Endogamy and exogamy as preference </a:t>
            </a:r>
            <a:r>
              <a:rPr lang="en-US" dirty="0"/>
              <a:t>r</a:t>
            </a:r>
            <a:r>
              <a:rPr lang="en-US" dirty="0" smtClean="0"/>
              <a:t>ules</a:t>
            </a:r>
          </a:p>
          <a:p>
            <a:pPr lvl="1"/>
            <a:r>
              <a:rPr lang="en-US" dirty="0" smtClean="0"/>
              <a:t>Endogamy</a:t>
            </a:r>
            <a:r>
              <a:rPr lang="en-US" dirty="0"/>
              <a:t>: m</a:t>
            </a:r>
            <a:r>
              <a:rPr lang="en-US" dirty="0" smtClean="0"/>
              <a:t>arriage </a:t>
            </a:r>
            <a:r>
              <a:rPr lang="en-US" dirty="0"/>
              <a:t>within a particular region or social category</a:t>
            </a:r>
          </a:p>
          <a:p>
            <a:pPr lvl="1"/>
            <a:r>
              <a:rPr lang="en-US" dirty="0" smtClean="0"/>
              <a:t>Exogamy</a:t>
            </a:r>
            <a:r>
              <a:rPr lang="en-US" dirty="0"/>
              <a:t>: m</a:t>
            </a:r>
            <a:r>
              <a:rPr lang="en-US" dirty="0" smtClean="0"/>
              <a:t>arriage </a:t>
            </a:r>
            <a:r>
              <a:rPr lang="en-US" dirty="0"/>
              <a:t>outside a particular region or social category</a:t>
            </a:r>
          </a:p>
          <a:p>
            <a:pPr lvl="1"/>
            <a:endParaRPr lang="en-US" dirty="0"/>
          </a:p>
        </p:txBody>
      </p:sp>
    </p:spTree>
    <p:extLst>
      <p:ext uri="{BB962C8B-B14F-4D97-AF65-F5344CB8AC3E}">
        <p14:creationId xmlns:p14="http://schemas.microsoft.com/office/powerpoint/2010/main" val="1589924561"/>
      </p:ext>
    </p:extLst>
  </p:cSld>
  <p:clrMapOvr>
    <a:masterClrMapping/>
  </p:clrMapOvr>
  <p:timing>
    <p:tnLst>
      <p:par>
        <p:cTn xmlns:p14="http://schemas.microsoft.com/office/powerpoint/2010/mai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Marriage </a:t>
            </a:r>
            <a:r>
              <a:rPr lang="en-US" sz="2800" dirty="0" smtClean="0"/>
              <a:t>(7 </a:t>
            </a:r>
            <a:r>
              <a:rPr lang="en-US" sz="2800" dirty="0"/>
              <a:t>of 10)</a:t>
            </a:r>
          </a:p>
        </p:txBody>
      </p:sp>
      <p:sp>
        <p:nvSpPr>
          <p:cNvPr id="3" name="Content Placeholder 2"/>
          <p:cNvSpPr>
            <a:spLocks noGrp="1"/>
          </p:cNvSpPr>
          <p:nvPr>
            <p:ph idx="1"/>
          </p:nvPr>
        </p:nvSpPr>
        <p:spPr/>
        <p:txBody>
          <a:bodyPr>
            <a:normAutofit/>
          </a:bodyPr>
          <a:lstStyle/>
          <a:p>
            <a:r>
              <a:rPr lang="en-US" dirty="0" smtClean="0"/>
              <a:t>Examples of preference rules</a:t>
            </a:r>
          </a:p>
          <a:p>
            <a:pPr lvl="1"/>
            <a:r>
              <a:rPr lang="en-US" dirty="0" smtClean="0"/>
              <a:t>Kinship</a:t>
            </a:r>
            <a:endParaRPr lang="en-US" dirty="0"/>
          </a:p>
          <a:p>
            <a:pPr lvl="1"/>
            <a:r>
              <a:rPr lang="en-US" dirty="0"/>
              <a:t>Location</a:t>
            </a:r>
          </a:p>
          <a:p>
            <a:pPr lvl="1"/>
            <a:r>
              <a:rPr lang="en-US" dirty="0"/>
              <a:t>Ethnicity</a:t>
            </a:r>
          </a:p>
          <a:p>
            <a:pPr lvl="1"/>
            <a:r>
              <a:rPr lang="en-US" dirty="0"/>
              <a:t>Status/economic position</a:t>
            </a:r>
          </a:p>
          <a:p>
            <a:pPr lvl="1"/>
            <a:r>
              <a:rPr lang="en-US" dirty="0"/>
              <a:t>Looks (beauty, </a:t>
            </a:r>
            <a:r>
              <a:rPr lang="en-US" dirty="0" smtClean="0"/>
              <a:t>height)</a:t>
            </a:r>
          </a:p>
          <a:p>
            <a:pPr lvl="1"/>
            <a:r>
              <a:rPr lang="en-US" dirty="0" smtClean="0"/>
              <a:t>Physical </a:t>
            </a:r>
            <a:r>
              <a:rPr lang="en-US" dirty="0"/>
              <a:t>ability</a:t>
            </a:r>
          </a:p>
          <a:p>
            <a:pPr lvl="1"/>
            <a:r>
              <a:rPr lang="en-US" dirty="0"/>
              <a:t>Romantic love</a:t>
            </a:r>
          </a:p>
          <a:p>
            <a:endParaRPr lang="en-US" dirty="0"/>
          </a:p>
        </p:txBody>
      </p:sp>
    </p:spTree>
    <p:extLst>
      <p:ext uri="{BB962C8B-B14F-4D97-AF65-F5344CB8AC3E}">
        <p14:creationId xmlns:p14="http://schemas.microsoft.com/office/powerpoint/2010/main" val="1665731499"/>
      </p:ext>
    </p:extLst>
  </p:cSld>
  <p:clrMapOvr>
    <a:masterClrMapping/>
  </p:clrMapOvr>
  <p:timing>
    <p:tnLst>
      <p:par>
        <p:cTn xmlns:p14="http://schemas.microsoft.com/office/powerpoint/2010/mai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Marriage </a:t>
            </a:r>
            <a:r>
              <a:rPr lang="en-US" sz="2800" dirty="0" smtClean="0"/>
              <a:t>(8 </a:t>
            </a:r>
            <a:r>
              <a:rPr lang="en-US" sz="2800" dirty="0"/>
              <a:t>of 10)</a:t>
            </a:r>
          </a:p>
        </p:txBody>
      </p:sp>
      <p:sp>
        <p:nvSpPr>
          <p:cNvPr id="3" name="Content Placeholder 2"/>
          <p:cNvSpPr>
            <a:spLocks noGrp="1"/>
          </p:cNvSpPr>
          <p:nvPr>
            <p:ph idx="1"/>
          </p:nvPr>
        </p:nvSpPr>
        <p:spPr/>
        <p:txBody>
          <a:bodyPr/>
          <a:lstStyle/>
          <a:p>
            <a:r>
              <a:rPr lang="en-US" dirty="0" smtClean="0"/>
              <a:t>Status considerations in partner selection (heterosexual pairing)</a:t>
            </a:r>
          </a:p>
          <a:p>
            <a:pPr lvl="1"/>
            <a:r>
              <a:rPr lang="en-US" dirty="0" smtClean="0"/>
              <a:t>Hypergyny: the bride marries a groom of higher status</a:t>
            </a:r>
          </a:p>
          <a:p>
            <a:pPr lvl="1"/>
            <a:r>
              <a:rPr lang="en-US" dirty="0" smtClean="0"/>
              <a:t>Hypogyny: the bride marries a groom of lower status</a:t>
            </a:r>
          </a:p>
          <a:p>
            <a:pPr lvl="1"/>
            <a:r>
              <a:rPr lang="en-US" dirty="0" smtClean="0"/>
              <a:t>Isogamy: the bride and groom are status equals</a:t>
            </a:r>
            <a:endParaRPr lang="en-US" dirty="0"/>
          </a:p>
        </p:txBody>
      </p:sp>
    </p:spTree>
    <p:extLst>
      <p:ext uri="{BB962C8B-B14F-4D97-AF65-F5344CB8AC3E}">
        <p14:creationId xmlns:p14="http://schemas.microsoft.com/office/powerpoint/2010/main" val="434600471"/>
      </p:ext>
    </p:extLst>
  </p:cSld>
  <p:clrMapOvr>
    <a:masterClrMapping/>
  </p:clrMapOvr>
  <p:timing>
    <p:tnLst>
      <p:par>
        <p:cTn xmlns:p14="http://schemas.microsoft.com/office/powerpoint/2010/mai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Marriage </a:t>
            </a:r>
            <a:r>
              <a:rPr lang="en-US" sz="2800" dirty="0" smtClean="0"/>
              <a:t>(9 </a:t>
            </a:r>
            <a:r>
              <a:rPr lang="en-US" sz="2800" dirty="0"/>
              <a:t>of 10)</a:t>
            </a:r>
          </a:p>
        </p:txBody>
      </p:sp>
      <p:sp>
        <p:nvSpPr>
          <p:cNvPr id="3" name="Content Placeholder 2"/>
          <p:cNvSpPr>
            <a:spLocks noGrp="1"/>
          </p:cNvSpPr>
          <p:nvPr>
            <p:ph idx="1"/>
          </p:nvPr>
        </p:nvSpPr>
        <p:spPr/>
        <p:txBody>
          <a:bodyPr>
            <a:normAutofit fontScale="85000" lnSpcReduction="10000"/>
          </a:bodyPr>
          <a:lstStyle/>
          <a:p>
            <a:r>
              <a:rPr lang="en-US" dirty="0"/>
              <a:t>Often involves a series of gift/monetary exchanges between the bride’s and groom’s </a:t>
            </a:r>
            <a:r>
              <a:rPr lang="en-US" dirty="0" smtClean="0"/>
              <a:t>families</a:t>
            </a:r>
          </a:p>
          <a:p>
            <a:pPr lvl="1"/>
            <a:r>
              <a:rPr lang="en-US" dirty="0" smtClean="0"/>
              <a:t>Dowry</a:t>
            </a:r>
          </a:p>
          <a:p>
            <a:pPr lvl="1"/>
            <a:r>
              <a:rPr lang="en-US" dirty="0" smtClean="0"/>
              <a:t>Groomprice</a:t>
            </a:r>
          </a:p>
          <a:p>
            <a:pPr lvl="1"/>
            <a:r>
              <a:rPr lang="en-US" dirty="0" smtClean="0"/>
              <a:t>Brideprice</a:t>
            </a:r>
          </a:p>
          <a:p>
            <a:pPr lvl="1"/>
            <a:r>
              <a:rPr lang="en-US" dirty="0" smtClean="0"/>
              <a:t>Brideservice</a:t>
            </a:r>
            <a:endParaRPr lang="en-US" dirty="0"/>
          </a:p>
          <a:p>
            <a:endParaRPr lang="en-US" dirty="0"/>
          </a:p>
          <a:p>
            <a:r>
              <a:rPr lang="en-US" dirty="0"/>
              <a:t>The wedding: </a:t>
            </a:r>
            <a:r>
              <a:rPr lang="en-US" dirty="0" smtClean="0"/>
              <a:t>ranges </a:t>
            </a:r>
            <a:r>
              <a:rPr lang="en-US" dirty="0"/>
              <a:t>from very simple to highly elaborate and expensive</a:t>
            </a:r>
          </a:p>
          <a:p>
            <a:pPr lvl="1"/>
            <a:r>
              <a:rPr lang="en-US" dirty="0"/>
              <a:t>W</a:t>
            </a:r>
            <a:r>
              <a:rPr lang="en-US" dirty="0" smtClean="0"/>
              <a:t>eddings </a:t>
            </a:r>
            <a:r>
              <a:rPr lang="en-US" dirty="0"/>
              <a:t>“crystallize” and highlight cultural meanings of the marital relationship and gender roles</a:t>
            </a:r>
          </a:p>
          <a:p>
            <a:endParaRPr lang="en-US" dirty="0"/>
          </a:p>
        </p:txBody>
      </p:sp>
    </p:spTree>
    <p:extLst>
      <p:ext uri="{BB962C8B-B14F-4D97-AF65-F5344CB8AC3E}">
        <p14:creationId xmlns:p14="http://schemas.microsoft.com/office/powerpoint/2010/main" val="350313712"/>
      </p:ext>
    </p:extLst>
  </p:cSld>
  <p:clrMapOvr>
    <a:masterClrMapping/>
  </p:clrMapOvr>
  <p:timing>
    <p:tnLst>
      <p:par>
        <p:cTn xmlns:p14="http://schemas.microsoft.com/office/powerpoint/2010/mai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Marriage </a:t>
            </a:r>
            <a:r>
              <a:rPr lang="en-US" sz="2800" dirty="0"/>
              <a:t>(</a:t>
            </a:r>
            <a:r>
              <a:rPr lang="en-US" sz="2800" dirty="0" smtClean="0"/>
              <a:t>10 </a:t>
            </a:r>
            <a:r>
              <a:rPr lang="en-US" sz="2800" dirty="0"/>
              <a:t>of 10)</a:t>
            </a:r>
          </a:p>
        </p:txBody>
      </p:sp>
      <p:sp>
        <p:nvSpPr>
          <p:cNvPr id="3" name="Content Placeholder 2"/>
          <p:cNvSpPr>
            <a:spLocks noGrp="1"/>
          </p:cNvSpPr>
          <p:nvPr>
            <p:ph idx="1"/>
          </p:nvPr>
        </p:nvSpPr>
        <p:spPr/>
        <p:txBody>
          <a:bodyPr/>
          <a:lstStyle/>
          <a:p>
            <a:r>
              <a:rPr lang="en-US" dirty="0" smtClean="0"/>
              <a:t>Forms of Marriage</a:t>
            </a:r>
          </a:p>
          <a:p>
            <a:pPr lvl="1"/>
            <a:r>
              <a:rPr lang="en-US" dirty="0" smtClean="0"/>
              <a:t>Monogamy: marriage between two people</a:t>
            </a:r>
          </a:p>
          <a:p>
            <a:pPr lvl="1"/>
            <a:r>
              <a:rPr lang="en-US" dirty="0" smtClean="0"/>
              <a:t>Polygamy: marriage between more than two people</a:t>
            </a:r>
          </a:p>
          <a:p>
            <a:pPr lvl="2"/>
            <a:r>
              <a:rPr lang="en-US" dirty="0" smtClean="0"/>
              <a:t>Polygyny: one man and more than one woman</a:t>
            </a:r>
          </a:p>
          <a:p>
            <a:pPr lvl="2"/>
            <a:r>
              <a:rPr lang="en-US" dirty="0" smtClean="0"/>
              <a:t>Polyandry: one woman and more than one man</a:t>
            </a:r>
            <a:endParaRPr lang="en-US" dirty="0"/>
          </a:p>
        </p:txBody>
      </p:sp>
    </p:spTree>
    <p:extLst>
      <p:ext uri="{BB962C8B-B14F-4D97-AF65-F5344CB8AC3E}">
        <p14:creationId xmlns:p14="http://schemas.microsoft.com/office/powerpoint/2010/main" val="124359566"/>
      </p:ext>
    </p:extLst>
  </p:cSld>
  <p:clrMapOvr>
    <a:masterClrMapping/>
  </p:clrMapOvr>
  <p:timing>
    <p:tnLst>
      <p:par>
        <p:cTn xmlns:p14="http://schemas.microsoft.com/office/powerpoint/2010/mai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Autofit/>
          </a:bodyPr>
          <a:lstStyle/>
          <a:p>
            <a:r>
              <a:rPr lang="en-US" sz="3200" dirty="0" smtClean="0"/>
              <a:t>Households and Domestic Life</a:t>
            </a:r>
            <a:br>
              <a:rPr lang="en-US" sz="3200" dirty="0" smtClean="0"/>
            </a:br>
            <a:r>
              <a:rPr lang="en-US" sz="2000" dirty="0" smtClean="0"/>
              <a:t>8.2 Recognize how anthropologists define and study households and domestic life.</a:t>
            </a:r>
            <a:endParaRPr lang="en-US" sz="2000" dirty="0"/>
          </a:p>
        </p:txBody>
      </p:sp>
      <p:sp>
        <p:nvSpPr>
          <p:cNvPr id="3" name="Content Placeholder 2"/>
          <p:cNvSpPr>
            <a:spLocks noGrp="1"/>
          </p:cNvSpPr>
          <p:nvPr>
            <p:ph idx="1"/>
          </p:nvPr>
        </p:nvSpPr>
        <p:spPr/>
        <p:txBody>
          <a:bodyPr/>
          <a:lstStyle/>
          <a:p>
            <a:endParaRPr lang="en-US" dirty="0" smtClean="0"/>
          </a:p>
          <a:p>
            <a:r>
              <a:rPr lang="en-US" dirty="0" smtClean="0"/>
              <a:t>The Household: Variations on a Theme</a:t>
            </a:r>
          </a:p>
          <a:p>
            <a:endParaRPr lang="en-US" dirty="0"/>
          </a:p>
          <a:p>
            <a:r>
              <a:rPr lang="en-US" dirty="0" smtClean="0"/>
              <a:t>Intrahousehold Dynamics</a:t>
            </a:r>
            <a:endParaRPr lang="en-US" dirty="0"/>
          </a:p>
        </p:txBody>
      </p:sp>
    </p:spTree>
    <p:extLst>
      <p:ext uri="{BB962C8B-B14F-4D97-AF65-F5344CB8AC3E}">
        <p14:creationId xmlns:p14="http://schemas.microsoft.com/office/powerpoint/2010/main" val="1217674118"/>
      </p:ext>
    </p:extLst>
  </p:cSld>
  <p:clrMapOvr>
    <a:masterClrMapping/>
  </p:clrMapOvr>
  <p:timing>
    <p:tnLst>
      <p:par>
        <p:cTn xmlns:p14="http://schemas.microsoft.com/office/powerpoint/2010/mai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fontScale="90000"/>
          </a:bodyPr>
          <a:lstStyle/>
          <a:p>
            <a:r>
              <a:rPr lang="en-US" dirty="0" smtClean="0"/>
              <a:t>The Household: Variations on a Theme </a:t>
            </a:r>
            <a:r>
              <a:rPr lang="en-US" sz="3100" dirty="0" smtClean="0"/>
              <a:t>(1 of 5)</a:t>
            </a:r>
            <a:endParaRPr lang="en-US" sz="3100" dirty="0"/>
          </a:p>
        </p:txBody>
      </p:sp>
      <p:sp>
        <p:nvSpPr>
          <p:cNvPr id="3" name="Content Placeholder 2"/>
          <p:cNvSpPr>
            <a:spLocks noGrp="1"/>
          </p:cNvSpPr>
          <p:nvPr>
            <p:ph idx="1"/>
          </p:nvPr>
        </p:nvSpPr>
        <p:spPr/>
        <p:txBody>
          <a:bodyPr/>
          <a:lstStyle/>
          <a:p>
            <a:r>
              <a:rPr lang="en-US" dirty="0" smtClean="0"/>
              <a:t>Family versus household</a:t>
            </a:r>
          </a:p>
          <a:p>
            <a:pPr lvl="1"/>
            <a:r>
              <a:rPr lang="en-US" dirty="0" smtClean="0"/>
              <a:t>A </a:t>
            </a:r>
            <a:r>
              <a:rPr lang="en-US" dirty="0"/>
              <a:t>family is a group of people who consider themselves related by kinship</a:t>
            </a:r>
          </a:p>
          <a:p>
            <a:pPr lvl="1"/>
            <a:r>
              <a:rPr lang="en-US" dirty="0"/>
              <a:t>A household is a person or persons who live together and may or may not be related by kinship</a:t>
            </a:r>
          </a:p>
          <a:p>
            <a:pPr lvl="1"/>
            <a:r>
              <a:rPr lang="en-US" dirty="0"/>
              <a:t>Both terms are important in anthropology</a:t>
            </a:r>
          </a:p>
          <a:p>
            <a:endParaRPr lang="en-US" dirty="0"/>
          </a:p>
        </p:txBody>
      </p:sp>
    </p:spTree>
    <p:extLst>
      <p:ext uri="{BB962C8B-B14F-4D97-AF65-F5344CB8AC3E}">
        <p14:creationId xmlns:p14="http://schemas.microsoft.com/office/powerpoint/2010/main" val="1117888231"/>
      </p:ext>
    </p:extLst>
  </p:cSld>
  <p:clrMapOvr>
    <a:masterClrMapping/>
  </p:clrMapOvr>
  <p:timing>
    <p:tnLst>
      <p:par>
        <p:cTn xmlns:p14="http://schemas.microsoft.com/office/powerpoint/2010/mai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fontScale="90000"/>
          </a:bodyPr>
          <a:lstStyle/>
          <a:p>
            <a:r>
              <a:rPr lang="en-US" dirty="0"/>
              <a:t>The Household: Variations on a Theme </a:t>
            </a:r>
            <a:r>
              <a:rPr lang="en-US" sz="3100" dirty="0" smtClean="0"/>
              <a:t>(2 </a:t>
            </a:r>
            <a:r>
              <a:rPr lang="en-US" sz="3100" dirty="0"/>
              <a:t>of 5)</a:t>
            </a:r>
          </a:p>
        </p:txBody>
      </p:sp>
      <p:sp>
        <p:nvSpPr>
          <p:cNvPr id="3" name="Content Placeholder 2"/>
          <p:cNvSpPr>
            <a:spLocks noGrp="1"/>
          </p:cNvSpPr>
          <p:nvPr>
            <p:ph idx="1"/>
          </p:nvPr>
        </p:nvSpPr>
        <p:spPr/>
        <p:txBody>
          <a:bodyPr/>
          <a:lstStyle/>
          <a:p>
            <a:r>
              <a:rPr lang="en-US" dirty="0" smtClean="0"/>
              <a:t>Nuclear household</a:t>
            </a:r>
          </a:p>
          <a:p>
            <a:pPr lvl="1"/>
            <a:r>
              <a:rPr lang="en-US" dirty="0"/>
              <a:t>Common worldwide but not </a:t>
            </a:r>
            <a:r>
              <a:rPr lang="en-US" dirty="0" smtClean="0"/>
              <a:t>always </a:t>
            </a:r>
            <a:r>
              <a:rPr lang="en-US" dirty="0"/>
              <a:t>the preferred </a:t>
            </a:r>
            <a:r>
              <a:rPr lang="en-US" dirty="0" smtClean="0"/>
              <a:t>form in a given location</a:t>
            </a:r>
            <a:endParaRPr lang="en-US" dirty="0"/>
          </a:p>
          <a:p>
            <a:pPr lvl="1"/>
            <a:r>
              <a:rPr lang="en-US" dirty="0"/>
              <a:t>Found among foragers and industrial</a:t>
            </a:r>
            <a:r>
              <a:rPr lang="en-US" dirty="0" smtClean="0"/>
              <a:t>/digital groups</a:t>
            </a:r>
            <a:endParaRPr lang="en-US" dirty="0"/>
          </a:p>
          <a:p>
            <a:pPr lvl="1"/>
            <a:r>
              <a:rPr lang="en-US" dirty="0" smtClean="0"/>
              <a:t>Common North American household </a:t>
            </a:r>
            <a:r>
              <a:rPr lang="en-US" dirty="0"/>
              <a:t>type, though on the decline as the number of single-person households increases</a:t>
            </a:r>
          </a:p>
          <a:p>
            <a:pPr lvl="1"/>
            <a:endParaRPr lang="en-US" dirty="0"/>
          </a:p>
        </p:txBody>
      </p:sp>
    </p:spTree>
    <p:extLst>
      <p:ext uri="{BB962C8B-B14F-4D97-AF65-F5344CB8AC3E}">
        <p14:creationId xmlns:p14="http://schemas.microsoft.com/office/powerpoint/2010/main" val="1193007274"/>
      </p:ext>
    </p:extLst>
  </p:cSld>
  <p:clrMapOvr>
    <a:masterClrMapping/>
  </p:clrMapOvr>
  <p:timing>
    <p:tnLst>
      <p:par>
        <p:cTn xmlns:p14="http://schemas.microsoft.com/office/powerpoint/2010/mai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fontScale="90000"/>
          </a:bodyPr>
          <a:lstStyle/>
          <a:p>
            <a:r>
              <a:rPr lang="en-US" dirty="0"/>
              <a:t>The Household: Variations on a Theme </a:t>
            </a:r>
            <a:r>
              <a:rPr lang="en-US" sz="3100" dirty="0" smtClean="0"/>
              <a:t>(3 </a:t>
            </a:r>
            <a:r>
              <a:rPr lang="en-US" sz="3100" dirty="0"/>
              <a:t>of 5)</a:t>
            </a:r>
          </a:p>
        </p:txBody>
      </p:sp>
      <p:sp>
        <p:nvSpPr>
          <p:cNvPr id="3" name="Content Placeholder 2"/>
          <p:cNvSpPr>
            <a:spLocks noGrp="1"/>
          </p:cNvSpPr>
          <p:nvPr>
            <p:ph idx="1"/>
          </p:nvPr>
        </p:nvSpPr>
        <p:spPr/>
        <p:txBody>
          <a:bodyPr/>
          <a:lstStyle/>
          <a:p>
            <a:r>
              <a:rPr lang="en-US" dirty="0" smtClean="0"/>
              <a:t>Extended household</a:t>
            </a:r>
          </a:p>
          <a:p>
            <a:pPr lvl="1"/>
            <a:r>
              <a:rPr lang="en-US" dirty="0"/>
              <a:t>More common among horticulturalists, pastoralists, and agriculturalists</a:t>
            </a:r>
          </a:p>
          <a:p>
            <a:pPr lvl="1"/>
            <a:r>
              <a:rPr lang="en-US" dirty="0"/>
              <a:t>Related to fixed economic base/property</a:t>
            </a:r>
          </a:p>
          <a:p>
            <a:pPr lvl="1"/>
            <a:r>
              <a:rPr lang="en-US" dirty="0"/>
              <a:t>May be extended vertically through parents and sons/daughters or horizontally through siblings</a:t>
            </a:r>
          </a:p>
          <a:p>
            <a:pPr lvl="1"/>
            <a:r>
              <a:rPr lang="en-US" dirty="0"/>
              <a:t>Provides safety net for child care and old age support</a:t>
            </a:r>
          </a:p>
          <a:p>
            <a:pPr lvl="1"/>
            <a:endParaRPr lang="en-US" dirty="0"/>
          </a:p>
        </p:txBody>
      </p:sp>
    </p:spTree>
    <p:extLst>
      <p:ext uri="{BB962C8B-B14F-4D97-AF65-F5344CB8AC3E}">
        <p14:creationId xmlns:p14="http://schemas.microsoft.com/office/powerpoint/2010/main" val="1775415822"/>
      </p:ext>
    </p:extLst>
  </p:cSld>
  <p:clrMapOvr>
    <a:masterClrMapping/>
  </p:clrMapOvr>
  <p:timing>
    <p:tnLst>
      <p:par>
        <p:cTn xmlns:p14="http://schemas.microsoft.com/office/powerpoint/2010/mai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fontScale="90000"/>
          </a:bodyPr>
          <a:lstStyle/>
          <a:p>
            <a:r>
              <a:rPr lang="en-US" dirty="0"/>
              <a:t>The Household: Variations on a Theme </a:t>
            </a:r>
            <a:r>
              <a:rPr lang="en-US" sz="3100" dirty="0" smtClean="0"/>
              <a:t>(4 </a:t>
            </a:r>
            <a:r>
              <a:rPr lang="en-US" sz="3100" dirty="0"/>
              <a:t>of 5)</a:t>
            </a:r>
          </a:p>
        </p:txBody>
      </p:sp>
      <p:sp>
        <p:nvSpPr>
          <p:cNvPr id="3" name="Content Placeholder 2"/>
          <p:cNvSpPr>
            <a:spLocks noGrp="1"/>
          </p:cNvSpPr>
          <p:nvPr>
            <p:ph idx="1"/>
          </p:nvPr>
        </p:nvSpPr>
        <p:spPr/>
        <p:txBody>
          <a:bodyPr/>
          <a:lstStyle/>
          <a:p>
            <a:r>
              <a:rPr lang="en-US" dirty="0" smtClean="0"/>
              <a:t>Stem household</a:t>
            </a:r>
          </a:p>
          <a:p>
            <a:pPr lvl="1"/>
            <a:r>
              <a:rPr lang="en-US" dirty="0"/>
              <a:t>Common in East Asia</a:t>
            </a:r>
          </a:p>
          <a:p>
            <a:pPr lvl="1"/>
            <a:r>
              <a:rPr lang="en-US" dirty="0"/>
              <a:t>Household formation includes parents and one offspring, usually a son, and his spouse and children</a:t>
            </a:r>
          </a:p>
          <a:p>
            <a:pPr lvl="1"/>
            <a:r>
              <a:rPr lang="en-US" dirty="0"/>
              <a:t>In some ways, a </a:t>
            </a:r>
            <a:r>
              <a:rPr lang="en-US" dirty="0" smtClean="0"/>
              <a:t>sub-type </a:t>
            </a:r>
            <a:r>
              <a:rPr lang="en-US" dirty="0"/>
              <a:t>of extended family but limited to extension through just one descendant </a:t>
            </a:r>
          </a:p>
        </p:txBody>
      </p:sp>
    </p:spTree>
    <p:extLst>
      <p:ext uri="{BB962C8B-B14F-4D97-AF65-F5344CB8AC3E}">
        <p14:creationId xmlns:p14="http://schemas.microsoft.com/office/powerpoint/2010/main" val="506635411"/>
      </p:ext>
    </p:extLst>
  </p:cSld>
  <p:clrMapOvr>
    <a:masterClrMapping/>
  </p:clrMapOvr>
  <p:timing>
    <p:tnLst>
      <p:par>
        <p:cTn xmlns:p14="http://schemas.microsoft.com/office/powerpoint/2010/mai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fontScale="90000"/>
          </a:bodyPr>
          <a:lstStyle/>
          <a:p>
            <a:r>
              <a:rPr lang="en-US" dirty="0"/>
              <a:t>The Household: Variations on a Theme </a:t>
            </a:r>
            <a:r>
              <a:rPr lang="en-US" sz="3100" dirty="0" smtClean="0"/>
              <a:t>(5 </a:t>
            </a:r>
            <a:r>
              <a:rPr lang="en-US" sz="3100" dirty="0"/>
              <a:t>of 5)</a:t>
            </a:r>
          </a:p>
        </p:txBody>
      </p:sp>
      <p:sp>
        <p:nvSpPr>
          <p:cNvPr id="3" name="Content Placeholder 2"/>
          <p:cNvSpPr>
            <a:spLocks noGrp="1"/>
          </p:cNvSpPr>
          <p:nvPr>
            <p:ph idx="1"/>
          </p:nvPr>
        </p:nvSpPr>
        <p:spPr/>
        <p:txBody>
          <a:bodyPr>
            <a:normAutofit lnSpcReduction="10000"/>
          </a:bodyPr>
          <a:lstStyle/>
          <a:p>
            <a:r>
              <a:rPr lang="en-US" dirty="0" smtClean="0"/>
              <a:t>Household headship</a:t>
            </a:r>
          </a:p>
          <a:p>
            <a:pPr lvl="1"/>
            <a:r>
              <a:rPr lang="en-US" dirty="0"/>
              <a:t>Household head: primary person(s) responsible for supporting the household financially and making major decisions</a:t>
            </a:r>
          </a:p>
          <a:p>
            <a:pPr lvl="1"/>
            <a:r>
              <a:rPr lang="en-US" dirty="0"/>
              <a:t>Model of male head: based on Euro-American, male-biased view</a:t>
            </a:r>
          </a:p>
          <a:p>
            <a:pPr lvl="1"/>
            <a:r>
              <a:rPr lang="en-US" dirty="0"/>
              <a:t>Matrifocality: a household in which a woman is the central, stable domestic figure; common among lower-income people in the Caribbean, Central/South America, the </a:t>
            </a:r>
            <a:r>
              <a:rPr lang="en-US" dirty="0" smtClean="0"/>
              <a:t>United States</a:t>
            </a:r>
            <a:endParaRPr lang="en-US" dirty="0"/>
          </a:p>
          <a:p>
            <a:pPr lvl="1"/>
            <a:endParaRPr lang="en-US" dirty="0"/>
          </a:p>
        </p:txBody>
      </p:sp>
    </p:spTree>
    <p:extLst>
      <p:ext uri="{BB962C8B-B14F-4D97-AF65-F5344CB8AC3E}">
        <p14:creationId xmlns:p14="http://schemas.microsoft.com/office/powerpoint/2010/main" val="1964074944"/>
      </p:ext>
    </p:extLst>
  </p:cSld>
  <p:clrMapOvr>
    <a:masterClrMapping/>
  </p:clrMapOvr>
  <p:timing>
    <p:tnLst>
      <p:par>
        <p:cTn xmlns:p14="http://schemas.microsoft.com/office/powerpoint/2010/mai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Intrahousehold Dynamics </a:t>
            </a:r>
            <a:r>
              <a:rPr lang="en-US" sz="2800" dirty="0" smtClean="0"/>
              <a:t>(1 of 2)</a:t>
            </a:r>
            <a:endParaRPr lang="en-US" sz="2800" dirty="0"/>
          </a:p>
        </p:txBody>
      </p:sp>
      <p:sp>
        <p:nvSpPr>
          <p:cNvPr id="3" name="Content Placeholder 2"/>
          <p:cNvSpPr>
            <a:spLocks noGrp="1"/>
          </p:cNvSpPr>
          <p:nvPr>
            <p:ph idx="1"/>
          </p:nvPr>
        </p:nvSpPr>
        <p:spPr/>
        <p:txBody>
          <a:bodyPr/>
          <a:lstStyle/>
          <a:p>
            <a:r>
              <a:rPr lang="en-US" dirty="0" smtClean="0"/>
              <a:t>Spouse–partner </a:t>
            </a:r>
            <a:r>
              <a:rPr lang="en-US" dirty="0"/>
              <a:t>relationships</a:t>
            </a:r>
          </a:p>
          <a:p>
            <a:pPr lvl="1"/>
            <a:r>
              <a:rPr lang="en-US" dirty="0" smtClean="0"/>
              <a:t>Case study: marital satisfaction in arranged versus love-match marriages in Tokyo, Japan</a:t>
            </a:r>
            <a:endParaRPr lang="en-US" dirty="0"/>
          </a:p>
          <a:p>
            <a:r>
              <a:rPr lang="en-US" dirty="0"/>
              <a:t>Sibling relationships</a:t>
            </a:r>
          </a:p>
          <a:p>
            <a:pPr lvl="1"/>
            <a:r>
              <a:rPr lang="en-US" dirty="0" smtClean="0"/>
              <a:t>Example: brother–sister </a:t>
            </a:r>
            <a:r>
              <a:rPr lang="en-US" dirty="0"/>
              <a:t>relationship in Beirut, </a:t>
            </a:r>
            <a:r>
              <a:rPr lang="en-US" dirty="0" smtClean="0"/>
              <a:t>Lebanon</a:t>
            </a:r>
          </a:p>
          <a:p>
            <a:r>
              <a:rPr lang="en-US" dirty="0" smtClean="0"/>
              <a:t>Households without a home</a:t>
            </a:r>
            <a:endParaRPr lang="en-US" dirty="0"/>
          </a:p>
          <a:p>
            <a:endParaRPr lang="en-US" dirty="0"/>
          </a:p>
        </p:txBody>
      </p:sp>
    </p:spTree>
    <p:extLst>
      <p:ext uri="{BB962C8B-B14F-4D97-AF65-F5344CB8AC3E}">
        <p14:creationId xmlns:p14="http://schemas.microsoft.com/office/powerpoint/2010/main" val="3544492906"/>
      </p:ext>
    </p:extLst>
  </p:cSld>
  <p:clrMapOvr>
    <a:masterClrMapping/>
  </p:clrMapOvr>
  <p:timing>
    <p:tnLst>
      <p:par>
        <p:cTn xmlns:p14="http://schemas.microsoft.com/office/powerpoint/2010/mai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lstStyle/>
          <a:p>
            <a:r>
              <a:rPr lang="en-US" dirty="0"/>
              <a:t>Intrahousehold Dynamics </a:t>
            </a:r>
            <a:r>
              <a:rPr lang="en-US" sz="2800" dirty="0" smtClean="0"/>
              <a:t>(2 </a:t>
            </a:r>
            <a:r>
              <a:rPr lang="en-US" sz="2800" dirty="0"/>
              <a:t>of 2)</a:t>
            </a:r>
          </a:p>
        </p:txBody>
      </p:sp>
      <p:sp>
        <p:nvSpPr>
          <p:cNvPr id="3" name="Content Placeholder 2"/>
          <p:cNvSpPr>
            <a:spLocks noGrp="1"/>
          </p:cNvSpPr>
          <p:nvPr>
            <p:ph idx="1"/>
          </p:nvPr>
        </p:nvSpPr>
        <p:spPr/>
        <p:txBody>
          <a:bodyPr>
            <a:normAutofit/>
          </a:bodyPr>
          <a:lstStyle/>
          <a:p>
            <a:r>
              <a:rPr lang="en-US" dirty="0" smtClean="0"/>
              <a:t>Domestic violence</a:t>
            </a:r>
          </a:p>
          <a:p>
            <a:pPr lvl="1"/>
            <a:r>
              <a:rPr lang="en-US" dirty="0"/>
              <a:t>Found in most but not all </a:t>
            </a:r>
            <a:r>
              <a:rPr lang="en-US" dirty="0" smtClean="0"/>
              <a:t>cultures </a:t>
            </a:r>
            <a:r>
              <a:rPr lang="en-US" dirty="0"/>
              <a:t>and in differing degrees:	</a:t>
            </a:r>
          </a:p>
          <a:p>
            <a:pPr lvl="2"/>
            <a:r>
              <a:rPr lang="en-US" dirty="0"/>
              <a:t>Child abuse</a:t>
            </a:r>
          </a:p>
          <a:p>
            <a:pPr lvl="2"/>
            <a:r>
              <a:rPr lang="en-US" dirty="0"/>
              <a:t>Honor killings</a:t>
            </a:r>
          </a:p>
          <a:p>
            <a:pPr lvl="2"/>
            <a:r>
              <a:rPr lang="en-US" dirty="0"/>
              <a:t>Wife/partner abuse: male violence against females</a:t>
            </a:r>
          </a:p>
          <a:p>
            <a:pPr lvl="3"/>
            <a:r>
              <a:rPr lang="en-US" dirty="0"/>
              <a:t>More common where men control wealth/property and women are dependent on them </a:t>
            </a:r>
          </a:p>
          <a:p>
            <a:pPr lvl="1"/>
            <a:endParaRPr lang="en-US" dirty="0"/>
          </a:p>
        </p:txBody>
      </p:sp>
    </p:spTree>
    <p:extLst>
      <p:ext uri="{BB962C8B-B14F-4D97-AF65-F5344CB8AC3E}">
        <p14:creationId xmlns:p14="http://schemas.microsoft.com/office/powerpoint/2010/main" val="1997185003"/>
      </p:ext>
    </p:extLst>
  </p:cSld>
  <p:clrMapOvr>
    <a:masterClrMapping/>
  </p:clrMapOvr>
  <p:timing>
    <p:tnLst>
      <p:par>
        <p:cTn xmlns:p14="http://schemas.microsoft.com/office/powerpoint/2010/mai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fontScale="90000"/>
          </a:bodyPr>
          <a:lstStyle/>
          <a:p>
            <a:r>
              <a:rPr lang="en-US" dirty="0" smtClean="0"/>
              <a:t>Anthropology Works: </a:t>
            </a:r>
            <a:r>
              <a:rPr lang="en-US" smtClean="0"/>
              <a:t>Preventing </a:t>
            </a:r>
            <a:r>
              <a:rPr lang="en-US" smtClean="0"/>
              <a:t/>
            </a:r>
            <a:br>
              <a:rPr lang="en-US" smtClean="0"/>
            </a:br>
            <a:r>
              <a:rPr lang="en-US" smtClean="0"/>
              <a:t>Wife </a:t>
            </a:r>
            <a:r>
              <a:rPr lang="en-US" dirty="0" smtClean="0"/>
              <a:t>Abuse in Rural Kentucky</a:t>
            </a:r>
            <a:endParaRPr lang="en-US" dirty="0"/>
          </a:p>
        </p:txBody>
      </p:sp>
      <p:sp>
        <p:nvSpPr>
          <p:cNvPr id="3" name="Content Placeholder 2"/>
          <p:cNvSpPr>
            <a:spLocks noGrp="1"/>
          </p:cNvSpPr>
          <p:nvPr>
            <p:ph idx="1"/>
          </p:nvPr>
        </p:nvSpPr>
        <p:spPr/>
        <p:txBody>
          <a:bodyPr>
            <a:normAutofit fontScale="92500" lnSpcReduction="10000"/>
          </a:bodyPr>
          <a:lstStyle/>
          <a:p>
            <a:r>
              <a:rPr lang="en-US" dirty="0"/>
              <a:t>Highest rate of reported domestic violence in </a:t>
            </a:r>
            <a:r>
              <a:rPr lang="en-US" dirty="0" smtClean="0"/>
              <a:t>the United States</a:t>
            </a:r>
            <a:endParaRPr lang="en-US" dirty="0"/>
          </a:p>
          <a:p>
            <a:r>
              <a:rPr lang="en-US" dirty="0"/>
              <a:t>Ethnographic study revealed cultural factors</a:t>
            </a:r>
          </a:p>
          <a:p>
            <a:pPr lvl="1"/>
            <a:r>
              <a:rPr lang="en-US" dirty="0"/>
              <a:t>Physical isolation</a:t>
            </a:r>
          </a:p>
          <a:p>
            <a:pPr lvl="1"/>
            <a:r>
              <a:rPr lang="en-US" dirty="0"/>
              <a:t>Social isolation</a:t>
            </a:r>
          </a:p>
          <a:p>
            <a:pPr lvl="1"/>
            <a:r>
              <a:rPr lang="en-US" dirty="0"/>
              <a:t>Institutional isolation</a:t>
            </a:r>
          </a:p>
          <a:p>
            <a:r>
              <a:rPr lang="en-US" dirty="0" smtClean="0"/>
              <a:t>Food for Thought:</a:t>
            </a:r>
          </a:p>
          <a:p>
            <a:pPr lvl="1"/>
            <a:r>
              <a:rPr lang="en-US" dirty="0" smtClean="0"/>
              <a:t>Since </a:t>
            </a:r>
            <a:r>
              <a:rPr lang="en-US" dirty="0"/>
              <a:t>the study was conducted, cell phone use </a:t>
            </a:r>
            <a:r>
              <a:rPr lang="en-US" dirty="0" smtClean="0"/>
              <a:t>has expanded </a:t>
            </a:r>
            <a:r>
              <a:rPr lang="en-US" dirty="0"/>
              <a:t>worldwide. Will cell phones be likely to </a:t>
            </a:r>
            <a:r>
              <a:rPr lang="en-US" dirty="0" smtClean="0"/>
              <a:t>reduce women’s </a:t>
            </a:r>
            <a:r>
              <a:rPr lang="en-US" dirty="0"/>
              <a:t>isolation in rural Kentucky?</a:t>
            </a:r>
          </a:p>
        </p:txBody>
      </p:sp>
    </p:spTree>
    <p:extLst>
      <p:ext uri="{BB962C8B-B14F-4D97-AF65-F5344CB8AC3E}">
        <p14:creationId xmlns:p14="http://schemas.microsoft.com/office/powerpoint/2010/main" val="1083947524"/>
      </p:ext>
    </p:extLst>
  </p:cSld>
  <p:clrMapOvr>
    <a:masterClrMapping/>
  </p:clrMapOvr>
  <p:timing>
    <p:tnLst>
      <p:par>
        <p:cTn xmlns:p14="http://schemas.microsoft.com/office/powerpoint/2010/mai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Autofit/>
          </a:bodyPr>
          <a:lstStyle/>
          <a:p>
            <a:r>
              <a:rPr lang="en-US" sz="3600" dirty="0" smtClean="0"/>
              <a:t>Changing Kinship and Household Dynamics</a:t>
            </a:r>
            <a:r>
              <a:rPr lang="en-US" sz="3200" dirty="0" smtClean="0"/>
              <a:t/>
            </a:r>
            <a:br>
              <a:rPr lang="en-US" sz="3200" dirty="0" smtClean="0"/>
            </a:br>
            <a:r>
              <a:rPr lang="en-US" sz="2400" dirty="0" smtClean="0"/>
              <a:t>8.3 Illustrate how </a:t>
            </a:r>
            <a:r>
              <a:rPr lang="en-US" sz="2400" dirty="0"/>
              <a:t>h</a:t>
            </a:r>
            <a:r>
              <a:rPr lang="en-US" sz="2400" dirty="0" smtClean="0"/>
              <a:t>ouseholds and kinship are changing.</a:t>
            </a:r>
            <a:endParaRPr lang="en-US" sz="2400" dirty="0"/>
          </a:p>
        </p:txBody>
      </p:sp>
      <p:sp>
        <p:nvSpPr>
          <p:cNvPr id="3" name="Content Placeholder 2"/>
          <p:cNvSpPr>
            <a:spLocks noGrp="1"/>
          </p:cNvSpPr>
          <p:nvPr>
            <p:ph idx="1"/>
          </p:nvPr>
        </p:nvSpPr>
        <p:spPr/>
        <p:txBody>
          <a:bodyPr/>
          <a:lstStyle/>
          <a:p>
            <a:endParaRPr lang="en-US" dirty="0" smtClean="0"/>
          </a:p>
          <a:p>
            <a:r>
              <a:rPr lang="en-US" dirty="0" smtClean="0"/>
              <a:t>Change in Descent</a:t>
            </a:r>
          </a:p>
          <a:p>
            <a:endParaRPr lang="en-US" dirty="0"/>
          </a:p>
          <a:p>
            <a:r>
              <a:rPr lang="en-US" dirty="0" smtClean="0"/>
              <a:t>Change in Marriage</a:t>
            </a:r>
          </a:p>
          <a:p>
            <a:endParaRPr lang="en-US" dirty="0"/>
          </a:p>
          <a:p>
            <a:r>
              <a:rPr lang="en-US" dirty="0" smtClean="0"/>
              <a:t>Changing Households</a:t>
            </a:r>
            <a:endParaRPr lang="en-US" dirty="0"/>
          </a:p>
        </p:txBody>
      </p:sp>
    </p:spTree>
    <p:extLst>
      <p:ext uri="{BB962C8B-B14F-4D97-AF65-F5344CB8AC3E}">
        <p14:creationId xmlns:p14="http://schemas.microsoft.com/office/powerpoint/2010/main" val="1982859752"/>
      </p:ext>
    </p:extLst>
  </p:cSld>
  <p:clrMapOvr>
    <a:masterClrMapping/>
  </p:clrMapOvr>
  <p:timing>
    <p:tnLst>
      <p:par>
        <p:cTn xmlns:p14="http://schemas.microsoft.com/office/powerpoint/2010/mai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Change in Descent</a:t>
            </a:r>
            <a:endParaRPr lang="en-US" dirty="0"/>
          </a:p>
        </p:txBody>
      </p:sp>
      <p:sp>
        <p:nvSpPr>
          <p:cNvPr id="3" name="Content Placeholder 2"/>
          <p:cNvSpPr>
            <a:spLocks noGrp="1"/>
          </p:cNvSpPr>
          <p:nvPr>
            <p:ph idx="1"/>
          </p:nvPr>
        </p:nvSpPr>
        <p:spPr/>
        <p:txBody>
          <a:bodyPr>
            <a:normAutofit/>
          </a:bodyPr>
          <a:lstStyle/>
          <a:p>
            <a:r>
              <a:rPr lang="en-US" dirty="0"/>
              <a:t>Role of European colonialism </a:t>
            </a:r>
          </a:p>
          <a:p>
            <a:pPr lvl="1"/>
            <a:r>
              <a:rPr lang="en-US" dirty="0"/>
              <a:t>Decline of matrilineal descent worldwide</a:t>
            </a:r>
          </a:p>
          <a:p>
            <a:r>
              <a:rPr lang="en-US" dirty="0"/>
              <a:t>Among the Minangkabau</a:t>
            </a:r>
          </a:p>
          <a:p>
            <a:pPr lvl="1"/>
            <a:r>
              <a:rPr lang="en-US" dirty="0"/>
              <a:t>Dutch colonialism promoted male household headship</a:t>
            </a:r>
          </a:p>
          <a:p>
            <a:pPr lvl="1"/>
            <a:r>
              <a:rPr lang="en-US" dirty="0"/>
              <a:t>Islamic teachings promote men as household heads and women as “wives”</a:t>
            </a:r>
          </a:p>
          <a:p>
            <a:pPr lvl="1"/>
            <a:r>
              <a:rPr lang="en-US" dirty="0"/>
              <a:t>Indonesian state policy favors male household headship</a:t>
            </a:r>
          </a:p>
          <a:p>
            <a:endParaRPr lang="en-US" dirty="0"/>
          </a:p>
        </p:txBody>
      </p:sp>
    </p:spTree>
    <p:extLst>
      <p:ext uri="{BB962C8B-B14F-4D97-AF65-F5344CB8AC3E}">
        <p14:creationId xmlns:p14="http://schemas.microsoft.com/office/powerpoint/2010/main" val="1790090423"/>
      </p:ext>
    </p:extLst>
  </p:cSld>
  <p:clrMapOvr>
    <a:masterClrMapping/>
  </p:clrMapOvr>
  <p:timing>
    <p:tnLst>
      <p:par>
        <p:cTn xmlns:p14="http://schemas.microsoft.com/office/powerpoint/2010/mai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Change in Marriage</a:t>
            </a: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Forms of courtship expanding with modern communications</a:t>
            </a:r>
            <a:endParaRPr lang="en-US" dirty="0"/>
          </a:p>
          <a:p>
            <a:r>
              <a:rPr lang="en-US" dirty="0"/>
              <a:t>Age at first marriage </a:t>
            </a:r>
            <a:r>
              <a:rPr lang="en-US" dirty="0" smtClean="0"/>
              <a:t>is rising</a:t>
            </a:r>
            <a:endParaRPr lang="en-US" dirty="0"/>
          </a:p>
          <a:p>
            <a:r>
              <a:rPr lang="en-US" dirty="0"/>
              <a:t>Marriage “crisis</a:t>
            </a:r>
            <a:r>
              <a:rPr lang="en-US" dirty="0" smtClean="0"/>
              <a:t>”</a:t>
            </a:r>
          </a:p>
          <a:p>
            <a:pPr lvl="1"/>
            <a:r>
              <a:rPr lang="en-US" dirty="0" smtClean="0"/>
              <a:t>Economic conditions make dowry or other exchange difficult </a:t>
            </a:r>
            <a:endParaRPr lang="en-US" dirty="0"/>
          </a:p>
          <a:p>
            <a:r>
              <a:rPr lang="en-US" dirty="0"/>
              <a:t>Wedding style</a:t>
            </a:r>
          </a:p>
          <a:p>
            <a:pPr lvl="1"/>
            <a:r>
              <a:rPr lang="en-US" dirty="0"/>
              <a:t>Globalization of the Western “white wedding” </a:t>
            </a:r>
          </a:p>
          <a:p>
            <a:pPr lvl="1"/>
            <a:r>
              <a:rPr lang="en-US" dirty="0"/>
              <a:t>Some counter trends toward “ethnic” or traditional styles</a:t>
            </a:r>
          </a:p>
          <a:p>
            <a:pPr lvl="1"/>
            <a:r>
              <a:rPr lang="en-US" dirty="0" smtClean="0"/>
              <a:t>Wedding </a:t>
            </a:r>
            <a:r>
              <a:rPr lang="en-US" dirty="0"/>
              <a:t>style </a:t>
            </a:r>
            <a:r>
              <a:rPr lang="en-US" dirty="0" smtClean="0"/>
              <a:t>syncretism (blending of features)</a:t>
            </a:r>
            <a:endParaRPr lang="en-US" dirty="0"/>
          </a:p>
          <a:p>
            <a:endParaRPr lang="en-US" dirty="0"/>
          </a:p>
        </p:txBody>
      </p:sp>
    </p:spTree>
    <p:extLst>
      <p:ext uri="{BB962C8B-B14F-4D97-AF65-F5344CB8AC3E}">
        <p14:creationId xmlns:p14="http://schemas.microsoft.com/office/powerpoint/2010/main" val="2960305711"/>
      </p:ext>
    </p:extLst>
  </p:cSld>
  <p:clrMapOvr>
    <a:masterClrMapping/>
  </p:clrMapOvr>
  <p:timing>
    <p:tnLst>
      <p:par>
        <p:cTn xmlns:p14="http://schemas.microsoft.com/office/powerpoint/2010/mai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Changing Households</a:t>
            </a:r>
            <a:endParaRPr lang="en-US" dirty="0"/>
          </a:p>
        </p:txBody>
      </p:sp>
      <p:sp>
        <p:nvSpPr>
          <p:cNvPr id="3" name="Content Placeholder 2"/>
          <p:cNvSpPr>
            <a:spLocks noGrp="1"/>
          </p:cNvSpPr>
          <p:nvPr>
            <p:ph idx="1"/>
          </p:nvPr>
        </p:nvSpPr>
        <p:spPr/>
        <p:txBody>
          <a:bodyPr/>
          <a:lstStyle/>
          <a:p>
            <a:r>
              <a:rPr lang="en-US" dirty="0"/>
              <a:t>Globalization of nuclear households </a:t>
            </a:r>
          </a:p>
          <a:p>
            <a:pPr lvl="1"/>
            <a:r>
              <a:rPr lang="en-US" dirty="0" smtClean="0"/>
              <a:t>Example: the </a:t>
            </a:r>
            <a:r>
              <a:rPr lang="en-US" dirty="0"/>
              <a:t>Kelabit of Malaysia</a:t>
            </a:r>
          </a:p>
          <a:p>
            <a:r>
              <a:rPr lang="en-US" dirty="0"/>
              <a:t>Effects of international migration: the case of “Nadia”</a:t>
            </a:r>
          </a:p>
          <a:p>
            <a:r>
              <a:rPr lang="en-US" dirty="0"/>
              <a:t>Shrinking households in the </a:t>
            </a:r>
            <a:r>
              <a:rPr lang="en-US" dirty="0" smtClean="0"/>
              <a:t>United States</a:t>
            </a:r>
            <a:endParaRPr lang="en-US" dirty="0"/>
          </a:p>
          <a:p>
            <a:r>
              <a:rPr lang="en-US" dirty="0" smtClean="0"/>
              <a:t>Multigenerational </a:t>
            </a:r>
            <a:r>
              <a:rPr lang="en-US" dirty="0"/>
              <a:t>households and “boomerang kids” in the </a:t>
            </a:r>
            <a:r>
              <a:rPr lang="en-US" dirty="0" smtClean="0"/>
              <a:t>United States</a:t>
            </a:r>
            <a:endParaRPr lang="en-US" dirty="0"/>
          </a:p>
          <a:p>
            <a:endParaRPr lang="en-US" dirty="0"/>
          </a:p>
        </p:txBody>
      </p:sp>
    </p:spTree>
    <p:extLst>
      <p:ext uri="{BB962C8B-B14F-4D97-AF65-F5344CB8AC3E}">
        <p14:creationId xmlns:p14="http://schemas.microsoft.com/office/powerpoint/2010/main" val="857863969"/>
      </p:ext>
    </p:extLst>
  </p:cSld>
  <p:clrMapOvr>
    <a:masterClrMapping/>
  </p:clrMapOvr>
  <p:timing>
    <p:tnLst>
      <p:par>
        <p:cTn xmlns:p14="http://schemas.microsoft.com/office/powerpoint/2010/mai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Map 8.7 Kelabit Region in Malaysia</a:t>
            </a:r>
            <a:endParaRPr lang="en-US" dirty="0"/>
          </a:p>
        </p:txBody>
      </p:sp>
      <p:pic>
        <p:nvPicPr>
          <p:cNvPr id="4" name="Content Placeholder 3" descr="A map shows the Kelabit region straddling the border of Malaysia’s state of Sarawak and Indonesia’s region of Kalimantan, on the island of Borneo (which also holds the small country of Brunei). An inset globe shows the area is in Southeast Asia."/>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2133599" y="1447800"/>
            <a:ext cx="4885401" cy="4822273"/>
          </a:xfrm>
        </p:spPr>
      </p:pic>
    </p:spTree>
    <p:extLst>
      <p:ext uri="{BB962C8B-B14F-4D97-AF65-F5344CB8AC3E}">
        <p14:creationId xmlns:p14="http://schemas.microsoft.com/office/powerpoint/2010/main" val="3465273486"/>
      </p:ext>
    </p:extLst>
  </p:cSld>
  <p:clrMapOvr>
    <a:masterClrMapping/>
  </p:clrMapOvr>
  <p:timing>
    <p:tnLst>
      <p:par>
        <p:cTn xmlns:p14="http://schemas.microsoft.com/office/powerpoint/2010/main" id="1" dur="indefinite" restart="never" nodeType="tmRoot"/>
      </p:par>
    </p:tnLst>
  </p:timing>
</p:sld>
</file>

<file path=ppt/theme/theme1.xml><?xml version="1.0" encoding="utf-8"?>
<a:theme xmlns:a="http://schemas.openxmlformats.org/drawingml/2006/main" name="Beebe8e_PPT_master">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Beebe8e_PPT_master</Template>
  <TotalTime>242</TotalTime>
  <Words>2116</Words>
  <Application>Microsoft Macintosh PowerPoint</Application>
  <PresentationFormat>On-screen Show (4:3)</PresentationFormat>
  <Paragraphs>246</Paragraphs>
  <Slides>43</Slides>
  <Notes>6</Notes>
  <HiddenSlides>0</HiddenSlides>
  <MMClips>0</MMClips>
  <ScaleCrop>false</ScaleCrop>
  <HeadingPairs>
    <vt:vector size="4" baseType="variant">
      <vt:variant>
        <vt:lpstr>Theme</vt:lpstr>
      </vt:variant>
      <vt:variant>
        <vt:i4>2</vt:i4>
      </vt:variant>
      <vt:variant>
        <vt:lpstr>Slide Titles</vt:lpstr>
      </vt:variant>
      <vt:variant>
        <vt:i4>43</vt:i4>
      </vt:variant>
    </vt:vector>
  </HeadingPairs>
  <TitlesOfParts>
    <vt:vector size="45" baseType="lpstr">
      <vt:lpstr>Beebe8e_PPT_master</vt:lpstr>
      <vt:lpstr>Office Theme</vt:lpstr>
      <vt:lpstr>PowerPoint Presentation</vt:lpstr>
      <vt:lpstr>Learning Objectives</vt:lpstr>
      <vt:lpstr>Kinship and Domestic Life</vt:lpstr>
      <vt:lpstr>Map 8.1 Ireland</vt:lpstr>
      <vt:lpstr>How Cultures Create Kinship 8.1 Define the three ways cultures create kinship.</vt:lpstr>
      <vt:lpstr>Studying Kinship: From Formal Analysis to Kinship in Action (1 of 2)</vt:lpstr>
      <vt:lpstr>Studying Kinship: From Formal Analysis to Kinship in Action (2 of 2)</vt:lpstr>
      <vt:lpstr>Descent (1 of 4)</vt:lpstr>
      <vt:lpstr>Descent (2 of 4)</vt:lpstr>
      <vt:lpstr>Descent (3 of 4)</vt:lpstr>
      <vt:lpstr>Descent (4 of 4)</vt:lpstr>
      <vt:lpstr>Think Like an Anthropologist:  What’s in a Name? (1 of 2)</vt:lpstr>
      <vt:lpstr>Think Like an Anthropologist:  What’s in a Name? (2 of 2)</vt:lpstr>
      <vt:lpstr>Map 8.2 Hong Kong</vt:lpstr>
      <vt:lpstr>Culturama:  The Minangkabau of Indonesia</vt:lpstr>
      <vt:lpstr>Map 8.3 Minangkabau Region  in Indonesia</vt:lpstr>
      <vt:lpstr>Sharing</vt:lpstr>
      <vt:lpstr>Map 8.5 Ghana</vt:lpstr>
      <vt:lpstr>Marriage (1 of 10)</vt:lpstr>
      <vt:lpstr>Marriage (2 of 10)</vt:lpstr>
      <vt:lpstr>Marriage (3 of 10)</vt:lpstr>
      <vt:lpstr>Marriage (4 of 10)</vt:lpstr>
      <vt:lpstr>Marriage (5 of 10)</vt:lpstr>
      <vt:lpstr>Map 8.4 South India</vt:lpstr>
      <vt:lpstr>Marriage (6 of 10)</vt:lpstr>
      <vt:lpstr>Marriage (7 of 10)</vt:lpstr>
      <vt:lpstr>Marriage (8 of 10)</vt:lpstr>
      <vt:lpstr>Marriage (9 of 10)</vt:lpstr>
      <vt:lpstr>Marriage (10 of 10)</vt:lpstr>
      <vt:lpstr>Households and Domestic Life 8.2 Recognize how anthropologists define and study households and domestic life.</vt:lpstr>
      <vt:lpstr>The Household: Variations on a Theme (1 of 5)</vt:lpstr>
      <vt:lpstr>The Household: Variations on a Theme (2 of 5)</vt:lpstr>
      <vt:lpstr>The Household: Variations on a Theme (3 of 5)</vt:lpstr>
      <vt:lpstr>The Household: Variations on a Theme (4 of 5)</vt:lpstr>
      <vt:lpstr>The Household: Variations on a Theme (5 of 5)</vt:lpstr>
      <vt:lpstr>Intrahousehold Dynamics (1 of 2)</vt:lpstr>
      <vt:lpstr>Intrahousehold Dynamics (2 of 2)</vt:lpstr>
      <vt:lpstr>Anthropology Works: Preventing  Wife Abuse in Rural Kentucky</vt:lpstr>
      <vt:lpstr>Changing Kinship and Household Dynamics 8.3 Illustrate how households and kinship are changing.</vt:lpstr>
      <vt:lpstr>Change in Descent</vt:lpstr>
      <vt:lpstr>Change in Marriage</vt:lpstr>
      <vt:lpstr>Changing Households</vt:lpstr>
      <vt:lpstr>Map 8.7 Kelabit Region in Malaysia</vt:lpstr>
    </vt:vector>
  </TitlesOfParts>
  <Company>Hewlett-Packard</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Megan</dc:creator>
  <cp:lastModifiedBy>Jill Hawes</cp:lastModifiedBy>
  <cp:revision>31</cp:revision>
  <dcterms:created xsi:type="dcterms:W3CDTF">2015-09-18T14:54:36Z</dcterms:created>
  <dcterms:modified xsi:type="dcterms:W3CDTF">2016-04-05T23:32:01Z</dcterms:modified>
</cp:coreProperties>
</file>