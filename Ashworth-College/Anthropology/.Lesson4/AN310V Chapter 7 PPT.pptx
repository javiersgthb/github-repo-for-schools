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62"/>
  </p:notesMasterIdLst>
  <p:sldIdLst>
    <p:sldId id="320" r:id="rId3"/>
    <p:sldId id="319" r:id="rId4"/>
    <p:sldId id="256" r:id="rId5"/>
    <p:sldId id="258" r:id="rId6"/>
    <p:sldId id="259" r:id="rId7"/>
    <p:sldId id="260" r:id="rId8"/>
    <p:sldId id="261" r:id="rId9"/>
    <p:sldId id="262" r:id="rId10"/>
    <p:sldId id="324" r:id="rId11"/>
    <p:sldId id="264" r:id="rId12"/>
    <p:sldId id="348" r:id="rId13"/>
    <p:sldId id="266" r:id="rId14"/>
    <p:sldId id="268" r:id="rId15"/>
    <p:sldId id="269" r:id="rId16"/>
    <p:sldId id="352" r:id="rId17"/>
    <p:sldId id="270" r:id="rId18"/>
    <p:sldId id="308" r:id="rId19"/>
    <p:sldId id="271" r:id="rId20"/>
    <p:sldId id="272" r:id="rId21"/>
    <p:sldId id="353" r:id="rId22"/>
    <p:sldId id="310" r:id="rId23"/>
    <p:sldId id="274" r:id="rId24"/>
    <p:sldId id="276" r:id="rId25"/>
    <p:sldId id="277" r:id="rId26"/>
    <p:sldId id="278" r:id="rId27"/>
    <p:sldId id="279" r:id="rId28"/>
    <p:sldId id="350" r:id="rId29"/>
    <p:sldId id="281" r:id="rId30"/>
    <p:sldId id="282" r:id="rId31"/>
    <p:sldId id="354" r:id="rId32"/>
    <p:sldId id="283" r:id="rId33"/>
    <p:sldId id="284" r:id="rId34"/>
    <p:sldId id="285" r:id="rId35"/>
    <p:sldId id="286" r:id="rId36"/>
    <p:sldId id="287" r:id="rId37"/>
    <p:sldId id="288" r:id="rId38"/>
    <p:sldId id="355" r:id="rId39"/>
    <p:sldId id="356" r:id="rId40"/>
    <p:sldId id="289" r:id="rId41"/>
    <p:sldId id="290" r:id="rId42"/>
    <p:sldId id="291" r:id="rId43"/>
    <p:sldId id="293" r:id="rId44"/>
    <p:sldId id="294" r:id="rId45"/>
    <p:sldId id="295" r:id="rId46"/>
    <p:sldId id="311" r:id="rId47"/>
    <p:sldId id="296" r:id="rId48"/>
    <p:sldId id="297" r:id="rId49"/>
    <p:sldId id="298" r:id="rId50"/>
    <p:sldId id="357" r:id="rId51"/>
    <p:sldId id="299" r:id="rId52"/>
    <p:sldId id="300" r:id="rId53"/>
    <p:sldId id="301" r:id="rId54"/>
    <p:sldId id="302" r:id="rId55"/>
    <p:sldId id="358" r:id="rId56"/>
    <p:sldId id="303" r:id="rId57"/>
    <p:sldId id="307" r:id="rId58"/>
    <p:sldId id="304" r:id="rId59"/>
    <p:sldId id="305" r:id="rId60"/>
    <p:sldId id="306"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b DeGeorge" initials="" lastIdx="1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31" autoAdjust="0"/>
  </p:normalViewPr>
  <p:slideViewPr>
    <p:cSldViewPr>
      <p:cViewPr>
        <p:scale>
          <a:sx n="112" d="100"/>
          <a:sy n="112" d="100"/>
        </p:scale>
        <p:origin x="-80" y="-8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3" Type="http://schemas.openxmlformats.org/officeDocument/2006/relationships/printerSettings" Target="printerSettings/printerSettings1.bin"/><Relationship Id="rId64" Type="http://schemas.openxmlformats.org/officeDocument/2006/relationships/commentAuthors" Target="commentAuthors.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notesMaster" Target="notesMasters/notes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1A39A1-E54A-694A-8376-EA92919ED97A}" type="datetimeFigureOut">
              <a:rPr lang="en-US" smtClean="0"/>
              <a:t>4/5/16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85DD07-8384-1B4B-9500-A7BF423CD4F0}" type="slidenum">
              <a:rPr lang="en-US" smtClean="0"/>
              <a:t>‹#›</a:t>
            </a:fld>
            <a:endParaRPr lang="en-US" dirty="0"/>
          </a:p>
        </p:txBody>
      </p:sp>
    </p:spTree>
    <p:extLst>
      <p:ext uri="{BB962C8B-B14F-4D97-AF65-F5344CB8AC3E}">
        <p14:creationId xmlns:p14="http://schemas.microsoft.com/office/powerpoint/2010/main" val="199319964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t>For a better classroom presentation flow, the</a:t>
            </a:r>
            <a:r>
              <a:rPr lang="en-US" sz="1600" baseline="0" dirty="0" smtClean="0"/>
              <a:t> </a:t>
            </a:r>
            <a:r>
              <a:rPr lang="en-US" sz="1600" dirty="0" smtClean="0"/>
              <a:t>order of some topics in this lecture outline differs slightly from the order</a:t>
            </a:r>
            <a:r>
              <a:rPr lang="en-US" sz="1600" baseline="0" dirty="0" smtClean="0"/>
              <a:t> </a:t>
            </a:r>
            <a:r>
              <a:rPr lang="en-US" sz="1600" dirty="0" smtClean="0"/>
              <a:t>of topics in the text and, where this occurs, some figures and tables are</a:t>
            </a:r>
            <a:r>
              <a:rPr lang="en-US" sz="1600" baseline="0" dirty="0" smtClean="0"/>
              <a:t> </a:t>
            </a:r>
            <a:r>
              <a:rPr lang="en-US" sz="1600" dirty="0" smtClean="0"/>
              <a:t>out of numerical order.</a:t>
            </a:r>
          </a:p>
          <a:p>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1</a:t>
            </a:fld>
            <a:endParaRPr lang="en-US" dirty="0"/>
          </a:p>
        </p:txBody>
      </p:sp>
    </p:spTree>
    <p:extLst>
      <p:ext uri="{BB962C8B-B14F-4D97-AF65-F5344CB8AC3E}">
        <p14:creationId xmlns:p14="http://schemas.microsoft.com/office/powerpoint/2010/main" val="3623577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Republic of the Philippines comprises an archipelago of over</a:t>
            </a:r>
            <a:r>
              <a:rPr lang="en-US" baseline="0" dirty="0" smtClean="0"/>
              <a:t> </a:t>
            </a:r>
            <a:r>
              <a:rPr lang="en-US" dirty="0" smtClean="0"/>
              <a:t>7,000 islands, of which around 700 are populated. The population is</a:t>
            </a:r>
            <a:r>
              <a:rPr lang="en-US" baseline="0" dirty="0" smtClean="0"/>
              <a:t> </a:t>
            </a:r>
            <a:r>
              <a:rPr lang="en-US" dirty="0" smtClean="0"/>
              <a:t>104 million, with two-thirds living on Luzon. The economy is based</a:t>
            </a:r>
            <a:r>
              <a:rPr lang="en-US" baseline="0" dirty="0" smtClean="0"/>
              <a:t> </a:t>
            </a:r>
            <a:r>
              <a:rPr lang="en-US" dirty="0" smtClean="0"/>
              <a:t>on agriculture, light industry, and a growing business-processing</a:t>
            </a:r>
            <a:r>
              <a:rPr lang="en-US" baseline="0" dirty="0" smtClean="0"/>
              <a:t> </a:t>
            </a:r>
            <a:r>
              <a:rPr lang="en-US" dirty="0" smtClean="0"/>
              <a:t>outsourcing (BPO) industry. Over 8 million Filipinos work overseas</a:t>
            </a:r>
            <a:r>
              <a:rPr lang="en-US" baseline="0" dirty="0" smtClean="0"/>
              <a:t> </a:t>
            </a:r>
            <a:r>
              <a:rPr lang="en-US" dirty="0" smtClean="0"/>
              <a:t>and remit more than $12 billion a year, a large part of the country’s</a:t>
            </a:r>
            <a:r>
              <a:rPr lang="en-US" baseline="0" dirty="0" smtClean="0"/>
              <a:t> </a:t>
            </a:r>
            <a:r>
              <a:rPr lang="en-US" dirty="0" smtClean="0"/>
              <a:t>economy. Although Filipino and English are the official languages,</a:t>
            </a:r>
            <a:r>
              <a:rPr lang="en-US" baseline="0" dirty="0" smtClean="0"/>
              <a:t> </a:t>
            </a:r>
            <a:r>
              <a:rPr lang="en-US" dirty="0" smtClean="0"/>
              <a:t>more than 170 languages are spoken. Literacy rates are high for both</a:t>
            </a:r>
            <a:r>
              <a:rPr lang="en-US" baseline="0" dirty="0" smtClean="0"/>
              <a:t> </a:t>
            </a:r>
            <a:r>
              <a:rPr lang="en-US" dirty="0" smtClean="0"/>
              <a:t>males and females. Many different ethnic groups live in the country,</a:t>
            </a:r>
            <a:r>
              <a:rPr lang="en-US" baseline="0" dirty="0" smtClean="0"/>
              <a:t> </a:t>
            </a:r>
            <a:r>
              <a:rPr lang="en-US" dirty="0" smtClean="0"/>
              <a:t>with Tagalog people constituting the largest proportion of 30 percent.</a:t>
            </a:r>
            <a:r>
              <a:rPr lang="en-US" baseline="0" dirty="0" smtClean="0"/>
              <a:t> </a:t>
            </a:r>
            <a:r>
              <a:rPr lang="en-US" dirty="0" smtClean="0"/>
              <a:t>The Philippines has the world’s third-largest Christian population,</a:t>
            </a:r>
            <a:r>
              <a:rPr lang="en-US" baseline="0" dirty="0" smtClean="0"/>
              <a:t> </a:t>
            </a:r>
            <a:r>
              <a:rPr lang="en-US" dirty="0" smtClean="0"/>
              <a:t>among which Roman Catholicism is predominant.</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9</a:t>
            </a:fld>
            <a:endParaRPr lang="en-US" dirty="0"/>
          </a:p>
        </p:txBody>
      </p:sp>
    </p:spTree>
    <p:extLst>
      <p:ext uri="{BB962C8B-B14F-4D97-AF65-F5344CB8AC3E}">
        <p14:creationId xmlns:p14="http://schemas.microsoft.com/office/powerpoint/2010/main" val="3088582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Brazil, a federation of 26 states, is the largest and most</a:t>
            </a:r>
            <a:r>
              <a:rPr lang="en-US" baseline="0" dirty="0" smtClean="0"/>
              <a:t> </a:t>
            </a:r>
            <a:r>
              <a:rPr lang="en-US" dirty="0" smtClean="0"/>
              <a:t>populous country in Latin America and the fifth largest</a:t>
            </a:r>
            <a:r>
              <a:rPr lang="en-US" baseline="0" dirty="0" smtClean="0"/>
              <a:t> </a:t>
            </a:r>
            <a:r>
              <a:rPr lang="en-US" dirty="0" smtClean="0"/>
              <a:t>worldwide. Its total population is about 200 million,</a:t>
            </a:r>
            <a:r>
              <a:rPr lang="en-US" baseline="0" dirty="0" smtClean="0"/>
              <a:t> </a:t>
            </a:r>
            <a:r>
              <a:rPr lang="en-US" dirty="0" smtClean="0"/>
              <a:t>and São Paulo, its largest city, has a population of</a:t>
            </a:r>
            <a:r>
              <a:rPr lang="en-US" baseline="0" dirty="0" smtClean="0"/>
              <a:t> </a:t>
            </a:r>
            <a:r>
              <a:rPr lang="en-US" dirty="0" smtClean="0"/>
              <a:t>11 million. Brazil has one of the most extensive river</a:t>
            </a:r>
            <a:r>
              <a:rPr lang="en-US" baseline="0" dirty="0" smtClean="0"/>
              <a:t> </a:t>
            </a:r>
            <a:r>
              <a:rPr lang="en-US" dirty="0" smtClean="0"/>
              <a:t>systems in the world. The economy is based on</a:t>
            </a:r>
            <a:r>
              <a:rPr lang="en-US" baseline="0" dirty="0" smtClean="0"/>
              <a:t> </a:t>
            </a:r>
            <a:r>
              <a:rPr lang="en-US" dirty="0" smtClean="0"/>
              <a:t>manufacturing, mining, agriculture, and technology.</a:t>
            </a:r>
            <a:r>
              <a:rPr lang="en-US" baseline="0" dirty="0" smtClean="0"/>
              <a:t> </a:t>
            </a:r>
            <a:r>
              <a:rPr lang="en-US" dirty="0" smtClean="0"/>
              <a:t>For 150 years, Brazil has been the world’s largest</a:t>
            </a:r>
            <a:r>
              <a:rPr lang="en-US" baseline="0" dirty="0" smtClean="0"/>
              <a:t> </a:t>
            </a:r>
            <a:r>
              <a:rPr lang="en-US" dirty="0" smtClean="0"/>
              <a:t>producer of coffee. Ethnically, it comprises Europeans,</a:t>
            </a:r>
            <a:r>
              <a:rPr lang="en-US" baseline="0" dirty="0" smtClean="0"/>
              <a:t> </a:t>
            </a:r>
            <a:r>
              <a:rPr lang="en-US" dirty="0" smtClean="0"/>
              <a:t>Africans, Indians, and Asians. The official language is</a:t>
            </a:r>
            <a:r>
              <a:rPr lang="en-US" baseline="0" dirty="0" smtClean="0"/>
              <a:t> </a:t>
            </a:r>
            <a:r>
              <a:rPr lang="en-US" dirty="0" smtClean="0"/>
              <a:t>Portuguese. Roman Catholicism is the predominant</a:t>
            </a:r>
            <a:r>
              <a:rPr lang="en-US" baseline="0" dirty="0" smtClean="0"/>
              <a:t> </a:t>
            </a:r>
            <a:r>
              <a:rPr lang="en-US" dirty="0" smtClean="0"/>
              <a:t>religion, and Brazil has the largest Roman Catholic</a:t>
            </a:r>
            <a:r>
              <a:rPr lang="en-US" baseline="0" dirty="0" smtClean="0"/>
              <a:t> </a:t>
            </a:r>
            <a:r>
              <a:rPr lang="en-US" dirty="0" smtClean="0"/>
              <a:t>population in the world. Brazil has the world’s most extreme economic and social inequality, with many</a:t>
            </a:r>
            <a:r>
              <a:rPr lang="en-US" baseline="0" dirty="0" smtClean="0"/>
              <a:t> </a:t>
            </a:r>
            <a:r>
              <a:rPr lang="en-US" dirty="0" smtClean="0"/>
              <a:t>people, especially in the south and east, living in wealth</a:t>
            </a:r>
            <a:r>
              <a:rPr lang="en-US" baseline="0" dirty="0" smtClean="0"/>
              <a:t> </a:t>
            </a:r>
            <a:r>
              <a:rPr lang="en-US" dirty="0" smtClean="0"/>
              <a:t>and comfort while others living in the urban favelas</a:t>
            </a:r>
            <a:r>
              <a:rPr lang="en-US" baseline="0" dirty="0" smtClean="0"/>
              <a:t> </a:t>
            </a:r>
            <a:r>
              <a:rPr lang="en-US" dirty="0" smtClean="0"/>
              <a:t>(slums) and in the rural northeast experience extreme</a:t>
            </a:r>
            <a:r>
              <a:rPr lang="en-US" baseline="0" dirty="0" smtClean="0"/>
              <a:t> </a:t>
            </a:r>
            <a:r>
              <a:rPr lang="en-US" dirty="0" smtClean="0"/>
              <a:t>poverty, deprivation, and violence.</a:t>
            </a:r>
          </a:p>
          <a:p>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15</a:t>
            </a:fld>
            <a:endParaRPr lang="en-US" dirty="0"/>
          </a:p>
        </p:txBody>
      </p:sp>
    </p:spTree>
    <p:extLst>
      <p:ext uri="{BB962C8B-B14F-4D97-AF65-F5344CB8AC3E}">
        <p14:creationId xmlns:p14="http://schemas.microsoft.com/office/powerpoint/2010/main" val="506009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countries of Central America</a:t>
            </a:r>
            <a:r>
              <a:rPr lang="en-US" baseline="0" dirty="0" smtClean="0"/>
              <a:t> </a:t>
            </a:r>
            <a:r>
              <a:rPr lang="en-US" dirty="0" smtClean="0"/>
              <a:t>share a similar geography as part of</a:t>
            </a:r>
            <a:r>
              <a:rPr lang="en-US" baseline="0" dirty="0" smtClean="0"/>
              <a:t> </a:t>
            </a:r>
            <a:r>
              <a:rPr lang="en-US" dirty="0" smtClean="0"/>
              <a:t>a long isthmus with a mountainous</a:t>
            </a:r>
            <a:r>
              <a:rPr lang="en-US" baseline="0" dirty="0" smtClean="0"/>
              <a:t> </a:t>
            </a:r>
            <a:r>
              <a:rPr lang="en-US" dirty="0" smtClean="0"/>
              <a:t>spine, active volcanoes, and rich soil.</a:t>
            </a:r>
            <a:r>
              <a:rPr lang="en-US" baseline="0" dirty="0" smtClean="0"/>
              <a:t> </a:t>
            </a:r>
            <a:r>
              <a:rPr lang="en-US" dirty="0" smtClean="0"/>
              <a:t>A federation that linked much of the</a:t>
            </a:r>
            <a:r>
              <a:rPr lang="en-US" baseline="0" dirty="0" smtClean="0"/>
              <a:t> </a:t>
            </a:r>
            <a:r>
              <a:rPr lang="en-US" dirty="0" smtClean="0"/>
              <a:t>region into the United Provinces of</a:t>
            </a:r>
            <a:r>
              <a:rPr lang="en-US" baseline="0" dirty="0" smtClean="0"/>
              <a:t> </a:t>
            </a:r>
            <a:r>
              <a:rPr lang="en-US" dirty="0" smtClean="0"/>
              <a:t>Central America existed from 1824</a:t>
            </a:r>
            <a:r>
              <a:rPr lang="en-US" baseline="0" dirty="0" smtClean="0"/>
              <a:t> </a:t>
            </a:r>
            <a:r>
              <a:rPr lang="en-US" dirty="0" smtClean="0"/>
              <a:t>to 1838. The population of over 40</a:t>
            </a:r>
            <a:r>
              <a:rPr lang="en-US" baseline="0" dirty="0" smtClean="0"/>
              <a:t> </a:t>
            </a:r>
            <a:r>
              <a:rPr lang="en-US" dirty="0" smtClean="0"/>
              <a:t>million people includes indigenous</a:t>
            </a:r>
            <a:r>
              <a:rPr lang="en-US" baseline="0" dirty="0" smtClean="0"/>
              <a:t> </a:t>
            </a:r>
            <a:r>
              <a:rPr lang="en-US" dirty="0" smtClean="0"/>
              <a:t>peoples and people of mixed indigenous and European ancestry.</a:t>
            </a:r>
            <a:r>
              <a:rPr lang="en-US" baseline="0" dirty="0" smtClean="0"/>
              <a:t> </a:t>
            </a:r>
            <a:r>
              <a:rPr lang="en-US" dirty="0" smtClean="0"/>
              <a:t>European colonialism has left a</a:t>
            </a:r>
            <a:r>
              <a:rPr lang="en-US" baseline="0" dirty="0" smtClean="0"/>
              <a:t> </a:t>
            </a:r>
            <a:r>
              <a:rPr lang="en-US" dirty="0" smtClean="0"/>
              <a:t>strong mark on the region, which is</a:t>
            </a:r>
            <a:r>
              <a:rPr lang="en-US" baseline="0" dirty="0" smtClean="0"/>
              <a:t> </a:t>
            </a:r>
            <a:r>
              <a:rPr lang="en-US" dirty="0" smtClean="0"/>
              <a:t>now heavily influenced by the United</a:t>
            </a:r>
            <a:r>
              <a:rPr lang="en-US" baseline="0" dirty="0" smtClean="0"/>
              <a:t> </a:t>
            </a:r>
            <a:r>
              <a:rPr lang="en-US" dirty="0" smtClean="0"/>
              <a:t>States and its interests in hemispheric</a:t>
            </a:r>
            <a:r>
              <a:rPr lang="en-US" baseline="0" dirty="0" smtClean="0"/>
              <a:t> </a:t>
            </a:r>
            <a:r>
              <a:rPr lang="en-US" dirty="0" smtClean="0"/>
              <a:t>economic and political domination.</a:t>
            </a:r>
            <a:r>
              <a:rPr lang="en-US" baseline="0" dirty="0" smtClean="0"/>
              <a:t> </a:t>
            </a:r>
            <a:r>
              <a:rPr lang="en-US" dirty="0" smtClean="0"/>
              <a:t>Bananas are the leading export crop</a:t>
            </a:r>
            <a:r>
              <a:rPr lang="en-US" baseline="0" dirty="0" smtClean="0"/>
              <a:t> </a:t>
            </a:r>
            <a:r>
              <a:rPr lang="en-US" dirty="0" smtClean="0"/>
              <a:t>of the region. For many decades,</a:t>
            </a:r>
            <a:r>
              <a:rPr lang="en-US" baseline="0" dirty="0" smtClean="0"/>
              <a:t> </a:t>
            </a:r>
            <a:r>
              <a:rPr lang="en-US" dirty="0" smtClean="0"/>
              <a:t>the region has been a source of</a:t>
            </a:r>
            <a:r>
              <a:rPr lang="en-US" baseline="0" dirty="0" smtClean="0"/>
              <a:t> </a:t>
            </a:r>
            <a:r>
              <a:rPr lang="en-US" dirty="0" smtClean="0"/>
              <a:t>labor migrants to the United States.</a:t>
            </a:r>
            <a:r>
              <a:rPr lang="en-US" baseline="0" dirty="0" smtClean="0"/>
              <a:t> </a:t>
            </a:r>
            <a:r>
              <a:rPr lang="en-US" dirty="0" smtClean="0"/>
              <a:t>Economic and personal insecurity</a:t>
            </a:r>
            <a:r>
              <a:rPr lang="en-US" baseline="0" dirty="0" smtClean="0"/>
              <a:t> </a:t>
            </a:r>
            <a:r>
              <a:rPr lang="en-US" dirty="0" smtClean="0"/>
              <a:t>in the region is driving continued</a:t>
            </a:r>
            <a:r>
              <a:rPr lang="en-US" baseline="0" dirty="0" smtClean="0"/>
              <a:t> </a:t>
            </a:r>
            <a:r>
              <a:rPr lang="en-US" dirty="0" smtClean="0"/>
              <a:t>migration flows, much of which is</a:t>
            </a:r>
            <a:r>
              <a:rPr lang="en-US" baseline="0" dirty="0" smtClean="0"/>
              <a:t> </a:t>
            </a:r>
            <a:r>
              <a:rPr lang="en-US" dirty="0" smtClean="0"/>
              <a:t>undocumented.</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20</a:t>
            </a:fld>
            <a:endParaRPr lang="en-US" dirty="0"/>
          </a:p>
        </p:txBody>
      </p:sp>
    </p:spTree>
    <p:extLst>
      <p:ext uri="{BB962C8B-B14F-4D97-AF65-F5344CB8AC3E}">
        <p14:creationId xmlns:p14="http://schemas.microsoft.com/office/powerpoint/2010/main" val="1835703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Throughout northern India, people believe that tying on ritually blessed strings provides protection from malevolent spirits. This Muslim baby has several protective strings.</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21</a:t>
            </a:fld>
            <a:endParaRPr lang="en-US" dirty="0"/>
          </a:p>
        </p:txBody>
      </p:sp>
    </p:spTree>
    <p:extLst>
      <p:ext uri="{BB962C8B-B14F-4D97-AF65-F5344CB8AC3E}">
        <p14:creationId xmlns:p14="http://schemas.microsoft.com/office/powerpoint/2010/main" val="2632594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22</a:t>
            </a:fld>
            <a:endParaRPr lang="en-US" dirty="0"/>
          </a:p>
        </p:txBody>
      </p:sp>
    </p:spTree>
    <p:extLst>
      <p:ext uri="{BB962C8B-B14F-4D97-AF65-F5344CB8AC3E}">
        <p14:creationId xmlns:p14="http://schemas.microsoft.com/office/powerpoint/2010/main" val="4053601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23</a:t>
            </a:fld>
            <a:endParaRPr lang="en-US" dirty="0"/>
          </a:p>
        </p:txBody>
      </p:sp>
    </p:spTree>
    <p:extLst>
      <p:ext uri="{BB962C8B-B14F-4D97-AF65-F5344CB8AC3E}">
        <p14:creationId xmlns:p14="http://schemas.microsoft.com/office/powerpoint/2010/main" val="1261528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25</a:t>
            </a:fld>
            <a:endParaRPr lang="en-US" dirty="0"/>
          </a:p>
        </p:txBody>
      </p:sp>
    </p:spTree>
    <p:extLst>
      <p:ext uri="{BB962C8B-B14F-4D97-AF65-F5344CB8AC3E}">
        <p14:creationId xmlns:p14="http://schemas.microsoft.com/office/powerpoint/2010/main" val="213072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Situated in the Andes Mountains, Bolivia is the lowest income</a:t>
            </a:r>
            <a:r>
              <a:rPr lang="en-US" baseline="0" dirty="0" smtClean="0"/>
              <a:t> </a:t>
            </a:r>
            <a:r>
              <a:rPr lang="en-US" dirty="0" smtClean="0"/>
              <a:t>country in South America, although it is rich in</a:t>
            </a:r>
            <a:r>
              <a:rPr lang="en-US" baseline="0" dirty="0" smtClean="0"/>
              <a:t> </a:t>
            </a:r>
            <a:r>
              <a:rPr lang="en-US" dirty="0" smtClean="0"/>
              <a:t>natural resources, including the second largest oil field in</a:t>
            </a:r>
            <a:r>
              <a:rPr lang="en-US" baseline="0" dirty="0" smtClean="0"/>
              <a:t> </a:t>
            </a:r>
            <a:r>
              <a:rPr lang="en-US" dirty="0" smtClean="0"/>
              <a:t>South America after Venezuela. The population of 10 million</a:t>
            </a:r>
            <a:r>
              <a:rPr lang="en-US" baseline="0" dirty="0" smtClean="0"/>
              <a:t> </a:t>
            </a:r>
            <a:r>
              <a:rPr lang="en-US" dirty="0" smtClean="0"/>
              <a:t>includes a majority of indigenous people of nearly 40 different</a:t>
            </a:r>
            <a:r>
              <a:rPr lang="en-US" baseline="0" dirty="0" smtClean="0"/>
              <a:t> </a:t>
            </a:r>
            <a:r>
              <a:rPr lang="en-US" dirty="0" smtClean="0"/>
              <a:t>groups. The largest are the Aymara (2 million) and Quechua</a:t>
            </a:r>
            <a:r>
              <a:rPr lang="en-US" baseline="0" dirty="0" smtClean="0"/>
              <a:t> </a:t>
            </a:r>
            <a:r>
              <a:rPr lang="en-US" dirty="0" smtClean="0"/>
              <a:t>groups (1.5 million). Thirty percent of the population is</a:t>
            </a:r>
            <a:r>
              <a:rPr lang="en-US" baseline="0" dirty="0" smtClean="0"/>
              <a:t> </a:t>
            </a:r>
            <a:r>
              <a:rPr lang="en-US" dirty="0" smtClean="0"/>
              <a:t>mestizo, of mixed descent, and 15 percent is of European</a:t>
            </a:r>
            <a:r>
              <a:rPr lang="en-US" baseline="0" dirty="0" smtClean="0"/>
              <a:t> </a:t>
            </a:r>
            <a:r>
              <a:rPr lang="en-US" dirty="0" smtClean="0"/>
              <a:t>descent. Two-thirds of the people are low-income farmers.</a:t>
            </a:r>
            <a:r>
              <a:rPr lang="en-US" baseline="0" dirty="0" smtClean="0"/>
              <a:t> </a:t>
            </a:r>
            <a:r>
              <a:rPr lang="en-US" dirty="0" smtClean="0"/>
              <a:t>The official religion is Roman Catholicism, but Protestantism</a:t>
            </a:r>
            <a:r>
              <a:rPr lang="en-US" baseline="0" dirty="0" smtClean="0"/>
              <a:t> </a:t>
            </a:r>
            <a:r>
              <a:rPr lang="en-US" dirty="0" smtClean="0"/>
              <a:t>is growing. Religious syncretism is prominent. Most people</a:t>
            </a:r>
            <a:r>
              <a:rPr lang="en-US" baseline="0" dirty="0" smtClean="0"/>
              <a:t> </a:t>
            </a:r>
            <a:r>
              <a:rPr lang="en-US" dirty="0" smtClean="0"/>
              <a:t>speak Spanish as their first language, although Aymara and</a:t>
            </a:r>
            <a:r>
              <a:rPr lang="en-US" baseline="0" dirty="0" smtClean="0"/>
              <a:t> </a:t>
            </a:r>
            <a:r>
              <a:rPr lang="en-US" dirty="0" smtClean="0"/>
              <a:t>Quechua are also common. Bolivia’s popular fiesta known </a:t>
            </a:r>
            <a:r>
              <a:rPr lang="en-US" i="0" dirty="0" smtClean="0"/>
              <a:t>as</a:t>
            </a:r>
            <a:r>
              <a:rPr lang="en-US" i="1" baseline="0" dirty="0" smtClean="0"/>
              <a:t> </a:t>
            </a:r>
            <a:r>
              <a:rPr lang="en-US" i="1" dirty="0" smtClean="0"/>
              <a:t>El carnival de Oruro</a:t>
            </a:r>
            <a:r>
              <a:rPr lang="en-US" dirty="0" smtClean="0"/>
              <a:t> is on UNESCO’s list of Intangible Cultural</a:t>
            </a:r>
            <a:r>
              <a:rPr lang="en-US" baseline="0" dirty="0" smtClean="0"/>
              <a:t> </a:t>
            </a:r>
            <a:r>
              <a:rPr lang="en-US" dirty="0" smtClean="0"/>
              <a:t>Heritage. In 2014, the government started building a mass-transit</a:t>
            </a:r>
            <a:r>
              <a:rPr lang="en-US" baseline="0" dirty="0" smtClean="0"/>
              <a:t> </a:t>
            </a:r>
            <a:r>
              <a:rPr lang="en-US" dirty="0" smtClean="0"/>
              <a:t>aerial cable system linking the capital city, La Paz, with</a:t>
            </a:r>
            <a:r>
              <a:rPr lang="en-US" baseline="0" dirty="0" smtClean="0"/>
              <a:t> </a:t>
            </a:r>
            <a:r>
              <a:rPr lang="en-US" dirty="0" smtClean="0"/>
              <a:t>its neighbor city, El Alto, the highest city in the world and the</a:t>
            </a:r>
            <a:r>
              <a:rPr lang="en-US" baseline="0" dirty="0" smtClean="0"/>
              <a:t> </a:t>
            </a:r>
            <a:r>
              <a:rPr lang="en-US" dirty="0" smtClean="0"/>
              <a:t>city in Latin America with the largest Indian population.</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30</a:t>
            </a:fld>
            <a:endParaRPr lang="en-US" dirty="0"/>
          </a:p>
        </p:txBody>
      </p:sp>
    </p:spTree>
    <p:extLst>
      <p:ext uri="{BB962C8B-B14F-4D97-AF65-F5344CB8AC3E}">
        <p14:creationId xmlns:p14="http://schemas.microsoft.com/office/powerpoint/2010/main" val="3128514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the arrival of European colonialists, Indians were the sole occupants of the area. The first English</a:t>
            </a:r>
            <a:r>
              <a:rPr lang="en-US" baseline="0" dirty="0" smtClean="0"/>
              <a:t> </a:t>
            </a:r>
            <a:r>
              <a:rPr lang="en-US" dirty="0" smtClean="0"/>
              <a:t>settlers were impressed by their height and robust physical health.</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37</a:t>
            </a:fld>
            <a:endParaRPr lang="en-US" dirty="0"/>
          </a:p>
        </p:txBody>
      </p:sp>
    </p:spTree>
    <p:extLst>
      <p:ext uri="{BB962C8B-B14F-4D97-AF65-F5344CB8AC3E}">
        <p14:creationId xmlns:p14="http://schemas.microsoft.com/office/powerpoint/2010/main" val="915271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Federal Indian reservations today make up a small percentage of the U.S. landmass. Reservations are allocated to “recognized tribes.” This map, however, does not show reservations designated by particular states. While such reservations are rare in the eastern states, they are extensive in several western states. Furthermore, this map under-represents the presence of American Indians since many nonrecognized tribes exist, and many Indians live off the reservations.</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38</a:t>
            </a:fld>
            <a:endParaRPr lang="en-US" dirty="0"/>
          </a:p>
        </p:txBody>
      </p:sp>
    </p:spTree>
    <p:extLst>
      <p:ext uri="{BB962C8B-B14F-4D97-AF65-F5344CB8AC3E}">
        <p14:creationId xmlns:p14="http://schemas.microsoft.com/office/powerpoint/2010/main" val="1249185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Social stigma often adds to the suffering of HIV/AIDS victims. The billboards, near Soweto in South Africa, promote condom use and seek to reduce social rejection and stigma.</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45</a:t>
            </a:fld>
            <a:endParaRPr lang="en-US" dirty="0"/>
          </a:p>
        </p:txBody>
      </p:sp>
    </p:spTree>
    <p:extLst>
      <p:ext uri="{BB962C8B-B14F-4D97-AF65-F5344CB8AC3E}">
        <p14:creationId xmlns:p14="http://schemas.microsoft.com/office/powerpoint/2010/main" val="2888924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Kingdom of Nepal has a population of almost 30 million, a number double from that of 30 years ago. Most of its territory is in the Himalayas, and Nepal has 8 of the world’s 10 highest mountains.</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49</a:t>
            </a:fld>
            <a:endParaRPr lang="en-US" dirty="0"/>
          </a:p>
        </p:txBody>
      </p:sp>
    </p:spTree>
    <p:extLst>
      <p:ext uri="{BB962C8B-B14F-4D97-AF65-F5344CB8AC3E}">
        <p14:creationId xmlns:p14="http://schemas.microsoft.com/office/powerpoint/2010/main" val="1573868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Samoa, or the Independent State of Samoa, was known as German Samoa (1900–1919) and Western Samoa (1914–1997) until recognized by the United Nations as a sovereign country. Its population is around 190,000. American Samoa, or Amerika Samoa in Samoan English, is a territory of the United States with a population of about 55,000. During World War II, U.S. Marines in American Samoa outnumbered the local population and had a strong cultural influence. Unemployment rates are high, and the U.S. military is the largest employer.</a:t>
            </a:r>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54</a:t>
            </a:fld>
            <a:endParaRPr lang="en-US" dirty="0"/>
          </a:p>
        </p:txBody>
      </p:sp>
    </p:spTree>
    <p:extLst>
      <p:ext uri="{BB962C8B-B14F-4D97-AF65-F5344CB8AC3E}">
        <p14:creationId xmlns:p14="http://schemas.microsoft.com/office/powerpoint/2010/main" val="1852410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85DD07-8384-1B4B-9500-A7BF423CD4F0}" type="slidenum">
              <a:rPr lang="en-US" smtClean="0"/>
              <a:t>58</a:t>
            </a:fld>
            <a:endParaRPr lang="en-US" dirty="0"/>
          </a:p>
        </p:txBody>
      </p:sp>
    </p:spTree>
    <p:extLst>
      <p:ext uri="{BB962C8B-B14F-4D97-AF65-F5344CB8AC3E}">
        <p14:creationId xmlns:p14="http://schemas.microsoft.com/office/powerpoint/2010/main" val="565182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7</a:t>
            </a:r>
            <a:endParaRPr lang="en-US" dirty="0"/>
          </a:p>
        </p:txBody>
      </p:sp>
      <p:sp>
        <p:nvSpPr>
          <p:cNvPr id="3" name="Text Placeholder 2"/>
          <p:cNvSpPr>
            <a:spLocks noGrp="1"/>
          </p:cNvSpPr>
          <p:nvPr>
            <p:ph type="body" sz="quarter" idx="15"/>
          </p:nvPr>
        </p:nvSpPr>
        <p:spPr/>
        <p:txBody>
          <a:bodyPr/>
          <a:lstStyle/>
          <a:p>
            <a:r>
              <a:rPr lang="en-US" dirty="0" smtClean="0"/>
              <a:t>Disease, Illness, and Healing</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600198"/>
            <a:ext cx="3687097" cy="4572000"/>
          </a:xfrm>
          <a:prstGeom prst="rect">
            <a:avLst/>
          </a:prstGeom>
        </p:spPr>
      </p:pic>
    </p:spTree>
    <p:extLst>
      <p:ext uri="{BB962C8B-B14F-4D97-AF65-F5344CB8AC3E}">
        <p14:creationId xmlns:p14="http://schemas.microsoft.com/office/powerpoint/2010/main" val="306162895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en-US" dirty="0" smtClean="0">
                <a:solidFill>
                  <a:schemeClr val="tx2"/>
                </a:solidFill>
              </a:rPr>
              <a:t>7.1</a:t>
            </a:r>
            <a:r>
              <a:rPr lang="en-US" dirty="0" smtClean="0"/>
              <a:t> Describe the scope of ethnomedicine and how it has changed in recent times.</a:t>
            </a:r>
          </a:p>
          <a:p>
            <a:pPr marL="0" indent="0"/>
            <a:endParaRPr lang="en-US" dirty="0" smtClean="0">
              <a:solidFill>
                <a:schemeClr val="accent2">
                  <a:lumMod val="50000"/>
                </a:schemeClr>
              </a:solidFill>
            </a:endParaRPr>
          </a:p>
          <a:p>
            <a:pPr marL="0" indent="0">
              <a:buNone/>
            </a:pPr>
            <a:r>
              <a:rPr lang="en-US" dirty="0" smtClean="0">
                <a:solidFill>
                  <a:schemeClr val="tx2"/>
                </a:solidFill>
              </a:rPr>
              <a:t>7.2</a:t>
            </a:r>
            <a:r>
              <a:rPr lang="en-US" dirty="0" smtClean="0"/>
              <a:t> Explain the three major theoretical approaches in medical anthropology.</a:t>
            </a:r>
          </a:p>
          <a:p>
            <a:pPr marL="0" indent="0"/>
            <a:endParaRPr lang="en-US" dirty="0" smtClean="0">
              <a:solidFill>
                <a:schemeClr val="accent2">
                  <a:lumMod val="50000"/>
                </a:schemeClr>
              </a:solidFill>
            </a:endParaRPr>
          </a:p>
          <a:p>
            <a:pPr marL="0" indent="0">
              <a:buNone/>
            </a:pPr>
            <a:r>
              <a:rPr lang="en-US" dirty="0" smtClean="0">
                <a:solidFill>
                  <a:schemeClr val="tx2"/>
                </a:solidFill>
              </a:rPr>
              <a:t>7.3</a:t>
            </a:r>
            <a:r>
              <a:rPr lang="en-US" dirty="0" smtClean="0">
                <a:solidFill>
                  <a:schemeClr val="accent2">
                    <a:lumMod val="50000"/>
                  </a:schemeClr>
                </a:solidFill>
              </a:rPr>
              <a:t> </a:t>
            </a:r>
            <a:r>
              <a:rPr lang="en-US" dirty="0" smtClean="0"/>
              <a:t>Recognize how globalization is affecting health, illness, and healing.</a:t>
            </a:r>
            <a:endParaRPr lang="en-US" dirty="0">
              <a:solidFill>
                <a:schemeClr val="accent2">
                  <a:lumMod val="50000"/>
                </a:schemeClr>
              </a:solidFill>
            </a:endParaRPr>
          </a:p>
        </p:txBody>
      </p:sp>
    </p:spTree>
    <p:extLst>
      <p:ext uri="{BB962C8B-B14F-4D97-AF65-F5344CB8AC3E}">
        <p14:creationId xmlns:p14="http://schemas.microsoft.com/office/powerpoint/2010/main" val="3686053437"/>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The Subfield of Medical Anthropology</a:t>
            </a:r>
            <a:endParaRPr lang="en-US" dirty="0"/>
          </a:p>
        </p:txBody>
      </p:sp>
      <p:sp>
        <p:nvSpPr>
          <p:cNvPr id="5" name="Content Placeholder 4"/>
          <p:cNvSpPr>
            <a:spLocks noGrp="1"/>
          </p:cNvSpPr>
          <p:nvPr>
            <p:ph idx="1"/>
          </p:nvPr>
        </p:nvSpPr>
        <p:spPr/>
        <p:txBody>
          <a:bodyPr/>
          <a:lstStyle/>
          <a:p>
            <a:r>
              <a:rPr lang="en-US" dirty="0"/>
              <a:t>The cross-cultural study of health and health problems</a:t>
            </a:r>
          </a:p>
          <a:p>
            <a:r>
              <a:rPr lang="en-US" dirty="0"/>
              <a:t>One of the </a:t>
            </a:r>
            <a:r>
              <a:rPr lang="en-US" dirty="0" smtClean="0"/>
              <a:t>fastest-growing </a:t>
            </a:r>
            <a:r>
              <a:rPr lang="en-US" dirty="0"/>
              <a:t>areas of anthropology</a:t>
            </a:r>
          </a:p>
          <a:p>
            <a:r>
              <a:rPr lang="en-US" dirty="0"/>
              <a:t>Mainly part of cultural anthropology, but closely linked with the other fields, especially biological anthropology</a:t>
            </a:r>
          </a:p>
          <a:p>
            <a:pPr marL="0" indent="0">
              <a:buNone/>
            </a:pP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Ethnomedicine </a:t>
            </a:r>
            <a:r>
              <a:rPr lang="en-US" sz="3100" dirty="0" smtClean="0"/>
              <a:t>(1 of 2)</a:t>
            </a:r>
            <a:br>
              <a:rPr lang="en-US" sz="3100" dirty="0" smtClean="0"/>
            </a:br>
            <a:r>
              <a:rPr lang="en-US" sz="2400" dirty="0" smtClean="0"/>
              <a:t>7.1 Describe the scope of </a:t>
            </a:r>
            <a:r>
              <a:rPr lang="en-US" sz="2400" dirty="0"/>
              <a:t>e</a:t>
            </a:r>
            <a:r>
              <a:rPr lang="en-US" sz="2400" dirty="0" smtClean="0"/>
              <a:t>thnomedicine and how it has changed in recent times.</a:t>
            </a:r>
            <a:endParaRPr lang="en-US" dirty="0"/>
          </a:p>
        </p:txBody>
      </p:sp>
      <p:sp>
        <p:nvSpPr>
          <p:cNvPr id="3" name="Content Placeholder 2"/>
          <p:cNvSpPr>
            <a:spLocks noGrp="1"/>
          </p:cNvSpPr>
          <p:nvPr>
            <p:ph idx="1"/>
          </p:nvPr>
        </p:nvSpPr>
        <p:spPr/>
        <p:txBody>
          <a:bodyPr/>
          <a:lstStyle/>
          <a:p>
            <a:r>
              <a:rPr lang="en-US" dirty="0" err="1" smtClean="0"/>
              <a:t>Ethnomedicine</a:t>
            </a:r>
            <a:r>
              <a:rPr lang="en-US" dirty="0" smtClean="0"/>
              <a:t> is the study of cross-cultural health systems</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Ethnomedicine </a:t>
            </a:r>
            <a:r>
              <a:rPr lang="en-US" sz="2800" dirty="0" smtClean="0"/>
              <a:t>(2 of 2)</a:t>
            </a:r>
            <a:endParaRPr lang="en-US" sz="2800" dirty="0"/>
          </a:p>
        </p:txBody>
      </p:sp>
      <p:sp>
        <p:nvSpPr>
          <p:cNvPr id="3" name="Content Placeholder 2"/>
          <p:cNvSpPr>
            <a:spLocks noGrp="1"/>
          </p:cNvSpPr>
          <p:nvPr>
            <p:ph idx="1"/>
          </p:nvPr>
        </p:nvSpPr>
        <p:spPr/>
        <p:txBody>
          <a:bodyPr>
            <a:normAutofit/>
          </a:bodyPr>
          <a:lstStyle/>
          <a:p>
            <a:r>
              <a:rPr lang="en-US" dirty="0" smtClean="0"/>
              <a:t>All cultures have a “health system,” which includes:</a:t>
            </a:r>
          </a:p>
          <a:p>
            <a:pPr lvl="1"/>
            <a:r>
              <a:rPr lang="en-US" dirty="0" smtClean="0"/>
              <a:t>Perceptions and beliefs about the body</a:t>
            </a:r>
          </a:p>
          <a:p>
            <a:pPr lvl="1"/>
            <a:r>
              <a:rPr lang="en-US" dirty="0" smtClean="0"/>
              <a:t>Classifications of health problems</a:t>
            </a:r>
          </a:p>
          <a:p>
            <a:pPr lvl="1"/>
            <a:r>
              <a:rPr lang="en-US" dirty="0" smtClean="0"/>
              <a:t>Prevention measures</a:t>
            </a:r>
          </a:p>
          <a:p>
            <a:pPr lvl="1"/>
            <a:r>
              <a:rPr lang="en-US" dirty="0" smtClean="0"/>
              <a:t>Healing/healers</a:t>
            </a:r>
            <a:endParaRPr lang="en-US" dirty="0"/>
          </a:p>
        </p:txBody>
      </p:sp>
    </p:spTree>
    <p:extLst>
      <p:ext uri="{BB962C8B-B14F-4D97-AF65-F5344CB8AC3E}">
        <p14:creationId xmlns:p14="http://schemas.microsoft.com/office/powerpoint/2010/main" val="273668895"/>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Perceptions of the Body</a:t>
            </a:r>
            <a:endParaRPr lang="en-US" dirty="0"/>
          </a:p>
        </p:txBody>
      </p:sp>
      <p:sp>
        <p:nvSpPr>
          <p:cNvPr id="3" name="Content Placeholder 2"/>
          <p:cNvSpPr>
            <a:spLocks noGrp="1"/>
          </p:cNvSpPr>
          <p:nvPr>
            <p:ph idx="1"/>
          </p:nvPr>
        </p:nvSpPr>
        <p:spPr/>
        <p:txBody>
          <a:bodyPr>
            <a:normAutofit/>
          </a:bodyPr>
          <a:lstStyle/>
          <a:p>
            <a:r>
              <a:rPr lang="en-US" dirty="0" smtClean="0"/>
              <a:t>Cultures differ in how they define people’s bodies</a:t>
            </a:r>
          </a:p>
          <a:p>
            <a:pPr lvl="1"/>
            <a:r>
              <a:rPr lang="en-US" dirty="0" smtClean="0"/>
              <a:t>Perception of what a “body” is</a:t>
            </a:r>
          </a:p>
          <a:p>
            <a:pPr lvl="1"/>
            <a:r>
              <a:rPr lang="en-US" dirty="0" smtClean="0"/>
              <a:t>Perception of internal and external parts</a:t>
            </a:r>
          </a:p>
          <a:p>
            <a:pPr lvl="1"/>
            <a:r>
              <a:rPr lang="en-US" dirty="0" smtClean="0"/>
              <a:t>Separation of mind and body</a:t>
            </a:r>
          </a:p>
          <a:p>
            <a:pPr lvl="1"/>
            <a:r>
              <a:rPr lang="en-US" dirty="0" smtClean="0"/>
              <a:t>Attitudes toward death</a:t>
            </a:r>
          </a:p>
          <a:p>
            <a:pPr lvl="1"/>
            <a:r>
              <a:rPr lang="en-US" dirty="0" smtClean="0"/>
              <a:t>Attitudes toward surgery</a:t>
            </a:r>
          </a:p>
        </p:txBody>
      </p:sp>
    </p:spTree>
    <p:extLst>
      <p:ext uri="{BB962C8B-B14F-4D97-AF65-F5344CB8AC3E}">
        <p14:creationId xmlns:p14="http://schemas.microsoft.com/office/powerpoint/2010/main" val="3871713377"/>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smtClean="0"/>
              <a:t>Defining and Classifying </a:t>
            </a:r>
            <a:br>
              <a:rPr lang="en-US" dirty="0" smtClean="0"/>
            </a:br>
            <a:r>
              <a:rPr lang="en-US" dirty="0" smtClean="0"/>
              <a:t>Health Problems	</a:t>
            </a:r>
            <a:r>
              <a:rPr lang="en-US" sz="3100" dirty="0" smtClean="0"/>
              <a:t>(1 of </a:t>
            </a:r>
            <a:r>
              <a:rPr lang="en-US" sz="3100" dirty="0"/>
              <a:t>5</a:t>
            </a:r>
            <a:r>
              <a:rPr lang="en-US" sz="3100" dirty="0" smtClean="0"/>
              <a:t>)</a:t>
            </a:r>
            <a:endParaRPr lang="en-US" sz="3100" dirty="0"/>
          </a:p>
        </p:txBody>
      </p:sp>
      <p:sp>
        <p:nvSpPr>
          <p:cNvPr id="3" name="Content Placeholder 2"/>
          <p:cNvSpPr>
            <a:spLocks noGrp="1"/>
          </p:cNvSpPr>
          <p:nvPr>
            <p:ph idx="1"/>
          </p:nvPr>
        </p:nvSpPr>
        <p:spPr/>
        <p:txBody>
          <a:bodyPr/>
          <a:lstStyle/>
          <a:p>
            <a:r>
              <a:rPr lang="en-US" dirty="0" smtClean="0"/>
              <a:t>No universal set of labels applies in all cultures</a:t>
            </a:r>
          </a:p>
          <a:p>
            <a:endParaRPr lang="en-US" dirty="0" smtClean="0"/>
          </a:p>
          <a:p>
            <a:r>
              <a:rPr lang="en-US" dirty="0" smtClean="0"/>
              <a:t>The disease/illness dichotomy</a:t>
            </a:r>
            <a:endParaRPr lang="en-US" dirty="0"/>
          </a:p>
        </p:txBody>
      </p:sp>
    </p:spTree>
    <p:extLst>
      <p:ext uri="{BB962C8B-B14F-4D97-AF65-F5344CB8AC3E}">
        <p14:creationId xmlns:p14="http://schemas.microsoft.com/office/powerpoint/2010/main" val="2057728095"/>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dirty="0"/>
              <a:t>Defining and Classifying </a:t>
            </a:r>
            <a:br>
              <a:rPr lang="en-US" dirty="0"/>
            </a:br>
            <a:r>
              <a:rPr lang="en-US" dirty="0"/>
              <a:t>Health </a:t>
            </a:r>
            <a:r>
              <a:rPr lang="en-US" dirty="0" smtClean="0"/>
              <a:t>Problems </a:t>
            </a:r>
            <a:r>
              <a:rPr lang="en-US" sz="3100" dirty="0" smtClean="0"/>
              <a:t>(2 </a:t>
            </a:r>
            <a:r>
              <a:rPr lang="en-US" sz="3100" dirty="0"/>
              <a:t>of </a:t>
            </a:r>
            <a:r>
              <a:rPr lang="en-US" sz="3100" dirty="0" smtClean="0"/>
              <a:t>5)</a:t>
            </a:r>
            <a:endParaRPr lang="en-US" sz="3100" dirty="0"/>
          </a:p>
        </p:txBody>
      </p:sp>
      <p:sp>
        <p:nvSpPr>
          <p:cNvPr id="3" name="Content Placeholder 2"/>
          <p:cNvSpPr>
            <a:spLocks noGrp="1"/>
          </p:cNvSpPr>
          <p:nvPr>
            <p:ph idx="1"/>
          </p:nvPr>
        </p:nvSpPr>
        <p:spPr/>
        <p:txBody>
          <a:bodyPr/>
          <a:lstStyle/>
          <a:p>
            <a:r>
              <a:rPr lang="en-US" dirty="0" smtClean="0"/>
              <a:t>Some bases for labeling health problems:</a:t>
            </a:r>
          </a:p>
          <a:p>
            <a:pPr lvl="1"/>
            <a:r>
              <a:rPr lang="en-US" dirty="0" smtClean="0"/>
              <a:t>Source/place of origin</a:t>
            </a:r>
          </a:p>
          <a:p>
            <a:pPr lvl="1"/>
            <a:r>
              <a:rPr lang="en-US" dirty="0" smtClean="0"/>
              <a:t>The vector, means of transmission</a:t>
            </a:r>
          </a:p>
          <a:p>
            <a:pPr lvl="1"/>
            <a:r>
              <a:rPr lang="en-US" dirty="0" smtClean="0"/>
              <a:t>Affected body part</a:t>
            </a:r>
          </a:p>
          <a:p>
            <a:pPr lvl="1"/>
            <a:r>
              <a:rPr lang="en-US" dirty="0" smtClean="0"/>
              <a:t>Symptoms</a:t>
            </a:r>
          </a:p>
          <a:p>
            <a:pPr lvl="1"/>
            <a:r>
              <a:rPr lang="en-US" dirty="0" smtClean="0"/>
              <a:t>Combination of any of the above</a:t>
            </a:r>
          </a:p>
          <a:p>
            <a:pPr lvl="1"/>
            <a:r>
              <a:rPr lang="en-US" dirty="0"/>
              <a:t>Example: Subanun </a:t>
            </a:r>
            <a:r>
              <a:rPr lang="en-US" dirty="0" smtClean="0"/>
              <a:t>categories </a:t>
            </a:r>
            <a:r>
              <a:rPr lang="en-US" dirty="0"/>
              <a:t>of s</a:t>
            </a:r>
            <a:r>
              <a:rPr lang="en-US" dirty="0" smtClean="0"/>
              <a:t>kin-related </a:t>
            </a:r>
            <a:r>
              <a:rPr lang="en-US" dirty="0"/>
              <a:t>h</a:t>
            </a:r>
            <a:r>
              <a:rPr lang="en-US" dirty="0" smtClean="0"/>
              <a:t>ealth </a:t>
            </a:r>
            <a:r>
              <a:rPr lang="en-US" dirty="0"/>
              <a:t>p</a:t>
            </a:r>
            <a:r>
              <a:rPr lang="en-US" dirty="0" smtClean="0"/>
              <a:t>roblems</a:t>
            </a:r>
            <a:endParaRPr lang="en-US" dirty="0"/>
          </a:p>
        </p:txBody>
      </p:sp>
    </p:spTree>
    <p:extLst>
      <p:ext uri="{BB962C8B-B14F-4D97-AF65-F5344CB8AC3E}">
        <p14:creationId xmlns:p14="http://schemas.microsoft.com/office/powerpoint/2010/main" val="325222701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dirty="0" smtClean="0"/>
              <a:t>Map 7.2 The Philippines</a:t>
            </a:r>
            <a:endParaRPr lang="en-US" dirty="0"/>
          </a:p>
        </p:txBody>
      </p:sp>
      <p:pic>
        <p:nvPicPr>
          <p:cNvPr id="3" name="Content Placeholder 2" descr="A map shows the Philippines bounded by the Philippine Sea to the east and the South China Sea and Sulu Sea to the west. The capital city of Manila is on the large northern island of Luzon. The island of Palawan is farthest west and the large island of Mindanao to the south. An inset globe locates the Philippines in Southeast As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74781" y="1600200"/>
            <a:ext cx="3594437" cy="4525963"/>
          </a:xfrm>
        </p:spPr>
      </p:pic>
    </p:spTree>
    <p:extLst>
      <p:ext uri="{BB962C8B-B14F-4D97-AF65-F5344CB8AC3E}">
        <p14:creationId xmlns:p14="http://schemas.microsoft.com/office/powerpoint/2010/main" val="2705677232"/>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Defining and Classifying </a:t>
            </a:r>
            <a:br>
              <a:rPr lang="en-US" dirty="0"/>
            </a:br>
            <a:r>
              <a:rPr lang="en-US" dirty="0"/>
              <a:t>Health </a:t>
            </a:r>
            <a:r>
              <a:rPr lang="en-US" dirty="0" smtClean="0"/>
              <a:t>Problems</a:t>
            </a:r>
            <a:r>
              <a:rPr lang="en-US" sz="3100" dirty="0"/>
              <a:t> </a:t>
            </a:r>
            <a:r>
              <a:rPr lang="en-US" sz="3100" dirty="0" smtClean="0"/>
              <a:t>(3 </a:t>
            </a:r>
            <a:r>
              <a:rPr lang="en-US" sz="3100" dirty="0"/>
              <a:t>of 5</a:t>
            </a:r>
            <a:r>
              <a:rPr lang="en-US" sz="3100" dirty="0" smtClean="0"/>
              <a:t>)</a:t>
            </a:r>
            <a:endParaRPr lang="en-US" sz="3100" dirty="0"/>
          </a:p>
        </p:txBody>
      </p:sp>
      <p:sp>
        <p:nvSpPr>
          <p:cNvPr id="3" name="Content Placeholder 2"/>
          <p:cNvSpPr>
            <a:spLocks noGrp="1"/>
          </p:cNvSpPr>
          <p:nvPr>
            <p:ph idx="1"/>
          </p:nvPr>
        </p:nvSpPr>
        <p:spPr/>
        <p:txBody>
          <a:bodyPr/>
          <a:lstStyle/>
          <a:p>
            <a:r>
              <a:rPr lang="en-US" dirty="0" smtClean="0"/>
              <a:t>Culture-Specific Syndrome</a:t>
            </a:r>
          </a:p>
          <a:p>
            <a:pPr lvl="1"/>
            <a:r>
              <a:rPr lang="en-US" dirty="0" smtClean="0"/>
              <a:t>A health problem and set of symptoms 	associated with a particular culture</a:t>
            </a:r>
          </a:p>
          <a:p>
            <a:pPr lvl="1"/>
            <a:r>
              <a:rPr lang="en-US" dirty="0" smtClean="0"/>
              <a:t>Social factors often an underlying cause</a:t>
            </a:r>
          </a:p>
          <a:p>
            <a:pPr lvl="1"/>
            <a:r>
              <a:rPr lang="en-US" dirty="0" smtClean="0"/>
              <a:t>Biophysical symptoms may occur through 	somatization</a:t>
            </a:r>
          </a:p>
          <a:p>
            <a:endParaRPr lang="en-US" dirty="0"/>
          </a:p>
        </p:txBody>
      </p:sp>
    </p:spTree>
    <p:extLst>
      <p:ext uri="{BB962C8B-B14F-4D97-AF65-F5344CB8AC3E}">
        <p14:creationId xmlns:p14="http://schemas.microsoft.com/office/powerpoint/2010/main" val="20303802"/>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normAutofit fontScale="90000"/>
          </a:bodyPr>
          <a:lstStyle/>
          <a:p>
            <a:r>
              <a:rPr lang="en-US" dirty="0"/>
              <a:t>Defining and Classifying </a:t>
            </a:r>
            <a:br>
              <a:rPr lang="en-US" dirty="0"/>
            </a:br>
            <a:r>
              <a:rPr lang="en-US" dirty="0"/>
              <a:t>Health </a:t>
            </a:r>
            <a:r>
              <a:rPr lang="en-US" dirty="0" smtClean="0"/>
              <a:t>Problems </a:t>
            </a:r>
            <a:r>
              <a:rPr lang="en-US" sz="3100" dirty="0" smtClean="0"/>
              <a:t>(4 </a:t>
            </a:r>
            <a:r>
              <a:rPr lang="en-US" sz="3100" dirty="0"/>
              <a:t>of 5</a:t>
            </a:r>
            <a:r>
              <a:rPr lang="en-US" sz="3100" dirty="0" smtClean="0"/>
              <a:t>)</a:t>
            </a:r>
            <a:endParaRPr lang="en-US" sz="3100" dirty="0"/>
          </a:p>
        </p:txBody>
      </p:sp>
      <p:sp>
        <p:nvSpPr>
          <p:cNvPr id="3" name="Content Placeholder 2"/>
          <p:cNvSpPr>
            <a:spLocks noGrp="1"/>
          </p:cNvSpPr>
          <p:nvPr>
            <p:ph idx="1"/>
          </p:nvPr>
        </p:nvSpPr>
        <p:spPr/>
        <p:txBody>
          <a:bodyPr/>
          <a:lstStyle/>
          <a:p>
            <a:r>
              <a:rPr lang="en-US" dirty="0" smtClean="0"/>
              <a:t>Susto</a:t>
            </a:r>
          </a:p>
          <a:p>
            <a:pPr lvl="1"/>
            <a:r>
              <a:rPr lang="en-US" dirty="0" smtClean="0"/>
              <a:t>Found </a:t>
            </a:r>
            <a:r>
              <a:rPr lang="en-US" dirty="0"/>
              <a:t>in Spain and Portugal</a:t>
            </a:r>
          </a:p>
          <a:p>
            <a:pPr lvl="1"/>
            <a:r>
              <a:rPr lang="en-US" dirty="0"/>
              <a:t>Prevalent among Latino populations in the New </a:t>
            </a:r>
            <a:r>
              <a:rPr lang="en-US" dirty="0" smtClean="0"/>
              <a:t>	World</a:t>
            </a:r>
            <a:r>
              <a:rPr lang="en-US" dirty="0"/>
              <a:t>, especially the older generation</a:t>
            </a:r>
          </a:p>
          <a:p>
            <a:pPr lvl="1"/>
            <a:r>
              <a:rPr lang="en-US" dirty="0"/>
              <a:t>No clear equivalent in English-language labels </a:t>
            </a:r>
          </a:p>
          <a:p>
            <a:pPr lvl="1"/>
            <a:r>
              <a:rPr lang="en-US" dirty="0"/>
              <a:t>Case study in Oaxaca, Mexico, found that people suffering from susto have higher mortality rates (die earlier)</a:t>
            </a:r>
          </a:p>
          <a:p>
            <a:endParaRPr lang="en-US" dirty="0"/>
          </a:p>
        </p:txBody>
      </p:sp>
    </p:spTree>
    <p:extLst>
      <p:ext uri="{BB962C8B-B14F-4D97-AF65-F5344CB8AC3E}">
        <p14:creationId xmlns:p14="http://schemas.microsoft.com/office/powerpoint/2010/main" val="1487168316"/>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fontScale="90000"/>
          </a:bodyPr>
          <a:lstStyle/>
          <a:p>
            <a:r>
              <a:rPr lang="en-US" dirty="0"/>
              <a:t>Defining and Classifying </a:t>
            </a:r>
            <a:r>
              <a:rPr lang="en-US" dirty="0" smtClean="0"/>
              <a:t/>
            </a:r>
            <a:br>
              <a:rPr lang="en-US" dirty="0" smtClean="0"/>
            </a:br>
            <a:r>
              <a:rPr lang="en-US" dirty="0" smtClean="0"/>
              <a:t>Health </a:t>
            </a:r>
            <a:r>
              <a:rPr lang="en-US" dirty="0"/>
              <a:t>Problems </a:t>
            </a:r>
            <a:r>
              <a:rPr lang="en-US" sz="3100" dirty="0" smtClean="0"/>
              <a:t>(5 </a:t>
            </a:r>
            <a:r>
              <a:rPr lang="en-US" sz="3100" dirty="0"/>
              <a:t>of 5</a:t>
            </a:r>
            <a:r>
              <a:rPr lang="en-US" sz="3100" dirty="0" smtClean="0"/>
              <a:t>)</a:t>
            </a:r>
            <a:endParaRPr lang="en-US" sz="3100" dirty="0"/>
          </a:p>
        </p:txBody>
      </p:sp>
      <p:sp>
        <p:nvSpPr>
          <p:cNvPr id="3" name="Content Placeholder 2"/>
          <p:cNvSpPr>
            <a:spLocks noGrp="1"/>
          </p:cNvSpPr>
          <p:nvPr>
            <p:ph idx="1"/>
          </p:nvPr>
        </p:nvSpPr>
        <p:spPr/>
        <p:txBody>
          <a:bodyPr/>
          <a:lstStyle/>
          <a:p>
            <a:r>
              <a:rPr lang="en-US" dirty="0"/>
              <a:t>Early research in medical anthropology focused on </a:t>
            </a:r>
            <a:r>
              <a:rPr lang="en-US" dirty="0" smtClean="0"/>
              <a:t>CSSs </a:t>
            </a:r>
            <a:r>
              <a:rPr lang="en-US" dirty="0"/>
              <a:t>of </a:t>
            </a:r>
            <a:r>
              <a:rPr lang="en-US" dirty="0" smtClean="0"/>
              <a:t>“the </a:t>
            </a:r>
            <a:r>
              <a:rPr lang="en-US" dirty="0"/>
              <a:t>other”</a:t>
            </a:r>
          </a:p>
          <a:p>
            <a:r>
              <a:rPr lang="en-US" dirty="0" smtClean="0"/>
              <a:t>Western cultures </a:t>
            </a:r>
            <a:r>
              <a:rPr lang="en-US" dirty="0"/>
              <a:t>have </a:t>
            </a:r>
            <a:r>
              <a:rPr lang="en-US" dirty="0" smtClean="0"/>
              <a:t>CSSs too</a:t>
            </a:r>
          </a:p>
          <a:p>
            <a:r>
              <a:rPr lang="en-US" dirty="0" smtClean="0"/>
              <a:t>Question</a:t>
            </a:r>
            <a:r>
              <a:rPr lang="en-US" dirty="0"/>
              <a:t>: </a:t>
            </a:r>
            <a:r>
              <a:rPr lang="en-US" dirty="0" smtClean="0"/>
              <a:t>What </a:t>
            </a:r>
            <a:r>
              <a:rPr lang="en-US" dirty="0"/>
              <a:t>is an example of a CSS on your campus?</a:t>
            </a:r>
          </a:p>
          <a:p>
            <a:pPr marL="0" indent="0">
              <a:buNone/>
            </a:pPr>
            <a:endParaRPr lang="en-US" dirty="0"/>
          </a:p>
        </p:txBody>
      </p:sp>
    </p:spTree>
    <p:extLst>
      <p:ext uri="{BB962C8B-B14F-4D97-AF65-F5344CB8AC3E}">
        <p14:creationId xmlns:p14="http://schemas.microsoft.com/office/powerpoint/2010/main" val="3346949020"/>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Ethno-Etiologies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a:t>Cross-cultural explanations for the causes of health problems and </a:t>
            </a:r>
            <a:r>
              <a:rPr lang="en-US" dirty="0" smtClean="0"/>
              <a:t>suffering</a:t>
            </a:r>
          </a:p>
          <a:p>
            <a:r>
              <a:rPr lang="en-US" dirty="0" smtClean="0"/>
              <a:t>May </a:t>
            </a:r>
            <a:r>
              <a:rPr lang="en-US" dirty="0"/>
              <a:t>focus on factors that are</a:t>
            </a:r>
          </a:p>
          <a:p>
            <a:pPr lvl="1"/>
            <a:r>
              <a:rPr lang="en-US" dirty="0"/>
              <a:t>Natural/environmental</a:t>
            </a:r>
          </a:p>
          <a:p>
            <a:pPr lvl="1"/>
            <a:r>
              <a:rPr lang="en-US" dirty="0"/>
              <a:t>Structural</a:t>
            </a:r>
          </a:p>
          <a:p>
            <a:pPr lvl="1"/>
            <a:r>
              <a:rPr lang="en-US" dirty="0"/>
              <a:t>Psychological</a:t>
            </a:r>
          </a:p>
          <a:p>
            <a:pPr lvl="1"/>
            <a:r>
              <a:rPr lang="en-US" dirty="0"/>
              <a:t>Supernatural</a:t>
            </a:r>
          </a:p>
          <a:p>
            <a:endParaRPr lang="en-US" dirty="0"/>
          </a:p>
        </p:txBody>
      </p:sp>
    </p:spTree>
    <p:extLst>
      <p:ext uri="{BB962C8B-B14F-4D97-AF65-F5344CB8AC3E}">
        <p14:creationId xmlns:p14="http://schemas.microsoft.com/office/powerpoint/2010/main" val="3070210565"/>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Ethno-Etiologies </a:t>
            </a:r>
            <a:r>
              <a:rPr lang="en-US" sz="2800" dirty="0"/>
              <a:t>(2 of 4</a:t>
            </a:r>
            <a:r>
              <a:rPr lang="en-US" sz="2800" dirty="0" smtClean="0"/>
              <a:t>)</a:t>
            </a:r>
            <a:endParaRPr lang="en-US" sz="2800" dirty="0"/>
          </a:p>
        </p:txBody>
      </p:sp>
      <p:sp>
        <p:nvSpPr>
          <p:cNvPr id="3" name="Content Placeholder 2"/>
          <p:cNvSpPr>
            <a:spLocks noGrp="1"/>
          </p:cNvSpPr>
          <p:nvPr>
            <p:ph idx="1"/>
          </p:nvPr>
        </p:nvSpPr>
        <p:spPr/>
        <p:txBody>
          <a:bodyPr>
            <a:normAutofit/>
          </a:bodyPr>
          <a:lstStyle/>
          <a:p>
            <a:r>
              <a:rPr lang="en-US" dirty="0" smtClean="0"/>
              <a:t>Multiple causalities in urban Brazil</a:t>
            </a:r>
          </a:p>
          <a:p>
            <a:pPr lvl="1"/>
            <a:r>
              <a:rPr lang="en-US" dirty="0" smtClean="0"/>
              <a:t>Study </a:t>
            </a:r>
            <a:r>
              <a:rPr lang="en-US" dirty="0"/>
              <a:t>of the urban poor of Feira de Santana, a city in Bahia</a:t>
            </a:r>
          </a:p>
          <a:p>
            <a:pPr lvl="1"/>
            <a:r>
              <a:rPr lang="en-US" dirty="0"/>
              <a:t>People have complex understanding of causality, depending on the affliction</a:t>
            </a:r>
          </a:p>
          <a:p>
            <a:pPr lvl="1"/>
            <a:r>
              <a:rPr lang="en-US" dirty="0"/>
              <a:t>Sometimes a natural/environmental cause, sometimes a supernatural one, and sometimes an economic one: </a:t>
            </a:r>
            <a:r>
              <a:rPr lang="en-US" dirty="0" smtClean="0"/>
              <a:t>“People have many illnesses because they are poor</a:t>
            </a:r>
            <a:r>
              <a:rPr lang="en-US" dirty="0"/>
              <a:t>”</a:t>
            </a:r>
          </a:p>
          <a:p>
            <a:endParaRPr lang="en-US" dirty="0"/>
          </a:p>
        </p:txBody>
      </p:sp>
    </p:spTree>
    <p:extLst>
      <p:ext uri="{BB962C8B-B14F-4D97-AF65-F5344CB8AC3E}">
        <p14:creationId xmlns:p14="http://schemas.microsoft.com/office/powerpoint/2010/main" val="2788523706"/>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 7.1 Federative Republic of Brazil</a:t>
            </a:r>
          </a:p>
        </p:txBody>
      </p:sp>
      <p:pic>
        <p:nvPicPr>
          <p:cNvPr id="4" name="Content Placeholder 3" descr="A map shows Brazil with its state boundaries marked. An inset globe locates Brazil in eastern South America.&#10;The map shows the following 27 states, roughly from north to south: &#10;• Roraima&#10;•  Amazonas&#10;•  Acre&#10;•  Amapa&#10;•  Para&#10;•  Rondonia&#10;•  Mato Grosso&#10;•  Maranhao&#10;•  Tocantins&#10;•  Golas (with capital city of Brasilia)&#10;•  Mato Grosso do Sul&#10;•  Ceara&#10;•  Piaul&#10;•  Rio Grande do Norte&#10;•  Peraiba&#10;•  Pernambuco&#10;•  Alagoas&#10;•  Sergipe&#10;•  Bahia&#10;•  Minas Gerais&#10;•  Espirito Santo&#10;•  Rio de Janeiro&#10;•  Sao Paulo&#10;•  Parana&#10;•  Santa Catarina&#10;•  Rio Grande do Sul"/>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63904" y="1524000"/>
            <a:ext cx="4846496" cy="4602163"/>
          </a:xfrm>
        </p:spPr>
      </p:pic>
    </p:spTree>
    <p:extLst>
      <p:ext uri="{BB962C8B-B14F-4D97-AF65-F5344CB8AC3E}">
        <p14:creationId xmlns:p14="http://schemas.microsoft.com/office/powerpoint/2010/main" val="1431636785"/>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Ethno-Etiologies </a:t>
            </a:r>
            <a:r>
              <a:rPr lang="en-US" sz="2800" dirty="0" smtClean="0"/>
              <a:t>(3 of 4)</a:t>
            </a:r>
            <a:endParaRPr lang="en-US" sz="2800" dirty="0"/>
          </a:p>
        </p:txBody>
      </p:sp>
      <p:sp>
        <p:nvSpPr>
          <p:cNvPr id="3" name="Content Placeholder 2"/>
          <p:cNvSpPr>
            <a:spLocks noGrp="1"/>
          </p:cNvSpPr>
          <p:nvPr>
            <p:ph idx="1"/>
          </p:nvPr>
        </p:nvSpPr>
        <p:spPr>
          <a:xfrm>
            <a:off x="457200" y="1722437"/>
            <a:ext cx="8229600" cy="4525963"/>
          </a:xfrm>
        </p:spPr>
        <p:txBody>
          <a:bodyPr/>
          <a:lstStyle/>
          <a:p>
            <a:r>
              <a:rPr lang="en-US" dirty="0"/>
              <a:t>Structural suffering refers to health problems caused by war, famine, terrorism, forced migration, and poverty</a:t>
            </a:r>
          </a:p>
          <a:p>
            <a:r>
              <a:rPr lang="en-US" dirty="0" smtClean="0"/>
              <a:t>Many </a:t>
            </a:r>
            <a:r>
              <a:rPr lang="en-US" dirty="0"/>
              <a:t>examples, </a:t>
            </a:r>
            <a:r>
              <a:rPr lang="en-US" dirty="0" smtClean="0"/>
              <a:t>including </a:t>
            </a:r>
            <a:r>
              <a:rPr lang="en-US" i="1" dirty="0"/>
              <a:t>sufriendo del agua </a:t>
            </a:r>
            <a:r>
              <a:rPr lang="en-US" dirty="0"/>
              <a:t>(suffering from </a:t>
            </a:r>
            <a:r>
              <a:rPr lang="en-US" dirty="0" smtClean="0"/>
              <a:t>water) in </a:t>
            </a:r>
            <a:r>
              <a:rPr lang="en-US" dirty="0"/>
              <a:t>Mexico</a:t>
            </a:r>
          </a:p>
          <a:p>
            <a:pPr marL="0" indent="0">
              <a:buNone/>
            </a:pPr>
            <a:endParaRPr lang="en-US" dirty="0"/>
          </a:p>
        </p:txBody>
      </p:sp>
    </p:spTree>
    <p:extLst>
      <p:ext uri="{BB962C8B-B14F-4D97-AF65-F5344CB8AC3E}">
        <p14:creationId xmlns:p14="http://schemas.microsoft.com/office/powerpoint/2010/main" val="1614475667"/>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Ethno-Etiologies </a:t>
            </a:r>
            <a:r>
              <a:rPr lang="en-US" sz="2800" dirty="0" smtClean="0"/>
              <a:t>(4 of 4)</a:t>
            </a:r>
            <a:endParaRPr lang="en-US" sz="2800" dirty="0"/>
          </a:p>
        </p:txBody>
      </p:sp>
      <p:sp>
        <p:nvSpPr>
          <p:cNvPr id="3" name="Content Placeholder 2"/>
          <p:cNvSpPr>
            <a:spLocks noGrp="1"/>
          </p:cNvSpPr>
          <p:nvPr>
            <p:ph idx="1"/>
          </p:nvPr>
        </p:nvSpPr>
        <p:spPr/>
        <p:txBody>
          <a:bodyPr/>
          <a:lstStyle/>
          <a:p>
            <a:r>
              <a:rPr lang="en-US" dirty="0" smtClean="0"/>
              <a:t>A different form of structural suffering is stigma</a:t>
            </a:r>
          </a:p>
          <a:p>
            <a:r>
              <a:rPr lang="en-US" dirty="0" smtClean="0"/>
              <a:t>Stigma: A </a:t>
            </a:r>
            <a:r>
              <a:rPr lang="en-US" dirty="0"/>
              <a:t>negative categorization of a person or group on the basis of some characteristic such as a disease or disability that causes the stigmatized person or group to feel shame and self-blame and to attempt to hide their </a:t>
            </a:r>
            <a:r>
              <a:rPr lang="en-US" dirty="0" smtClean="0"/>
              <a:t>condition</a:t>
            </a:r>
            <a:endParaRPr lang="en-US" dirty="0"/>
          </a:p>
        </p:txBody>
      </p:sp>
    </p:spTree>
    <p:extLst>
      <p:ext uri="{BB962C8B-B14F-4D97-AF65-F5344CB8AC3E}">
        <p14:creationId xmlns:p14="http://schemas.microsoft.com/office/powerpoint/2010/main" val="3710114061"/>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Prevention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a:t>Different cultures have various forms of health protection</a:t>
            </a:r>
          </a:p>
          <a:p>
            <a:pPr lvl="1"/>
            <a:r>
              <a:rPr lang="en-US" dirty="0"/>
              <a:t>Charms</a:t>
            </a:r>
          </a:p>
          <a:p>
            <a:pPr lvl="1"/>
            <a:r>
              <a:rPr lang="en-US" dirty="0"/>
              <a:t>Spells</a:t>
            </a:r>
          </a:p>
          <a:p>
            <a:pPr lvl="1"/>
            <a:r>
              <a:rPr lang="en-US" dirty="0"/>
              <a:t>Hygiene</a:t>
            </a:r>
          </a:p>
          <a:p>
            <a:r>
              <a:rPr lang="en-US" dirty="0" smtClean="0"/>
              <a:t>Less-studied </a:t>
            </a:r>
            <a:r>
              <a:rPr lang="en-US" dirty="0"/>
              <a:t>topic than health problems and healing</a:t>
            </a:r>
          </a:p>
          <a:p>
            <a:endParaRPr lang="en-US" dirty="0"/>
          </a:p>
        </p:txBody>
      </p:sp>
    </p:spTree>
    <p:extLst>
      <p:ext uri="{BB962C8B-B14F-4D97-AF65-F5344CB8AC3E}">
        <p14:creationId xmlns:p14="http://schemas.microsoft.com/office/powerpoint/2010/main" val="6628221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dirty="0"/>
              <a:t>Prevention </a:t>
            </a:r>
            <a:r>
              <a:rPr lang="en-US" sz="2800" dirty="0" smtClean="0"/>
              <a:t>(2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normAutofit/>
          </a:bodyPr>
          <a:lstStyle/>
          <a:p>
            <a:r>
              <a:rPr lang="en-US" i="1" dirty="0"/>
              <a:t>Awas</a:t>
            </a:r>
            <a:r>
              <a:rPr lang="en-US" dirty="0"/>
              <a:t> is a common childhood health problem in Guatemala</a:t>
            </a:r>
          </a:p>
          <a:p>
            <a:pPr lvl="1"/>
            <a:r>
              <a:rPr lang="en-US" dirty="0"/>
              <a:t>Children born with lumps under the skin, marks on the skin, or albinism</a:t>
            </a:r>
          </a:p>
          <a:p>
            <a:pPr lvl="1"/>
            <a:r>
              <a:rPr lang="en-US" dirty="0"/>
              <a:t>Cause: </a:t>
            </a:r>
            <a:r>
              <a:rPr lang="en-US" dirty="0" smtClean="0"/>
              <a:t>Problems </a:t>
            </a:r>
            <a:r>
              <a:rPr lang="en-US" dirty="0"/>
              <a:t>the pregnant woman </a:t>
            </a:r>
            <a:r>
              <a:rPr lang="en-US" dirty="0" smtClean="0"/>
              <a:t>experienced, </a:t>
            </a:r>
            <a:r>
              <a:rPr lang="en-US" dirty="0"/>
              <a:t>such as eating unwanted food or </a:t>
            </a:r>
            <a:r>
              <a:rPr lang="en-US" dirty="0" smtClean="0"/>
              <a:t>having an </a:t>
            </a:r>
            <a:r>
              <a:rPr lang="en-US" dirty="0"/>
              <a:t>unpleasant encounter</a:t>
            </a:r>
          </a:p>
          <a:p>
            <a:pPr lvl="1"/>
            <a:r>
              <a:rPr lang="en-US" dirty="0"/>
              <a:t>Prevention: </a:t>
            </a:r>
            <a:r>
              <a:rPr lang="en-US" dirty="0" smtClean="0"/>
              <a:t>Keep </a:t>
            </a:r>
            <a:r>
              <a:rPr lang="en-US" dirty="0"/>
              <a:t>pregnant women happy, protect them</a:t>
            </a:r>
          </a:p>
          <a:p>
            <a:endParaRPr lang="en-US" dirty="0"/>
          </a:p>
        </p:txBody>
      </p:sp>
    </p:spTree>
    <p:extLst>
      <p:ext uri="{BB962C8B-B14F-4D97-AF65-F5344CB8AC3E}">
        <p14:creationId xmlns:p14="http://schemas.microsoft.com/office/powerpoint/2010/main" val="550845644"/>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7.3 Central America</a:t>
            </a:r>
            <a:endParaRPr lang="en-US" dirty="0"/>
          </a:p>
        </p:txBody>
      </p:sp>
      <p:pic>
        <p:nvPicPr>
          <p:cNvPr id="4" name="Content Placeholder 3" descr="A map of Central America shows countries and capital cities. An inset globe locates Central America between Mexico and South America.    &#10;    &#10;The map shows the following countries and capitals, roughly from north to south:&#10;• Belize – Belmopan&#10;• Guatemala – Guatemala&#10;• El Salvador – San Salvador&#10;• Honduras – Tegucigalpa&#10;• Nicaragua – Managua&#10;• Costa Rica – San Jose&#10;• Panama – Panam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97567" y="1600200"/>
            <a:ext cx="5348865" cy="4525963"/>
          </a:xfrm>
        </p:spPr>
      </p:pic>
    </p:spTree>
    <p:extLst>
      <p:ext uri="{BB962C8B-B14F-4D97-AF65-F5344CB8AC3E}">
        <p14:creationId xmlns:p14="http://schemas.microsoft.com/office/powerpoint/2010/main" val="3560763515"/>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73050"/>
            <a:ext cx="7010399" cy="1162050"/>
          </a:xfrm>
        </p:spPr>
        <p:txBody>
          <a:bodyPr anchor="ctr">
            <a:normAutofit/>
          </a:bodyPr>
          <a:lstStyle/>
          <a:p>
            <a:pPr algn="ctr"/>
            <a:r>
              <a:rPr lang="en-US" sz="4400" b="0" dirty="0"/>
              <a:t>Prevention </a:t>
            </a:r>
            <a:r>
              <a:rPr lang="en-US" sz="2800" b="0" dirty="0" smtClean="0"/>
              <a:t>(3 </a:t>
            </a:r>
            <a:r>
              <a:rPr lang="en-US" sz="2800" b="0" dirty="0"/>
              <a:t>of </a:t>
            </a:r>
            <a:r>
              <a:rPr lang="en-US" sz="2800" b="0" dirty="0" smtClean="0"/>
              <a:t>4)</a:t>
            </a:r>
            <a:endParaRPr lang="en-US" sz="2800" b="0" dirty="0"/>
          </a:p>
        </p:txBody>
      </p:sp>
      <p:pic>
        <p:nvPicPr>
          <p:cNvPr id="7" name="Content Placeholder 6" descr="A photo shows black ritual strings tied around the wrists and ankles of a baby."/>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733800" y="2243931"/>
            <a:ext cx="5023955" cy="3318669"/>
          </a:xfrm>
        </p:spPr>
      </p:pic>
      <p:sp>
        <p:nvSpPr>
          <p:cNvPr id="3" name="Text Placeholder 2"/>
          <p:cNvSpPr>
            <a:spLocks noGrp="1"/>
          </p:cNvSpPr>
          <p:nvPr>
            <p:ph type="body" sz="half" idx="2"/>
          </p:nvPr>
        </p:nvSpPr>
        <p:spPr/>
        <p:txBody>
          <a:bodyPr>
            <a:normAutofit/>
          </a:bodyPr>
          <a:lstStyle/>
          <a:p>
            <a:endParaRPr lang="en-US" sz="2000" dirty="0" smtClean="0"/>
          </a:p>
          <a:p>
            <a:r>
              <a:rPr lang="en-US" sz="2800" dirty="0" smtClean="0"/>
              <a:t>Ritual Health Protection</a:t>
            </a:r>
            <a:r>
              <a:rPr lang="en-US" sz="2000" dirty="0" smtClean="0"/>
              <a:t> </a:t>
            </a:r>
          </a:p>
          <a:p>
            <a:endParaRPr lang="en-US" sz="2400" dirty="0" smtClean="0"/>
          </a:p>
          <a:p>
            <a:pPr marL="342900" indent="-342900">
              <a:buFont typeface="Arial"/>
              <a:buChar char="•"/>
            </a:pPr>
            <a:r>
              <a:rPr lang="en-US" sz="2400" dirty="0" smtClean="0"/>
              <a:t>A Muslim </a:t>
            </a:r>
            <a:r>
              <a:rPr lang="en-US" sz="2400" dirty="0"/>
              <a:t>b</a:t>
            </a:r>
            <a:r>
              <a:rPr lang="en-US" sz="2400" dirty="0" smtClean="0"/>
              <a:t>aby </a:t>
            </a:r>
            <a:r>
              <a:rPr lang="en-US" sz="2400" dirty="0"/>
              <a:t>in India </a:t>
            </a:r>
            <a:r>
              <a:rPr lang="en-US" sz="2400" dirty="0" smtClean="0"/>
              <a:t>wearing </a:t>
            </a:r>
            <a:r>
              <a:rPr lang="en-US" sz="2400" dirty="0"/>
              <a:t>s</a:t>
            </a:r>
            <a:r>
              <a:rPr lang="en-US" sz="2400" dirty="0" smtClean="0"/>
              <a:t>trings </a:t>
            </a:r>
            <a:r>
              <a:rPr lang="en-US" sz="2400" dirty="0"/>
              <a:t>t</a:t>
            </a:r>
            <a:r>
              <a:rPr lang="en-US" sz="2400" dirty="0" smtClean="0"/>
              <a:t>hat </a:t>
            </a:r>
            <a:r>
              <a:rPr lang="en-US" sz="2400" dirty="0"/>
              <a:t>h</a:t>
            </a:r>
            <a:r>
              <a:rPr lang="en-US" sz="2400" dirty="0" smtClean="0"/>
              <a:t>ave </a:t>
            </a:r>
            <a:r>
              <a:rPr lang="en-US" sz="2400" dirty="0"/>
              <a:t>b</a:t>
            </a:r>
            <a:r>
              <a:rPr lang="en-US" sz="2400" dirty="0" smtClean="0"/>
              <a:t>een blessed</a:t>
            </a:r>
            <a:endParaRPr lang="en-US" sz="2400" dirty="0"/>
          </a:p>
        </p:txBody>
      </p:sp>
    </p:spTree>
    <p:extLst>
      <p:ext uri="{BB962C8B-B14F-4D97-AF65-F5344CB8AC3E}">
        <p14:creationId xmlns:p14="http://schemas.microsoft.com/office/powerpoint/2010/main" val="2072818948"/>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1143000"/>
          </a:xfrm>
        </p:spPr>
        <p:txBody>
          <a:bodyPr>
            <a:normAutofit/>
          </a:bodyPr>
          <a:lstStyle/>
          <a:p>
            <a:r>
              <a:rPr lang="en-US" dirty="0"/>
              <a:t>Prevention </a:t>
            </a:r>
            <a:r>
              <a:rPr lang="en-US" sz="2800" dirty="0" smtClean="0"/>
              <a:t>(</a:t>
            </a:r>
            <a:r>
              <a:rPr lang="en-US" sz="2800" dirty="0"/>
              <a:t>4</a:t>
            </a:r>
            <a:r>
              <a:rPr lang="en-US" sz="2800" dirty="0" smtClean="0"/>
              <a:t> </a:t>
            </a:r>
            <a:r>
              <a:rPr lang="en-US" sz="2800" dirty="0"/>
              <a:t>of </a:t>
            </a:r>
            <a:r>
              <a:rPr lang="en-US" sz="2800" dirty="0" smtClean="0"/>
              <a:t>4)</a:t>
            </a:r>
            <a:endParaRPr lang="en-US" sz="2800" dirty="0"/>
          </a:p>
        </p:txBody>
      </p:sp>
      <p:sp>
        <p:nvSpPr>
          <p:cNvPr id="6" name="Content Placeholder 5"/>
          <p:cNvSpPr>
            <a:spLocks noGrp="1"/>
          </p:cNvSpPr>
          <p:nvPr>
            <p:ph idx="1"/>
          </p:nvPr>
        </p:nvSpPr>
        <p:spPr/>
        <p:txBody>
          <a:bodyPr/>
          <a:lstStyle/>
          <a:p>
            <a:r>
              <a:rPr lang="en-US" dirty="0" smtClean="0"/>
              <a:t>Do such health-protection practices “work”?</a:t>
            </a:r>
          </a:p>
          <a:p>
            <a:pPr lvl="1"/>
            <a:r>
              <a:rPr lang="en-US" dirty="0" smtClean="0"/>
              <a:t>The </a:t>
            </a:r>
            <a:r>
              <a:rPr lang="en-US" dirty="0"/>
              <a:t>question of “efficacy” (“working”) is complicated and will be discussed in the section on healing</a:t>
            </a:r>
          </a:p>
          <a:p>
            <a:endParaRPr lang="en-US" dirty="0"/>
          </a:p>
        </p:txBody>
      </p:sp>
    </p:spTree>
    <p:extLst>
      <p:ext uri="{BB962C8B-B14F-4D97-AF65-F5344CB8AC3E}">
        <p14:creationId xmlns:p14="http://schemas.microsoft.com/office/powerpoint/2010/main" val="2787936652"/>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Healing Ways </a:t>
            </a:r>
            <a:r>
              <a:rPr lang="en-US" sz="2800" dirty="0" smtClean="0"/>
              <a:t>(1 of 3)</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smtClean="0"/>
              <a:t>Community Healing</a:t>
            </a:r>
          </a:p>
          <a:p>
            <a:pPr lvl="1"/>
            <a:r>
              <a:rPr lang="en-US" dirty="0" smtClean="0"/>
              <a:t>Example: the Ju/wasi</a:t>
            </a:r>
          </a:p>
          <a:p>
            <a:pPr lvl="1"/>
            <a:r>
              <a:rPr lang="en-US" dirty="0" smtClean="0"/>
              <a:t>Mobilization of community “energy” as key to cure</a:t>
            </a:r>
          </a:p>
          <a:p>
            <a:pPr lvl="1"/>
            <a:r>
              <a:rPr lang="en-US" dirty="0" smtClean="0"/>
              <a:t>All-night healing dances</a:t>
            </a:r>
          </a:p>
          <a:p>
            <a:pPr lvl="1"/>
            <a:r>
              <a:rPr lang="en-US" dirty="0" smtClean="0"/>
              <a:t>Open; everyone has access</a:t>
            </a:r>
            <a:endParaRPr lang="en-US" b="1" dirty="0"/>
          </a:p>
          <a:p>
            <a:r>
              <a:rPr lang="en-US" dirty="0" smtClean="0"/>
              <a:t>Humoral Healing</a:t>
            </a:r>
          </a:p>
          <a:p>
            <a:pPr marL="740664" lvl="2" indent="-283464">
              <a:buFont typeface="Lucida Grande"/>
              <a:buChar char="–"/>
            </a:pPr>
            <a:r>
              <a:rPr lang="en-US" sz="2800" dirty="0" smtClean="0"/>
              <a:t>Example: Malaysia</a:t>
            </a:r>
            <a:endParaRPr lang="en-US" sz="2800" dirty="0"/>
          </a:p>
          <a:p>
            <a:pPr marL="740664" lvl="2" indent="-283464">
              <a:buFont typeface="Lucida Grande"/>
              <a:buChar char="–"/>
            </a:pPr>
            <a:r>
              <a:rPr lang="en-US" sz="2800" dirty="0" smtClean="0"/>
              <a:t>Based on balance among elements within the body</a:t>
            </a:r>
            <a:endParaRPr lang="en-US" sz="2800" dirty="0"/>
          </a:p>
          <a:p>
            <a:pPr marL="740664" lvl="2" indent="-283464">
              <a:buFont typeface="Lucida Grande"/>
              <a:buChar char="–"/>
            </a:pPr>
            <a:r>
              <a:rPr lang="en-US" sz="2800" dirty="0" smtClean="0"/>
              <a:t>Different foods/drugs have different “heating” or “cooling” effects</a:t>
            </a:r>
            <a:endParaRPr lang="en-US" sz="2800" dirty="0"/>
          </a:p>
        </p:txBody>
      </p:sp>
    </p:spTree>
    <p:extLst>
      <p:ext uri="{BB962C8B-B14F-4D97-AF65-F5344CB8AC3E}">
        <p14:creationId xmlns:p14="http://schemas.microsoft.com/office/powerpoint/2010/main" val="230422908"/>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Healing Ways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a:t>How does community healing “work” and how does humoral healing “</a:t>
            </a:r>
            <a:r>
              <a:rPr lang="en-US" dirty="0" smtClean="0"/>
              <a:t>work”?</a:t>
            </a:r>
            <a:endParaRPr lang="en-US" dirty="0"/>
          </a:p>
          <a:p>
            <a:r>
              <a:rPr lang="en-US" dirty="0"/>
              <a:t>Like much of Western biomedical healing, these approaches to healing “work” through the placebo or meaning effect:</a:t>
            </a:r>
          </a:p>
          <a:p>
            <a:pPr lvl="1"/>
            <a:r>
              <a:rPr lang="en-US" dirty="0"/>
              <a:t>The afflicted gain social support in community healing and receive rules to follow in humoral healing</a:t>
            </a:r>
          </a:p>
          <a:p>
            <a:endParaRPr lang="en-US" dirty="0"/>
          </a:p>
        </p:txBody>
      </p:sp>
    </p:spTree>
    <p:extLst>
      <p:ext uri="{BB962C8B-B14F-4D97-AF65-F5344CB8AC3E}">
        <p14:creationId xmlns:p14="http://schemas.microsoft.com/office/powerpoint/2010/main" val="4094908101"/>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dirty="0" smtClean="0"/>
              <a:t>Healing Ways </a:t>
            </a:r>
            <a:r>
              <a:rPr lang="en-US" sz="2800" dirty="0" smtClean="0"/>
              <a:t>(3 of 3)</a:t>
            </a:r>
            <a:endParaRPr lang="en-US" sz="2800" dirty="0"/>
          </a:p>
        </p:txBody>
      </p:sp>
      <p:sp>
        <p:nvSpPr>
          <p:cNvPr id="3" name="Content Placeholder 2"/>
          <p:cNvSpPr>
            <a:spLocks noGrp="1"/>
          </p:cNvSpPr>
          <p:nvPr>
            <p:ph idx="1"/>
          </p:nvPr>
        </p:nvSpPr>
        <p:spPr/>
        <p:txBody>
          <a:bodyPr/>
          <a:lstStyle/>
          <a:p>
            <a:r>
              <a:rPr lang="en-US" dirty="0"/>
              <a:t>In community healing, the issue may be less </a:t>
            </a:r>
            <a:r>
              <a:rPr lang="en-US" dirty="0" smtClean="0"/>
              <a:t>focused on the </a:t>
            </a:r>
            <a:r>
              <a:rPr lang="en-US" dirty="0"/>
              <a:t>need to cure the individual </a:t>
            </a:r>
            <a:r>
              <a:rPr lang="en-US" dirty="0" smtClean="0"/>
              <a:t>than to </a:t>
            </a:r>
            <a:r>
              <a:rPr lang="en-US" dirty="0"/>
              <a:t>provide support for the community whose members have to face the loss of a valued and loved member</a:t>
            </a:r>
          </a:p>
          <a:p>
            <a:r>
              <a:rPr lang="en-US" dirty="0"/>
              <a:t>This kind of efficacy </a:t>
            </a:r>
            <a:r>
              <a:rPr lang="en-US" dirty="0" smtClean="0"/>
              <a:t>contrasts </a:t>
            </a:r>
            <a:r>
              <a:rPr lang="en-US" dirty="0"/>
              <a:t>with the Western biomedical emphasis on healing an individual </a:t>
            </a:r>
            <a:r>
              <a:rPr lang="en-US" dirty="0" smtClean="0"/>
              <a:t>body, </a:t>
            </a:r>
            <a:r>
              <a:rPr lang="en-US" dirty="0"/>
              <a:t>not a community</a:t>
            </a:r>
          </a:p>
          <a:p>
            <a:endParaRPr lang="en-US" dirty="0"/>
          </a:p>
        </p:txBody>
      </p:sp>
    </p:spTree>
    <p:extLst>
      <p:ext uri="{BB962C8B-B14F-4D97-AF65-F5344CB8AC3E}">
        <p14:creationId xmlns:p14="http://schemas.microsoft.com/office/powerpoint/2010/main" val="1727123191"/>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Healers </a:t>
            </a:r>
            <a:r>
              <a:rPr lang="en-US" sz="2800" dirty="0" smtClean="0"/>
              <a:t>(1 of </a:t>
            </a:r>
            <a:r>
              <a:rPr lang="en-US" sz="2800" dirty="0"/>
              <a:t>2</a:t>
            </a:r>
            <a:r>
              <a:rPr lang="en-US" sz="2800" dirty="0" smtClean="0"/>
              <a:t>)</a:t>
            </a:r>
            <a:endParaRPr lang="en-US" sz="2800" dirty="0"/>
          </a:p>
        </p:txBody>
      </p:sp>
      <p:sp>
        <p:nvSpPr>
          <p:cNvPr id="3" name="Content Placeholder 2"/>
          <p:cNvSpPr>
            <a:spLocks noGrp="1"/>
          </p:cNvSpPr>
          <p:nvPr>
            <p:ph idx="1"/>
          </p:nvPr>
        </p:nvSpPr>
        <p:spPr/>
        <p:txBody>
          <a:bodyPr>
            <a:normAutofit fontScale="85000" lnSpcReduction="20000"/>
          </a:bodyPr>
          <a:lstStyle/>
          <a:p>
            <a:r>
              <a:rPr lang="en-US" dirty="0"/>
              <a:t>All cultures recognize certain people as having special abilities to diagnose and treat health problems</a:t>
            </a:r>
          </a:p>
          <a:p>
            <a:pPr lvl="1"/>
            <a:r>
              <a:rPr lang="en-US" dirty="0"/>
              <a:t>Midwives</a:t>
            </a:r>
          </a:p>
          <a:p>
            <a:pPr lvl="1"/>
            <a:r>
              <a:rPr lang="en-US" dirty="0"/>
              <a:t>Bonesetters</a:t>
            </a:r>
          </a:p>
          <a:p>
            <a:pPr lvl="1"/>
            <a:r>
              <a:rPr lang="en-US" dirty="0"/>
              <a:t>Shamans or s</a:t>
            </a:r>
            <a:r>
              <a:rPr lang="en-US" dirty="0" smtClean="0"/>
              <a:t>hamankas</a:t>
            </a:r>
            <a:endParaRPr lang="en-US" dirty="0"/>
          </a:p>
          <a:p>
            <a:pPr lvl="1"/>
            <a:r>
              <a:rPr lang="en-US" dirty="0"/>
              <a:t>Herbalists</a:t>
            </a:r>
          </a:p>
          <a:p>
            <a:pPr lvl="1"/>
            <a:r>
              <a:rPr lang="en-US" dirty="0"/>
              <a:t>General practitioners</a:t>
            </a:r>
          </a:p>
          <a:p>
            <a:pPr lvl="1"/>
            <a:r>
              <a:rPr lang="en-US" dirty="0"/>
              <a:t>Psychiatrists</a:t>
            </a:r>
          </a:p>
          <a:p>
            <a:pPr lvl="1"/>
            <a:r>
              <a:rPr lang="en-US" dirty="0"/>
              <a:t>Nurses</a:t>
            </a:r>
          </a:p>
          <a:p>
            <a:pPr lvl="1"/>
            <a:r>
              <a:rPr lang="en-US" dirty="0"/>
              <a:t>Acupuncturists</a:t>
            </a:r>
          </a:p>
          <a:p>
            <a:pPr lvl="1"/>
            <a:r>
              <a:rPr lang="en-US" dirty="0" smtClean="0"/>
              <a:t>Dentists</a:t>
            </a:r>
            <a:endParaRPr lang="en-US" dirty="0"/>
          </a:p>
          <a:p>
            <a:pPr lvl="1"/>
            <a:r>
              <a:rPr lang="en-US" dirty="0"/>
              <a:t>Hospice care providers</a:t>
            </a:r>
          </a:p>
          <a:p>
            <a:endParaRPr lang="en-US" dirty="0"/>
          </a:p>
        </p:txBody>
      </p:sp>
    </p:spTree>
    <p:extLst>
      <p:ext uri="{BB962C8B-B14F-4D97-AF65-F5344CB8AC3E}">
        <p14:creationId xmlns:p14="http://schemas.microsoft.com/office/powerpoint/2010/main" val="149408755"/>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Healers </a:t>
            </a:r>
            <a:r>
              <a:rPr lang="en-US" sz="2800" dirty="0" smtClean="0"/>
              <a:t>(2 of 2)</a:t>
            </a:r>
            <a:endParaRPr lang="en-US" sz="2800" dirty="0"/>
          </a:p>
        </p:txBody>
      </p:sp>
      <p:sp>
        <p:nvSpPr>
          <p:cNvPr id="3" name="Content Placeholder 2"/>
          <p:cNvSpPr>
            <a:spLocks noGrp="1"/>
          </p:cNvSpPr>
          <p:nvPr>
            <p:ph idx="1"/>
          </p:nvPr>
        </p:nvSpPr>
        <p:spPr/>
        <p:txBody>
          <a:bodyPr/>
          <a:lstStyle/>
          <a:p>
            <a:r>
              <a:rPr lang="en-US" dirty="0" smtClean="0"/>
              <a:t>Criteria for becoming a healer:</a:t>
            </a:r>
          </a:p>
          <a:p>
            <a:pPr lvl="1"/>
            <a:r>
              <a:rPr lang="en-US" dirty="0" smtClean="0"/>
              <a:t>Selection</a:t>
            </a:r>
          </a:p>
          <a:p>
            <a:pPr lvl="1"/>
            <a:r>
              <a:rPr lang="en-US" dirty="0" smtClean="0"/>
              <a:t>Training</a:t>
            </a:r>
          </a:p>
          <a:p>
            <a:pPr lvl="1"/>
            <a:r>
              <a:rPr lang="en-US" dirty="0" smtClean="0"/>
              <a:t>Certification</a:t>
            </a:r>
          </a:p>
          <a:p>
            <a:pPr lvl="1"/>
            <a:r>
              <a:rPr lang="en-US" dirty="0" smtClean="0"/>
              <a:t>Professional image</a:t>
            </a:r>
          </a:p>
          <a:p>
            <a:pPr lvl="1"/>
            <a:r>
              <a:rPr lang="en-US" dirty="0" smtClean="0"/>
              <a:t>Expectation of payment</a:t>
            </a:r>
          </a:p>
          <a:p>
            <a:pPr lvl="1"/>
            <a:endParaRPr lang="en-US" dirty="0" smtClean="0"/>
          </a:p>
          <a:p>
            <a:pPr lvl="1"/>
            <a:endParaRPr lang="en-US" dirty="0"/>
          </a:p>
        </p:txBody>
      </p:sp>
    </p:spTree>
    <p:extLst>
      <p:ext uri="{BB962C8B-B14F-4D97-AF65-F5344CB8AC3E}">
        <p14:creationId xmlns:p14="http://schemas.microsoft.com/office/powerpoint/2010/main" val="2401533929"/>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Healing Substances</a:t>
            </a:r>
            <a:endParaRPr lang="en-US" dirty="0"/>
          </a:p>
        </p:txBody>
      </p:sp>
      <p:sp>
        <p:nvSpPr>
          <p:cNvPr id="3" name="Content Placeholder 2"/>
          <p:cNvSpPr>
            <a:spLocks noGrp="1"/>
          </p:cNvSpPr>
          <p:nvPr>
            <p:ph idx="1"/>
          </p:nvPr>
        </p:nvSpPr>
        <p:spPr/>
        <p:txBody>
          <a:bodyPr>
            <a:normAutofit/>
          </a:bodyPr>
          <a:lstStyle/>
          <a:p>
            <a:r>
              <a:rPr lang="en-US" dirty="0"/>
              <a:t>Thousands of natural or manufactured substances </a:t>
            </a:r>
            <a:r>
              <a:rPr lang="en-US" dirty="0" smtClean="0"/>
              <a:t>are used </a:t>
            </a:r>
            <a:r>
              <a:rPr lang="en-US" dirty="0"/>
              <a:t>as medicines for preventing or curing health </a:t>
            </a:r>
            <a:r>
              <a:rPr lang="en-US" dirty="0" smtClean="0"/>
              <a:t>problems</a:t>
            </a:r>
            <a:endParaRPr lang="en-US" dirty="0"/>
          </a:p>
          <a:p>
            <a:pPr marL="740664" indent="-283464">
              <a:buFont typeface="Lucida Grande"/>
              <a:buChar char="–"/>
            </a:pPr>
            <a:r>
              <a:rPr lang="en-US" sz="2800" dirty="0"/>
              <a:t>Phytotherapy</a:t>
            </a:r>
          </a:p>
          <a:p>
            <a:pPr marL="740664" indent="-283464">
              <a:buFont typeface="Lucida Grande"/>
              <a:buChar char="–"/>
            </a:pPr>
            <a:r>
              <a:rPr lang="en-US" sz="2800" dirty="0"/>
              <a:t>Minerals</a:t>
            </a:r>
          </a:p>
          <a:p>
            <a:pPr marL="740664" indent="-283464">
              <a:buFont typeface="Lucida Grande"/>
              <a:buChar char="–"/>
            </a:pPr>
            <a:r>
              <a:rPr lang="en-US" sz="2800" dirty="0"/>
              <a:t>“Radon spas”</a:t>
            </a:r>
          </a:p>
          <a:p>
            <a:pPr marL="740664" indent="-283464">
              <a:buFont typeface="Lucida Grande"/>
              <a:buChar char="–"/>
            </a:pPr>
            <a:r>
              <a:rPr lang="en-US" sz="2800" dirty="0"/>
              <a:t>Pharmaceutical </a:t>
            </a:r>
            <a:r>
              <a:rPr lang="en-US" dirty="0"/>
              <a:t>medicines</a:t>
            </a:r>
          </a:p>
          <a:p>
            <a:endParaRPr lang="en-US" dirty="0"/>
          </a:p>
        </p:txBody>
      </p:sp>
    </p:spTree>
    <p:extLst>
      <p:ext uri="{BB962C8B-B14F-4D97-AF65-F5344CB8AC3E}">
        <p14:creationId xmlns:p14="http://schemas.microsoft.com/office/powerpoint/2010/main" val="434812460"/>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Eye on the </a:t>
            </a:r>
            <a:r>
              <a:rPr lang="en-US" dirty="0" smtClean="0"/>
              <a:t>Environment </a:t>
            </a:r>
            <a:r>
              <a:rPr lang="en-US" sz="2800" dirty="0" smtClean="0"/>
              <a:t>(1 of 3)</a:t>
            </a:r>
            <a:endParaRPr lang="en-US" sz="2800" dirty="0"/>
          </a:p>
        </p:txBody>
      </p:sp>
      <p:sp>
        <p:nvSpPr>
          <p:cNvPr id="3" name="Content Placeholder 2"/>
          <p:cNvSpPr>
            <a:spLocks noGrp="1"/>
          </p:cNvSpPr>
          <p:nvPr>
            <p:ph idx="1"/>
          </p:nvPr>
        </p:nvSpPr>
        <p:spPr/>
        <p:txBody>
          <a:bodyPr/>
          <a:lstStyle/>
          <a:p>
            <a:r>
              <a:rPr lang="en-US" dirty="0"/>
              <a:t>Local Botanical Knowledge and Child Health in the Bolivian </a:t>
            </a:r>
            <a:r>
              <a:rPr lang="en-US" dirty="0" smtClean="0"/>
              <a:t>Amazon:</a:t>
            </a:r>
          </a:p>
          <a:p>
            <a:pPr lvl="1"/>
            <a:r>
              <a:rPr lang="en-US" dirty="0"/>
              <a:t>Study of </a:t>
            </a:r>
            <a:r>
              <a:rPr lang="en-US" dirty="0" smtClean="0"/>
              <a:t>mothers’ </a:t>
            </a:r>
            <a:r>
              <a:rPr lang="en-US" dirty="0"/>
              <a:t>knowledge of healing plants among the Tsimané</a:t>
            </a:r>
          </a:p>
          <a:p>
            <a:pPr lvl="1"/>
            <a:r>
              <a:rPr lang="en-US" dirty="0"/>
              <a:t>Indigenous people of Bolivia’s Amazon region</a:t>
            </a:r>
          </a:p>
          <a:p>
            <a:pPr lvl="1"/>
            <a:r>
              <a:rPr lang="en-US" dirty="0"/>
              <a:t>Foraging/horticultural livelihood</a:t>
            </a:r>
          </a:p>
          <a:p>
            <a:endParaRPr lang="en-US" dirty="0"/>
          </a:p>
        </p:txBody>
      </p:sp>
    </p:spTree>
    <p:extLst>
      <p:ext uri="{BB962C8B-B14F-4D97-AF65-F5344CB8AC3E}">
        <p14:creationId xmlns:p14="http://schemas.microsoft.com/office/powerpoint/2010/main" val="178250801"/>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7.4 The Republic of Bolivia</a:t>
            </a:r>
            <a:endParaRPr lang="en-US" dirty="0"/>
          </a:p>
        </p:txBody>
      </p:sp>
      <p:pic>
        <p:nvPicPr>
          <p:cNvPr id="4" name="Content Placeholder 3" descr="A map shows Bolivia bounded by Brazil to the east, Peru to the northwest, and Chile, Argentina, and Paraguay to the south. The capital city is La Paz. An inset globe locates Bolivia in central Sou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38401" y="1521840"/>
            <a:ext cx="4343399" cy="4766301"/>
          </a:xfrm>
        </p:spPr>
      </p:pic>
    </p:spTree>
    <p:extLst>
      <p:ext uri="{BB962C8B-B14F-4D97-AF65-F5344CB8AC3E}">
        <p14:creationId xmlns:p14="http://schemas.microsoft.com/office/powerpoint/2010/main" val="3679607914"/>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Eye on the Environment </a:t>
            </a:r>
            <a:r>
              <a:rPr lang="en-US" sz="2800" dirty="0" smtClean="0"/>
              <a:t>(2 </a:t>
            </a:r>
            <a:r>
              <a:rPr lang="en-US" sz="2800" dirty="0"/>
              <a:t>of 3</a:t>
            </a:r>
            <a:r>
              <a:rPr lang="en-US" sz="2800" dirty="0" smtClean="0"/>
              <a:t>)</a:t>
            </a:r>
            <a:endParaRPr lang="en-US" sz="2800" dirty="0"/>
          </a:p>
        </p:txBody>
      </p:sp>
      <p:sp>
        <p:nvSpPr>
          <p:cNvPr id="3" name="Content Placeholder 2"/>
          <p:cNvSpPr>
            <a:spLocks noGrp="1"/>
          </p:cNvSpPr>
          <p:nvPr>
            <p:ph idx="1"/>
          </p:nvPr>
        </p:nvSpPr>
        <p:spPr/>
        <p:txBody>
          <a:bodyPr>
            <a:normAutofit/>
          </a:bodyPr>
          <a:lstStyle/>
          <a:p>
            <a:r>
              <a:rPr lang="en-US" dirty="0"/>
              <a:t>Findings: </a:t>
            </a:r>
          </a:p>
          <a:p>
            <a:pPr lvl="1"/>
            <a:r>
              <a:rPr lang="en-US" dirty="0"/>
              <a:t>Strong relationship between mothers’ botanical knowledge and the health of their children</a:t>
            </a:r>
          </a:p>
          <a:p>
            <a:pPr lvl="1"/>
            <a:r>
              <a:rPr lang="en-US" dirty="0"/>
              <a:t>More knowledgeable mothers provide healthier plant foods for their children (health care and prevention) and herbal treatments for illness</a:t>
            </a:r>
          </a:p>
          <a:p>
            <a:pPr lvl="1"/>
            <a:r>
              <a:rPr lang="en-US" dirty="0"/>
              <a:t>Mother’s level of formal schooling had no relationship </a:t>
            </a:r>
            <a:r>
              <a:rPr lang="en-US" dirty="0" smtClean="0"/>
              <a:t>to </a:t>
            </a:r>
            <a:r>
              <a:rPr lang="en-US" dirty="0"/>
              <a:t>her children’s health</a:t>
            </a:r>
          </a:p>
          <a:p>
            <a:endParaRPr lang="en-US" dirty="0"/>
          </a:p>
        </p:txBody>
      </p:sp>
    </p:spTree>
    <p:extLst>
      <p:ext uri="{BB962C8B-B14F-4D97-AF65-F5344CB8AC3E}">
        <p14:creationId xmlns:p14="http://schemas.microsoft.com/office/powerpoint/2010/main" val="2702981205"/>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Eye on the Environment </a:t>
            </a:r>
            <a:r>
              <a:rPr lang="en-US" sz="2800" dirty="0" smtClean="0"/>
              <a:t>(3 </a:t>
            </a:r>
            <a:r>
              <a:rPr lang="en-US" sz="2800" dirty="0"/>
              <a:t>of 3</a:t>
            </a:r>
            <a:r>
              <a:rPr lang="en-US" sz="2800" dirty="0" smtClean="0"/>
              <a:t>)</a:t>
            </a:r>
            <a:endParaRPr lang="en-US" sz="2800" dirty="0"/>
          </a:p>
        </p:txBody>
      </p:sp>
      <p:sp>
        <p:nvSpPr>
          <p:cNvPr id="3" name="Content Placeholder 2"/>
          <p:cNvSpPr>
            <a:spLocks noGrp="1"/>
          </p:cNvSpPr>
          <p:nvPr>
            <p:ph idx="1"/>
          </p:nvPr>
        </p:nvSpPr>
        <p:spPr/>
        <p:txBody>
          <a:bodyPr>
            <a:normAutofit/>
          </a:bodyPr>
          <a:lstStyle/>
          <a:p>
            <a:r>
              <a:rPr lang="en-US" dirty="0"/>
              <a:t>Therefore: </a:t>
            </a:r>
            <a:r>
              <a:rPr lang="en-US" dirty="0" smtClean="0"/>
              <a:t>It </a:t>
            </a:r>
            <a:r>
              <a:rPr lang="en-US" dirty="0"/>
              <a:t>is critical to protect access to and knowledge of plant resources by indigenous </a:t>
            </a:r>
            <a:r>
              <a:rPr lang="en-US" dirty="0" smtClean="0"/>
              <a:t>people</a:t>
            </a:r>
          </a:p>
          <a:p>
            <a:r>
              <a:rPr lang="en-US" dirty="0" smtClean="0"/>
              <a:t>Food for Thought:</a:t>
            </a:r>
            <a:endParaRPr lang="en-US" dirty="0"/>
          </a:p>
          <a:p>
            <a:pPr lvl="1"/>
            <a:r>
              <a:rPr lang="en-US" dirty="0"/>
              <a:t>What do you know about the effects on your health of particular plants that </a:t>
            </a:r>
            <a:r>
              <a:rPr lang="en-US" dirty="0" smtClean="0"/>
              <a:t>you </a:t>
            </a:r>
            <a:r>
              <a:rPr lang="en-US" dirty="0"/>
              <a:t>eat?</a:t>
            </a:r>
          </a:p>
          <a:p>
            <a:pPr lvl="1"/>
            <a:r>
              <a:rPr lang="en-US" dirty="0"/>
              <a:t>When you eat herbs, do you think about their health effects</a:t>
            </a:r>
            <a:r>
              <a:rPr lang="en-US" dirty="0" smtClean="0"/>
              <a:t>?</a:t>
            </a:r>
            <a:endParaRPr lang="en-US" dirty="0"/>
          </a:p>
        </p:txBody>
      </p:sp>
    </p:spTree>
    <p:extLst>
      <p:ext uri="{BB962C8B-B14F-4D97-AF65-F5344CB8AC3E}">
        <p14:creationId xmlns:p14="http://schemas.microsoft.com/office/powerpoint/2010/main" val="3471407672"/>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Three Theoretical Approaches</a:t>
            </a:r>
            <a:br>
              <a:rPr lang="en-US" dirty="0" smtClean="0"/>
            </a:br>
            <a:r>
              <a:rPr lang="en-US" sz="2200" dirty="0" smtClean="0"/>
              <a:t>7.2 Explain the three major theoretical approaches in medical anthropology.</a:t>
            </a:r>
            <a:endParaRPr lang="en-US" sz="2200" dirty="0"/>
          </a:p>
        </p:txBody>
      </p:sp>
      <p:sp>
        <p:nvSpPr>
          <p:cNvPr id="3" name="Content Placeholder 2"/>
          <p:cNvSpPr>
            <a:spLocks noGrp="1"/>
          </p:cNvSpPr>
          <p:nvPr>
            <p:ph idx="1"/>
          </p:nvPr>
        </p:nvSpPr>
        <p:spPr/>
        <p:txBody>
          <a:bodyPr/>
          <a:lstStyle/>
          <a:p>
            <a:endParaRPr lang="en-US" dirty="0" smtClean="0"/>
          </a:p>
          <a:p>
            <a:r>
              <a:rPr lang="en-US" dirty="0" smtClean="0"/>
              <a:t>Ecological</a:t>
            </a:r>
            <a:r>
              <a:rPr lang="en-US" dirty="0"/>
              <a:t>/Epidemiological Approach</a:t>
            </a:r>
          </a:p>
          <a:p>
            <a:endParaRPr lang="en-US" dirty="0"/>
          </a:p>
          <a:p>
            <a:r>
              <a:rPr lang="en-US" dirty="0" smtClean="0"/>
              <a:t>Symbolic/Interpretivist </a:t>
            </a:r>
            <a:r>
              <a:rPr lang="en-US" dirty="0"/>
              <a:t>Approach</a:t>
            </a:r>
          </a:p>
          <a:p>
            <a:endParaRPr lang="en-US" dirty="0"/>
          </a:p>
          <a:p>
            <a:r>
              <a:rPr lang="en-US" dirty="0"/>
              <a:t>Critical Medical Anthropology</a:t>
            </a:r>
          </a:p>
          <a:p>
            <a:endParaRPr lang="en-US" dirty="0"/>
          </a:p>
        </p:txBody>
      </p:sp>
    </p:spTree>
    <p:extLst>
      <p:ext uri="{BB962C8B-B14F-4D97-AF65-F5344CB8AC3E}">
        <p14:creationId xmlns:p14="http://schemas.microsoft.com/office/powerpoint/2010/main" val="2862763389"/>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Ecological/Epidemiological </a:t>
            </a:r>
            <a:r>
              <a:rPr lang="en-US" sz="3600" dirty="0" smtClean="0"/>
              <a:t>Approach </a:t>
            </a:r>
            <a:r>
              <a:rPr lang="en-US" sz="2800" dirty="0" smtClean="0"/>
              <a:t/>
            </a:r>
            <a:br>
              <a:rPr lang="en-US" sz="2800" dirty="0" smtClean="0"/>
            </a:br>
            <a:r>
              <a:rPr lang="en-US" sz="2800" dirty="0" smtClean="0"/>
              <a:t>(1 of 3)</a:t>
            </a:r>
            <a:endParaRPr lang="en-US" sz="2800" dirty="0"/>
          </a:p>
        </p:txBody>
      </p:sp>
      <p:sp>
        <p:nvSpPr>
          <p:cNvPr id="3" name="Content Placeholder 2"/>
          <p:cNvSpPr>
            <a:spLocks noGrp="1"/>
          </p:cNvSpPr>
          <p:nvPr>
            <p:ph idx="1"/>
          </p:nvPr>
        </p:nvSpPr>
        <p:spPr/>
        <p:txBody>
          <a:bodyPr/>
          <a:lstStyle/>
          <a:p>
            <a:r>
              <a:rPr lang="en-US" dirty="0" smtClean="0"/>
              <a:t>Studies </a:t>
            </a:r>
            <a:r>
              <a:rPr lang="en-US" dirty="0"/>
              <a:t>the interaction of </a:t>
            </a:r>
            <a:r>
              <a:rPr lang="en-US" dirty="0" smtClean="0"/>
              <a:t>the </a:t>
            </a:r>
            <a:r>
              <a:rPr lang="en-US" dirty="0"/>
              <a:t>environment </a:t>
            </a:r>
            <a:r>
              <a:rPr lang="en-US" dirty="0" smtClean="0"/>
              <a:t>and culture to </a:t>
            </a:r>
            <a:r>
              <a:rPr lang="en-US" dirty="0"/>
              <a:t>explain the cause and spread of health problems</a:t>
            </a:r>
          </a:p>
          <a:p>
            <a:endParaRPr lang="en-US" dirty="0"/>
          </a:p>
        </p:txBody>
      </p:sp>
    </p:spTree>
    <p:extLst>
      <p:ext uri="{BB962C8B-B14F-4D97-AF65-F5344CB8AC3E}">
        <p14:creationId xmlns:p14="http://schemas.microsoft.com/office/powerpoint/2010/main" val="4148563700"/>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600" dirty="0"/>
              <a:t>Ecological/Epidemiological </a:t>
            </a:r>
            <a:r>
              <a:rPr lang="en-US" sz="3600" dirty="0" smtClean="0"/>
              <a:t>Approach</a:t>
            </a:r>
            <a:r>
              <a:rPr lang="en-US" sz="3100" dirty="0" smtClean="0"/>
              <a:t/>
            </a:r>
            <a:br>
              <a:rPr lang="en-US" sz="3100" dirty="0" smtClean="0"/>
            </a:br>
            <a:r>
              <a:rPr lang="en-US" sz="3100" dirty="0" smtClean="0"/>
              <a:t>(2 </a:t>
            </a:r>
            <a:r>
              <a:rPr lang="en-US" sz="3100" dirty="0"/>
              <a:t>of </a:t>
            </a:r>
            <a:r>
              <a:rPr lang="en-US" sz="3100" dirty="0" smtClean="0"/>
              <a:t>3)</a:t>
            </a:r>
            <a:endParaRPr lang="en-US" sz="3100" dirty="0"/>
          </a:p>
        </p:txBody>
      </p:sp>
      <p:sp>
        <p:nvSpPr>
          <p:cNvPr id="3" name="Content Placeholder 2"/>
          <p:cNvSpPr>
            <a:spLocks noGrp="1"/>
          </p:cNvSpPr>
          <p:nvPr>
            <p:ph idx="1"/>
          </p:nvPr>
        </p:nvSpPr>
        <p:spPr/>
        <p:txBody>
          <a:bodyPr/>
          <a:lstStyle/>
          <a:p>
            <a:r>
              <a:rPr lang="en-US" dirty="0" smtClean="0"/>
              <a:t>Characteristics of the ecological/epidemiological approach:</a:t>
            </a:r>
          </a:p>
          <a:p>
            <a:pPr lvl="1"/>
            <a:r>
              <a:rPr lang="en-US" dirty="0" smtClean="0"/>
              <a:t>Tends </a:t>
            </a:r>
            <a:r>
              <a:rPr lang="en-US" dirty="0"/>
              <a:t>to rely on quantitative data</a:t>
            </a:r>
          </a:p>
          <a:p>
            <a:pPr lvl="1"/>
            <a:r>
              <a:rPr lang="en-US" dirty="0"/>
              <a:t>Applied emphasis: to provide findings for public health programs</a:t>
            </a:r>
          </a:p>
          <a:p>
            <a:pPr lvl="1"/>
            <a:r>
              <a:rPr lang="en-US" dirty="0"/>
              <a:t>Considers issues such as infectious disease, urbanization, other “stressors”</a:t>
            </a:r>
          </a:p>
          <a:p>
            <a:endParaRPr lang="en-US" dirty="0"/>
          </a:p>
        </p:txBody>
      </p:sp>
    </p:spTree>
    <p:extLst>
      <p:ext uri="{BB962C8B-B14F-4D97-AF65-F5344CB8AC3E}">
        <p14:creationId xmlns:p14="http://schemas.microsoft.com/office/powerpoint/2010/main" val="31558557"/>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Ecological/Epidemiological Approach </a:t>
            </a:r>
            <a:r>
              <a:rPr lang="en-US" sz="3100" dirty="0" smtClean="0"/>
              <a:t/>
            </a:r>
            <a:br>
              <a:rPr lang="en-US" sz="3100" dirty="0" smtClean="0"/>
            </a:br>
            <a:r>
              <a:rPr lang="en-US" sz="2800" dirty="0" smtClean="0"/>
              <a:t>(3 </a:t>
            </a:r>
            <a:r>
              <a:rPr lang="en-US" sz="2800" dirty="0"/>
              <a:t>of </a:t>
            </a:r>
            <a:r>
              <a:rPr lang="en-US" sz="2800" dirty="0" smtClean="0"/>
              <a:t>3)</a:t>
            </a:r>
            <a:endParaRPr lang="en-US" sz="2800" dirty="0"/>
          </a:p>
        </p:txBody>
      </p:sp>
      <p:sp>
        <p:nvSpPr>
          <p:cNvPr id="3" name="Content Placeholder 2"/>
          <p:cNvSpPr>
            <a:spLocks noGrp="1"/>
          </p:cNvSpPr>
          <p:nvPr>
            <p:ph idx="1"/>
          </p:nvPr>
        </p:nvSpPr>
        <p:spPr/>
        <p:txBody>
          <a:bodyPr/>
          <a:lstStyle/>
          <a:p>
            <a:r>
              <a:rPr lang="en-US" dirty="0" smtClean="0"/>
              <a:t>Application of the ecological/epidemiological approach to colonialism:</a:t>
            </a:r>
          </a:p>
          <a:p>
            <a:pPr lvl="1"/>
            <a:r>
              <a:rPr lang="en-US" dirty="0" smtClean="0"/>
              <a:t>Colonialism </a:t>
            </a:r>
            <a:r>
              <a:rPr lang="en-US" dirty="0"/>
              <a:t>as a cause of death and affliction through contact and contagion</a:t>
            </a:r>
          </a:p>
          <a:p>
            <a:pPr lvl="1"/>
            <a:r>
              <a:rPr lang="en-US" dirty="0"/>
              <a:t>Massive spread of infectious diseases</a:t>
            </a:r>
          </a:p>
          <a:p>
            <a:pPr lvl="1"/>
            <a:r>
              <a:rPr lang="en-US" dirty="0"/>
              <a:t>Displacement, loss of livelihood</a:t>
            </a:r>
          </a:p>
          <a:p>
            <a:pPr lvl="1"/>
            <a:r>
              <a:rPr lang="en-US" dirty="0"/>
              <a:t>Historical trauma</a:t>
            </a:r>
          </a:p>
          <a:p>
            <a:pPr lvl="1"/>
            <a:r>
              <a:rPr lang="en-US" dirty="0" smtClean="0"/>
              <a:t>Example: American </a:t>
            </a:r>
            <a:r>
              <a:rPr lang="en-US" dirty="0"/>
              <a:t>Indians</a:t>
            </a:r>
          </a:p>
          <a:p>
            <a:endParaRPr lang="en-US" dirty="0"/>
          </a:p>
        </p:txBody>
      </p:sp>
    </p:spTree>
    <p:extLst>
      <p:ext uri="{BB962C8B-B14F-4D97-AF65-F5344CB8AC3E}">
        <p14:creationId xmlns:p14="http://schemas.microsoft.com/office/powerpoint/2010/main" val="13700961"/>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 Map 7.5 Precolonial </a:t>
            </a:r>
            <a:r>
              <a:rPr lang="en-US" dirty="0"/>
              <a:t>Distribution of Indian Tribes in the 48 United </a:t>
            </a:r>
            <a:r>
              <a:rPr lang="en-US" dirty="0" smtClean="0"/>
              <a:t>States</a:t>
            </a:r>
            <a:endParaRPr lang="en-US" dirty="0"/>
          </a:p>
        </p:txBody>
      </p:sp>
      <p:pic>
        <p:nvPicPr>
          <p:cNvPr id="4" name="Content Placeholder 3" descr="A map of the United States shows different Indian tribal groups spread throughout the country. An inset globe locates the United States in North America.&#10;The map shows the following as major tribes, roughly from east to west:&#10;• Seminole&#10;• Cherokee&#10;• Shawnee&#10;• Choctaw&#10;• Pawnee&#10;• Sioux&#10;• Apache&#10;• Cheyenne&#10;• Crow&#10;• Navajo&#10;• Ute&#10;• Shoshone&#10;• Paiute&#10;&#10;Minor tribes, roughly from west to east, are as follows:&#10;• Nisqually&#10;• Quinault&#10;• Kalispell&#10;• Spokane&#10;• Chinook&#10;• Cowlitz&#10;• Chenalis&#10;• Tillamook&#10;• Kalapuya&#10;• Takelma&#10;• Wallawalla&#10;• Siletz&#10;• Yakima&#10;• Umatilla&#10;• Klamath&#10;• Karok&#10;• Pomo&#10;• Chumash&#10;• Salinan&#10;• Esselen&#10;• Costanoan&#10;• Yokuts&#10;• Mono&#10;• Yuki&#10;• Yurok&#10;• Coos&#10;• Shasta&#10;• Maidu&#10;• Wintuk&#10;• Miwok&#10;• Northern Paiute&#10;• Nez Percé&#10;• Coeur d’Alene &#10;• Blackfoot&#10;• Flathead&#10;• Kootenay&#10;• Piegan&#10;• Atsina&#10;• Cree&#10;• Bannock&#10;• Lemhi&#10;• Wind River Shoshone&#10;• Teton&#10;• Western Shoshone&#10;• Southern Paiute&#10;• Gosiute&#10;• Cahuilla&#10;• Gabrielino&#10;• Luiseño&#10;• Serrano&#10;• Mojave&#10;• Chemehuevi&#10;• Panamint&#10;• Hopi&#10;• Yuma&#10;• Maricopa&#10;• Papago&#10;• Havasupai&#10;• Yavapai&#10;• Walapai&#10;• Pima&#10;• Aravaipa&#10;• Zuñi&#10;• Pueblo&#10;• Acoma&#10;• Apache Mescalero&#10;• Santo Domingo&#10;• Jicarilla Apache&#10;• Comanche&#10;• Wichita&#10;• Lipan Apache&#10;• Tonkawa&#10;• Tawakoni&#10;• Kichai&#10;• Arapaho&#10;• Ponca&#10;• Omaha&#10;• Kansa&#10;• Mandan &#10;• Santec&#10;• Hidatsa&#10;• Arikara &#10;• Sans Arc&#10;• Hunkpapa&#10;• Ogala&#10;• Yanktonai&#10;• Kiowa&#10;• Caddo&#10;• Illinois&#10;• Kaskaskia&#10;• Peoria&#10;• Iowa&#10;• Missouri&#10;• Cahokia&#10;• Chippewa&#10;• Menomini&#10;• Sauk-fox&#10;• Kickapoo&#10;• Winnebago Potawatomi&#10;• Ottawa&#10;• Chickasaw&#10;• Chakchiuma&#10;• Chickamauga&#10;• Creek Taposa&#10;• Natchez&#10;• Chitimacha&#10;• Washa&#10;• Chawasha&#10;• Biloxi&#10;• Mobile&#10;• Tunica&#10;• Quapaw&#10;• Calusa&#10;• Yamasee&#10;• Apalachicola&#10;• Yuchi&#10;• Guale&#10;• Cusabo&#10;• Sewee&#10;• Timucua&#10;• Apalachee&#10;• Tuscarora&#10;• Pamilco&#10;• Monacan&#10;• Weapemeoc&#10;• Nottoway&#10;• Saponi&#10;• Tutelo&#10;• Catawba&#10;• Erie&#10;• Munsee&#10;• Piankashaw&#10;• Wea&#10;• Miami&#10;• Huron&#10;• Susquehannock&#10;• Iroquois&#10;• Pequot&#10;• Mahican&#10;• Wappinger&#10;• Delaware&#10;• Unalachtigo&#10;• Minisink&#10;• Narraganset&#10;• Nauset&#10;• Massachuset&#10;• Nipmuc&#10;• Pennacook&#10;• Penobscot&#10;• Cayuga&#10;• Onondaga&#10;• Seneca&#10;• Santec&#10;• Wahpeton&#10;• Osage&#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24000" y="1493837"/>
            <a:ext cx="6172036" cy="4678363"/>
          </a:xfrm>
        </p:spPr>
      </p:pic>
    </p:spTree>
    <p:extLst>
      <p:ext uri="{BB962C8B-B14F-4D97-AF65-F5344CB8AC3E}">
        <p14:creationId xmlns:p14="http://schemas.microsoft.com/office/powerpoint/2010/main" val="7453580"/>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pPr marL="0" indent="0"/>
            <a:r>
              <a:rPr lang="en-US" dirty="0" smtClean="0"/>
              <a:t>Map 7.6 Designated </a:t>
            </a:r>
            <a:r>
              <a:rPr lang="en-US" dirty="0"/>
              <a:t>Reservations in the 48 United States</a:t>
            </a:r>
          </a:p>
        </p:txBody>
      </p:sp>
      <p:pic>
        <p:nvPicPr>
          <p:cNvPr id="4" name="Content Placeholder 3" descr="An unlabeled map of United States shows locations of Indian reservations. An inset globe locates the United States in North America.&#10;Almost all of the reservations are west of the Mississippi River. The largest reservation is in northeastern Arizona and northwestern New Mexico. States with multiple large reservations include Washington, Montana, the Dakotas, Utah, and Minnesot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24000" y="1436276"/>
            <a:ext cx="6172200" cy="4735924"/>
          </a:xfrm>
        </p:spPr>
      </p:pic>
    </p:spTree>
    <p:extLst>
      <p:ext uri="{BB962C8B-B14F-4D97-AF65-F5344CB8AC3E}">
        <p14:creationId xmlns:p14="http://schemas.microsoft.com/office/powerpoint/2010/main" val="2490870911"/>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smtClean="0"/>
              <a:t>Symbolic/Interpretivist Approach</a:t>
            </a:r>
            <a:endParaRPr lang="en-US" sz="2800" dirty="0"/>
          </a:p>
        </p:txBody>
      </p:sp>
      <p:sp>
        <p:nvSpPr>
          <p:cNvPr id="3" name="Content Placeholder 2"/>
          <p:cNvSpPr>
            <a:spLocks noGrp="1"/>
          </p:cNvSpPr>
          <p:nvPr>
            <p:ph idx="1"/>
          </p:nvPr>
        </p:nvSpPr>
        <p:spPr/>
        <p:txBody>
          <a:bodyPr/>
          <a:lstStyle/>
          <a:p>
            <a:r>
              <a:rPr lang="en-US" dirty="0"/>
              <a:t>Focus on understanding illness and healing as symbolic and enacted as meaningful performance</a:t>
            </a:r>
          </a:p>
          <a:p>
            <a:r>
              <a:rPr lang="en-US" dirty="0"/>
              <a:t>Healing as providing symbolic meaning through the placebo effect, or meaning effect</a:t>
            </a:r>
          </a:p>
          <a:p>
            <a:r>
              <a:rPr lang="en-US" dirty="0"/>
              <a:t>Example: s</a:t>
            </a:r>
            <a:r>
              <a:rPr lang="en-US" dirty="0" smtClean="0"/>
              <a:t>hamanic </a:t>
            </a:r>
            <a:r>
              <a:rPr lang="en-US" dirty="0"/>
              <a:t>song among the </a:t>
            </a:r>
            <a:r>
              <a:rPr lang="en-US" dirty="0" smtClean="0"/>
              <a:t>Guna </a:t>
            </a:r>
            <a:r>
              <a:rPr lang="en-US" dirty="0"/>
              <a:t>Indians to help in a difficult birth</a:t>
            </a:r>
          </a:p>
          <a:p>
            <a:endParaRPr lang="en-US" dirty="0"/>
          </a:p>
        </p:txBody>
      </p:sp>
    </p:spTree>
    <p:extLst>
      <p:ext uri="{BB962C8B-B14F-4D97-AF65-F5344CB8AC3E}">
        <p14:creationId xmlns:p14="http://schemas.microsoft.com/office/powerpoint/2010/main" val="2953177764"/>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Critical Medical </a:t>
            </a:r>
            <a:r>
              <a:rPr lang="en-US" dirty="0" smtClean="0"/>
              <a:t>Anthropology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smtClean="0"/>
              <a:t>Focus </a:t>
            </a:r>
            <a:r>
              <a:rPr lang="en-US" dirty="0"/>
              <a:t>on how economic and political power structures and inequality (structural suffering, structural </a:t>
            </a:r>
            <a:r>
              <a:rPr lang="en-US" dirty="0" smtClean="0"/>
              <a:t>violence) </a:t>
            </a:r>
            <a:r>
              <a:rPr lang="en-US" dirty="0"/>
              <a:t>affect health and access to   healing</a:t>
            </a:r>
          </a:p>
          <a:p>
            <a:endParaRPr lang="en-US" dirty="0"/>
          </a:p>
        </p:txBody>
      </p:sp>
    </p:spTree>
    <p:extLst>
      <p:ext uri="{BB962C8B-B14F-4D97-AF65-F5344CB8AC3E}">
        <p14:creationId xmlns:p14="http://schemas.microsoft.com/office/powerpoint/2010/main" val="3334033833"/>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Critical Medical Anthropology </a:t>
            </a:r>
            <a:r>
              <a:rPr lang="en-US" sz="3100" dirty="0" smtClean="0"/>
              <a:t>(2 </a:t>
            </a:r>
            <a:r>
              <a:rPr lang="en-US" sz="3100" dirty="0"/>
              <a:t>of 2</a:t>
            </a:r>
            <a:r>
              <a:rPr lang="en-US" sz="3100" dirty="0" smtClean="0"/>
              <a:t>)</a:t>
            </a:r>
            <a:endParaRPr lang="en-US" sz="3100" dirty="0"/>
          </a:p>
        </p:txBody>
      </p:sp>
      <p:sp>
        <p:nvSpPr>
          <p:cNvPr id="3" name="Content Placeholder 2"/>
          <p:cNvSpPr>
            <a:spLocks noGrp="1"/>
          </p:cNvSpPr>
          <p:nvPr>
            <p:ph idx="1"/>
          </p:nvPr>
        </p:nvSpPr>
        <p:spPr/>
        <p:txBody>
          <a:bodyPr>
            <a:normAutofit lnSpcReduction="10000"/>
          </a:bodyPr>
          <a:lstStyle/>
          <a:p>
            <a:r>
              <a:rPr lang="en-US" dirty="0" smtClean="0"/>
              <a:t>Issues in critical medical anthropology:</a:t>
            </a:r>
          </a:p>
          <a:p>
            <a:pPr lvl="1"/>
            <a:r>
              <a:rPr lang="en-US" dirty="0" smtClean="0"/>
              <a:t>Affliction is more a product of someone’s social position than “natural”</a:t>
            </a:r>
          </a:p>
          <a:p>
            <a:pPr lvl="1"/>
            <a:r>
              <a:rPr lang="en-US" dirty="0" smtClean="0"/>
              <a:t>Economic and political systems create health inequalities </a:t>
            </a:r>
          </a:p>
          <a:p>
            <a:pPr lvl="1"/>
            <a:r>
              <a:rPr lang="en-US" dirty="0" smtClean="0"/>
              <a:t>Poverty </a:t>
            </a:r>
            <a:r>
              <a:rPr lang="en-US" dirty="0"/>
              <a:t>is a major cause of </a:t>
            </a:r>
            <a:r>
              <a:rPr lang="en-US" dirty="0" smtClean="0"/>
              <a:t>suffering, death</a:t>
            </a:r>
          </a:p>
          <a:p>
            <a:pPr lvl="1"/>
            <a:r>
              <a:rPr lang="en-US" dirty="0"/>
              <a:t>Western doctor–patient relationships as a form of social </a:t>
            </a:r>
            <a:r>
              <a:rPr lang="en-US" dirty="0" smtClean="0"/>
              <a:t>control</a:t>
            </a:r>
          </a:p>
          <a:p>
            <a:pPr lvl="1"/>
            <a:r>
              <a:rPr lang="en-US" dirty="0"/>
              <a:t>Western medicine emphasizes technology and is dehumanizing </a:t>
            </a:r>
          </a:p>
          <a:p>
            <a:pPr lvl="1"/>
            <a:endParaRPr lang="en-US" dirty="0"/>
          </a:p>
          <a:p>
            <a:pPr lvl="1"/>
            <a:endParaRPr lang="en-US" dirty="0"/>
          </a:p>
          <a:p>
            <a:endParaRPr lang="en-US" dirty="0" smtClean="0"/>
          </a:p>
          <a:p>
            <a:endParaRPr lang="en-US" dirty="0"/>
          </a:p>
        </p:txBody>
      </p:sp>
    </p:spTree>
    <p:extLst>
      <p:ext uri="{BB962C8B-B14F-4D97-AF65-F5344CB8AC3E}">
        <p14:creationId xmlns:p14="http://schemas.microsoft.com/office/powerpoint/2010/main" val="2015927866"/>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Globalization and </a:t>
            </a:r>
            <a:r>
              <a:rPr lang="en-US" dirty="0" smtClean="0"/>
              <a:t>Change </a:t>
            </a:r>
            <a:r>
              <a:rPr lang="en-US" sz="3100" dirty="0" smtClean="0"/>
              <a:t>(1 of 2)</a:t>
            </a:r>
            <a:br>
              <a:rPr lang="en-US" sz="3100" dirty="0" smtClean="0"/>
            </a:br>
            <a:r>
              <a:rPr lang="en-US" sz="2200" dirty="0" smtClean="0"/>
              <a:t>7.3 Recognize how globalization is affecting health, illness, and healing.</a:t>
            </a:r>
            <a:endParaRPr lang="en-US" sz="2200" dirty="0"/>
          </a:p>
        </p:txBody>
      </p:sp>
      <p:sp>
        <p:nvSpPr>
          <p:cNvPr id="3" name="Content Placeholder 2"/>
          <p:cNvSpPr>
            <a:spLocks noGrp="1"/>
          </p:cNvSpPr>
          <p:nvPr>
            <p:ph idx="1"/>
          </p:nvPr>
        </p:nvSpPr>
        <p:spPr/>
        <p:txBody>
          <a:bodyPr/>
          <a:lstStyle/>
          <a:p>
            <a:r>
              <a:rPr lang="en-US" dirty="0"/>
              <a:t>All aspects of health systems are </a:t>
            </a:r>
            <a:r>
              <a:rPr lang="en-US" dirty="0" smtClean="0"/>
              <a:t>changing</a:t>
            </a:r>
            <a:endParaRPr lang="en-US" dirty="0"/>
          </a:p>
          <a:p>
            <a:endParaRPr lang="en-US" dirty="0" smtClean="0"/>
          </a:p>
          <a:p>
            <a:r>
              <a:rPr lang="en-US" dirty="0" smtClean="0"/>
              <a:t>Afflictions </a:t>
            </a:r>
            <a:r>
              <a:rPr lang="en-US" dirty="0"/>
              <a:t>are on the </a:t>
            </a:r>
            <a:r>
              <a:rPr lang="en-US" dirty="0" smtClean="0"/>
              <a:t>move</a:t>
            </a:r>
            <a:endParaRPr lang="en-US" dirty="0"/>
          </a:p>
          <a:p>
            <a:endParaRPr lang="en-US" dirty="0" smtClean="0"/>
          </a:p>
          <a:p>
            <a:r>
              <a:rPr lang="en-US" dirty="0" smtClean="0"/>
              <a:t>Healing </a:t>
            </a:r>
            <a:r>
              <a:rPr lang="en-US" dirty="0"/>
              <a:t>techniques are on the </a:t>
            </a:r>
            <a:r>
              <a:rPr lang="en-US" dirty="0" smtClean="0"/>
              <a:t>move</a:t>
            </a:r>
            <a:endParaRPr lang="en-US" dirty="0"/>
          </a:p>
          <a:p>
            <a:endParaRPr lang="en-US" dirty="0"/>
          </a:p>
        </p:txBody>
      </p:sp>
    </p:spTree>
    <p:extLst>
      <p:ext uri="{BB962C8B-B14F-4D97-AF65-F5344CB8AC3E}">
        <p14:creationId xmlns:p14="http://schemas.microsoft.com/office/powerpoint/2010/main" val="4186908724"/>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Globalization and Change </a:t>
            </a:r>
            <a:r>
              <a:rPr lang="en-US" sz="2800" dirty="0" smtClean="0"/>
              <a:t>(2 </a:t>
            </a:r>
            <a:r>
              <a:rPr lang="en-US" sz="2800" dirty="0"/>
              <a:t>of </a:t>
            </a:r>
            <a:r>
              <a:rPr lang="en-US" sz="2800" dirty="0" smtClean="0"/>
              <a:t>2)</a:t>
            </a:r>
            <a:endParaRPr lang="en-US" sz="2800" dirty="0"/>
          </a:p>
        </p:txBody>
      </p:sp>
      <p:sp>
        <p:nvSpPr>
          <p:cNvPr id="3" name="Content Placeholder 2"/>
          <p:cNvSpPr>
            <a:spLocks noGrp="1"/>
          </p:cNvSpPr>
          <p:nvPr>
            <p:ph idx="1"/>
          </p:nvPr>
        </p:nvSpPr>
        <p:spPr/>
        <p:txBody>
          <a:bodyPr/>
          <a:lstStyle/>
          <a:p>
            <a:r>
              <a:rPr lang="en-US" dirty="0"/>
              <a:t>Globalization, h</a:t>
            </a:r>
            <a:r>
              <a:rPr lang="en-US" dirty="0" smtClean="0"/>
              <a:t>ealth, </a:t>
            </a:r>
            <a:r>
              <a:rPr lang="en-US" dirty="0"/>
              <a:t>and the </a:t>
            </a:r>
            <a:r>
              <a:rPr lang="en-US" dirty="0" smtClean="0"/>
              <a:t>role </a:t>
            </a:r>
            <a:r>
              <a:rPr lang="en-US" dirty="0"/>
              <a:t>of </a:t>
            </a:r>
            <a:r>
              <a:rPr lang="en-US" dirty="0" smtClean="0"/>
              <a:t>anthropology </a:t>
            </a:r>
            <a:r>
              <a:rPr lang="en-US" dirty="0"/>
              <a:t>in </a:t>
            </a:r>
            <a:r>
              <a:rPr lang="en-US" dirty="0" smtClean="0"/>
              <a:t>improving </a:t>
            </a:r>
            <a:r>
              <a:rPr lang="en-US" dirty="0"/>
              <a:t>p</a:t>
            </a:r>
            <a:r>
              <a:rPr lang="en-US" dirty="0" smtClean="0"/>
              <a:t>ublic </a:t>
            </a:r>
            <a:r>
              <a:rPr lang="en-US" dirty="0"/>
              <a:t>h</a:t>
            </a:r>
            <a:r>
              <a:rPr lang="en-US" dirty="0" smtClean="0"/>
              <a:t>ealth</a:t>
            </a:r>
          </a:p>
          <a:p>
            <a:pPr lvl="1"/>
            <a:r>
              <a:rPr lang="en-US" dirty="0" smtClean="0"/>
              <a:t>Topics include:</a:t>
            </a:r>
            <a:endParaRPr lang="en-US" dirty="0"/>
          </a:p>
          <a:p>
            <a:pPr lvl="2"/>
            <a:r>
              <a:rPr lang="en-US" dirty="0"/>
              <a:t>I</a:t>
            </a:r>
            <a:r>
              <a:rPr lang="en-US" dirty="0" smtClean="0"/>
              <a:t>nfectious </a:t>
            </a:r>
            <a:r>
              <a:rPr lang="en-US" dirty="0"/>
              <a:t>diseases</a:t>
            </a:r>
          </a:p>
          <a:p>
            <a:pPr lvl="2"/>
            <a:r>
              <a:rPr lang="en-US" dirty="0"/>
              <a:t>Diseases of development</a:t>
            </a:r>
          </a:p>
          <a:p>
            <a:pPr lvl="2"/>
            <a:r>
              <a:rPr lang="en-US" dirty="0"/>
              <a:t>Medical pluralism</a:t>
            </a:r>
          </a:p>
          <a:p>
            <a:pPr lvl="2"/>
            <a:r>
              <a:rPr lang="en-US" dirty="0"/>
              <a:t>Applied medical anthropology</a:t>
            </a:r>
          </a:p>
          <a:p>
            <a:endParaRPr lang="en-US" dirty="0"/>
          </a:p>
        </p:txBody>
      </p:sp>
    </p:spTree>
    <p:extLst>
      <p:ext uri="{BB962C8B-B14F-4D97-AF65-F5344CB8AC3E}">
        <p14:creationId xmlns:p14="http://schemas.microsoft.com/office/powerpoint/2010/main" val="3514735981"/>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Infectious Diseases </a:t>
            </a:r>
            <a:r>
              <a:rPr lang="en-US" sz="2800" dirty="0" smtClean="0"/>
              <a:t>(1 of 2)</a:t>
            </a:r>
            <a:endParaRPr lang="en-US" sz="2800" dirty="0"/>
          </a:p>
        </p:txBody>
      </p:sp>
      <p:sp>
        <p:nvSpPr>
          <p:cNvPr id="3" name="Content Placeholder 2"/>
          <p:cNvSpPr>
            <a:spLocks noGrp="1"/>
          </p:cNvSpPr>
          <p:nvPr>
            <p:ph idx="1"/>
          </p:nvPr>
        </p:nvSpPr>
        <p:spPr/>
        <p:txBody>
          <a:bodyPr/>
          <a:lstStyle/>
          <a:p>
            <a:r>
              <a:rPr lang="en-US" smtClean="0"/>
              <a:t>Scientific </a:t>
            </a:r>
            <a:r>
              <a:rPr lang="en-US" dirty="0"/>
              <a:t>advances in medicine and sanitation have reduced the threat of infectious disease</a:t>
            </a:r>
          </a:p>
          <a:p>
            <a:r>
              <a:rPr lang="en-US" smtClean="0"/>
              <a:t>HIV</a:t>
            </a:r>
            <a:r>
              <a:rPr lang="en-US" dirty="0" smtClean="0"/>
              <a:t>/AIDS </a:t>
            </a:r>
            <a:r>
              <a:rPr lang="en-US" dirty="0"/>
              <a:t>and SARS are spreading because of increased travel and migration</a:t>
            </a:r>
          </a:p>
          <a:p>
            <a:endParaRPr lang="en-US" dirty="0"/>
          </a:p>
        </p:txBody>
      </p:sp>
    </p:spTree>
    <p:extLst>
      <p:ext uri="{BB962C8B-B14F-4D97-AF65-F5344CB8AC3E}">
        <p14:creationId xmlns:p14="http://schemas.microsoft.com/office/powerpoint/2010/main" val="1271434666"/>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Infectious </a:t>
            </a:r>
            <a:r>
              <a:rPr lang="en-US" dirty="0"/>
              <a:t>Diseases </a:t>
            </a:r>
            <a:r>
              <a:rPr lang="en-US" sz="2800" dirty="0" smtClean="0"/>
              <a:t>(2 </a:t>
            </a:r>
            <a:r>
              <a:rPr lang="en-US" sz="2800" dirty="0"/>
              <a:t>of 2</a:t>
            </a:r>
            <a:r>
              <a:rPr lang="en-US" sz="2800" dirty="0" smtClean="0"/>
              <a:t>)</a:t>
            </a:r>
            <a:endParaRPr lang="en-US" sz="2800" dirty="0"/>
          </a:p>
        </p:txBody>
      </p:sp>
      <p:pic>
        <p:nvPicPr>
          <p:cNvPr id="3" name="Content Placeholder 2" descr="A photo shows two billboards outside a stadium with copy reading “Safe sex saves lives” and “My friend with AIDS is still my friend.”"/>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77303" y="1981200"/>
            <a:ext cx="4580897" cy="3200400"/>
          </a:xfrm>
        </p:spPr>
      </p:pic>
      <p:sp>
        <p:nvSpPr>
          <p:cNvPr id="7" name="Content Placeholder 2"/>
          <p:cNvSpPr txBox="1">
            <a:spLocks/>
          </p:cNvSpPr>
          <p:nvPr/>
        </p:nvSpPr>
        <p:spPr>
          <a:xfrm>
            <a:off x="457200" y="1600201"/>
            <a:ext cx="3581400" cy="32765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smtClean="0"/>
          </a:p>
          <a:p>
            <a:pPr marL="0" indent="0">
              <a:buNone/>
            </a:pPr>
            <a:r>
              <a:rPr lang="en-US" sz="2400" dirty="0" smtClean="0"/>
              <a:t>Example of HIV/AIDS</a:t>
            </a:r>
          </a:p>
          <a:p>
            <a:pPr marL="0" indent="0">
              <a:buNone/>
            </a:pPr>
            <a:endParaRPr lang="en-US" sz="2400" dirty="0"/>
          </a:p>
          <a:p>
            <a:r>
              <a:rPr lang="en-US" sz="2000" dirty="0"/>
              <a:t>Billboards near Soweto, South Africa, promote condom use and seek to reduce the social stigma of the disease</a:t>
            </a:r>
          </a:p>
          <a:p>
            <a:pPr marL="0" indent="0">
              <a:buNone/>
            </a:pPr>
            <a:endParaRPr lang="en-US" sz="2400" dirty="0"/>
          </a:p>
        </p:txBody>
      </p:sp>
    </p:spTree>
    <p:extLst>
      <p:ext uri="{BB962C8B-B14F-4D97-AF65-F5344CB8AC3E}">
        <p14:creationId xmlns:p14="http://schemas.microsoft.com/office/powerpoint/2010/main" val="2314015146"/>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Diseases of </a:t>
            </a:r>
            <a:r>
              <a:rPr lang="en-US" dirty="0" smtClean="0"/>
              <a:t>Development</a:t>
            </a:r>
            <a:endParaRPr lang="en-US" sz="2800" dirty="0"/>
          </a:p>
        </p:txBody>
      </p:sp>
      <p:sp>
        <p:nvSpPr>
          <p:cNvPr id="3" name="Content Placeholder 2"/>
          <p:cNvSpPr>
            <a:spLocks noGrp="1"/>
          </p:cNvSpPr>
          <p:nvPr>
            <p:ph idx="1"/>
          </p:nvPr>
        </p:nvSpPr>
        <p:spPr/>
        <p:txBody>
          <a:bodyPr/>
          <a:lstStyle/>
          <a:p>
            <a:r>
              <a:rPr lang="en-US" dirty="0"/>
              <a:t>Health problems caused or increased by development activities or by development itself: </a:t>
            </a:r>
          </a:p>
          <a:p>
            <a:pPr lvl="1"/>
            <a:r>
              <a:rPr lang="en-US" dirty="0"/>
              <a:t>S</a:t>
            </a:r>
            <a:r>
              <a:rPr lang="en-US" dirty="0" smtClean="0"/>
              <a:t>chistosomiasis </a:t>
            </a:r>
            <a:r>
              <a:rPr lang="en-US" dirty="0"/>
              <a:t>has increased in the tropical world as a result of dams and irrigation systems</a:t>
            </a:r>
          </a:p>
          <a:p>
            <a:pPr lvl="1"/>
            <a:r>
              <a:rPr lang="en-US" dirty="0"/>
              <a:t>O</a:t>
            </a:r>
            <a:r>
              <a:rPr lang="en-US" dirty="0" smtClean="0"/>
              <a:t>besity </a:t>
            </a:r>
            <a:r>
              <a:rPr lang="en-US" dirty="0"/>
              <a:t>is on the rise in many developed countries</a:t>
            </a:r>
          </a:p>
          <a:p>
            <a:endParaRPr lang="en-US" dirty="0"/>
          </a:p>
        </p:txBody>
      </p:sp>
    </p:spTree>
    <p:extLst>
      <p:ext uri="{BB962C8B-B14F-4D97-AF65-F5344CB8AC3E}">
        <p14:creationId xmlns:p14="http://schemas.microsoft.com/office/powerpoint/2010/main" val="3889495070"/>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Medical </a:t>
            </a:r>
            <a:r>
              <a:rPr lang="en-US" dirty="0" smtClean="0"/>
              <a:t>Pluralism</a:t>
            </a:r>
            <a:endParaRPr lang="en-US" sz="2800" dirty="0"/>
          </a:p>
        </p:txBody>
      </p:sp>
      <p:sp>
        <p:nvSpPr>
          <p:cNvPr id="3" name="Content Placeholder 2"/>
          <p:cNvSpPr>
            <a:spLocks noGrp="1"/>
          </p:cNvSpPr>
          <p:nvPr>
            <p:ph idx="1"/>
          </p:nvPr>
        </p:nvSpPr>
        <p:spPr/>
        <p:txBody>
          <a:bodyPr/>
          <a:lstStyle/>
          <a:p>
            <a:r>
              <a:rPr lang="en-US" dirty="0"/>
              <a:t>Coexistence of multiple healing systems in one culture</a:t>
            </a:r>
          </a:p>
          <a:p>
            <a:r>
              <a:rPr lang="en-US" dirty="0" smtClean="0"/>
              <a:t>Western </a:t>
            </a:r>
            <a:r>
              <a:rPr lang="en-US" dirty="0"/>
              <a:t>biomedicine often displaces traditional </a:t>
            </a:r>
            <a:r>
              <a:rPr lang="en-US" dirty="0" smtClean="0"/>
              <a:t>practices, </a:t>
            </a:r>
            <a:r>
              <a:rPr lang="en-US" dirty="0"/>
              <a:t>but sometimes </a:t>
            </a:r>
            <a:r>
              <a:rPr lang="en-US" dirty="0" smtClean="0"/>
              <a:t>coexists </a:t>
            </a:r>
            <a:r>
              <a:rPr lang="en-US" dirty="0"/>
              <a:t>as one of several healing options</a:t>
            </a:r>
          </a:p>
          <a:p>
            <a:r>
              <a:rPr lang="en-US" dirty="0" smtClean="0"/>
              <a:t>Example</a:t>
            </a:r>
            <a:r>
              <a:rPr lang="en-US" dirty="0"/>
              <a:t>: the Sherpa of Nepal</a:t>
            </a:r>
          </a:p>
          <a:p>
            <a:endParaRPr lang="en-US" dirty="0"/>
          </a:p>
        </p:txBody>
      </p:sp>
    </p:spTree>
    <p:extLst>
      <p:ext uri="{BB962C8B-B14F-4D97-AF65-F5344CB8AC3E}">
        <p14:creationId xmlns:p14="http://schemas.microsoft.com/office/powerpoint/2010/main" val="3437234845"/>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Culturama: The Sherpa of </a:t>
            </a:r>
            <a:r>
              <a:rPr lang="en-US" sz="3600" dirty="0" smtClean="0"/>
              <a:t>Nepal </a:t>
            </a:r>
            <a:r>
              <a:rPr lang="en-US" sz="2800" dirty="0" smtClean="0"/>
              <a:t>(1 of </a:t>
            </a:r>
            <a:r>
              <a:rPr lang="en-US" sz="2800" dirty="0"/>
              <a:t>4</a:t>
            </a:r>
            <a:r>
              <a:rPr lang="en-US" sz="2800" dirty="0" smtClean="0"/>
              <a:t>)</a:t>
            </a:r>
            <a:endParaRPr lang="en-US" sz="2800" dirty="0"/>
          </a:p>
        </p:txBody>
      </p:sp>
      <p:sp>
        <p:nvSpPr>
          <p:cNvPr id="3" name="Content Placeholder 2"/>
          <p:cNvSpPr>
            <a:spLocks noGrp="1"/>
          </p:cNvSpPr>
          <p:nvPr>
            <p:ph idx="1"/>
          </p:nvPr>
        </p:nvSpPr>
        <p:spPr/>
        <p:txBody>
          <a:bodyPr/>
          <a:lstStyle/>
          <a:p>
            <a:r>
              <a:rPr lang="en-US" dirty="0"/>
              <a:t>Sherpa means “person”</a:t>
            </a:r>
          </a:p>
          <a:p>
            <a:r>
              <a:rPr lang="en-US" dirty="0" smtClean="0"/>
              <a:t>150,000 </a:t>
            </a:r>
            <a:r>
              <a:rPr lang="en-US" dirty="0"/>
              <a:t>Sherpa live in Nepal</a:t>
            </a:r>
          </a:p>
          <a:p>
            <a:r>
              <a:rPr lang="en-US" dirty="0"/>
              <a:t>Mixed economy involving animal herding, trade, small businesses, and farming (potatoes)</a:t>
            </a:r>
          </a:p>
          <a:p>
            <a:r>
              <a:rPr lang="en-US" dirty="0"/>
              <a:t>Men are increasingly employed as guides and porters for trekkers and climbers</a:t>
            </a:r>
          </a:p>
          <a:p>
            <a:endParaRPr lang="en-US" dirty="0"/>
          </a:p>
        </p:txBody>
      </p:sp>
    </p:spTree>
    <p:extLst>
      <p:ext uri="{BB962C8B-B14F-4D97-AF65-F5344CB8AC3E}">
        <p14:creationId xmlns:p14="http://schemas.microsoft.com/office/powerpoint/2010/main" val="4276323166"/>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7.7 Nepal</a:t>
            </a:r>
            <a:endParaRPr lang="en-US" dirty="0"/>
          </a:p>
        </p:txBody>
      </p:sp>
      <p:pic>
        <p:nvPicPr>
          <p:cNvPr id="4" name="Content Placeholder 3" descr="A map shows Nepal bounded by China to the north and India to the south. The city of Pokhara and the capital of Kathmandu are marked, as is Qomolangma (Mt. Everest). An inset globe locates Nepal in south-central As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13098" y="1600200"/>
            <a:ext cx="4117803" cy="4525963"/>
          </a:xfrm>
        </p:spPr>
      </p:pic>
    </p:spTree>
    <p:extLst>
      <p:ext uri="{BB962C8B-B14F-4D97-AF65-F5344CB8AC3E}">
        <p14:creationId xmlns:p14="http://schemas.microsoft.com/office/powerpoint/2010/main" val="636812111"/>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Culturama: The Sherpa of Nepal </a:t>
            </a:r>
            <a:r>
              <a:rPr lang="en-US" sz="2800" dirty="0" smtClean="0"/>
              <a:t>(2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Social Organization of the Sherpa</a:t>
            </a:r>
          </a:p>
          <a:p>
            <a:pPr lvl="1"/>
            <a:r>
              <a:rPr lang="en-US" dirty="0" smtClean="0"/>
              <a:t>18 </a:t>
            </a:r>
            <a:r>
              <a:rPr lang="en-US" dirty="0"/>
              <a:t>separate lineages</a:t>
            </a:r>
          </a:p>
          <a:p>
            <a:pPr lvl="1"/>
            <a:r>
              <a:rPr lang="en-US" dirty="0"/>
              <a:t>Marriage traditionally takes place outside of one’s birth lineage</a:t>
            </a:r>
          </a:p>
          <a:p>
            <a:pPr lvl="1"/>
            <a:r>
              <a:rPr lang="en-US" dirty="0"/>
              <a:t>Status distinctions: “big people,” “middle people,” “small people”</a:t>
            </a:r>
          </a:p>
          <a:p>
            <a:endParaRPr lang="en-US" dirty="0"/>
          </a:p>
        </p:txBody>
      </p:sp>
    </p:spTree>
    <p:extLst>
      <p:ext uri="{BB962C8B-B14F-4D97-AF65-F5344CB8AC3E}">
        <p14:creationId xmlns:p14="http://schemas.microsoft.com/office/powerpoint/2010/main" val="3470719354"/>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Culturama: The Sherpa of Nepal </a:t>
            </a:r>
            <a:r>
              <a:rPr lang="en-US" sz="2800" dirty="0" smtClean="0"/>
              <a:t>(3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Sherpa Religion</a:t>
            </a:r>
          </a:p>
          <a:p>
            <a:pPr lvl="1"/>
            <a:r>
              <a:rPr lang="en-US" dirty="0" smtClean="0"/>
              <a:t>Localized </a:t>
            </a:r>
            <a:r>
              <a:rPr lang="en-US" dirty="0"/>
              <a:t>version of Tibetan </a:t>
            </a:r>
            <a:r>
              <a:rPr lang="en-US" dirty="0" smtClean="0"/>
              <a:t>Buddhism</a:t>
            </a:r>
            <a:endParaRPr lang="en-US" dirty="0"/>
          </a:p>
          <a:p>
            <a:pPr lvl="1"/>
            <a:r>
              <a:rPr lang="en-US" dirty="0"/>
              <a:t>Connectedness of all </a:t>
            </a:r>
            <a:r>
              <a:rPr lang="en-US" dirty="0" smtClean="0"/>
              <a:t>beings</a:t>
            </a:r>
            <a:endParaRPr lang="en-US" dirty="0"/>
          </a:p>
          <a:p>
            <a:pPr lvl="1"/>
            <a:r>
              <a:rPr lang="en-US" dirty="0"/>
              <a:t>Nature spiritualism: </a:t>
            </a:r>
            <a:r>
              <a:rPr lang="en-US" dirty="0" smtClean="0"/>
              <a:t>Many </a:t>
            </a:r>
            <a:r>
              <a:rPr lang="en-US" dirty="0"/>
              <a:t>place names refer to </a:t>
            </a:r>
            <a:r>
              <a:rPr lang="en-US" dirty="0" smtClean="0"/>
              <a:t>deities</a:t>
            </a:r>
            <a:endParaRPr lang="en-US" dirty="0"/>
          </a:p>
        </p:txBody>
      </p:sp>
    </p:spTree>
    <p:extLst>
      <p:ext uri="{BB962C8B-B14F-4D97-AF65-F5344CB8AC3E}">
        <p14:creationId xmlns:p14="http://schemas.microsoft.com/office/powerpoint/2010/main" val="2624911174"/>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600" dirty="0"/>
              <a:t>Culturama: The Sherpa of Nepal </a:t>
            </a:r>
            <a:r>
              <a:rPr lang="en-US" sz="2800" dirty="0" smtClean="0"/>
              <a:t>(4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Contemporary challenges the Sherpa face:</a:t>
            </a:r>
          </a:p>
          <a:p>
            <a:pPr lvl="1"/>
            <a:r>
              <a:rPr lang="en-US" dirty="0" smtClean="0"/>
              <a:t>Tourism </a:t>
            </a:r>
            <a:r>
              <a:rPr lang="en-US" dirty="0"/>
              <a:t>is a major economic opportunity and environmental</a:t>
            </a:r>
            <a:r>
              <a:rPr lang="en-US" dirty="0" smtClean="0"/>
              <a:t>/social threat</a:t>
            </a:r>
            <a:r>
              <a:rPr lang="en-US" dirty="0"/>
              <a:t>—</a:t>
            </a:r>
            <a:r>
              <a:rPr lang="en-US" dirty="0" smtClean="0"/>
              <a:t>loss </a:t>
            </a:r>
            <a:r>
              <a:rPr lang="en-US" dirty="0"/>
              <a:t>of cultural integrity, integration into uncertain wage </a:t>
            </a:r>
            <a:r>
              <a:rPr lang="en-US" dirty="0" smtClean="0"/>
              <a:t>economy</a:t>
            </a:r>
          </a:p>
          <a:p>
            <a:pPr lvl="1"/>
            <a:r>
              <a:rPr lang="en-US" dirty="0" smtClean="0"/>
              <a:t>Global warming: melting of glaciers, flooding</a:t>
            </a: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733246814"/>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Conflicting Explanatory Models</a:t>
            </a:r>
          </a:p>
        </p:txBody>
      </p:sp>
      <p:sp>
        <p:nvSpPr>
          <p:cNvPr id="3" name="Content Placeholder 2"/>
          <p:cNvSpPr>
            <a:spLocks noGrp="1"/>
          </p:cNvSpPr>
          <p:nvPr>
            <p:ph idx="1"/>
          </p:nvPr>
        </p:nvSpPr>
        <p:spPr/>
        <p:txBody>
          <a:bodyPr/>
          <a:lstStyle/>
          <a:p>
            <a:r>
              <a:rPr lang="en-US" dirty="0" smtClean="0"/>
              <a:t>The </a:t>
            </a:r>
            <a:r>
              <a:rPr lang="en-US" dirty="0"/>
              <a:t>case of Mary, in American </a:t>
            </a:r>
            <a:r>
              <a:rPr lang="en-US" dirty="0" smtClean="0"/>
              <a:t>Samoa</a:t>
            </a:r>
          </a:p>
          <a:p>
            <a:pPr lvl="1"/>
            <a:r>
              <a:rPr lang="en-US" dirty="0" smtClean="0"/>
              <a:t>Example </a:t>
            </a:r>
            <a:r>
              <a:rPr lang="en-US" dirty="0"/>
              <a:t>of serious miscommunication between biomedical practitioners and family of the </a:t>
            </a:r>
            <a:r>
              <a:rPr lang="en-US" dirty="0" smtClean="0"/>
              <a:t>child</a:t>
            </a:r>
          </a:p>
          <a:p>
            <a:pPr lvl="1"/>
            <a:r>
              <a:rPr lang="en-US" dirty="0" smtClean="0"/>
              <a:t>Diabetes misunderstood</a:t>
            </a:r>
          </a:p>
          <a:p>
            <a:pPr lvl="1"/>
            <a:r>
              <a:rPr lang="en-US" dirty="0" smtClean="0"/>
              <a:t>Fatality </a:t>
            </a:r>
            <a:r>
              <a:rPr lang="en-US" dirty="0"/>
              <a:t>of the </a:t>
            </a:r>
            <a:r>
              <a:rPr lang="en-US" dirty="0" smtClean="0"/>
              <a:t>child</a:t>
            </a:r>
          </a:p>
          <a:p>
            <a:pPr lvl="1"/>
            <a:r>
              <a:rPr lang="en-US" dirty="0" smtClean="0"/>
              <a:t>Whose </a:t>
            </a:r>
            <a:r>
              <a:rPr lang="en-US" dirty="0"/>
              <a:t>fault?</a:t>
            </a:r>
          </a:p>
          <a:p>
            <a:endParaRPr lang="en-US" dirty="0"/>
          </a:p>
        </p:txBody>
      </p:sp>
    </p:spTree>
    <p:extLst>
      <p:ext uri="{BB962C8B-B14F-4D97-AF65-F5344CB8AC3E}">
        <p14:creationId xmlns:p14="http://schemas.microsoft.com/office/powerpoint/2010/main" val="2618362479"/>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Map 7.8 Samoa and American Samoa</a:t>
            </a:r>
            <a:endParaRPr lang="en-US" dirty="0"/>
          </a:p>
        </p:txBody>
      </p:sp>
      <p:pic>
        <p:nvPicPr>
          <p:cNvPr id="4" name="Content Placeholder 3" descr="Two maps, one showing the major island countries of the South Pacific and the other showing Samoa and American Samoa. An inset globe locates the island countries in the South Pacific.&#10;The map of South Pacific countries shows the following, roughly from west to east: &#10;• Federated States of Micronesia&#10;• Marshall Islands&#10;• Naura&#10;• Solomon Islands&#10;• Vanuata&#10;• New Caledonia&#10;• Tuvalu&#10;• Fiji&#10;• Wallis and Futuna&#10;• Tokelau&#10;• Tonga&#10;• Kiribati&#10;• Samoa&#10;• American Samoa &#10;• Cook Islands&#10;• Niue &#10;• French Polynesia (includes Tahiti)&#10;The second map shows Samoa to the west with two main islands, Savai’I and Upolu (with capital Apia). American Samoa is much smaller, comprising the island of Tutuila and the Manu’a Islands.&#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13591" y="1520486"/>
            <a:ext cx="4344409" cy="4605677"/>
          </a:xfrm>
        </p:spPr>
      </p:pic>
    </p:spTree>
    <p:extLst>
      <p:ext uri="{BB962C8B-B14F-4D97-AF65-F5344CB8AC3E}">
        <p14:creationId xmlns:p14="http://schemas.microsoft.com/office/powerpoint/2010/main" val="4193565601"/>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Applied </a:t>
            </a:r>
            <a:r>
              <a:rPr lang="en-US" dirty="0"/>
              <a:t>Medical </a:t>
            </a:r>
            <a:r>
              <a:rPr lang="en-US" dirty="0" smtClean="0"/>
              <a:t>Anthropology </a:t>
            </a:r>
            <a:r>
              <a:rPr lang="en-US" sz="3100" dirty="0" smtClean="0"/>
              <a:t>(1 of 3)</a:t>
            </a:r>
            <a:endParaRPr lang="en-US" sz="3100" dirty="0"/>
          </a:p>
        </p:txBody>
      </p:sp>
      <p:sp>
        <p:nvSpPr>
          <p:cNvPr id="3" name="Content Placeholder 2"/>
          <p:cNvSpPr>
            <a:spLocks noGrp="1"/>
          </p:cNvSpPr>
          <p:nvPr>
            <p:ph idx="1"/>
          </p:nvPr>
        </p:nvSpPr>
        <p:spPr/>
        <p:txBody>
          <a:bodyPr/>
          <a:lstStyle/>
          <a:p>
            <a:r>
              <a:rPr lang="en-US" dirty="0"/>
              <a:t>Research by applied/clinical medical anthropologists helps </a:t>
            </a:r>
            <a:r>
              <a:rPr lang="en-US" dirty="0" smtClean="0"/>
              <a:t>in:</a:t>
            </a:r>
            <a:endParaRPr lang="en-US" dirty="0"/>
          </a:p>
          <a:p>
            <a:pPr lvl="1"/>
            <a:r>
              <a:rPr lang="en-US" dirty="0"/>
              <a:t>M</a:t>
            </a:r>
            <a:r>
              <a:rPr lang="en-US" dirty="0" smtClean="0"/>
              <a:t>ulticultural doctor–patient </a:t>
            </a:r>
            <a:r>
              <a:rPr lang="en-US" dirty="0"/>
              <a:t>understanding</a:t>
            </a:r>
          </a:p>
          <a:p>
            <a:pPr lvl="1"/>
            <a:r>
              <a:rPr lang="en-US" dirty="0"/>
              <a:t>M</a:t>
            </a:r>
            <a:r>
              <a:rPr lang="en-US" dirty="0" smtClean="0"/>
              <a:t>aking </a:t>
            </a:r>
            <a:r>
              <a:rPr lang="en-US" dirty="0"/>
              <a:t>recommendations about culturally appropriate health programs</a:t>
            </a:r>
          </a:p>
          <a:p>
            <a:pPr lvl="1"/>
            <a:r>
              <a:rPr lang="en-US" dirty="0"/>
              <a:t>D</a:t>
            </a:r>
            <a:r>
              <a:rPr lang="en-US" dirty="0" smtClean="0"/>
              <a:t>eveloping </a:t>
            </a:r>
            <a:r>
              <a:rPr lang="en-US" dirty="0"/>
              <a:t>more effective cross-cultural health communication </a:t>
            </a:r>
          </a:p>
        </p:txBody>
      </p:sp>
    </p:spTree>
    <p:extLst>
      <p:ext uri="{BB962C8B-B14F-4D97-AF65-F5344CB8AC3E}">
        <p14:creationId xmlns:p14="http://schemas.microsoft.com/office/powerpoint/2010/main" val="3988183513"/>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
            </a:r>
            <a:br>
              <a:rPr lang="en-US" dirty="0" smtClean="0"/>
            </a:br>
            <a:r>
              <a:rPr lang="en-US" dirty="0" smtClean="0"/>
              <a:t>Applied </a:t>
            </a:r>
            <a:r>
              <a:rPr lang="en-US" dirty="0"/>
              <a:t>Medical Anthropology </a:t>
            </a:r>
            <a:r>
              <a:rPr lang="en-US" sz="3100" dirty="0" smtClean="0"/>
              <a:t>(2 </a:t>
            </a:r>
            <a:r>
              <a:rPr lang="en-US" sz="3100" dirty="0"/>
              <a:t>of </a:t>
            </a:r>
            <a:r>
              <a:rPr lang="en-US" sz="3100" dirty="0" smtClean="0"/>
              <a:t>3)</a:t>
            </a:r>
            <a:r>
              <a:rPr lang="en-US" dirty="0" smtClean="0"/>
              <a:t>	</a:t>
            </a:r>
            <a:endParaRPr lang="en-US" dirty="0"/>
          </a:p>
        </p:txBody>
      </p:sp>
      <p:sp>
        <p:nvSpPr>
          <p:cNvPr id="3" name="Content Placeholder 2"/>
          <p:cNvSpPr>
            <a:spLocks noGrp="1"/>
          </p:cNvSpPr>
          <p:nvPr>
            <p:ph idx="1"/>
          </p:nvPr>
        </p:nvSpPr>
        <p:spPr/>
        <p:txBody>
          <a:bodyPr>
            <a:normAutofit lnSpcReduction="10000"/>
          </a:bodyPr>
          <a:lstStyle/>
          <a:p>
            <a:r>
              <a:rPr lang="en-US" dirty="0" smtClean="0"/>
              <a:t>Cultural </a:t>
            </a:r>
            <a:r>
              <a:rPr lang="en-US" dirty="0"/>
              <a:t>b</a:t>
            </a:r>
            <a:r>
              <a:rPr lang="en-US" dirty="0" smtClean="0"/>
              <a:t>roker</a:t>
            </a:r>
            <a:r>
              <a:rPr lang="en-US" dirty="0"/>
              <a:t>:</a:t>
            </a:r>
            <a:r>
              <a:rPr lang="en-US" b="1" dirty="0"/>
              <a:t> </a:t>
            </a:r>
            <a:r>
              <a:rPr lang="en-US" dirty="0"/>
              <a:t>S</a:t>
            </a:r>
            <a:r>
              <a:rPr lang="en-US" dirty="0" smtClean="0"/>
              <a:t>omeone </a:t>
            </a:r>
            <a:r>
              <a:rPr lang="en-US" dirty="0"/>
              <a:t>who is familiar with two cultures and can promote communication and </a:t>
            </a:r>
            <a:r>
              <a:rPr lang="en-US" dirty="0" smtClean="0"/>
              <a:t>understanding </a:t>
            </a:r>
            <a:r>
              <a:rPr lang="en-US" dirty="0"/>
              <a:t>across </a:t>
            </a:r>
            <a:r>
              <a:rPr lang="en-US" dirty="0" smtClean="0"/>
              <a:t>them</a:t>
            </a:r>
          </a:p>
          <a:p>
            <a:endParaRPr lang="en-US" dirty="0"/>
          </a:p>
          <a:p>
            <a:r>
              <a:rPr lang="en-US" dirty="0" smtClean="0"/>
              <a:t>Intercultural </a:t>
            </a:r>
            <a:r>
              <a:rPr lang="en-US" dirty="0"/>
              <a:t>h</a:t>
            </a:r>
            <a:r>
              <a:rPr lang="en-US" dirty="0" smtClean="0"/>
              <a:t>ealth</a:t>
            </a:r>
            <a:r>
              <a:rPr lang="en-US" dirty="0"/>
              <a:t>: </a:t>
            </a:r>
            <a:r>
              <a:rPr lang="en-US" dirty="0" smtClean="0"/>
              <a:t>An </a:t>
            </a:r>
            <a:r>
              <a:rPr lang="en-US" dirty="0"/>
              <a:t>approach in health that seeks to reduce the gaps between local and Western health systems in promoting more effective prevention and treatment of health </a:t>
            </a:r>
            <a:r>
              <a:rPr lang="en-US" dirty="0" smtClean="0"/>
              <a:t>problems</a:t>
            </a:r>
            <a:endParaRPr lang="en-US" dirty="0"/>
          </a:p>
        </p:txBody>
      </p:sp>
    </p:spTree>
    <p:extLst>
      <p:ext uri="{BB962C8B-B14F-4D97-AF65-F5344CB8AC3E}">
        <p14:creationId xmlns:p14="http://schemas.microsoft.com/office/powerpoint/2010/main" val="2300400651"/>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Applied Medical Anthropology </a:t>
            </a:r>
            <a:r>
              <a:rPr lang="en-US" sz="3100" dirty="0" smtClean="0"/>
              <a:t>(3 </a:t>
            </a:r>
            <a:r>
              <a:rPr lang="en-US" sz="3100" dirty="0"/>
              <a:t>of </a:t>
            </a:r>
            <a:r>
              <a:rPr lang="en-US" sz="3100" dirty="0" smtClean="0"/>
              <a:t>3)</a:t>
            </a:r>
            <a:endParaRPr lang="en-US" sz="3100" dirty="0"/>
          </a:p>
        </p:txBody>
      </p:sp>
      <p:sp>
        <p:nvSpPr>
          <p:cNvPr id="3" name="Content Placeholder 2"/>
          <p:cNvSpPr>
            <a:spLocks noGrp="1"/>
          </p:cNvSpPr>
          <p:nvPr>
            <p:ph idx="1"/>
          </p:nvPr>
        </p:nvSpPr>
        <p:spPr/>
        <p:txBody>
          <a:bodyPr/>
          <a:lstStyle/>
          <a:p>
            <a:r>
              <a:rPr lang="en-US" dirty="0"/>
              <a:t>Applied research by Robert Trotter</a:t>
            </a:r>
          </a:p>
          <a:p>
            <a:pPr lvl="1"/>
            <a:r>
              <a:rPr lang="en-US" dirty="0"/>
              <a:t>Discovered reason for lead poisoning in a traditional “medicine”</a:t>
            </a:r>
          </a:p>
          <a:p>
            <a:pPr lvl="1"/>
            <a:r>
              <a:rPr lang="en-US" dirty="0"/>
              <a:t>Devised an approach to help people replace </a:t>
            </a:r>
            <a:r>
              <a:rPr lang="en-US" i="1" dirty="0" smtClean="0"/>
              <a:t>azarcón</a:t>
            </a:r>
            <a:r>
              <a:rPr lang="en-US" dirty="0" smtClean="0"/>
              <a:t> </a:t>
            </a:r>
            <a:r>
              <a:rPr lang="en-US" dirty="0"/>
              <a:t>with another medicine that is not </a:t>
            </a:r>
            <a:r>
              <a:rPr lang="en-US" dirty="0" smtClean="0"/>
              <a:t>harmful</a:t>
            </a:r>
            <a:endParaRPr lang="en-US" dirty="0"/>
          </a:p>
          <a:p>
            <a:endParaRPr lang="en-US" dirty="0"/>
          </a:p>
        </p:txBody>
      </p:sp>
    </p:spTree>
    <p:extLst>
      <p:ext uri="{BB962C8B-B14F-4D97-AF65-F5344CB8AC3E}">
        <p14:creationId xmlns:p14="http://schemas.microsoft.com/office/powerpoint/2010/main" val="157703883"/>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
            </a:r>
            <a:br>
              <a:rPr lang="en-US" dirty="0"/>
            </a:br>
            <a:r>
              <a:rPr lang="en-US" sz="3600" dirty="0" smtClean="0"/>
              <a:t>Anthropology Works: Promoting </a:t>
            </a:r>
            <a:r>
              <a:rPr lang="en-US" sz="3600" dirty="0"/>
              <a:t>Vaccination Programs in </a:t>
            </a:r>
            <a:r>
              <a:rPr lang="en-US" sz="3600" dirty="0" smtClean="0"/>
              <a:t>Developing Countries </a:t>
            </a:r>
            <a:r>
              <a:rPr lang="en-US" sz="3100" dirty="0" smtClean="0"/>
              <a:t>(1 of 2)</a:t>
            </a:r>
            <a:r>
              <a:rPr lang="en-US" sz="3100" dirty="0"/>
              <a:t/>
            </a:r>
            <a:br>
              <a:rPr lang="en-US" sz="3100" dirty="0"/>
            </a:br>
            <a:endParaRPr lang="en-US" sz="3100" dirty="0"/>
          </a:p>
        </p:txBody>
      </p:sp>
      <p:sp>
        <p:nvSpPr>
          <p:cNvPr id="3" name="Content Placeholder 2"/>
          <p:cNvSpPr>
            <a:spLocks noGrp="1"/>
          </p:cNvSpPr>
          <p:nvPr>
            <p:ph idx="1"/>
          </p:nvPr>
        </p:nvSpPr>
        <p:spPr/>
        <p:txBody>
          <a:bodyPr/>
          <a:lstStyle/>
          <a:p>
            <a:r>
              <a:rPr lang="en-US" dirty="0" smtClean="0"/>
              <a:t>Vaccination </a:t>
            </a:r>
            <a:r>
              <a:rPr lang="en-US" dirty="0"/>
              <a:t>programs often met with suspicion by the target </a:t>
            </a:r>
            <a:r>
              <a:rPr lang="en-US" dirty="0" smtClean="0"/>
              <a:t>population</a:t>
            </a:r>
          </a:p>
          <a:p>
            <a:r>
              <a:rPr lang="en-US" dirty="0" smtClean="0"/>
              <a:t>Overall </a:t>
            </a:r>
            <a:r>
              <a:rPr lang="en-US" dirty="0"/>
              <a:t>acceptance rates of vaccination are lower than </a:t>
            </a:r>
            <a:r>
              <a:rPr lang="en-US" dirty="0" smtClean="0"/>
              <a:t>expected</a:t>
            </a:r>
          </a:p>
          <a:p>
            <a:r>
              <a:rPr lang="en-US" dirty="0" smtClean="0"/>
              <a:t>In India, </a:t>
            </a:r>
            <a:r>
              <a:rPr lang="en-US" dirty="0"/>
              <a:t>people are suspicious that </a:t>
            </a:r>
            <a:r>
              <a:rPr lang="en-US" dirty="0" smtClean="0"/>
              <a:t>vaccinations </a:t>
            </a:r>
            <a:r>
              <a:rPr lang="en-US" dirty="0"/>
              <a:t>are family planning </a:t>
            </a:r>
            <a:r>
              <a:rPr lang="en-US" dirty="0" smtClean="0"/>
              <a:t>programs</a:t>
            </a:r>
          </a:p>
          <a:p>
            <a:r>
              <a:rPr lang="en-US" dirty="0" smtClean="0"/>
              <a:t>Population does not understand what they protect against</a:t>
            </a:r>
            <a:endParaRPr lang="en-US" dirty="0"/>
          </a:p>
          <a:p>
            <a:endParaRPr lang="en-US" dirty="0"/>
          </a:p>
        </p:txBody>
      </p:sp>
    </p:spTree>
    <p:extLst>
      <p:ext uri="{BB962C8B-B14F-4D97-AF65-F5344CB8AC3E}">
        <p14:creationId xmlns:p14="http://schemas.microsoft.com/office/powerpoint/2010/main" val="3182477591"/>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Anthropology Works: Promoting Vaccination Programs in Developing Countries </a:t>
            </a:r>
            <a:r>
              <a:rPr lang="en-US" sz="2800" dirty="0" smtClean="0"/>
              <a:t>(2 </a:t>
            </a:r>
            <a:r>
              <a:rPr lang="en-US" sz="2800" dirty="0"/>
              <a:t>of </a:t>
            </a:r>
            <a:r>
              <a:rPr lang="en-US" sz="2800" dirty="0" smtClean="0"/>
              <a:t>2)</a:t>
            </a:r>
            <a:endParaRPr lang="en-US" sz="2800" dirty="0"/>
          </a:p>
        </p:txBody>
      </p:sp>
      <p:sp>
        <p:nvSpPr>
          <p:cNvPr id="3" name="Content Placeholder 2"/>
          <p:cNvSpPr>
            <a:spLocks noGrp="1"/>
          </p:cNvSpPr>
          <p:nvPr>
            <p:ph idx="1"/>
          </p:nvPr>
        </p:nvSpPr>
        <p:spPr/>
        <p:txBody>
          <a:bodyPr>
            <a:normAutofit fontScale="92500" lnSpcReduction="20000"/>
          </a:bodyPr>
          <a:lstStyle/>
          <a:p>
            <a:r>
              <a:rPr lang="en-US" dirty="0"/>
              <a:t>Recommended changes in public health approach: </a:t>
            </a:r>
          </a:p>
          <a:p>
            <a:pPr lvl="1"/>
            <a:r>
              <a:rPr lang="en-US" dirty="0"/>
              <a:t>Education campaigns for the public that address </a:t>
            </a:r>
            <a:r>
              <a:rPr lang="en-US" dirty="0" smtClean="0"/>
              <a:t>people’s </a:t>
            </a:r>
            <a:r>
              <a:rPr lang="en-US" dirty="0"/>
              <a:t>concerns</a:t>
            </a:r>
          </a:p>
          <a:p>
            <a:pPr lvl="1"/>
            <a:r>
              <a:rPr lang="en-US" dirty="0"/>
              <a:t>Education for </a:t>
            </a:r>
            <a:r>
              <a:rPr lang="en-US" dirty="0" smtClean="0"/>
              <a:t>public </a:t>
            </a:r>
            <a:r>
              <a:rPr lang="en-US" dirty="0"/>
              <a:t>health specialists about the importance of understanding and paying attention to local cultural practices and </a:t>
            </a:r>
            <a:r>
              <a:rPr lang="en-US" dirty="0" smtClean="0"/>
              <a:t>beliefs</a:t>
            </a:r>
            <a:endParaRPr lang="en-US" dirty="0"/>
          </a:p>
          <a:p>
            <a:r>
              <a:rPr lang="en-US" dirty="0" smtClean="0"/>
              <a:t>Food for Thought:</a:t>
            </a:r>
          </a:p>
          <a:p>
            <a:pPr lvl="1"/>
            <a:r>
              <a:rPr lang="en-US" dirty="0" smtClean="0"/>
              <a:t>If </a:t>
            </a:r>
            <a:r>
              <a:rPr lang="en-US" dirty="0"/>
              <a:t>your job </a:t>
            </a:r>
            <a:r>
              <a:rPr lang="en-US" dirty="0" smtClean="0"/>
              <a:t>was </a:t>
            </a:r>
            <a:r>
              <a:rPr lang="en-US" dirty="0"/>
              <a:t>to promote wider acceptance of vaccinations in your home country, what would you want to know before you began an education campaign?</a:t>
            </a:r>
          </a:p>
          <a:p>
            <a:endParaRPr lang="en-US" dirty="0"/>
          </a:p>
        </p:txBody>
      </p:sp>
    </p:spTree>
    <p:extLst>
      <p:ext uri="{BB962C8B-B14F-4D97-AF65-F5344CB8AC3E}">
        <p14:creationId xmlns:p14="http://schemas.microsoft.com/office/powerpoint/2010/main" val="1230858005"/>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1989</TotalTime>
  <Words>3055</Words>
  <Application>Microsoft Macintosh PowerPoint</Application>
  <PresentationFormat>On-screen Show (4:3)</PresentationFormat>
  <Paragraphs>297</Paragraphs>
  <Slides>59</Slides>
  <Notes>15</Notes>
  <HiddenSlides>0</HiddenSlides>
  <MMClips>0</MMClips>
  <ScaleCrop>false</ScaleCrop>
  <HeadingPairs>
    <vt:vector size="4" baseType="variant">
      <vt:variant>
        <vt:lpstr>Theme</vt:lpstr>
      </vt:variant>
      <vt:variant>
        <vt:i4>2</vt:i4>
      </vt:variant>
      <vt:variant>
        <vt:lpstr>Slide Titles</vt:lpstr>
      </vt:variant>
      <vt:variant>
        <vt:i4>59</vt:i4>
      </vt:variant>
    </vt:vector>
  </HeadingPairs>
  <TitlesOfParts>
    <vt:vector size="61" baseType="lpstr">
      <vt:lpstr>Beebe8e_PPT_master</vt:lpstr>
      <vt:lpstr>Office Theme</vt:lpstr>
      <vt:lpstr>PowerPoint Presentation</vt:lpstr>
      <vt:lpstr>Learning Objectives</vt:lpstr>
      <vt:lpstr>The Subfield of Medical Anthropology</vt:lpstr>
      <vt:lpstr>Ethnomedicine (1 of 2) 7.1 Describe the scope of ethnomedicine and how it has changed in recent times.</vt:lpstr>
      <vt:lpstr>Ethnomedicine (2 of 2)</vt:lpstr>
      <vt:lpstr>Perceptions of the Body</vt:lpstr>
      <vt:lpstr>Defining and Classifying  Health Problems (1 of 5)</vt:lpstr>
      <vt:lpstr>Defining and Classifying  Health Problems (2 of 5)</vt:lpstr>
      <vt:lpstr>Map 7.2 The Philippines</vt:lpstr>
      <vt:lpstr>Defining and Classifying  Health Problems (3 of 5)</vt:lpstr>
      <vt:lpstr>Defining and Classifying  Health Problems (4 of 5)</vt:lpstr>
      <vt:lpstr>Defining and Classifying  Health Problems (5 of 5)</vt:lpstr>
      <vt:lpstr>Ethno-Etiologies (1 of 4)</vt:lpstr>
      <vt:lpstr>Ethno-Etiologies (2 of 4)</vt:lpstr>
      <vt:lpstr>Map 7.1 Federative Republic of Brazil</vt:lpstr>
      <vt:lpstr>Ethno-Etiologies (3 of 4)</vt:lpstr>
      <vt:lpstr>Ethno-Etiologies (4 of 4)</vt:lpstr>
      <vt:lpstr>Prevention (1 of 4)</vt:lpstr>
      <vt:lpstr>Prevention (2 of 4)</vt:lpstr>
      <vt:lpstr>Map 7.3 Central America</vt:lpstr>
      <vt:lpstr>Prevention (3 of 4)</vt:lpstr>
      <vt:lpstr>Prevention (4 of 4)</vt:lpstr>
      <vt:lpstr>Healing Ways (1 of 3)</vt:lpstr>
      <vt:lpstr>Healing Ways (2 of 3)</vt:lpstr>
      <vt:lpstr>Healing Ways (3 of 3)</vt:lpstr>
      <vt:lpstr>Healers (1 of 2)</vt:lpstr>
      <vt:lpstr>Healers (2 of 2)</vt:lpstr>
      <vt:lpstr>Healing Substances</vt:lpstr>
      <vt:lpstr>Eye on the Environment (1 of 3)</vt:lpstr>
      <vt:lpstr>Map 7.4 The Republic of Bolivia</vt:lpstr>
      <vt:lpstr>Eye on the Environment (2 of 3)</vt:lpstr>
      <vt:lpstr>Eye on the Environment (3 of 3)</vt:lpstr>
      <vt:lpstr>Three Theoretical Approaches 7.2 Explain the three major theoretical approaches in medical anthropology.</vt:lpstr>
      <vt:lpstr>Ecological/Epidemiological Approach  (1 of 3)</vt:lpstr>
      <vt:lpstr>Ecological/Epidemiological Approach (2 of 3)</vt:lpstr>
      <vt:lpstr>Ecological/Epidemiological Approach  (3 of 3)</vt:lpstr>
      <vt:lpstr> Map 7.5 Precolonial Distribution of Indian Tribes in the 48 United States</vt:lpstr>
      <vt:lpstr>Map 7.6 Designated Reservations in the 48 United States</vt:lpstr>
      <vt:lpstr>Symbolic/Interpretivist Approach</vt:lpstr>
      <vt:lpstr>Critical Medical Anthropology (1 of 2)</vt:lpstr>
      <vt:lpstr>Critical Medical Anthropology (2 of 2)</vt:lpstr>
      <vt:lpstr>Globalization and Change (1 of 2) 7.3 Recognize how globalization is affecting health, illness, and healing.</vt:lpstr>
      <vt:lpstr>Globalization and Change (2 of 2)</vt:lpstr>
      <vt:lpstr>Infectious Diseases (1 of 2)</vt:lpstr>
      <vt:lpstr>Infectious Diseases (2 of 2)</vt:lpstr>
      <vt:lpstr>Diseases of Development</vt:lpstr>
      <vt:lpstr>Medical Pluralism</vt:lpstr>
      <vt:lpstr>Culturama: The Sherpa of Nepal (1 of 4)</vt:lpstr>
      <vt:lpstr>Map 7.7 Nepal</vt:lpstr>
      <vt:lpstr>Culturama: The Sherpa of Nepal (2 of 4)</vt:lpstr>
      <vt:lpstr>Culturama: The Sherpa of Nepal (3 of 4)</vt:lpstr>
      <vt:lpstr>Culturama: The Sherpa of Nepal (4 of 4)</vt:lpstr>
      <vt:lpstr>Conflicting Explanatory Models</vt:lpstr>
      <vt:lpstr>Map 7.8 Samoa and American Samoa</vt:lpstr>
      <vt:lpstr>Applied Medical Anthropology (1 of 3)</vt:lpstr>
      <vt:lpstr> Applied Medical Anthropology (2 of 3) </vt:lpstr>
      <vt:lpstr>Applied Medical Anthropology (3 of 3)</vt:lpstr>
      <vt:lpstr> Anthropology Works: Promoting Vaccination Programs in Developing Countries (1 of 2) </vt:lpstr>
      <vt:lpstr>Anthropology Works: Promoting Vaccination Programs in Developing Countries (2 of 2)</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126</cp:revision>
  <dcterms:created xsi:type="dcterms:W3CDTF">2015-09-18T14:54:36Z</dcterms:created>
  <dcterms:modified xsi:type="dcterms:W3CDTF">2016-04-05T22:05:25Z</dcterms:modified>
</cp:coreProperties>
</file>