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39"/>
  </p:notesMasterIdLst>
  <p:sldIdLst>
    <p:sldId id="257" r:id="rId3"/>
    <p:sldId id="256" r:id="rId4"/>
    <p:sldId id="258" r:id="rId5"/>
    <p:sldId id="261" r:id="rId6"/>
    <p:sldId id="259" r:id="rId7"/>
    <p:sldId id="260" r:id="rId8"/>
    <p:sldId id="262" r:id="rId9"/>
    <p:sldId id="263" r:id="rId10"/>
    <p:sldId id="264" r:id="rId11"/>
    <p:sldId id="265" r:id="rId12"/>
    <p:sldId id="266" r:id="rId13"/>
    <p:sldId id="267" r:id="rId14"/>
    <p:sldId id="268" r:id="rId15"/>
    <p:sldId id="269" r:id="rId16"/>
    <p:sldId id="270" r:id="rId17"/>
    <p:sldId id="272" r:id="rId18"/>
    <p:sldId id="273" r:id="rId19"/>
    <p:sldId id="274" r:id="rId20"/>
    <p:sldId id="275" r:id="rId21"/>
    <p:sldId id="276" r:id="rId22"/>
    <p:sldId id="277" r:id="rId23"/>
    <p:sldId id="278" r:id="rId24"/>
    <p:sldId id="279" r:id="rId25"/>
    <p:sldId id="292" r:id="rId26"/>
    <p:sldId id="293" r:id="rId27"/>
    <p:sldId id="280" r:id="rId28"/>
    <p:sldId id="281" r:id="rId29"/>
    <p:sldId id="282" r:id="rId30"/>
    <p:sldId id="283" r:id="rId31"/>
    <p:sldId id="287" r:id="rId32"/>
    <p:sldId id="288" r:id="rId33"/>
    <p:sldId id="284" r:id="rId34"/>
    <p:sldId id="285" r:id="rId35"/>
    <p:sldId id="289" r:id="rId36"/>
    <p:sldId id="291" r:id="rId37"/>
    <p:sldId id="290"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46" autoAdjust="0"/>
  </p:normalViewPr>
  <p:slideViewPr>
    <p:cSldViewPr>
      <p:cViewPr>
        <p:scale>
          <a:sx n="90" d="100"/>
          <a:sy n="90" d="100"/>
        </p:scale>
        <p:origin x="-640" y="-26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printerSettings" Target="printerSettings/printerSettings1.bin"/><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FCC15D-8C8B-4F12-AED0-1B36FFF4FFED}" type="datetimeFigureOut">
              <a:rPr lang="en-US" smtClean="0"/>
              <a:t>4/5/16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2CEDE2-123A-401B-BBA4-E22293AEF558}" type="slidenum">
              <a:rPr lang="en-US" smtClean="0"/>
              <a:t>‹#›</a:t>
            </a:fld>
            <a:endParaRPr lang="en-US" dirty="0"/>
          </a:p>
        </p:txBody>
      </p:sp>
    </p:spTree>
    <p:extLst>
      <p:ext uri="{BB962C8B-B14F-4D97-AF65-F5344CB8AC3E}">
        <p14:creationId xmlns:p14="http://schemas.microsoft.com/office/powerpoint/2010/main" val="461741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2CEDE2-123A-401B-BBA4-E22293AEF558}" type="slidenum">
              <a:rPr lang="en-US" smtClean="0"/>
              <a:t>1</a:t>
            </a:fld>
            <a:endParaRPr lang="en-US" dirty="0"/>
          </a:p>
        </p:txBody>
      </p:sp>
    </p:spTree>
    <p:extLst>
      <p:ext uri="{BB962C8B-B14F-4D97-AF65-F5344CB8AC3E}">
        <p14:creationId xmlns:p14="http://schemas.microsoft.com/office/powerpoint/2010/main" val="884804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Ohio, Pennsylvania, and Indiana have the largest number of Old Order Amish in the United States.</a:t>
            </a:r>
            <a:endParaRPr lang="en-US" dirty="0"/>
          </a:p>
        </p:txBody>
      </p:sp>
      <p:sp>
        <p:nvSpPr>
          <p:cNvPr id="4" name="Slide Number Placeholder 3"/>
          <p:cNvSpPr>
            <a:spLocks noGrp="1"/>
          </p:cNvSpPr>
          <p:nvPr>
            <p:ph type="sldNum" sz="quarter" idx="10"/>
          </p:nvPr>
        </p:nvSpPr>
        <p:spPr/>
        <p:txBody>
          <a:bodyPr/>
          <a:lstStyle/>
          <a:p>
            <a:fld id="{2C2CEDE2-123A-401B-BBA4-E22293AEF558}" type="slidenum">
              <a:rPr lang="en-US" smtClean="0"/>
              <a:t>8</a:t>
            </a:fld>
            <a:endParaRPr lang="en-US" dirty="0"/>
          </a:p>
        </p:txBody>
      </p:sp>
    </p:spTree>
    <p:extLst>
      <p:ext uri="{BB962C8B-B14F-4D97-AF65-F5344CB8AC3E}">
        <p14:creationId xmlns:p14="http://schemas.microsoft.com/office/powerpoint/2010/main" val="314500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2CEDE2-123A-401B-BBA4-E22293AEF558}" type="slidenum">
              <a:rPr lang="en-US" smtClean="0"/>
              <a:t>11</a:t>
            </a:fld>
            <a:endParaRPr lang="en-US" dirty="0"/>
          </a:p>
        </p:txBody>
      </p:sp>
    </p:spTree>
    <p:extLst>
      <p:ext uri="{BB962C8B-B14F-4D97-AF65-F5344CB8AC3E}">
        <p14:creationId xmlns:p14="http://schemas.microsoft.com/office/powerpoint/2010/main" val="2381985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Source: Nebel, Bernard J.; Wright, Richard T.; </a:t>
            </a:r>
            <a:r>
              <a:rPr lang="en-US" sz="1200" b="0" i="1" u="none" strike="noStrike" kern="1200" baseline="0" dirty="0" smtClean="0">
                <a:solidFill>
                  <a:schemeClr val="tx1"/>
                </a:solidFill>
                <a:latin typeface="+mn-lt"/>
                <a:ea typeface="+mn-ea"/>
                <a:cs typeface="+mn-cs"/>
              </a:rPr>
              <a:t>Environmental Science: The Way The World Works</a:t>
            </a:r>
            <a:r>
              <a:rPr lang="en-US" sz="1200" b="0" i="0" u="none" strike="noStrike" kern="1200" baseline="0" dirty="0" smtClean="0">
                <a:solidFill>
                  <a:schemeClr val="tx1"/>
                </a:solidFill>
                <a:latin typeface="+mn-lt"/>
                <a:ea typeface="+mn-ea"/>
                <a:cs typeface="+mn-cs"/>
              </a:rPr>
              <a:t>, 7th edition. Copyright © 2000. Electronically reproduced by permission of Pearson Education, Inc. Upper Saddle River, New Jersey.</a:t>
            </a:r>
            <a:endParaRPr lang="en-US" dirty="0"/>
          </a:p>
        </p:txBody>
      </p:sp>
      <p:sp>
        <p:nvSpPr>
          <p:cNvPr id="4" name="Slide Number Placeholder 3"/>
          <p:cNvSpPr>
            <a:spLocks noGrp="1"/>
          </p:cNvSpPr>
          <p:nvPr>
            <p:ph type="sldNum" sz="quarter" idx="10"/>
          </p:nvPr>
        </p:nvSpPr>
        <p:spPr/>
        <p:txBody>
          <a:bodyPr/>
          <a:lstStyle/>
          <a:p>
            <a:fld id="{2C2CEDE2-123A-401B-BBA4-E22293AEF558}" type="slidenum">
              <a:rPr lang="en-US" smtClean="0"/>
              <a:t>12</a:t>
            </a:fld>
            <a:endParaRPr lang="en-US" dirty="0"/>
          </a:p>
        </p:txBody>
      </p:sp>
    </p:spTree>
    <p:extLst>
      <p:ext uri="{BB962C8B-B14F-4D97-AF65-F5344CB8AC3E}">
        <p14:creationId xmlns:p14="http://schemas.microsoft.com/office/powerpoint/2010/main" val="1953092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An estimated 350,000 Maasai live in Kenya and 150,000 in Tanzania. The climate is semiarid.</a:t>
            </a:r>
            <a:endParaRPr lang="en-US" dirty="0"/>
          </a:p>
        </p:txBody>
      </p:sp>
      <p:sp>
        <p:nvSpPr>
          <p:cNvPr id="4" name="Slide Number Placeholder 3"/>
          <p:cNvSpPr>
            <a:spLocks noGrp="1"/>
          </p:cNvSpPr>
          <p:nvPr>
            <p:ph type="sldNum" sz="quarter" idx="10"/>
          </p:nvPr>
        </p:nvSpPr>
        <p:spPr/>
        <p:txBody>
          <a:bodyPr/>
          <a:lstStyle/>
          <a:p>
            <a:fld id="{2C2CEDE2-123A-401B-BBA4-E22293AEF558}" type="slidenum">
              <a:rPr lang="en-US" smtClean="0"/>
              <a:t>29</a:t>
            </a:fld>
            <a:endParaRPr lang="en-US" dirty="0"/>
          </a:p>
        </p:txBody>
      </p:sp>
    </p:spTree>
    <p:extLst>
      <p:ext uri="{BB962C8B-B14F-4D97-AF65-F5344CB8AC3E}">
        <p14:creationId xmlns:p14="http://schemas.microsoft.com/office/powerpoint/2010/main" val="4142881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30,000 Aka are tropical forest foragers who know hundreds of</a:t>
            </a:r>
            <a:r>
              <a:rPr lang="en-US" baseline="0" dirty="0" smtClean="0"/>
              <a:t> </a:t>
            </a:r>
            <a:r>
              <a:rPr lang="en-US" dirty="0" smtClean="0"/>
              <a:t>plants and animals. They eat roots, leaves, nuts, fruits, mushrooms,</a:t>
            </a:r>
            <a:r>
              <a:rPr lang="en-US" baseline="0" dirty="0" smtClean="0"/>
              <a:t> </a:t>
            </a:r>
            <a:r>
              <a:rPr lang="en-US" dirty="0" smtClean="0"/>
              <a:t>honey, grubs, caterpillars, and meat from monkeys, rats,</a:t>
            </a:r>
            <a:r>
              <a:rPr lang="en-US" baseline="0" dirty="0" smtClean="0"/>
              <a:t> </a:t>
            </a:r>
            <a:r>
              <a:rPr lang="en-US" dirty="0" smtClean="0"/>
              <a:t>mongooses, and porcupines. They trade meat to farmers for manioc</a:t>
            </a:r>
            <a:r>
              <a:rPr lang="en-US" baseline="0" dirty="0" smtClean="0"/>
              <a:t> </a:t>
            </a:r>
            <a:r>
              <a:rPr lang="en-US" dirty="0" smtClean="0"/>
              <a:t>and other cultivated foods. They are socially egalitarian, and their</a:t>
            </a:r>
            <a:r>
              <a:rPr lang="en-US" baseline="0" dirty="0" smtClean="0"/>
              <a:t> </a:t>
            </a:r>
            <a:r>
              <a:rPr lang="en-US" dirty="0" smtClean="0"/>
              <a:t>religious beliefs are indigenous. Diaka, their main language, is tonal.</a:t>
            </a:r>
            <a:r>
              <a:rPr lang="en-US" baseline="0" dirty="0" smtClean="0"/>
              <a:t> </a:t>
            </a:r>
            <a:r>
              <a:rPr lang="en-US" dirty="0" smtClean="0"/>
              <a:t>The Aka territory is critically endangered by commercial loggers.</a:t>
            </a:r>
            <a:endParaRPr lang="en-US" dirty="0"/>
          </a:p>
        </p:txBody>
      </p:sp>
      <p:sp>
        <p:nvSpPr>
          <p:cNvPr id="4" name="Slide Number Placeholder 3"/>
          <p:cNvSpPr>
            <a:spLocks noGrp="1"/>
          </p:cNvSpPr>
          <p:nvPr>
            <p:ph type="sldNum" sz="quarter" idx="10"/>
          </p:nvPr>
        </p:nvSpPr>
        <p:spPr/>
        <p:txBody>
          <a:bodyPr/>
          <a:lstStyle/>
          <a:p>
            <a:fld id="{2C2CEDE2-123A-401B-BBA4-E22293AEF558}" type="slidenum">
              <a:rPr lang="en-US" smtClean="0"/>
              <a:t>35</a:t>
            </a:fld>
            <a:endParaRPr lang="en-US" dirty="0"/>
          </a:p>
        </p:txBody>
      </p:sp>
    </p:spTree>
    <p:extLst>
      <p:ext uri="{BB962C8B-B14F-4D97-AF65-F5344CB8AC3E}">
        <p14:creationId xmlns:p14="http://schemas.microsoft.com/office/powerpoint/2010/main" val="320685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6</a:t>
            </a:r>
            <a:endParaRPr lang="en-US" dirty="0"/>
          </a:p>
        </p:txBody>
      </p:sp>
      <p:sp>
        <p:nvSpPr>
          <p:cNvPr id="3" name="Text Placeholder 2"/>
          <p:cNvSpPr>
            <a:spLocks noGrp="1"/>
          </p:cNvSpPr>
          <p:nvPr>
            <p:ph type="body" sz="quarter" idx="15"/>
          </p:nvPr>
        </p:nvSpPr>
        <p:spPr/>
        <p:txBody>
          <a:bodyPr/>
          <a:lstStyle/>
          <a:p>
            <a:r>
              <a:rPr lang="en-US" dirty="0" smtClean="0"/>
              <a:t>Reproduction and Human Development</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tx2"/>
                </a:solidFill>
              </a:rPr>
              <a:t>6.1</a:t>
            </a:r>
            <a:r>
              <a:rPr lang="en-US" dirty="0" smtClean="0"/>
              <a:t> Illustrate how modes of reproduction are related to modes of livelihood.</a:t>
            </a:r>
          </a:p>
          <a:p>
            <a:pPr marL="0" indent="0">
              <a:buNone/>
            </a:pPr>
            <a:endParaRPr lang="en-US" dirty="0"/>
          </a:p>
          <a:p>
            <a:pPr marL="0" indent="0">
              <a:buNone/>
            </a:pPr>
            <a:r>
              <a:rPr lang="en-US" dirty="0" smtClean="0">
                <a:solidFill>
                  <a:schemeClr val="tx2"/>
                </a:solidFill>
              </a:rPr>
              <a:t>6.2</a:t>
            </a:r>
            <a:r>
              <a:rPr lang="en-US" dirty="0" smtClean="0"/>
              <a:t> Discuss how culture shapes fertility in different cultural contexts.</a:t>
            </a:r>
          </a:p>
          <a:p>
            <a:pPr marL="0" indent="0">
              <a:buNone/>
            </a:pPr>
            <a:endParaRPr lang="en-US" dirty="0"/>
          </a:p>
          <a:p>
            <a:pPr marL="0" indent="0">
              <a:buNone/>
            </a:pPr>
            <a:r>
              <a:rPr lang="en-US" dirty="0" smtClean="0">
                <a:solidFill>
                  <a:schemeClr val="tx2"/>
                </a:solidFill>
              </a:rPr>
              <a:t>6.3</a:t>
            </a:r>
            <a:r>
              <a:rPr lang="en-US" dirty="0" smtClean="0"/>
              <a:t> Identify how culture shapes personality over the life cycle. </a:t>
            </a:r>
            <a:endParaRPr lang="en-US"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Modes of Reproduction </a:t>
            </a:r>
            <a:r>
              <a:rPr lang="en-US" sz="2800" dirty="0" smtClean="0"/>
              <a:t>(1 of 2)</a:t>
            </a:r>
            <a:br>
              <a:rPr lang="en-US" sz="2800" dirty="0" smtClean="0"/>
            </a:br>
            <a:r>
              <a:rPr lang="en-US" sz="2000" dirty="0" smtClean="0"/>
              <a:t>6.1 Illustrate how modes of reproduction are related to modes of livelihood.</a:t>
            </a:r>
            <a:endParaRPr lang="en-US" sz="2000" dirty="0"/>
          </a:p>
        </p:txBody>
      </p:sp>
      <p:sp>
        <p:nvSpPr>
          <p:cNvPr id="3" name="Content Placeholder 2"/>
          <p:cNvSpPr>
            <a:spLocks noGrp="1"/>
          </p:cNvSpPr>
          <p:nvPr>
            <p:ph idx="1"/>
          </p:nvPr>
        </p:nvSpPr>
        <p:spPr/>
        <p:txBody>
          <a:bodyPr/>
          <a:lstStyle/>
          <a:p>
            <a:r>
              <a:rPr lang="en-US" dirty="0" smtClean="0"/>
              <a:t>The </a:t>
            </a:r>
            <a:r>
              <a:rPr lang="en-US" dirty="0"/>
              <a:t>F</a:t>
            </a:r>
            <a:r>
              <a:rPr lang="en-US" dirty="0" smtClean="0"/>
              <a:t>oraging Mode of Reproduction</a:t>
            </a:r>
          </a:p>
          <a:p>
            <a:endParaRPr lang="en-US" dirty="0"/>
          </a:p>
          <a:p>
            <a:r>
              <a:rPr lang="en-US" dirty="0" smtClean="0"/>
              <a:t>The Agricultural Mode of Reproduction</a:t>
            </a:r>
          </a:p>
          <a:p>
            <a:endParaRPr lang="en-US" dirty="0"/>
          </a:p>
          <a:p>
            <a:r>
              <a:rPr lang="en-US" dirty="0" smtClean="0"/>
              <a:t>The Industrial/Digital Mode of Reproduction</a:t>
            </a:r>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Modes of Reproduction </a:t>
            </a:r>
            <a:r>
              <a:rPr lang="en-US" sz="2800" dirty="0" smtClean="0"/>
              <a:t>(2 of 2)</a:t>
            </a:r>
            <a:endParaRPr lang="en-US" sz="2800" dirty="0"/>
          </a:p>
        </p:txBody>
      </p:sp>
      <p:sp>
        <p:nvSpPr>
          <p:cNvPr id="3" name="Content Placeholder 2"/>
          <p:cNvSpPr>
            <a:spLocks noGrp="1"/>
          </p:cNvSpPr>
          <p:nvPr>
            <p:ph idx="1"/>
          </p:nvPr>
        </p:nvSpPr>
        <p:spPr/>
        <p:txBody>
          <a:bodyPr/>
          <a:lstStyle/>
          <a:p>
            <a:r>
              <a:rPr lang="en-US" dirty="0" smtClean="0"/>
              <a:t>Population change is determined by combined effect of:</a:t>
            </a:r>
          </a:p>
          <a:p>
            <a:pPr lvl="1"/>
            <a:r>
              <a:rPr lang="en-US" dirty="0" smtClean="0"/>
              <a:t>Fertility: number of births in a given population per woman</a:t>
            </a:r>
          </a:p>
          <a:p>
            <a:pPr lvl="1"/>
            <a:r>
              <a:rPr lang="en-US" dirty="0" smtClean="0"/>
              <a:t>Mortality: number of deaths in a given population </a:t>
            </a:r>
            <a:endParaRPr lang="en-US" dirty="0"/>
          </a:p>
        </p:txBody>
      </p:sp>
    </p:spTree>
    <p:extLst>
      <p:ext uri="{BB962C8B-B14F-4D97-AF65-F5344CB8AC3E}">
        <p14:creationId xmlns:p14="http://schemas.microsoft.com/office/powerpoint/2010/main" val="353619901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Foraging Mode of Reproduction</a:t>
            </a:r>
            <a:endParaRPr lang="en-US" dirty="0"/>
          </a:p>
        </p:txBody>
      </p:sp>
      <p:sp>
        <p:nvSpPr>
          <p:cNvPr id="3" name="Content Placeholder 2"/>
          <p:cNvSpPr>
            <a:spLocks noGrp="1"/>
          </p:cNvSpPr>
          <p:nvPr>
            <p:ph idx="1"/>
          </p:nvPr>
        </p:nvSpPr>
        <p:spPr/>
        <p:txBody>
          <a:bodyPr/>
          <a:lstStyle/>
          <a:p>
            <a:r>
              <a:rPr lang="en-US" dirty="0" smtClean="0"/>
              <a:t>Characteristics</a:t>
            </a:r>
          </a:p>
          <a:p>
            <a:pPr lvl="1"/>
            <a:r>
              <a:rPr lang="en-US" dirty="0"/>
              <a:t>Moderate death and birth </a:t>
            </a:r>
            <a:r>
              <a:rPr lang="en-US" dirty="0" smtClean="0"/>
              <a:t>rates</a:t>
            </a:r>
          </a:p>
          <a:p>
            <a:pPr lvl="2"/>
            <a:r>
              <a:rPr lang="en-US" dirty="0" smtClean="0"/>
              <a:t>Fertility constrained biologically by high levels of physical activity and low body fat of women</a:t>
            </a:r>
            <a:endParaRPr lang="en-US" dirty="0"/>
          </a:p>
          <a:p>
            <a:pPr lvl="1"/>
            <a:endParaRPr lang="en-US" dirty="0"/>
          </a:p>
          <a:p>
            <a:pPr lvl="1"/>
            <a:r>
              <a:rPr lang="en-US" dirty="0"/>
              <a:t>Value of children: </a:t>
            </a:r>
            <a:r>
              <a:rPr lang="en-US" dirty="0" smtClean="0"/>
              <a:t>moderate</a:t>
            </a:r>
            <a:endParaRPr lang="en-US" dirty="0"/>
          </a:p>
        </p:txBody>
      </p:sp>
    </p:spTree>
    <p:extLst>
      <p:ext uri="{BB962C8B-B14F-4D97-AF65-F5344CB8AC3E}">
        <p14:creationId xmlns:p14="http://schemas.microsoft.com/office/powerpoint/2010/main" val="1681114159"/>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The Agricultural Mode of Reproduction</a:t>
            </a:r>
            <a:endParaRPr lang="en-US" sz="3600" dirty="0"/>
          </a:p>
        </p:txBody>
      </p:sp>
      <p:sp>
        <p:nvSpPr>
          <p:cNvPr id="3" name="Content Placeholder 2"/>
          <p:cNvSpPr>
            <a:spLocks noGrp="1"/>
          </p:cNvSpPr>
          <p:nvPr>
            <p:ph idx="1"/>
          </p:nvPr>
        </p:nvSpPr>
        <p:spPr/>
        <p:txBody>
          <a:bodyPr/>
          <a:lstStyle/>
          <a:p>
            <a:r>
              <a:rPr lang="en-US" dirty="0"/>
              <a:t>High birth rates, declining death rates</a:t>
            </a:r>
          </a:p>
          <a:p>
            <a:r>
              <a:rPr lang="en-US" dirty="0"/>
              <a:t>Value of children: high</a:t>
            </a:r>
          </a:p>
          <a:p>
            <a:pPr lvl="1"/>
            <a:r>
              <a:rPr lang="en-US" dirty="0"/>
              <a:t>Pronatalist techniques</a:t>
            </a:r>
          </a:p>
          <a:p>
            <a:r>
              <a:rPr lang="en-US" dirty="0"/>
              <a:t>Increased reliance on direct means of birth control</a:t>
            </a:r>
          </a:p>
          <a:p>
            <a:r>
              <a:rPr lang="en-US" dirty="0"/>
              <a:t>Increasing specialization: midwives, herbalists</a:t>
            </a:r>
          </a:p>
          <a:p>
            <a:r>
              <a:rPr lang="en-US" dirty="0"/>
              <a:t>Example: </a:t>
            </a:r>
            <a:r>
              <a:rPr lang="en-US" dirty="0" smtClean="0"/>
              <a:t>the </a:t>
            </a:r>
            <a:r>
              <a:rPr lang="en-US" dirty="0"/>
              <a:t>Old Order Amish of the </a:t>
            </a:r>
            <a:r>
              <a:rPr lang="en-US" dirty="0" smtClean="0"/>
              <a:t>United States </a:t>
            </a:r>
            <a:r>
              <a:rPr lang="en-US" dirty="0"/>
              <a:t>and Canada</a:t>
            </a:r>
          </a:p>
          <a:p>
            <a:endParaRPr lang="en-US" dirty="0"/>
          </a:p>
        </p:txBody>
      </p:sp>
    </p:spTree>
    <p:extLst>
      <p:ext uri="{BB962C8B-B14F-4D97-AF65-F5344CB8AC3E}">
        <p14:creationId xmlns:p14="http://schemas.microsoft.com/office/powerpoint/2010/main" val="1371704297"/>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Culturama: The Old Order Amish </a:t>
            </a:r>
            <a:br>
              <a:rPr lang="en-US" dirty="0" smtClean="0"/>
            </a:br>
            <a:r>
              <a:rPr lang="en-US" dirty="0" smtClean="0"/>
              <a:t>of the United States and Canada </a:t>
            </a:r>
            <a:r>
              <a:rPr lang="en-US" sz="3100" dirty="0" smtClean="0"/>
              <a:t>(1 of 3)</a:t>
            </a:r>
            <a:endParaRPr lang="en-US" sz="3100" dirty="0"/>
          </a:p>
        </p:txBody>
      </p:sp>
      <p:sp>
        <p:nvSpPr>
          <p:cNvPr id="3" name="Content Placeholder 2"/>
          <p:cNvSpPr>
            <a:spLocks noGrp="1"/>
          </p:cNvSpPr>
          <p:nvPr>
            <p:ph idx="1"/>
          </p:nvPr>
        </p:nvSpPr>
        <p:spPr/>
        <p:txBody>
          <a:bodyPr/>
          <a:lstStyle/>
          <a:p>
            <a:r>
              <a:rPr lang="en-US" dirty="0"/>
              <a:t>Christians who live in rural areas of </a:t>
            </a:r>
            <a:r>
              <a:rPr lang="en-US" dirty="0" smtClean="0"/>
              <a:t>United States </a:t>
            </a:r>
            <a:r>
              <a:rPr lang="en-US" dirty="0"/>
              <a:t>and Canada</a:t>
            </a:r>
          </a:p>
          <a:p>
            <a:r>
              <a:rPr lang="en-US" dirty="0"/>
              <a:t>Population </a:t>
            </a:r>
            <a:r>
              <a:rPr lang="en-US" dirty="0" smtClean="0"/>
              <a:t>around 250,000</a:t>
            </a:r>
            <a:endParaRPr lang="en-US" dirty="0"/>
          </a:p>
          <a:p>
            <a:r>
              <a:rPr lang="en-US" dirty="0"/>
              <a:t>Migrated from Switzerland beginning in the </a:t>
            </a:r>
            <a:r>
              <a:rPr lang="en-US"/>
              <a:t>early </a:t>
            </a:r>
            <a:r>
              <a:rPr lang="en-US" smtClean="0"/>
              <a:t>eighteenth </a:t>
            </a:r>
            <a:r>
              <a:rPr lang="en-US" dirty="0"/>
              <a:t>century to avoid religious persecution</a:t>
            </a:r>
          </a:p>
          <a:p>
            <a:r>
              <a:rPr lang="en-US" dirty="0"/>
              <a:t>Speak a German-derived dialect</a:t>
            </a:r>
          </a:p>
          <a:p>
            <a:endParaRPr lang="en-US" dirty="0"/>
          </a:p>
        </p:txBody>
      </p:sp>
    </p:spTree>
    <p:extLst>
      <p:ext uri="{BB962C8B-B14F-4D97-AF65-F5344CB8AC3E}">
        <p14:creationId xmlns:p14="http://schemas.microsoft.com/office/powerpoint/2010/main" val="3125744942"/>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6.1 Old Order Amish Population of North America</a:t>
            </a:r>
            <a:endParaRPr lang="en-US" dirty="0"/>
          </a:p>
        </p:txBody>
      </p:sp>
      <p:pic>
        <p:nvPicPr>
          <p:cNvPr id="6" name="Content Placeholder 5" descr="A map of eastern North America shows the largest Old Order Amish populations in Ohio, Indiana, and Pennsylvania, with smaller populations in Ontario (Canada), Montana, Minnesota, Iowa, Wisconsin, Kansas, Oklahoma, Texas, Missouri, Illinois, Michigan, New York, Kentucky, Tennessee, Maryland, Virginia, North Carolina, Georgia, and Florida. An inset globe shows these areas are in eastern North Ame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743200" y="1507449"/>
            <a:ext cx="3810000" cy="4740951"/>
          </a:xfrm>
        </p:spPr>
      </p:pic>
    </p:spTree>
    <p:extLst>
      <p:ext uri="{BB962C8B-B14F-4D97-AF65-F5344CB8AC3E}">
        <p14:creationId xmlns:p14="http://schemas.microsoft.com/office/powerpoint/2010/main" val="2576550822"/>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Culturama: The Old Order Amish </a:t>
            </a:r>
            <a:r>
              <a:rPr lang="en-US" dirty="0" smtClean="0"/>
              <a:t/>
            </a:r>
            <a:br>
              <a:rPr lang="en-US" dirty="0" smtClean="0"/>
            </a:br>
            <a:r>
              <a:rPr lang="en-US" dirty="0" smtClean="0"/>
              <a:t>of </a:t>
            </a:r>
            <a:r>
              <a:rPr lang="en-US" dirty="0"/>
              <a:t>the United States and Canada </a:t>
            </a:r>
            <a:r>
              <a:rPr lang="en-US" sz="3100" dirty="0" smtClean="0"/>
              <a:t>(2 </a:t>
            </a:r>
            <a:r>
              <a:rPr lang="en-US" sz="3100" dirty="0"/>
              <a:t>of </a:t>
            </a:r>
            <a:r>
              <a:rPr lang="en-US" sz="3100" dirty="0" smtClean="0"/>
              <a:t>3)</a:t>
            </a:r>
            <a:endParaRPr lang="en-US" sz="3100" dirty="0"/>
          </a:p>
        </p:txBody>
      </p:sp>
      <p:sp>
        <p:nvSpPr>
          <p:cNvPr id="3" name="Content Placeholder 2"/>
          <p:cNvSpPr>
            <a:spLocks noGrp="1"/>
          </p:cNvSpPr>
          <p:nvPr>
            <p:ph idx="1"/>
          </p:nvPr>
        </p:nvSpPr>
        <p:spPr/>
        <p:txBody>
          <a:bodyPr/>
          <a:lstStyle/>
          <a:p>
            <a:r>
              <a:rPr lang="en-US" dirty="0"/>
              <a:t>Old Order Amish have high fertility rates</a:t>
            </a:r>
          </a:p>
          <a:p>
            <a:pPr lvl="1"/>
            <a:r>
              <a:rPr lang="en-US" dirty="0"/>
              <a:t>Average </a:t>
            </a:r>
            <a:r>
              <a:rPr lang="en-US" dirty="0" smtClean="0"/>
              <a:t>6 to 7 </a:t>
            </a:r>
            <a:r>
              <a:rPr lang="en-US" dirty="0"/>
              <a:t>births per woman</a:t>
            </a:r>
          </a:p>
          <a:p>
            <a:pPr lvl="1"/>
            <a:r>
              <a:rPr lang="en-US" dirty="0"/>
              <a:t>Overall population is doubling every 20 </a:t>
            </a:r>
            <a:r>
              <a:rPr lang="en-US" dirty="0" smtClean="0"/>
              <a:t>years</a:t>
            </a:r>
          </a:p>
          <a:p>
            <a:pPr lvl="1"/>
            <a:r>
              <a:rPr lang="en-US" dirty="0"/>
              <a:t>Youth decide whether to be baptized into the faith at age </a:t>
            </a:r>
            <a:r>
              <a:rPr lang="en-US" dirty="0" smtClean="0"/>
              <a:t>16; around 90 </a:t>
            </a:r>
            <a:r>
              <a:rPr lang="en-US" dirty="0"/>
              <a:t>percent decide to accept Amish ways and be </a:t>
            </a:r>
            <a:r>
              <a:rPr lang="en-US" dirty="0" smtClean="0"/>
              <a:t>baptized</a:t>
            </a:r>
            <a:endParaRPr lang="en-US" dirty="0"/>
          </a:p>
          <a:p>
            <a:pPr lvl="1"/>
            <a:r>
              <a:rPr lang="en-US" i="1" dirty="0"/>
              <a:t>Rumspringa</a:t>
            </a:r>
            <a:r>
              <a:rPr lang="en-US" dirty="0"/>
              <a:t> is their opportunity to experience the English world</a:t>
            </a:r>
          </a:p>
          <a:p>
            <a:pPr lvl="1"/>
            <a:endParaRPr lang="en-US" dirty="0"/>
          </a:p>
          <a:p>
            <a:endParaRPr lang="en-US" dirty="0"/>
          </a:p>
        </p:txBody>
      </p:sp>
    </p:spTree>
    <p:extLst>
      <p:ext uri="{BB962C8B-B14F-4D97-AF65-F5344CB8AC3E}">
        <p14:creationId xmlns:p14="http://schemas.microsoft.com/office/powerpoint/2010/main" val="3223366343"/>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Culturama: The Old Order Amish </a:t>
            </a:r>
            <a:r>
              <a:rPr lang="en-US" dirty="0" smtClean="0"/>
              <a:t/>
            </a:r>
            <a:br>
              <a:rPr lang="en-US" dirty="0" smtClean="0"/>
            </a:br>
            <a:r>
              <a:rPr lang="en-US" dirty="0" smtClean="0"/>
              <a:t>of </a:t>
            </a:r>
            <a:r>
              <a:rPr lang="en-US" dirty="0"/>
              <a:t>the United States and Canada </a:t>
            </a:r>
            <a:r>
              <a:rPr lang="en-US" sz="3100" dirty="0" smtClean="0"/>
              <a:t>(3 </a:t>
            </a:r>
            <a:r>
              <a:rPr lang="en-US" sz="3100" dirty="0"/>
              <a:t>of </a:t>
            </a:r>
            <a:r>
              <a:rPr lang="en-US" sz="3100" dirty="0" smtClean="0"/>
              <a:t>3)</a:t>
            </a:r>
            <a:endParaRPr lang="en-US" sz="3100" dirty="0"/>
          </a:p>
        </p:txBody>
      </p:sp>
      <p:sp>
        <p:nvSpPr>
          <p:cNvPr id="3" name="Content Placeholder 2"/>
          <p:cNvSpPr>
            <a:spLocks noGrp="1"/>
          </p:cNvSpPr>
          <p:nvPr>
            <p:ph idx="1"/>
          </p:nvPr>
        </p:nvSpPr>
        <p:spPr/>
        <p:txBody>
          <a:bodyPr/>
          <a:lstStyle/>
          <a:p>
            <a:r>
              <a:rPr lang="en-US" dirty="0"/>
              <a:t>Economic Change among the Old Order </a:t>
            </a:r>
            <a:r>
              <a:rPr lang="en-US" dirty="0" smtClean="0"/>
              <a:t>Amish</a:t>
            </a:r>
          </a:p>
          <a:p>
            <a:pPr lvl="1"/>
            <a:r>
              <a:rPr lang="en-US" dirty="0"/>
              <a:t>Growing involvement in non-farming activities such as small businesses</a:t>
            </a:r>
          </a:p>
          <a:p>
            <a:pPr lvl="1"/>
            <a:r>
              <a:rPr lang="en-US" dirty="0"/>
              <a:t>Cultural accommodation to business world by selling at home to keep family together</a:t>
            </a:r>
          </a:p>
          <a:p>
            <a:pPr lvl="1"/>
            <a:r>
              <a:rPr lang="en-US" dirty="0"/>
              <a:t>Some working away, with the “English”</a:t>
            </a:r>
          </a:p>
          <a:p>
            <a:endParaRPr lang="en-US" dirty="0"/>
          </a:p>
        </p:txBody>
      </p:sp>
    </p:spTree>
    <p:extLst>
      <p:ext uri="{BB962C8B-B14F-4D97-AF65-F5344CB8AC3E}">
        <p14:creationId xmlns:p14="http://schemas.microsoft.com/office/powerpoint/2010/main" val="4140845813"/>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The Industrial/Digital Mode </a:t>
            </a:r>
            <a:br>
              <a:rPr lang="en-US" dirty="0" smtClean="0"/>
            </a:br>
            <a:r>
              <a:rPr lang="en-US" dirty="0" smtClean="0"/>
              <a:t>of Reproduction </a:t>
            </a:r>
            <a:r>
              <a:rPr lang="en-US" sz="3100" dirty="0" smtClean="0"/>
              <a:t>(1 of 2)</a:t>
            </a:r>
            <a:endParaRPr lang="en-US" sz="3100" dirty="0"/>
          </a:p>
        </p:txBody>
      </p:sp>
      <p:sp>
        <p:nvSpPr>
          <p:cNvPr id="3" name="Content Placeholder 2"/>
          <p:cNvSpPr>
            <a:spLocks noGrp="1"/>
          </p:cNvSpPr>
          <p:nvPr>
            <p:ph idx="1"/>
          </p:nvPr>
        </p:nvSpPr>
        <p:spPr/>
        <p:txBody>
          <a:bodyPr/>
          <a:lstStyle/>
          <a:p>
            <a:r>
              <a:rPr lang="en-US" dirty="0" smtClean="0"/>
              <a:t>Follows </a:t>
            </a:r>
            <a:r>
              <a:rPr lang="en-US" dirty="0"/>
              <a:t>the demographic transition </a:t>
            </a:r>
          </a:p>
          <a:p>
            <a:r>
              <a:rPr lang="en-US" dirty="0" smtClean="0"/>
              <a:t>Below-replacement-level fertility in many contexts</a:t>
            </a:r>
            <a:endParaRPr lang="en-US" dirty="0"/>
          </a:p>
          <a:p>
            <a:r>
              <a:rPr lang="en-US" dirty="0" smtClean="0"/>
              <a:t>Value </a:t>
            </a:r>
            <a:r>
              <a:rPr lang="en-US" dirty="0"/>
              <a:t>of children: </a:t>
            </a:r>
            <a:r>
              <a:rPr lang="en-US" dirty="0" smtClean="0"/>
              <a:t>less</a:t>
            </a:r>
            <a:endParaRPr lang="en-US" dirty="0"/>
          </a:p>
          <a:p>
            <a:endParaRPr lang="en-US" dirty="0"/>
          </a:p>
        </p:txBody>
      </p:sp>
    </p:spTree>
    <p:extLst>
      <p:ext uri="{BB962C8B-B14F-4D97-AF65-F5344CB8AC3E}">
        <p14:creationId xmlns:p14="http://schemas.microsoft.com/office/powerpoint/2010/main" val="2494812246"/>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Figure 6.2 Model of the </a:t>
            </a:r>
            <a:br>
              <a:rPr lang="en-US" dirty="0" smtClean="0"/>
            </a:br>
            <a:r>
              <a:rPr lang="en-US" dirty="0" smtClean="0"/>
              <a:t>Demographic Transition</a:t>
            </a:r>
            <a:endParaRPr lang="en-US" dirty="0"/>
          </a:p>
        </p:txBody>
      </p:sp>
      <p:pic>
        <p:nvPicPr>
          <p:cNvPr id="6" name="Content Placeholder 5" descr="A graph shows the four phases of a demographic transition model.&#10;&#10;The graph show birth or death rate from low to high on the vertical axis and time and development on the horizontal axis.&#10;Phase 1: Birth rate and death rate are both high and there is stability in population growth.&#10;Phase 2: Birth rate is high but a health transition causes death rate to plummet, leading to a high rate of population growth at the end of the phase.&#10;Phase 3: Death rate remains low; birth rate starts to plummet due to a fertility transition, leading to stability at the end of the phase. &#10;Phase 4: Birth rate and death rate are both low and there is stability in population growth."/>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630947" y="1600200"/>
            <a:ext cx="5882105" cy="4525963"/>
          </a:xfrm>
        </p:spPr>
      </p:pic>
    </p:spTree>
    <p:extLst>
      <p:ext uri="{BB962C8B-B14F-4D97-AF65-F5344CB8AC3E}">
        <p14:creationId xmlns:p14="http://schemas.microsoft.com/office/powerpoint/2010/main" val="1380732726"/>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The Industrial/Digital Mode </a:t>
            </a:r>
            <a:br>
              <a:rPr lang="en-US" dirty="0"/>
            </a:br>
            <a:r>
              <a:rPr lang="en-US" dirty="0" smtClean="0"/>
              <a:t>of </a:t>
            </a:r>
            <a:r>
              <a:rPr lang="en-US" dirty="0"/>
              <a:t>Reproduction </a:t>
            </a:r>
            <a:r>
              <a:rPr lang="en-US" sz="3100" dirty="0" smtClean="0"/>
              <a:t>(2 </a:t>
            </a:r>
            <a:r>
              <a:rPr lang="en-US" sz="3100" dirty="0"/>
              <a:t>of 2)</a:t>
            </a:r>
          </a:p>
        </p:txBody>
      </p:sp>
      <p:sp>
        <p:nvSpPr>
          <p:cNvPr id="3" name="Content Placeholder 2"/>
          <p:cNvSpPr>
            <a:spLocks noGrp="1"/>
          </p:cNvSpPr>
          <p:nvPr>
            <p:ph idx="1"/>
          </p:nvPr>
        </p:nvSpPr>
        <p:spPr/>
        <p:txBody>
          <a:bodyPr>
            <a:normAutofit/>
          </a:bodyPr>
          <a:lstStyle/>
          <a:p>
            <a:r>
              <a:rPr lang="en-US" dirty="0" smtClean="0"/>
              <a:t>Three Characteristics</a:t>
            </a:r>
          </a:p>
          <a:p>
            <a:pPr lvl="1"/>
            <a:r>
              <a:rPr lang="en-US" dirty="0" smtClean="0"/>
              <a:t>Stratified reproduction</a:t>
            </a:r>
          </a:p>
          <a:p>
            <a:pPr lvl="2"/>
            <a:r>
              <a:rPr lang="en-US" dirty="0" smtClean="0"/>
              <a:t>Middle- and upper-class families have fewer children, but higher survival rates</a:t>
            </a:r>
          </a:p>
          <a:p>
            <a:pPr lvl="2"/>
            <a:r>
              <a:rPr lang="en-US" dirty="0" smtClean="0"/>
              <a:t>Among the poor, fertility and mortality rates are both high</a:t>
            </a:r>
          </a:p>
          <a:p>
            <a:pPr lvl="1"/>
            <a:r>
              <a:rPr lang="en-US" dirty="0" smtClean="0"/>
              <a:t>Population </a:t>
            </a:r>
            <a:r>
              <a:rPr lang="en-US" dirty="0"/>
              <a:t>aging</a:t>
            </a:r>
          </a:p>
          <a:p>
            <a:pPr lvl="1"/>
            <a:r>
              <a:rPr lang="en-US" dirty="0" smtClean="0"/>
              <a:t>Importance </a:t>
            </a:r>
            <a:r>
              <a:rPr lang="en-US" dirty="0"/>
              <a:t>of scientific knowledge and technology in managing reproduction</a:t>
            </a:r>
          </a:p>
          <a:p>
            <a:endParaRPr lang="en-US" dirty="0"/>
          </a:p>
        </p:txBody>
      </p:sp>
    </p:spTree>
    <p:extLst>
      <p:ext uri="{BB962C8B-B14F-4D97-AF65-F5344CB8AC3E}">
        <p14:creationId xmlns:p14="http://schemas.microsoft.com/office/powerpoint/2010/main" val="1528544877"/>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dirty="0" smtClean="0"/>
              <a:t>Culture and Fertility</a:t>
            </a:r>
            <a:br>
              <a:rPr lang="en-US" dirty="0" smtClean="0"/>
            </a:br>
            <a:r>
              <a:rPr lang="en-US" sz="2200" dirty="0" smtClean="0"/>
              <a:t>6.2 Discuss how culture shapes fertility in different cultural contexts.</a:t>
            </a:r>
            <a:endParaRPr lang="en-US" sz="2200" dirty="0"/>
          </a:p>
        </p:txBody>
      </p:sp>
      <p:sp>
        <p:nvSpPr>
          <p:cNvPr id="3" name="Content Placeholder 2"/>
          <p:cNvSpPr>
            <a:spLocks noGrp="1"/>
          </p:cNvSpPr>
          <p:nvPr>
            <p:ph idx="1"/>
          </p:nvPr>
        </p:nvSpPr>
        <p:spPr/>
        <p:txBody>
          <a:bodyPr/>
          <a:lstStyle/>
          <a:p>
            <a:r>
              <a:rPr lang="en-US" dirty="0"/>
              <a:t>Sexual </a:t>
            </a:r>
            <a:r>
              <a:rPr lang="en-US" dirty="0" smtClean="0"/>
              <a:t>Intercourse</a:t>
            </a:r>
            <a:endParaRPr lang="en-US" dirty="0"/>
          </a:p>
          <a:p>
            <a:endParaRPr lang="en-US" dirty="0"/>
          </a:p>
          <a:p>
            <a:r>
              <a:rPr lang="en-US" dirty="0"/>
              <a:t>Fertility </a:t>
            </a:r>
            <a:r>
              <a:rPr lang="en-US" dirty="0" smtClean="0"/>
              <a:t>Decision </a:t>
            </a:r>
            <a:r>
              <a:rPr lang="en-US" dirty="0"/>
              <a:t>M</a:t>
            </a:r>
            <a:r>
              <a:rPr lang="en-US" dirty="0" smtClean="0"/>
              <a:t>aking</a:t>
            </a:r>
            <a:endParaRPr lang="en-US" dirty="0"/>
          </a:p>
          <a:p>
            <a:endParaRPr lang="en-US" dirty="0"/>
          </a:p>
          <a:p>
            <a:r>
              <a:rPr lang="en-US" dirty="0"/>
              <a:t>Fertility </a:t>
            </a:r>
            <a:r>
              <a:rPr lang="en-US" dirty="0" smtClean="0"/>
              <a:t>Control</a:t>
            </a:r>
            <a:endParaRPr lang="en-US" dirty="0"/>
          </a:p>
          <a:p>
            <a:endParaRPr lang="en-US" dirty="0"/>
          </a:p>
          <a:p>
            <a:r>
              <a:rPr lang="en-US" dirty="0"/>
              <a:t>Infanticide</a:t>
            </a:r>
          </a:p>
        </p:txBody>
      </p:sp>
    </p:spTree>
    <p:extLst>
      <p:ext uri="{BB962C8B-B14F-4D97-AF65-F5344CB8AC3E}">
        <p14:creationId xmlns:p14="http://schemas.microsoft.com/office/powerpoint/2010/main" val="4031776074"/>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Sexual Intercourse</a:t>
            </a:r>
            <a:endParaRPr lang="en-US" dirty="0"/>
          </a:p>
        </p:txBody>
      </p:sp>
      <p:sp>
        <p:nvSpPr>
          <p:cNvPr id="3" name="Content Placeholder 2"/>
          <p:cNvSpPr>
            <a:spLocks noGrp="1"/>
          </p:cNvSpPr>
          <p:nvPr>
            <p:ph idx="1"/>
          </p:nvPr>
        </p:nvSpPr>
        <p:spPr/>
        <p:txBody>
          <a:bodyPr/>
          <a:lstStyle/>
          <a:p>
            <a:r>
              <a:rPr lang="en-US" dirty="0" smtClean="0"/>
              <a:t>When to Begin Having Intercourse?</a:t>
            </a:r>
          </a:p>
          <a:p>
            <a:pPr lvl="1"/>
            <a:r>
              <a:rPr lang="en-US" dirty="0" smtClean="0"/>
              <a:t>Menarche</a:t>
            </a:r>
          </a:p>
          <a:p>
            <a:pPr lvl="1"/>
            <a:r>
              <a:rPr lang="en-US" dirty="0" smtClean="0"/>
              <a:t>Menopause</a:t>
            </a:r>
            <a:endParaRPr lang="en-US" dirty="0"/>
          </a:p>
          <a:p>
            <a:pPr lvl="1"/>
            <a:endParaRPr lang="en-US" dirty="0"/>
          </a:p>
          <a:p>
            <a:r>
              <a:rPr lang="en-US" dirty="0" smtClean="0"/>
              <a:t>Intercourse Frequency and Fertility</a:t>
            </a:r>
          </a:p>
          <a:p>
            <a:pPr lvl="1"/>
            <a:r>
              <a:rPr lang="en-US" dirty="0" smtClean="0"/>
              <a:t>Study comparing Euro-Americans in the United States and Hindus in India found frequency and fertility were not associated</a:t>
            </a:r>
          </a:p>
        </p:txBody>
      </p:sp>
    </p:spTree>
    <p:extLst>
      <p:ext uri="{BB962C8B-B14F-4D97-AF65-F5344CB8AC3E}">
        <p14:creationId xmlns:p14="http://schemas.microsoft.com/office/powerpoint/2010/main" val="1235724422"/>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Anthropology Works: Studying Sexual Behavior among MSM in New York City</a:t>
            </a:r>
            <a:endParaRPr lang="en-US" sz="3200" dirty="0"/>
          </a:p>
        </p:txBody>
      </p:sp>
      <p:sp>
        <p:nvSpPr>
          <p:cNvPr id="3" name="Content Placeholder 2"/>
          <p:cNvSpPr>
            <a:spLocks noGrp="1"/>
          </p:cNvSpPr>
          <p:nvPr>
            <p:ph idx="1"/>
          </p:nvPr>
        </p:nvSpPr>
        <p:spPr/>
        <p:txBody>
          <a:bodyPr/>
          <a:lstStyle/>
          <a:p>
            <a:r>
              <a:rPr lang="en-US" dirty="0"/>
              <a:t>Study of sex practices of men who have sex with men</a:t>
            </a:r>
          </a:p>
          <a:p>
            <a:r>
              <a:rPr lang="en-US" dirty="0" smtClean="0"/>
              <a:t>Especially </a:t>
            </a:r>
            <a:r>
              <a:rPr lang="en-US" dirty="0"/>
              <a:t>use or non-use of condoms</a:t>
            </a:r>
          </a:p>
          <a:p>
            <a:r>
              <a:rPr lang="en-US" dirty="0" smtClean="0"/>
              <a:t>Use </a:t>
            </a:r>
            <a:r>
              <a:rPr lang="en-US" dirty="0"/>
              <a:t>of interviews to provide qualitative insights </a:t>
            </a:r>
          </a:p>
          <a:p>
            <a:endParaRPr lang="en-US" dirty="0"/>
          </a:p>
        </p:txBody>
      </p:sp>
    </p:spTree>
    <p:extLst>
      <p:ext uri="{BB962C8B-B14F-4D97-AF65-F5344CB8AC3E}">
        <p14:creationId xmlns:p14="http://schemas.microsoft.com/office/powerpoint/2010/main" val="1727729418"/>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Fertility Decision </a:t>
            </a:r>
            <a:r>
              <a:rPr lang="en-US" dirty="0" smtClean="0"/>
              <a:t>Making </a:t>
            </a:r>
            <a:r>
              <a:rPr lang="en-US" sz="2800" dirty="0" smtClean="0"/>
              <a:t>(1 of 3)</a:t>
            </a:r>
            <a:endParaRPr lang="en-US" sz="2800" dirty="0"/>
          </a:p>
        </p:txBody>
      </p:sp>
      <p:sp>
        <p:nvSpPr>
          <p:cNvPr id="3" name="Content Placeholder 2"/>
          <p:cNvSpPr>
            <a:spLocks noGrp="1"/>
          </p:cNvSpPr>
          <p:nvPr>
            <p:ph idx="1"/>
          </p:nvPr>
        </p:nvSpPr>
        <p:spPr/>
        <p:txBody>
          <a:bodyPr/>
          <a:lstStyle/>
          <a:p>
            <a:r>
              <a:rPr lang="en-US" dirty="0" smtClean="0"/>
              <a:t>At the Family Level</a:t>
            </a:r>
          </a:p>
          <a:p>
            <a:pPr lvl="1"/>
            <a:r>
              <a:rPr lang="en-US" dirty="0" smtClean="0"/>
              <a:t>Considerations for having children</a:t>
            </a:r>
          </a:p>
          <a:p>
            <a:pPr lvl="2"/>
            <a:r>
              <a:rPr lang="en-US" dirty="0" smtClean="0"/>
              <a:t>Children’s labor value</a:t>
            </a:r>
          </a:p>
          <a:p>
            <a:pPr lvl="2"/>
            <a:r>
              <a:rPr lang="en-US" dirty="0" smtClean="0"/>
              <a:t>Children’s value as old-age support for parents</a:t>
            </a:r>
          </a:p>
          <a:p>
            <a:pPr lvl="2"/>
            <a:r>
              <a:rPr lang="en-US" dirty="0" smtClean="0"/>
              <a:t>Infant and child mortality rates</a:t>
            </a:r>
          </a:p>
          <a:p>
            <a:pPr lvl="2"/>
            <a:r>
              <a:rPr lang="en-US" dirty="0" smtClean="0"/>
              <a:t>Economic costs of children</a:t>
            </a:r>
            <a:endParaRPr lang="en-US" dirty="0"/>
          </a:p>
        </p:txBody>
      </p:sp>
    </p:spTree>
    <p:extLst>
      <p:ext uri="{BB962C8B-B14F-4D97-AF65-F5344CB8AC3E}">
        <p14:creationId xmlns:p14="http://schemas.microsoft.com/office/powerpoint/2010/main" val="3021044256"/>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Fertility Decision </a:t>
            </a:r>
            <a:r>
              <a:rPr lang="en-US" dirty="0" smtClean="0"/>
              <a:t>Making </a:t>
            </a:r>
            <a:r>
              <a:rPr lang="en-US" sz="2800" dirty="0" smtClean="0"/>
              <a:t>(2 of 3)</a:t>
            </a:r>
            <a:endParaRPr lang="en-US" sz="2800" dirty="0"/>
          </a:p>
        </p:txBody>
      </p:sp>
      <p:sp>
        <p:nvSpPr>
          <p:cNvPr id="3" name="Content Placeholder 2"/>
          <p:cNvSpPr>
            <a:spLocks noGrp="1"/>
          </p:cNvSpPr>
          <p:nvPr>
            <p:ph idx="1"/>
          </p:nvPr>
        </p:nvSpPr>
        <p:spPr/>
        <p:txBody>
          <a:bodyPr/>
          <a:lstStyle/>
          <a:p>
            <a:r>
              <a:rPr lang="en-US" dirty="0" smtClean="0"/>
              <a:t>At the State Level</a:t>
            </a:r>
          </a:p>
          <a:p>
            <a:pPr lvl="1"/>
            <a:r>
              <a:rPr lang="en-US" dirty="0" smtClean="0"/>
              <a:t>Economic </a:t>
            </a:r>
            <a:r>
              <a:rPr lang="en-US" dirty="0"/>
              <a:t>factors, especially labor requirements</a:t>
            </a:r>
          </a:p>
          <a:p>
            <a:pPr lvl="1"/>
            <a:r>
              <a:rPr lang="en-US" dirty="0"/>
              <a:t>Maintaining the tax base, military, </a:t>
            </a:r>
            <a:r>
              <a:rPr lang="en-US" dirty="0" smtClean="0"/>
              <a:t>ethnic </a:t>
            </a:r>
            <a:r>
              <a:rPr lang="en-US" dirty="0"/>
              <a:t>and regional proportions</a:t>
            </a:r>
          </a:p>
          <a:p>
            <a:pPr lvl="1"/>
            <a:r>
              <a:rPr lang="en-US" dirty="0"/>
              <a:t>Providing public services</a:t>
            </a:r>
          </a:p>
          <a:p>
            <a:pPr lvl="1"/>
            <a:r>
              <a:rPr lang="en-US" dirty="0"/>
              <a:t>Dealing with population aging</a:t>
            </a:r>
          </a:p>
          <a:p>
            <a:endParaRPr lang="en-US" dirty="0"/>
          </a:p>
        </p:txBody>
      </p:sp>
    </p:spTree>
    <p:extLst>
      <p:ext uri="{BB962C8B-B14F-4D97-AF65-F5344CB8AC3E}">
        <p14:creationId xmlns:p14="http://schemas.microsoft.com/office/powerpoint/2010/main" val="284993574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Fertility Decision </a:t>
            </a:r>
            <a:r>
              <a:rPr lang="en-US" dirty="0" smtClean="0"/>
              <a:t>Making </a:t>
            </a:r>
            <a:r>
              <a:rPr lang="en-US" sz="2800" dirty="0" smtClean="0"/>
              <a:t>(3 of 3)</a:t>
            </a:r>
            <a:endParaRPr lang="en-US" sz="2800" dirty="0"/>
          </a:p>
        </p:txBody>
      </p:sp>
      <p:sp>
        <p:nvSpPr>
          <p:cNvPr id="3" name="Content Placeholder 2"/>
          <p:cNvSpPr>
            <a:spLocks noGrp="1"/>
          </p:cNvSpPr>
          <p:nvPr>
            <p:ph idx="1"/>
          </p:nvPr>
        </p:nvSpPr>
        <p:spPr/>
        <p:txBody>
          <a:bodyPr/>
          <a:lstStyle/>
          <a:p>
            <a:r>
              <a:rPr lang="en-US" dirty="0" smtClean="0"/>
              <a:t>At the Global Level</a:t>
            </a:r>
          </a:p>
          <a:p>
            <a:pPr lvl="1"/>
            <a:r>
              <a:rPr lang="en-US" dirty="0" smtClean="0"/>
              <a:t>Religious teachings</a:t>
            </a:r>
            <a:endParaRPr lang="en-US" dirty="0"/>
          </a:p>
          <a:p>
            <a:pPr lvl="1"/>
            <a:r>
              <a:rPr lang="en-US" dirty="0"/>
              <a:t>International relations and foreign aid (U.S. restrictions on aid to groups that perform abortions, and preference for abstinence programs)</a:t>
            </a:r>
          </a:p>
          <a:p>
            <a:endParaRPr lang="en-US" dirty="0"/>
          </a:p>
        </p:txBody>
      </p:sp>
    </p:spTree>
    <p:extLst>
      <p:ext uri="{BB962C8B-B14F-4D97-AF65-F5344CB8AC3E}">
        <p14:creationId xmlns:p14="http://schemas.microsoft.com/office/powerpoint/2010/main" val="3115825886"/>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Fertility Control</a:t>
            </a:r>
            <a:endParaRPr lang="en-US" dirty="0"/>
          </a:p>
        </p:txBody>
      </p:sp>
      <p:sp>
        <p:nvSpPr>
          <p:cNvPr id="3" name="Content Placeholder 2"/>
          <p:cNvSpPr>
            <a:spLocks noGrp="1"/>
          </p:cNvSpPr>
          <p:nvPr>
            <p:ph idx="1"/>
          </p:nvPr>
        </p:nvSpPr>
        <p:spPr/>
        <p:txBody>
          <a:bodyPr>
            <a:normAutofit/>
          </a:bodyPr>
          <a:lstStyle/>
          <a:p>
            <a:r>
              <a:rPr lang="en-US" dirty="0" smtClean="0"/>
              <a:t>Indigenous Methods</a:t>
            </a:r>
          </a:p>
          <a:p>
            <a:pPr lvl="1"/>
            <a:r>
              <a:rPr lang="en-US" dirty="0" smtClean="0"/>
              <a:t>Study in Afghanistan found most practices were pronatal</a:t>
            </a:r>
          </a:p>
          <a:p>
            <a:r>
              <a:rPr lang="en-US" dirty="0" smtClean="0"/>
              <a:t>Induced Abortion</a:t>
            </a:r>
          </a:p>
          <a:p>
            <a:pPr lvl="1"/>
            <a:r>
              <a:rPr lang="en-US" dirty="0" smtClean="0"/>
              <a:t>Governments may restrict or encourage</a:t>
            </a:r>
          </a:p>
          <a:p>
            <a:r>
              <a:rPr lang="en-US" dirty="0" smtClean="0"/>
              <a:t>New Reproductive Technologies</a:t>
            </a:r>
          </a:p>
          <a:p>
            <a:pPr lvl="1"/>
            <a:r>
              <a:rPr lang="en-US" dirty="0" smtClean="0"/>
              <a:t>IVF</a:t>
            </a:r>
            <a:endParaRPr lang="en-US" dirty="0"/>
          </a:p>
        </p:txBody>
      </p:sp>
    </p:spTree>
    <p:extLst>
      <p:ext uri="{BB962C8B-B14F-4D97-AF65-F5344CB8AC3E}">
        <p14:creationId xmlns:p14="http://schemas.microsoft.com/office/powerpoint/2010/main" val="1625554411"/>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Infanticide</a:t>
            </a:r>
            <a:endParaRPr lang="en-US" dirty="0"/>
          </a:p>
        </p:txBody>
      </p:sp>
      <p:sp>
        <p:nvSpPr>
          <p:cNvPr id="3" name="Content Placeholder 2"/>
          <p:cNvSpPr>
            <a:spLocks noGrp="1"/>
          </p:cNvSpPr>
          <p:nvPr>
            <p:ph idx="1"/>
          </p:nvPr>
        </p:nvSpPr>
        <p:spPr/>
        <p:txBody>
          <a:bodyPr/>
          <a:lstStyle/>
          <a:p>
            <a:r>
              <a:rPr lang="en-US" dirty="0" smtClean="0"/>
              <a:t>Most common reason is that infant is seriously ill or “deformed”</a:t>
            </a:r>
          </a:p>
          <a:p>
            <a:r>
              <a:rPr lang="en-US" dirty="0" smtClean="0"/>
              <a:t>Process may be: </a:t>
            </a:r>
          </a:p>
          <a:p>
            <a:pPr lvl="1"/>
            <a:r>
              <a:rPr lang="en-US" dirty="0" smtClean="0"/>
              <a:t>Direct</a:t>
            </a:r>
          </a:p>
          <a:p>
            <a:pPr lvl="1"/>
            <a:r>
              <a:rPr lang="en-US" dirty="0" smtClean="0"/>
              <a:t>Indirect</a:t>
            </a:r>
          </a:p>
          <a:p>
            <a:pPr lvl="2"/>
            <a:r>
              <a:rPr lang="en-US" dirty="0" smtClean="0"/>
              <a:t>Food deprivation, failure to provide warm clothing</a:t>
            </a:r>
            <a:endParaRPr lang="en-US" dirty="0"/>
          </a:p>
        </p:txBody>
      </p:sp>
    </p:spTree>
    <p:extLst>
      <p:ext uri="{BB962C8B-B14F-4D97-AF65-F5344CB8AC3E}">
        <p14:creationId xmlns:p14="http://schemas.microsoft.com/office/powerpoint/2010/main" val="2564524109"/>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Personality and the Life Cycle </a:t>
            </a:r>
            <a:r>
              <a:rPr lang="en-US" sz="2800" dirty="0" smtClean="0"/>
              <a:t>(1 of 2)</a:t>
            </a:r>
            <a:br>
              <a:rPr lang="en-US" sz="2800" dirty="0" smtClean="0"/>
            </a:br>
            <a:r>
              <a:rPr lang="en-US" sz="2400" dirty="0" smtClean="0"/>
              <a:t>6.3 Identify how culture shapes personality over the life cycle.</a:t>
            </a:r>
            <a:endParaRPr lang="en-US" sz="2400" dirty="0"/>
          </a:p>
        </p:txBody>
      </p:sp>
      <p:sp>
        <p:nvSpPr>
          <p:cNvPr id="3" name="Content Placeholder 2"/>
          <p:cNvSpPr>
            <a:spLocks noGrp="1"/>
          </p:cNvSpPr>
          <p:nvPr>
            <p:ph idx="1"/>
          </p:nvPr>
        </p:nvSpPr>
        <p:spPr/>
        <p:txBody>
          <a:bodyPr/>
          <a:lstStyle/>
          <a:p>
            <a:r>
              <a:rPr lang="en-US" dirty="0" smtClean="0"/>
              <a:t>Birth</a:t>
            </a:r>
            <a:r>
              <a:rPr lang="en-US" dirty="0"/>
              <a:t>, </a:t>
            </a:r>
            <a:r>
              <a:rPr lang="en-US" dirty="0" smtClean="0"/>
              <a:t>Infancy</a:t>
            </a:r>
            <a:r>
              <a:rPr lang="en-US" dirty="0"/>
              <a:t>, and </a:t>
            </a:r>
            <a:r>
              <a:rPr lang="en-US" dirty="0" smtClean="0"/>
              <a:t>Childhood</a:t>
            </a:r>
            <a:endParaRPr lang="en-US" dirty="0"/>
          </a:p>
          <a:p>
            <a:endParaRPr lang="en-US" dirty="0" smtClean="0"/>
          </a:p>
          <a:p>
            <a:r>
              <a:rPr lang="en-US" dirty="0" smtClean="0"/>
              <a:t>Socialization During Childhood</a:t>
            </a:r>
            <a:endParaRPr lang="en-US" dirty="0"/>
          </a:p>
          <a:p>
            <a:endParaRPr lang="en-US" dirty="0" smtClean="0"/>
          </a:p>
          <a:p>
            <a:r>
              <a:rPr lang="en-US" dirty="0" smtClean="0"/>
              <a:t>Adolescence </a:t>
            </a:r>
            <a:r>
              <a:rPr lang="en-US" dirty="0"/>
              <a:t>and </a:t>
            </a:r>
            <a:r>
              <a:rPr lang="en-US" dirty="0" smtClean="0"/>
              <a:t>Identity</a:t>
            </a:r>
            <a:endParaRPr lang="en-US" dirty="0"/>
          </a:p>
          <a:p>
            <a:endParaRPr lang="en-US" dirty="0" smtClean="0"/>
          </a:p>
          <a:p>
            <a:r>
              <a:rPr lang="en-US" dirty="0" smtClean="0"/>
              <a:t>Adulthood</a:t>
            </a:r>
            <a:endParaRPr lang="en-US" dirty="0"/>
          </a:p>
          <a:p>
            <a:endParaRPr lang="en-US" dirty="0"/>
          </a:p>
        </p:txBody>
      </p:sp>
    </p:spTree>
    <p:extLst>
      <p:ext uri="{BB962C8B-B14F-4D97-AF65-F5344CB8AC3E}">
        <p14:creationId xmlns:p14="http://schemas.microsoft.com/office/powerpoint/2010/main" val="1994202429"/>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Personality and the Life Cycle </a:t>
            </a:r>
            <a:r>
              <a:rPr lang="en-US" sz="3100" dirty="0" smtClean="0"/>
              <a:t>(2 of 2)</a:t>
            </a:r>
            <a:endParaRPr lang="en-US" sz="3100" dirty="0"/>
          </a:p>
        </p:txBody>
      </p:sp>
      <p:sp>
        <p:nvSpPr>
          <p:cNvPr id="3" name="Content Placeholder 2"/>
          <p:cNvSpPr>
            <a:spLocks noGrp="1"/>
          </p:cNvSpPr>
          <p:nvPr>
            <p:ph idx="1"/>
          </p:nvPr>
        </p:nvSpPr>
        <p:spPr/>
        <p:txBody>
          <a:bodyPr/>
          <a:lstStyle/>
          <a:p>
            <a:r>
              <a:rPr lang="en-US" dirty="0" smtClean="0"/>
              <a:t>Personality</a:t>
            </a:r>
          </a:p>
          <a:p>
            <a:pPr lvl="1"/>
            <a:r>
              <a:rPr lang="en-US" dirty="0" smtClean="0"/>
              <a:t>An </a:t>
            </a:r>
            <a:r>
              <a:rPr lang="en-US" dirty="0"/>
              <a:t>individual’s patterned and characteristic way of behaving, thinking, and feeling</a:t>
            </a:r>
          </a:p>
          <a:p>
            <a:pPr lvl="1"/>
            <a:r>
              <a:rPr lang="en-US" dirty="0" smtClean="0"/>
              <a:t>Gained </a:t>
            </a:r>
            <a:r>
              <a:rPr lang="en-US" dirty="0"/>
              <a:t>largely through enculturation; variation in personality in different cultural contexts</a:t>
            </a:r>
          </a:p>
          <a:p>
            <a:endParaRPr lang="en-US" dirty="0"/>
          </a:p>
        </p:txBody>
      </p:sp>
    </p:spTree>
    <p:extLst>
      <p:ext uri="{BB962C8B-B14F-4D97-AF65-F5344CB8AC3E}">
        <p14:creationId xmlns:p14="http://schemas.microsoft.com/office/powerpoint/2010/main" val="173539145"/>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Birth, Infancy, and Childhood </a:t>
            </a:r>
            <a:r>
              <a:rPr lang="en-US" sz="3100" dirty="0" smtClean="0"/>
              <a:t>(1 of 2)</a:t>
            </a:r>
            <a:endParaRPr lang="en-US" sz="3100" dirty="0"/>
          </a:p>
        </p:txBody>
      </p:sp>
      <p:sp>
        <p:nvSpPr>
          <p:cNvPr id="3" name="Content Placeholder 2"/>
          <p:cNvSpPr>
            <a:spLocks noGrp="1"/>
          </p:cNvSpPr>
          <p:nvPr>
            <p:ph idx="1"/>
          </p:nvPr>
        </p:nvSpPr>
        <p:spPr/>
        <p:txBody>
          <a:bodyPr/>
          <a:lstStyle/>
          <a:p>
            <a:r>
              <a:rPr lang="en-US" dirty="0" smtClean="0"/>
              <a:t>Gender in Infancy</a:t>
            </a:r>
          </a:p>
          <a:p>
            <a:pPr lvl="1"/>
            <a:r>
              <a:rPr lang="en-US" dirty="0" smtClean="0"/>
              <a:t>Studies have focused on stereotypes associated with gender</a:t>
            </a:r>
          </a:p>
          <a:p>
            <a:pPr lvl="2"/>
            <a:r>
              <a:rPr lang="en-US" dirty="0" smtClean="0"/>
              <a:t>Infant males more aggressive, independent</a:t>
            </a:r>
          </a:p>
          <a:p>
            <a:pPr lvl="2"/>
            <a:r>
              <a:rPr lang="en-US" dirty="0" smtClean="0"/>
              <a:t>Infant females more social</a:t>
            </a:r>
          </a:p>
        </p:txBody>
      </p:sp>
    </p:spTree>
    <p:extLst>
      <p:ext uri="{BB962C8B-B14F-4D97-AF65-F5344CB8AC3E}">
        <p14:creationId xmlns:p14="http://schemas.microsoft.com/office/powerpoint/2010/main" val="643612690"/>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Birth, Infancy, and Childhood </a:t>
            </a:r>
            <a:r>
              <a:rPr lang="en-US" sz="3100" dirty="0" smtClean="0"/>
              <a:t>(2 </a:t>
            </a:r>
            <a:r>
              <a:rPr lang="en-US" sz="3100" dirty="0"/>
              <a:t>of 2)</a:t>
            </a:r>
          </a:p>
        </p:txBody>
      </p:sp>
      <p:sp>
        <p:nvSpPr>
          <p:cNvPr id="3" name="Content Placeholder 2"/>
          <p:cNvSpPr>
            <a:spLocks noGrp="1"/>
          </p:cNvSpPr>
          <p:nvPr>
            <p:ph idx="1"/>
          </p:nvPr>
        </p:nvSpPr>
        <p:spPr/>
        <p:txBody>
          <a:bodyPr/>
          <a:lstStyle/>
          <a:p>
            <a:pPr lvl="1"/>
            <a:r>
              <a:rPr lang="en-US" dirty="0"/>
              <a:t>Observation: </a:t>
            </a:r>
            <a:r>
              <a:rPr lang="en-US" dirty="0" smtClean="0"/>
              <a:t>Males </a:t>
            </a:r>
            <a:r>
              <a:rPr lang="en-US" dirty="0"/>
              <a:t>cry more than females</a:t>
            </a:r>
          </a:p>
          <a:p>
            <a:pPr lvl="2"/>
            <a:r>
              <a:rPr lang="en-US" dirty="0"/>
              <a:t>Evidence of </a:t>
            </a:r>
            <a:r>
              <a:rPr lang="en-US" dirty="0" smtClean="0"/>
              <a:t>aggression? </a:t>
            </a:r>
          </a:p>
          <a:p>
            <a:pPr lvl="2"/>
            <a:r>
              <a:rPr lang="en-US" dirty="0"/>
              <a:t>O</a:t>
            </a:r>
            <a:r>
              <a:rPr lang="en-US" dirty="0" smtClean="0"/>
              <a:t>r </a:t>
            </a:r>
            <a:r>
              <a:rPr lang="en-US" dirty="0"/>
              <a:t>the result of a more difficult </a:t>
            </a:r>
            <a:r>
              <a:rPr lang="en-US" dirty="0" smtClean="0"/>
              <a:t>delivery </a:t>
            </a:r>
            <a:r>
              <a:rPr lang="en-US" dirty="0"/>
              <a:t>because of body </a:t>
            </a:r>
            <a:r>
              <a:rPr lang="en-US" dirty="0" smtClean="0"/>
              <a:t>weight?</a:t>
            </a:r>
            <a:endParaRPr lang="en-US" dirty="0"/>
          </a:p>
          <a:p>
            <a:pPr lvl="1"/>
            <a:r>
              <a:rPr lang="en-US" dirty="0"/>
              <a:t>Observation: </a:t>
            </a:r>
            <a:r>
              <a:rPr lang="en-US" dirty="0" smtClean="0"/>
              <a:t>Females </a:t>
            </a:r>
            <a:r>
              <a:rPr lang="en-US" dirty="0"/>
              <a:t>smile more than </a:t>
            </a:r>
            <a:r>
              <a:rPr lang="en-US" dirty="0" smtClean="0"/>
              <a:t>males</a:t>
            </a:r>
          </a:p>
          <a:p>
            <a:pPr lvl="2"/>
            <a:r>
              <a:rPr lang="en-US" dirty="0" smtClean="0"/>
              <a:t>Females are innately more social?</a:t>
            </a:r>
          </a:p>
          <a:p>
            <a:pPr lvl="2"/>
            <a:r>
              <a:rPr lang="en-US" dirty="0" smtClean="0"/>
              <a:t>Or caretakers smile more at females?</a:t>
            </a:r>
            <a:endParaRPr lang="en-US" dirty="0"/>
          </a:p>
          <a:p>
            <a:pPr lvl="2"/>
            <a:endParaRPr lang="en-US" dirty="0"/>
          </a:p>
        </p:txBody>
      </p:sp>
    </p:spTree>
    <p:extLst>
      <p:ext uri="{BB962C8B-B14F-4D97-AF65-F5344CB8AC3E}">
        <p14:creationId xmlns:p14="http://schemas.microsoft.com/office/powerpoint/2010/main" val="2966029924"/>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Socialization During Childhood</a:t>
            </a:r>
            <a:endParaRPr lang="en-US" dirty="0"/>
          </a:p>
        </p:txBody>
      </p:sp>
      <p:sp>
        <p:nvSpPr>
          <p:cNvPr id="3" name="Content Placeholder 2"/>
          <p:cNvSpPr>
            <a:spLocks noGrp="1"/>
          </p:cNvSpPr>
          <p:nvPr>
            <p:ph idx="1"/>
          </p:nvPr>
        </p:nvSpPr>
        <p:spPr/>
        <p:txBody>
          <a:bodyPr>
            <a:normAutofit/>
          </a:bodyPr>
          <a:lstStyle/>
          <a:p>
            <a:r>
              <a:rPr lang="en-US" dirty="0"/>
              <a:t>Six Cultures Study</a:t>
            </a:r>
          </a:p>
          <a:p>
            <a:pPr lvl="1"/>
            <a:r>
              <a:rPr lang="en-US" dirty="0"/>
              <a:t>Research on </a:t>
            </a:r>
            <a:r>
              <a:rPr lang="en-US" dirty="0" smtClean="0"/>
              <a:t>children’s </a:t>
            </a:r>
            <a:r>
              <a:rPr lang="en-US" dirty="0"/>
              <a:t>behavior in six cultures</a:t>
            </a:r>
          </a:p>
          <a:p>
            <a:pPr lvl="1"/>
            <a:r>
              <a:rPr lang="en-US" dirty="0" smtClean="0"/>
              <a:t>Found difference </a:t>
            </a:r>
            <a:r>
              <a:rPr lang="en-US" dirty="0"/>
              <a:t>between horticultural and </a:t>
            </a:r>
            <a:r>
              <a:rPr lang="en-US" dirty="0" smtClean="0"/>
              <a:t>industrial/digital </a:t>
            </a:r>
            <a:r>
              <a:rPr lang="en-US" dirty="0"/>
              <a:t>sites: </a:t>
            </a:r>
          </a:p>
          <a:p>
            <a:pPr lvl="2"/>
            <a:r>
              <a:rPr lang="en-US" dirty="0"/>
              <a:t>Horticulture: nurturant-responsible children</a:t>
            </a:r>
          </a:p>
          <a:p>
            <a:pPr lvl="2"/>
            <a:r>
              <a:rPr lang="en-US" dirty="0"/>
              <a:t>Industrial</a:t>
            </a:r>
            <a:r>
              <a:rPr lang="en-US" dirty="0" smtClean="0"/>
              <a:t>/digital: </a:t>
            </a:r>
            <a:r>
              <a:rPr lang="en-US" dirty="0"/>
              <a:t>dependent-dominant </a:t>
            </a:r>
            <a:r>
              <a:rPr lang="en-US" dirty="0" smtClean="0"/>
              <a:t>children</a:t>
            </a:r>
          </a:p>
          <a:p>
            <a:pPr lvl="1"/>
            <a:r>
              <a:rPr lang="en-US" dirty="0" smtClean="0"/>
              <a:t>Difference may be explained by mothers’ work roles</a:t>
            </a:r>
            <a:endParaRPr lang="en-US" dirty="0"/>
          </a:p>
          <a:p>
            <a:endParaRPr lang="en-US" dirty="0"/>
          </a:p>
        </p:txBody>
      </p:sp>
    </p:spTree>
    <p:extLst>
      <p:ext uri="{BB962C8B-B14F-4D97-AF65-F5344CB8AC3E}">
        <p14:creationId xmlns:p14="http://schemas.microsoft.com/office/powerpoint/2010/main" val="3399367176"/>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Adolescence and Identity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smtClean="0"/>
              <a:t>Gender identity during adolescence</a:t>
            </a:r>
          </a:p>
          <a:p>
            <a:pPr lvl="1"/>
            <a:r>
              <a:rPr lang="en-US" dirty="0" smtClean="0"/>
              <a:t>Biological </a:t>
            </a:r>
            <a:r>
              <a:rPr lang="en-US" dirty="0"/>
              <a:t>or culturally constructed?</a:t>
            </a:r>
          </a:p>
          <a:p>
            <a:pPr lvl="1"/>
            <a:r>
              <a:rPr lang="en-US" dirty="0"/>
              <a:t>Cultural evidence:</a:t>
            </a:r>
          </a:p>
          <a:p>
            <a:pPr lvl="2"/>
            <a:r>
              <a:rPr lang="en-US" dirty="0"/>
              <a:t>Adolescence not a universal stage</a:t>
            </a:r>
          </a:p>
          <a:p>
            <a:pPr lvl="2"/>
            <a:r>
              <a:rPr lang="en-US" dirty="0"/>
              <a:t>Length of adolescence related to gender roles and mode of production</a:t>
            </a:r>
          </a:p>
          <a:p>
            <a:endParaRPr lang="en-US" dirty="0"/>
          </a:p>
        </p:txBody>
      </p:sp>
    </p:spTree>
    <p:extLst>
      <p:ext uri="{BB962C8B-B14F-4D97-AF65-F5344CB8AC3E}">
        <p14:creationId xmlns:p14="http://schemas.microsoft.com/office/powerpoint/2010/main" val="1211077551"/>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Adolescence and Identity </a:t>
            </a:r>
            <a:r>
              <a:rPr lang="en-US" sz="2800" dirty="0" smtClean="0"/>
              <a:t>(2 of 4)</a:t>
            </a:r>
            <a:endParaRPr lang="en-US" sz="2800" dirty="0"/>
          </a:p>
        </p:txBody>
      </p:sp>
      <p:sp>
        <p:nvSpPr>
          <p:cNvPr id="3" name="Content Placeholder 2"/>
          <p:cNvSpPr>
            <a:spLocks noGrp="1"/>
          </p:cNvSpPr>
          <p:nvPr>
            <p:ph idx="1"/>
          </p:nvPr>
        </p:nvSpPr>
        <p:spPr/>
        <p:txBody>
          <a:bodyPr/>
          <a:lstStyle/>
          <a:p>
            <a:r>
              <a:rPr lang="en-US" dirty="0" smtClean="0"/>
              <a:t>Cultural construction of identity in rituals</a:t>
            </a:r>
          </a:p>
          <a:p>
            <a:pPr lvl="1"/>
            <a:r>
              <a:rPr lang="en-US" dirty="0" smtClean="0"/>
              <a:t>Coming </a:t>
            </a:r>
            <a:r>
              <a:rPr lang="en-US" dirty="0"/>
              <a:t>of age rituals</a:t>
            </a:r>
          </a:p>
          <a:p>
            <a:pPr lvl="2"/>
            <a:r>
              <a:rPr lang="en-US" dirty="0"/>
              <a:t>Initiation ceremonies</a:t>
            </a:r>
          </a:p>
          <a:p>
            <a:pPr lvl="2"/>
            <a:r>
              <a:rPr lang="en-US" dirty="0"/>
              <a:t>Often involve body modification, including cutting, </a:t>
            </a:r>
            <a:r>
              <a:rPr lang="en-US" dirty="0" smtClean="0"/>
              <a:t>scarification</a:t>
            </a:r>
          </a:p>
          <a:p>
            <a:pPr lvl="3"/>
            <a:r>
              <a:rPr lang="en-US" dirty="0" smtClean="0"/>
              <a:t>Example: male circumcision among the Maasai</a:t>
            </a:r>
            <a:endParaRPr lang="en-US" dirty="0"/>
          </a:p>
          <a:p>
            <a:endParaRPr lang="en-US" dirty="0"/>
          </a:p>
        </p:txBody>
      </p:sp>
    </p:spTree>
    <p:extLst>
      <p:ext uri="{BB962C8B-B14F-4D97-AF65-F5344CB8AC3E}">
        <p14:creationId xmlns:p14="http://schemas.microsoft.com/office/powerpoint/2010/main" val="3317523911"/>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6.4 Maasai Region </a:t>
            </a:r>
            <a:br>
              <a:rPr lang="en-US" dirty="0" smtClean="0"/>
            </a:br>
            <a:r>
              <a:rPr lang="en-US" dirty="0" smtClean="0"/>
              <a:t>of Kenya and Tanzania</a:t>
            </a:r>
            <a:endParaRPr lang="en-US" dirty="0"/>
          </a:p>
        </p:txBody>
      </p:sp>
      <p:pic>
        <p:nvPicPr>
          <p:cNvPr id="5" name="Content Placeholder 4" descr="A map shows the location of the Maasai region straddling the southern borders of Kenya (not far from the capital city of Nairobi) and the northern border of Tanzania. An inset globe shows the area is in east-central Af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14601" y="1524000"/>
            <a:ext cx="4114799" cy="4734602"/>
          </a:xfrm>
        </p:spPr>
      </p:pic>
    </p:spTree>
    <p:extLst>
      <p:ext uri="{BB962C8B-B14F-4D97-AF65-F5344CB8AC3E}">
        <p14:creationId xmlns:p14="http://schemas.microsoft.com/office/powerpoint/2010/main" val="3591490637"/>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Adolescence and Identity </a:t>
            </a:r>
            <a:r>
              <a:rPr lang="en-US" sz="2800" dirty="0" smtClean="0"/>
              <a:t>(3 </a:t>
            </a:r>
            <a:r>
              <a:rPr lang="en-US" sz="2800" dirty="0"/>
              <a:t>of 4)</a:t>
            </a:r>
          </a:p>
        </p:txBody>
      </p:sp>
      <p:sp>
        <p:nvSpPr>
          <p:cNvPr id="3" name="Content Placeholder 2"/>
          <p:cNvSpPr>
            <a:spLocks noGrp="1"/>
          </p:cNvSpPr>
          <p:nvPr>
            <p:ph idx="1"/>
          </p:nvPr>
        </p:nvSpPr>
        <p:spPr/>
        <p:txBody>
          <a:bodyPr/>
          <a:lstStyle/>
          <a:p>
            <a:r>
              <a:rPr lang="en-US" dirty="0" smtClean="0"/>
              <a:t>Sexual Identity and Gender Pluralism</a:t>
            </a:r>
            <a:endParaRPr lang="en-US" dirty="0"/>
          </a:p>
          <a:p>
            <a:pPr lvl="1"/>
            <a:r>
              <a:rPr lang="en-US" dirty="0" smtClean="0"/>
              <a:t>Gender pluralism: the </a:t>
            </a:r>
            <a:r>
              <a:rPr lang="en-US" dirty="0"/>
              <a:t>existence within a culture of multiple categories of femininity, </a:t>
            </a:r>
            <a:r>
              <a:rPr lang="en-US" dirty="0" smtClean="0"/>
              <a:t>masculinity, </a:t>
            </a:r>
            <a:r>
              <a:rPr lang="en-US" dirty="0"/>
              <a:t>and androgyny that are tolerated and </a:t>
            </a:r>
            <a:r>
              <a:rPr lang="en-US" dirty="0" smtClean="0"/>
              <a:t>legitimate</a:t>
            </a:r>
          </a:p>
          <a:p>
            <a:pPr lvl="1"/>
            <a:r>
              <a:rPr lang="en-US" dirty="0"/>
              <a:t>“Third genders</a:t>
            </a:r>
            <a:r>
              <a:rPr lang="en-US" dirty="0" smtClean="0"/>
              <a:t>”—some </a:t>
            </a:r>
            <a:r>
              <a:rPr lang="en-US" dirty="0"/>
              <a:t>cultures permit the expression of varied forms of sexual </a:t>
            </a:r>
            <a:r>
              <a:rPr lang="en-US" dirty="0" smtClean="0"/>
              <a:t>orientation; </a:t>
            </a:r>
            <a:r>
              <a:rPr lang="en-US" dirty="0"/>
              <a:t>for example, the berdache </a:t>
            </a:r>
          </a:p>
          <a:p>
            <a:endParaRPr lang="en-US" dirty="0"/>
          </a:p>
        </p:txBody>
      </p:sp>
    </p:spTree>
    <p:extLst>
      <p:ext uri="{BB962C8B-B14F-4D97-AF65-F5344CB8AC3E}">
        <p14:creationId xmlns:p14="http://schemas.microsoft.com/office/powerpoint/2010/main" val="1067780773"/>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Adolescence and Identity </a:t>
            </a:r>
            <a:r>
              <a:rPr lang="en-US" sz="2800" dirty="0" smtClean="0"/>
              <a:t>(4 </a:t>
            </a:r>
            <a:r>
              <a:rPr lang="en-US" sz="2800" dirty="0"/>
              <a:t>of 4)</a:t>
            </a:r>
          </a:p>
        </p:txBody>
      </p:sp>
      <p:sp>
        <p:nvSpPr>
          <p:cNvPr id="3" name="Content Placeholder 2"/>
          <p:cNvSpPr>
            <a:spLocks noGrp="1"/>
          </p:cNvSpPr>
          <p:nvPr>
            <p:ph idx="1"/>
          </p:nvPr>
        </p:nvSpPr>
        <p:spPr/>
        <p:txBody>
          <a:bodyPr>
            <a:normAutofit/>
          </a:bodyPr>
          <a:lstStyle/>
          <a:p>
            <a:r>
              <a:rPr lang="en-US" dirty="0" smtClean="0"/>
              <a:t>The two-spirit</a:t>
            </a:r>
          </a:p>
          <a:p>
            <a:pPr lvl="1"/>
            <a:r>
              <a:rPr lang="en-US" dirty="0" smtClean="0"/>
              <a:t>Indian </a:t>
            </a:r>
            <a:r>
              <a:rPr lang="en-US" dirty="0"/>
              <a:t>tribal cultures in the </a:t>
            </a:r>
            <a:r>
              <a:rPr lang="en-US" dirty="0" smtClean="0"/>
              <a:t>United States </a:t>
            </a:r>
            <a:r>
              <a:rPr lang="en-US" dirty="0"/>
              <a:t>and Canada </a:t>
            </a:r>
            <a:r>
              <a:rPr lang="en-US" dirty="0" smtClean="0"/>
              <a:t>more accepting </a:t>
            </a:r>
            <a:r>
              <a:rPr lang="en-US" dirty="0"/>
              <a:t>of gender role fluidity </a:t>
            </a:r>
            <a:r>
              <a:rPr lang="en-US" dirty="0" smtClean="0"/>
              <a:t>than </a:t>
            </a:r>
            <a:r>
              <a:rPr lang="en-US" dirty="0"/>
              <a:t>mainstream (White) </a:t>
            </a:r>
            <a:r>
              <a:rPr lang="en-US" dirty="0" smtClean="0"/>
              <a:t>culture is</a:t>
            </a:r>
            <a:endParaRPr lang="en-US" dirty="0"/>
          </a:p>
          <a:p>
            <a:pPr lvl="1"/>
            <a:r>
              <a:rPr lang="en-US" dirty="0"/>
              <a:t>The institution of the two-spirit subjected to ridicule and disapproval from mainstream culture</a:t>
            </a:r>
          </a:p>
          <a:p>
            <a:pPr lvl="1"/>
            <a:r>
              <a:rPr lang="en-US" dirty="0"/>
              <a:t>Since the 1980s, open presence of the two-spirit has returned in some tribal groups</a:t>
            </a:r>
          </a:p>
          <a:p>
            <a:endParaRPr lang="en-US" dirty="0"/>
          </a:p>
        </p:txBody>
      </p:sp>
    </p:spTree>
    <p:extLst>
      <p:ext uri="{BB962C8B-B14F-4D97-AF65-F5344CB8AC3E}">
        <p14:creationId xmlns:p14="http://schemas.microsoft.com/office/powerpoint/2010/main" val="1428625887"/>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Think Like an Anthropologist: Cultural Relativism and Female Genital Cutting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a:t>Various types and degrees of cutting in various cultural contexts</a:t>
            </a:r>
          </a:p>
          <a:p>
            <a:r>
              <a:rPr lang="en-US" dirty="0"/>
              <a:t>Related to period of seclusion and training in adult roles and knowledge</a:t>
            </a:r>
          </a:p>
          <a:p>
            <a:r>
              <a:rPr lang="en-US" dirty="0"/>
              <a:t>Cultural construction of female identity, body, solidarity</a:t>
            </a:r>
          </a:p>
          <a:p>
            <a:endParaRPr lang="en-US" dirty="0"/>
          </a:p>
        </p:txBody>
      </p:sp>
    </p:spTree>
    <p:extLst>
      <p:ext uri="{BB962C8B-B14F-4D97-AF65-F5344CB8AC3E}">
        <p14:creationId xmlns:p14="http://schemas.microsoft.com/office/powerpoint/2010/main" val="1445669576"/>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a:t>Think Like an Anthropologist: Cultural Relativism and Female Genital </a:t>
            </a:r>
            <a:r>
              <a:rPr lang="en-US" sz="3200" dirty="0" smtClean="0"/>
              <a:t>Cutting </a:t>
            </a:r>
            <a:r>
              <a:rPr lang="en-US" sz="2800" dirty="0" smtClean="0"/>
              <a:t>(2 of 2)</a:t>
            </a:r>
            <a:endParaRPr lang="en-US" sz="2800" dirty="0"/>
          </a:p>
        </p:txBody>
      </p:sp>
      <p:sp>
        <p:nvSpPr>
          <p:cNvPr id="3" name="Content Placeholder 2"/>
          <p:cNvSpPr>
            <a:spLocks noGrp="1"/>
          </p:cNvSpPr>
          <p:nvPr>
            <p:ph idx="1"/>
          </p:nvPr>
        </p:nvSpPr>
        <p:spPr/>
        <p:txBody>
          <a:bodyPr/>
          <a:lstStyle/>
          <a:p>
            <a:r>
              <a:rPr lang="en-US" dirty="0" smtClean="0"/>
              <a:t>Food for Thought</a:t>
            </a:r>
          </a:p>
          <a:p>
            <a:pPr lvl="1"/>
            <a:r>
              <a:rPr lang="en-US" dirty="0" smtClean="0"/>
              <a:t>Why is FGC a </a:t>
            </a:r>
            <a:r>
              <a:rPr lang="en-US" dirty="0"/>
              <a:t>prominent issue in human rights debates in the West, whereas male circumcision and other forms of initiation are not?</a:t>
            </a:r>
          </a:p>
          <a:p>
            <a:pPr lvl="1"/>
            <a:r>
              <a:rPr lang="en-US" dirty="0"/>
              <a:t>Where do you stand on FGC and why?</a:t>
            </a:r>
          </a:p>
          <a:p>
            <a:pPr lvl="1"/>
            <a:r>
              <a:rPr lang="en-US" dirty="0"/>
              <a:t>What kinds of cultural remodeling of the female body are practiced in your culture?</a:t>
            </a:r>
          </a:p>
          <a:p>
            <a:endParaRPr lang="en-US" dirty="0"/>
          </a:p>
        </p:txBody>
      </p:sp>
    </p:spTree>
    <p:extLst>
      <p:ext uri="{BB962C8B-B14F-4D97-AF65-F5344CB8AC3E}">
        <p14:creationId xmlns:p14="http://schemas.microsoft.com/office/powerpoint/2010/main" val="665255123"/>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Adulthood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smtClean="0"/>
              <a:t>Parenthood</a:t>
            </a:r>
          </a:p>
          <a:p>
            <a:pPr lvl="1"/>
            <a:r>
              <a:rPr lang="en-US" dirty="0"/>
              <a:t>Role of mother and father shaped by culture</a:t>
            </a:r>
          </a:p>
          <a:p>
            <a:pPr lvl="1"/>
            <a:r>
              <a:rPr lang="en-US" dirty="0"/>
              <a:t> Responsibility for </a:t>
            </a:r>
            <a:r>
              <a:rPr lang="en-US" dirty="0" smtClean="0"/>
              <a:t>child care</a:t>
            </a:r>
          </a:p>
          <a:p>
            <a:pPr lvl="2"/>
            <a:r>
              <a:rPr lang="en-US" dirty="0" smtClean="0"/>
              <a:t>Example: paternal care of children among the Aka of the Central African Republic</a:t>
            </a:r>
          </a:p>
          <a:p>
            <a:r>
              <a:rPr lang="en-US" dirty="0" smtClean="0"/>
              <a:t>Middle Age</a:t>
            </a:r>
          </a:p>
          <a:p>
            <a:pPr lvl="1"/>
            <a:r>
              <a:rPr lang="en-US" dirty="0" smtClean="0"/>
              <a:t>Midlife </a:t>
            </a:r>
            <a:r>
              <a:rPr lang="en-US" dirty="0"/>
              <a:t>crisis and menopause: </a:t>
            </a:r>
            <a:r>
              <a:rPr lang="en-US" dirty="0" smtClean="0"/>
              <a:t>Western constructions?</a:t>
            </a:r>
            <a:endParaRPr lang="en-US" dirty="0"/>
          </a:p>
          <a:p>
            <a:pPr lvl="1"/>
            <a:endParaRPr lang="en-US" dirty="0"/>
          </a:p>
          <a:p>
            <a:pPr marL="0" indent="0">
              <a:buNone/>
            </a:pPr>
            <a:endParaRPr lang="en-US" dirty="0"/>
          </a:p>
        </p:txBody>
      </p:sp>
    </p:spTree>
    <p:extLst>
      <p:ext uri="{BB962C8B-B14F-4D97-AF65-F5344CB8AC3E}">
        <p14:creationId xmlns:p14="http://schemas.microsoft.com/office/powerpoint/2010/main" val="2211060358"/>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a:t>Map 6.7 Aka Region of the Central </a:t>
            </a:r>
            <a:r>
              <a:rPr lang="en-US" sz="3200" dirty="0" smtClean="0"/>
              <a:t>African Republic </a:t>
            </a:r>
            <a:r>
              <a:rPr lang="en-US" sz="3200" dirty="0"/>
              <a:t>and the Democratic Republic of Congo</a:t>
            </a:r>
          </a:p>
        </p:txBody>
      </p:sp>
      <p:pic>
        <p:nvPicPr>
          <p:cNvPr id="5" name="Content Placeholder 4" descr="A map shows the Aka region straddling the southern border of the Central African Republic (near its capital of Bangui) and the northern border of the Republic of Congo (far from its capital of Brazzaville). The countries are bordered to the north by Chad (capital: N’Djamena) and Cameroon (Yaounde) and to the south by the Democratic Republic of the Congo (Kinshasa). An inset globe shows the area is in central Af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895600" y="1467080"/>
            <a:ext cx="3352800" cy="4792204"/>
          </a:xfrm>
        </p:spPr>
      </p:pic>
    </p:spTree>
    <p:extLst>
      <p:ext uri="{BB962C8B-B14F-4D97-AF65-F5344CB8AC3E}">
        <p14:creationId xmlns:p14="http://schemas.microsoft.com/office/powerpoint/2010/main" val="53108498"/>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Adulthood </a:t>
            </a:r>
            <a:r>
              <a:rPr lang="en-US" sz="2800" dirty="0" smtClean="0"/>
              <a:t>(2 of 2)</a:t>
            </a:r>
            <a:endParaRPr lang="en-US" sz="2800" dirty="0"/>
          </a:p>
        </p:txBody>
      </p:sp>
      <p:sp>
        <p:nvSpPr>
          <p:cNvPr id="3" name="Content Placeholder 2"/>
          <p:cNvSpPr>
            <a:spLocks noGrp="1"/>
          </p:cNvSpPr>
          <p:nvPr>
            <p:ph idx="1"/>
          </p:nvPr>
        </p:nvSpPr>
        <p:spPr/>
        <p:txBody>
          <a:bodyPr>
            <a:normAutofit fontScale="92500" lnSpcReduction="10000"/>
          </a:bodyPr>
          <a:lstStyle/>
          <a:p>
            <a:r>
              <a:rPr lang="en-US" dirty="0" smtClean="0"/>
              <a:t>The Senior Years</a:t>
            </a:r>
          </a:p>
          <a:p>
            <a:pPr lvl="1"/>
            <a:r>
              <a:rPr lang="en-US" dirty="0" smtClean="0"/>
              <a:t>Cultural </a:t>
            </a:r>
            <a:r>
              <a:rPr lang="en-US" dirty="0"/>
              <a:t>variation in status and care of elders</a:t>
            </a:r>
          </a:p>
          <a:p>
            <a:pPr lvl="1"/>
            <a:r>
              <a:rPr lang="en-US" dirty="0"/>
              <a:t>Elders generally </a:t>
            </a:r>
            <a:r>
              <a:rPr lang="en-US" dirty="0" smtClean="0"/>
              <a:t>better off </a:t>
            </a:r>
            <a:r>
              <a:rPr lang="en-US" dirty="0"/>
              <a:t>when </a:t>
            </a:r>
            <a:r>
              <a:rPr lang="en-US" dirty="0" smtClean="0"/>
              <a:t>they live </a:t>
            </a:r>
            <a:r>
              <a:rPr lang="en-US" dirty="0"/>
              <a:t>with families rather than in institutions as in industrial/digital economy </a:t>
            </a:r>
            <a:r>
              <a:rPr lang="en-US" dirty="0" smtClean="0"/>
              <a:t>societies</a:t>
            </a:r>
          </a:p>
          <a:p>
            <a:r>
              <a:rPr lang="en-US" dirty="0" smtClean="0"/>
              <a:t>The Final Passage: Death and Dying</a:t>
            </a:r>
            <a:endParaRPr lang="en-US" dirty="0"/>
          </a:p>
          <a:p>
            <a:pPr lvl="1"/>
            <a:r>
              <a:rPr lang="en-US" dirty="0"/>
              <a:t>Culture shapes views of the “good death” and proper treatment of the body</a:t>
            </a:r>
          </a:p>
          <a:p>
            <a:pPr lvl="1"/>
            <a:r>
              <a:rPr lang="en-US" dirty="0"/>
              <a:t>Cultural variation in expression of grief at loss of loved one</a:t>
            </a:r>
          </a:p>
          <a:p>
            <a:endParaRPr lang="en-US" dirty="0"/>
          </a:p>
        </p:txBody>
      </p:sp>
    </p:spTree>
    <p:extLst>
      <p:ext uri="{BB962C8B-B14F-4D97-AF65-F5344CB8AC3E}">
        <p14:creationId xmlns:p14="http://schemas.microsoft.com/office/powerpoint/2010/main" val="1519198988"/>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238</TotalTime>
  <Words>1466</Words>
  <Application>Microsoft Macintosh PowerPoint</Application>
  <PresentationFormat>On-screen Show (4:3)</PresentationFormat>
  <Paragraphs>196</Paragraphs>
  <Slides>36</Slides>
  <Notes>6</Notes>
  <HiddenSlides>0</HiddenSlides>
  <MMClips>0</MMClips>
  <ScaleCrop>false</ScaleCrop>
  <HeadingPairs>
    <vt:vector size="4" baseType="variant">
      <vt:variant>
        <vt:lpstr>Theme</vt:lpstr>
      </vt:variant>
      <vt:variant>
        <vt:i4>2</vt:i4>
      </vt:variant>
      <vt:variant>
        <vt:lpstr>Slide Titles</vt:lpstr>
      </vt:variant>
      <vt:variant>
        <vt:i4>36</vt:i4>
      </vt:variant>
    </vt:vector>
  </HeadingPairs>
  <TitlesOfParts>
    <vt:vector size="38" baseType="lpstr">
      <vt:lpstr>Beebe8e_PPT_master</vt:lpstr>
      <vt:lpstr>Office Theme</vt:lpstr>
      <vt:lpstr>PowerPoint Presentation</vt:lpstr>
      <vt:lpstr>Learning Objectives</vt:lpstr>
      <vt:lpstr>Modes of Reproduction (1 of 2) 6.1 Illustrate how modes of reproduction are related to modes of livelihood.</vt:lpstr>
      <vt:lpstr>Modes of Reproduction (2 of 2)</vt:lpstr>
      <vt:lpstr>The Foraging Mode of Reproduction</vt:lpstr>
      <vt:lpstr>The Agricultural Mode of Reproduction</vt:lpstr>
      <vt:lpstr>Culturama: The Old Order Amish  of the United States and Canada (1 of 3)</vt:lpstr>
      <vt:lpstr>Map 6.1 Old Order Amish Population of North America</vt:lpstr>
      <vt:lpstr>Culturama: The Old Order Amish  of the United States and Canada (2 of 3)</vt:lpstr>
      <vt:lpstr>Culturama: The Old Order Amish  of the United States and Canada (3 of 3)</vt:lpstr>
      <vt:lpstr>The Industrial/Digital Mode  of Reproduction (1 of 2)</vt:lpstr>
      <vt:lpstr>Figure 6.2 Model of the  Demographic Transition</vt:lpstr>
      <vt:lpstr>The Industrial/Digital Mode  of Reproduction (2 of 2)</vt:lpstr>
      <vt:lpstr>Culture and Fertility 6.2 Discuss how culture shapes fertility in different cultural contexts.</vt:lpstr>
      <vt:lpstr>Sexual Intercourse</vt:lpstr>
      <vt:lpstr>Anthropology Works: Studying Sexual Behavior among MSM in New York City</vt:lpstr>
      <vt:lpstr>Fertility Decision Making (1 of 3)</vt:lpstr>
      <vt:lpstr>Fertility Decision Making (2 of 3)</vt:lpstr>
      <vt:lpstr>Fertility Decision Making (3 of 3)</vt:lpstr>
      <vt:lpstr>Fertility Control</vt:lpstr>
      <vt:lpstr>Infanticide</vt:lpstr>
      <vt:lpstr>Personality and the Life Cycle (1 of 2) 6.3 Identify how culture shapes personality over the life cycle.</vt:lpstr>
      <vt:lpstr>Personality and the Life Cycle (2 of 2)</vt:lpstr>
      <vt:lpstr>Birth, Infancy, and Childhood (1 of 2)</vt:lpstr>
      <vt:lpstr>Birth, Infancy, and Childhood (2 of 2)</vt:lpstr>
      <vt:lpstr>Socialization During Childhood</vt:lpstr>
      <vt:lpstr>Adolescence and Identity (1 of 4)</vt:lpstr>
      <vt:lpstr>Adolescence and Identity (2 of 4)</vt:lpstr>
      <vt:lpstr>Map 6.4 Maasai Region  of Kenya and Tanzania</vt:lpstr>
      <vt:lpstr>Adolescence and Identity (3 of 4)</vt:lpstr>
      <vt:lpstr>Adolescence and Identity (4 of 4)</vt:lpstr>
      <vt:lpstr>Think Like an Anthropologist: Cultural Relativism and Female Genital Cutting (1 of 2)</vt:lpstr>
      <vt:lpstr>Think Like an Anthropologist: Cultural Relativism and Female Genital Cutting (2 of 2)</vt:lpstr>
      <vt:lpstr>Adulthood (1 of 2)</vt:lpstr>
      <vt:lpstr>Map 6.7 Aka Region of the Central African Republic and the Democratic Republic of Congo</vt:lpstr>
      <vt:lpstr>Adulthood (2 of 2)</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34</cp:revision>
  <dcterms:created xsi:type="dcterms:W3CDTF">2015-09-18T14:54:36Z</dcterms:created>
  <dcterms:modified xsi:type="dcterms:W3CDTF">2016-04-05T17:17:45Z</dcterms:modified>
</cp:coreProperties>
</file>