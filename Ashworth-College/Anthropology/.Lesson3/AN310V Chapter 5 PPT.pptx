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Default Extension="jpg" ContentType="image/jpeg"/>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notesMasterIdLst>
    <p:notesMasterId r:id="rId40"/>
  </p:notesMasterIdLst>
  <p:sldIdLst>
    <p:sldId id="257" r:id="rId3"/>
    <p:sldId id="256"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8" r:id="rId22"/>
    <p:sldId id="275" r:id="rId23"/>
    <p:sldId id="276" r:id="rId24"/>
    <p:sldId id="277" r:id="rId25"/>
    <p:sldId id="279" r:id="rId26"/>
    <p:sldId id="280" r:id="rId27"/>
    <p:sldId id="281" r:id="rId28"/>
    <p:sldId id="282" r:id="rId29"/>
    <p:sldId id="283" r:id="rId30"/>
    <p:sldId id="284" r:id="rId31"/>
    <p:sldId id="285" r:id="rId32"/>
    <p:sldId id="286" r:id="rId33"/>
    <p:sldId id="287" r:id="rId34"/>
    <p:sldId id="289" r:id="rId35"/>
    <p:sldId id="288" r:id="rId36"/>
    <p:sldId id="290" r:id="rId37"/>
    <p:sldId id="292" r:id="rId38"/>
    <p:sldId id="293"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209" autoAdjust="0"/>
  </p:normalViewPr>
  <p:slideViewPr>
    <p:cSldViewPr>
      <p:cViewPr>
        <p:scale>
          <a:sx n="112" d="100"/>
          <a:sy n="112" d="100"/>
        </p:scale>
        <p:origin x="-80" y="-5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9" Type="http://schemas.openxmlformats.org/officeDocument/2006/relationships/slide" Target="slides/slide7.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notesMaster" Target="notesMasters/notesMaster1.xml"/><Relationship Id="rId41" Type="http://schemas.openxmlformats.org/officeDocument/2006/relationships/printerSettings" Target="printerSettings/printerSettings1.bin"/><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E4BE69B-72AE-4D34-A882-9A46437B38C1}" type="datetimeFigureOut">
              <a:rPr lang="en-US" smtClean="0"/>
              <a:t>4/4/16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C3D5326-276A-40A1-8EBD-F201C27B9F28}" type="slidenum">
              <a:rPr lang="en-US" smtClean="0"/>
              <a:t>‹#›</a:t>
            </a:fld>
            <a:endParaRPr lang="en-US" dirty="0"/>
          </a:p>
        </p:txBody>
      </p:sp>
    </p:spTree>
    <p:extLst>
      <p:ext uri="{BB962C8B-B14F-4D97-AF65-F5344CB8AC3E}">
        <p14:creationId xmlns:p14="http://schemas.microsoft.com/office/powerpoint/2010/main" val="3310504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smtClean="0"/>
              <a:t>For a better classroom presentation flow, the order of some topics in this lecture outline differs slightly from the order of topics in the text and, where this occurs, some figures and tables are out of numerical order.</a:t>
            </a:r>
            <a:endParaRPr lang="en-US" sz="1600" dirty="0"/>
          </a:p>
        </p:txBody>
      </p:sp>
      <p:sp>
        <p:nvSpPr>
          <p:cNvPr id="4" name="Slide Number Placeholder 3"/>
          <p:cNvSpPr>
            <a:spLocks noGrp="1"/>
          </p:cNvSpPr>
          <p:nvPr>
            <p:ph type="sldNum" sz="quarter" idx="10"/>
          </p:nvPr>
        </p:nvSpPr>
        <p:spPr/>
        <p:txBody>
          <a:bodyPr/>
          <a:lstStyle/>
          <a:p>
            <a:fld id="{0C3D5326-276A-40A1-8EBD-F201C27B9F28}" type="slidenum">
              <a:rPr lang="en-US" smtClean="0"/>
              <a:t>1</a:t>
            </a:fld>
            <a:endParaRPr lang="en-US" dirty="0"/>
          </a:p>
        </p:txBody>
      </p:sp>
    </p:spTree>
    <p:extLst>
      <p:ext uri="{BB962C8B-B14F-4D97-AF65-F5344CB8AC3E}">
        <p14:creationId xmlns:p14="http://schemas.microsoft.com/office/powerpoint/2010/main" val="1215017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C3D5326-276A-40A1-8EBD-F201C27B9F28}" type="slidenum">
              <a:rPr lang="en-US" smtClean="0"/>
              <a:t>2</a:t>
            </a:fld>
            <a:endParaRPr lang="en-US" dirty="0"/>
          </a:p>
        </p:txBody>
      </p:sp>
    </p:spTree>
    <p:extLst>
      <p:ext uri="{BB962C8B-B14F-4D97-AF65-F5344CB8AC3E}">
        <p14:creationId xmlns:p14="http://schemas.microsoft.com/office/powerpoint/2010/main" val="1573354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C3D5326-276A-40A1-8EBD-F201C27B9F28}" type="slidenum">
              <a:rPr lang="en-US" smtClean="0"/>
              <a:t>13</a:t>
            </a:fld>
            <a:endParaRPr lang="en-US" dirty="0"/>
          </a:p>
        </p:txBody>
      </p:sp>
    </p:spTree>
    <p:extLst>
      <p:ext uri="{BB962C8B-B14F-4D97-AF65-F5344CB8AC3E}">
        <p14:creationId xmlns:p14="http://schemas.microsoft.com/office/powerpoint/2010/main" val="2421213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terms of per capita income, Connecticut is the wealthiest state</a:t>
            </a:r>
            <a:r>
              <a:rPr lang="en-US" baseline="0" dirty="0" smtClean="0"/>
              <a:t> </a:t>
            </a:r>
            <a:r>
              <a:rPr lang="en-US" dirty="0" smtClean="0"/>
              <a:t>in the United States. Its population of about 3.6 million includes a</a:t>
            </a:r>
            <a:r>
              <a:rPr lang="en-US" baseline="0" dirty="0" smtClean="0"/>
              <a:t> </a:t>
            </a:r>
            <a:r>
              <a:rPr lang="en-US" dirty="0" smtClean="0"/>
              <a:t>majority of Whites (nearly 80 percent), predominantly of Italian, Irish,</a:t>
            </a:r>
            <a:r>
              <a:rPr lang="en-US" baseline="0" dirty="0" smtClean="0"/>
              <a:t> </a:t>
            </a:r>
            <a:r>
              <a:rPr lang="en-US" dirty="0" smtClean="0"/>
              <a:t>and English descent. Blacks and Latinos constitute about 10 percent</a:t>
            </a:r>
            <a:r>
              <a:rPr lang="en-US" baseline="0" dirty="0" smtClean="0"/>
              <a:t> </a:t>
            </a:r>
            <a:r>
              <a:rPr lang="en-US" dirty="0" smtClean="0"/>
              <a:t>of the population each. Indian tribal peoples are 0.3 percent. Other</a:t>
            </a:r>
            <a:r>
              <a:rPr lang="en-US" baseline="0" dirty="0" smtClean="0"/>
              <a:t> </a:t>
            </a:r>
            <a:r>
              <a:rPr lang="en-US" dirty="0" smtClean="0"/>
              <a:t>ethnic groups constitute the rest of the population.</a:t>
            </a:r>
            <a:endParaRPr lang="en-US" dirty="0"/>
          </a:p>
        </p:txBody>
      </p:sp>
      <p:sp>
        <p:nvSpPr>
          <p:cNvPr id="4" name="Slide Number Placeholder 3"/>
          <p:cNvSpPr>
            <a:spLocks noGrp="1"/>
          </p:cNvSpPr>
          <p:nvPr>
            <p:ph type="sldNum" sz="quarter" idx="10"/>
          </p:nvPr>
        </p:nvSpPr>
        <p:spPr/>
        <p:txBody>
          <a:bodyPr/>
          <a:lstStyle/>
          <a:p>
            <a:fld id="{0C3D5326-276A-40A1-8EBD-F201C27B9F28}" type="slidenum">
              <a:rPr lang="en-US" smtClean="0"/>
              <a:t>15</a:t>
            </a:fld>
            <a:endParaRPr lang="en-US" dirty="0"/>
          </a:p>
        </p:txBody>
      </p:sp>
    </p:spTree>
    <p:extLst>
      <p:ext uri="{BB962C8B-B14F-4D97-AF65-F5344CB8AC3E}">
        <p14:creationId xmlns:p14="http://schemas.microsoft.com/office/powerpoint/2010/main" val="18930949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Balgo Hills community is located</a:t>
            </a:r>
            <a:r>
              <a:rPr lang="en-US" baseline="0" dirty="0" smtClean="0"/>
              <a:t> </a:t>
            </a:r>
            <a:r>
              <a:rPr lang="en-US" dirty="0" smtClean="0"/>
              <a:t>on the northern edge of the Tanami</a:t>
            </a:r>
            <a:r>
              <a:rPr lang="en-US" baseline="0" dirty="0" smtClean="0"/>
              <a:t> </a:t>
            </a:r>
            <a:r>
              <a:rPr lang="en-US" dirty="0" smtClean="0"/>
              <a:t>and Great Sandy Deserts. One of</a:t>
            </a:r>
            <a:r>
              <a:rPr lang="en-US" baseline="0" dirty="0" smtClean="0"/>
              <a:t> </a:t>
            </a:r>
            <a:r>
              <a:rPr lang="en-US" dirty="0" smtClean="0"/>
              <a:t>Australia’s most isolated indigenous</a:t>
            </a:r>
            <a:r>
              <a:rPr lang="en-US" baseline="0" dirty="0" smtClean="0"/>
              <a:t> </a:t>
            </a:r>
            <a:r>
              <a:rPr lang="en-US" dirty="0" smtClean="0"/>
              <a:t>desert settlements, it nevertheless</a:t>
            </a:r>
            <a:r>
              <a:rPr lang="en-US" baseline="0" dirty="0" smtClean="0"/>
              <a:t> </a:t>
            </a:r>
            <a:r>
              <a:rPr lang="en-US" dirty="0" smtClean="0"/>
              <a:t>has a flourishing art center. Balgo</a:t>
            </a:r>
            <a:r>
              <a:rPr lang="en-US" baseline="0" dirty="0" smtClean="0"/>
              <a:t> </a:t>
            </a:r>
            <a:r>
              <a:rPr lang="en-US" dirty="0" smtClean="0"/>
              <a:t>paintings and glass are highly sought</a:t>
            </a:r>
            <a:r>
              <a:rPr lang="en-US" baseline="0" dirty="0" smtClean="0"/>
              <a:t> </a:t>
            </a:r>
            <a:r>
              <a:rPr lang="en-US" dirty="0" smtClean="0"/>
              <a:t>after by collectors. </a:t>
            </a:r>
            <a:endParaRPr lang="en-US" dirty="0"/>
          </a:p>
        </p:txBody>
      </p:sp>
      <p:sp>
        <p:nvSpPr>
          <p:cNvPr id="4" name="Slide Number Placeholder 3"/>
          <p:cNvSpPr>
            <a:spLocks noGrp="1"/>
          </p:cNvSpPr>
          <p:nvPr>
            <p:ph type="sldNum" sz="quarter" idx="10"/>
          </p:nvPr>
        </p:nvSpPr>
        <p:spPr/>
        <p:txBody>
          <a:bodyPr/>
          <a:lstStyle/>
          <a:p>
            <a:fld id="{0C3D5326-276A-40A1-8EBD-F201C27B9F28}" type="slidenum">
              <a:rPr lang="en-US" smtClean="0"/>
              <a:t>20</a:t>
            </a:fld>
            <a:endParaRPr lang="en-US" dirty="0"/>
          </a:p>
        </p:txBody>
      </p:sp>
    </p:spTree>
    <p:extLst>
      <p:ext uri="{BB962C8B-B14F-4D97-AF65-F5344CB8AC3E}">
        <p14:creationId xmlns:p14="http://schemas.microsoft.com/office/powerpoint/2010/main" val="8575254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Sultanate of Oman is mainly a vast desert plain with a hot, dry climate. The</a:t>
            </a:r>
            <a:r>
              <a:rPr lang="en-US" baseline="0" dirty="0" smtClean="0"/>
              <a:t> </a:t>
            </a:r>
            <a:r>
              <a:rPr lang="en-US" dirty="0" smtClean="0"/>
              <a:t>population of nearly 3 million includes around 900,000 immigrant laborers. The</a:t>
            </a:r>
            <a:r>
              <a:rPr lang="en-US" baseline="0" dirty="0" smtClean="0"/>
              <a:t> </a:t>
            </a:r>
            <a:r>
              <a:rPr lang="en-US" dirty="0" smtClean="0"/>
              <a:t>economy is based mainly on crude oil. The major religion is Ibadi Islam, a more</a:t>
            </a:r>
            <a:r>
              <a:rPr lang="en-US" baseline="0" dirty="0" smtClean="0"/>
              <a:t> </a:t>
            </a:r>
            <a:r>
              <a:rPr lang="en-US" dirty="0" smtClean="0"/>
              <a:t>liberal version of Islam than Sunni or Shi’a Islam. Arabic is the official language,</a:t>
            </a:r>
            <a:r>
              <a:rPr lang="en-US" baseline="0" dirty="0" smtClean="0"/>
              <a:t> </a:t>
            </a:r>
            <a:r>
              <a:rPr lang="en-US" dirty="0" smtClean="0"/>
              <a:t>with English a widely spoken second language. Several dialects of Arabic are</a:t>
            </a:r>
            <a:r>
              <a:rPr lang="en-US" baseline="0" dirty="0" smtClean="0"/>
              <a:t> </a:t>
            </a:r>
            <a:r>
              <a:rPr lang="en-US" dirty="0" smtClean="0"/>
              <a:t>spoken.</a:t>
            </a:r>
            <a:endParaRPr lang="en-US" dirty="0"/>
          </a:p>
        </p:txBody>
      </p:sp>
      <p:sp>
        <p:nvSpPr>
          <p:cNvPr id="4" name="Slide Number Placeholder 3"/>
          <p:cNvSpPr>
            <a:spLocks noGrp="1"/>
          </p:cNvSpPr>
          <p:nvPr>
            <p:ph type="sldNum" sz="quarter" idx="10"/>
          </p:nvPr>
        </p:nvSpPr>
        <p:spPr/>
        <p:txBody>
          <a:bodyPr/>
          <a:lstStyle/>
          <a:p>
            <a:fld id="{0C3D5326-276A-40A1-8EBD-F201C27B9F28}" type="slidenum">
              <a:rPr lang="en-US" smtClean="0"/>
              <a:t>22</a:t>
            </a:fld>
            <a:endParaRPr lang="en-US" dirty="0"/>
          </a:p>
        </p:txBody>
      </p:sp>
    </p:spTree>
    <p:extLst>
      <p:ext uri="{BB962C8B-B14F-4D97-AF65-F5344CB8AC3E}">
        <p14:creationId xmlns:p14="http://schemas.microsoft.com/office/powerpoint/2010/main" val="1464646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Kwakw</a:t>
            </a:r>
            <a:r>
              <a:rPr lang="en-US" u="sng" dirty="0" smtClean="0"/>
              <a:t>a</a:t>
            </a:r>
            <a:r>
              <a:rPr lang="en-US" dirty="0" smtClean="0"/>
              <a:t>k</a:t>
            </a:r>
            <a:r>
              <a:rPr lang="en-US" u="sng" dirty="0" smtClean="0"/>
              <a:t>a</a:t>
            </a:r>
            <a:r>
              <a:rPr lang="en-US" dirty="0" smtClean="0"/>
              <a:t>’wakw are a Pacific</a:t>
            </a:r>
            <a:r>
              <a:rPr lang="en-US" baseline="0" dirty="0" smtClean="0"/>
              <a:t> </a:t>
            </a:r>
            <a:r>
              <a:rPr lang="en-US" dirty="0" smtClean="0"/>
              <a:t>Northwest Coast indigenous</a:t>
            </a:r>
            <a:r>
              <a:rPr lang="en-US" baseline="0" dirty="0" smtClean="0"/>
              <a:t> </a:t>
            </a:r>
            <a:r>
              <a:rPr lang="en-US" dirty="0" smtClean="0"/>
              <a:t>people. Their current population is</a:t>
            </a:r>
            <a:r>
              <a:rPr lang="en-US" baseline="0" dirty="0" smtClean="0"/>
              <a:t> </a:t>
            </a:r>
            <a:r>
              <a:rPr lang="en-US" dirty="0" smtClean="0"/>
              <a:t>approximately 5,500. Most live in British</a:t>
            </a:r>
            <a:r>
              <a:rPr lang="en-US" baseline="0" dirty="0" smtClean="0"/>
              <a:t> </a:t>
            </a:r>
            <a:r>
              <a:rPr lang="en-US" dirty="0" smtClean="0"/>
              <a:t>Columbia on northern Vancouver Island</a:t>
            </a:r>
            <a:r>
              <a:rPr lang="en-US" baseline="0" dirty="0" smtClean="0"/>
              <a:t> </a:t>
            </a:r>
            <a:r>
              <a:rPr lang="en-US" dirty="0" smtClean="0"/>
              <a:t>and the adjoining mainland. Some</a:t>
            </a:r>
            <a:r>
              <a:rPr lang="en-US" baseline="0" dirty="0" smtClean="0"/>
              <a:t> </a:t>
            </a:r>
            <a:r>
              <a:rPr lang="en-US" dirty="0" smtClean="0"/>
              <a:t>live outside their homelands in urban</a:t>
            </a:r>
            <a:r>
              <a:rPr lang="en-US" baseline="0" dirty="0" smtClean="0"/>
              <a:t> </a:t>
            </a:r>
            <a:r>
              <a:rPr lang="en-US" dirty="0" smtClean="0"/>
              <a:t>areas such as Victoria and Vancouver.</a:t>
            </a:r>
            <a:r>
              <a:rPr lang="en-US" baseline="0" dirty="0" smtClean="0"/>
              <a:t> </a:t>
            </a:r>
            <a:r>
              <a:rPr lang="en-US" dirty="0" smtClean="0"/>
              <a:t>Their language, now spoken by about</a:t>
            </a:r>
            <a:r>
              <a:rPr lang="en-US" baseline="0" dirty="0" smtClean="0"/>
              <a:t> </a:t>
            </a:r>
            <a:r>
              <a:rPr lang="en-US" dirty="0" smtClean="0"/>
              <a:t>250 people, consists of four dialects.</a:t>
            </a:r>
            <a:r>
              <a:rPr lang="en-US" baseline="0" dirty="0" smtClean="0"/>
              <a:t> </a:t>
            </a:r>
            <a:r>
              <a:rPr lang="en-US" dirty="0" smtClean="0"/>
              <a:t>They are organized into 13 band</a:t>
            </a:r>
            <a:r>
              <a:rPr lang="en-US" baseline="0" dirty="0" smtClean="0"/>
              <a:t> </a:t>
            </a:r>
            <a:r>
              <a:rPr lang="en-US" dirty="0" smtClean="0"/>
              <a:t>governments.</a:t>
            </a:r>
            <a:endParaRPr lang="en-US" dirty="0"/>
          </a:p>
        </p:txBody>
      </p:sp>
      <p:sp>
        <p:nvSpPr>
          <p:cNvPr id="4" name="Slide Number Placeholder 3"/>
          <p:cNvSpPr>
            <a:spLocks noGrp="1"/>
          </p:cNvSpPr>
          <p:nvPr>
            <p:ph type="sldNum" sz="quarter" idx="10"/>
          </p:nvPr>
        </p:nvSpPr>
        <p:spPr/>
        <p:txBody>
          <a:bodyPr/>
          <a:lstStyle/>
          <a:p>
            <a:fld id="{0C3D5326-276A-40A1-8EBD-F201C27B9F28}" type="slidenum">
              <a:rPr lang="en-US" smtClean="0"/>
              <a:t>37</a:t>
            </a:fld>
            <a:endParaRPr lang="en-US" dirty="0"/>
          </a:p>
        </p:txBody>
      </p:sp>
    </p:spTree>
    <p:extLst>
      <p:ext uri="{BB962C8B-B14F-4D97-AF65-F5344CB8AC3E}">
        <p14:creationId xmlns:p14="http://schemas.microsoft.com/office/powerpoint/2010/main" val="9577545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3"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44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4"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Tree>
    <p:extLst>
      <p:ext uri="{BB962C8B-B14F-4D97-AF65-F5344CB8AC3E}">
        <p14:creationId xmlns:p14="http://schemas.microsoft.com/office/powerpoint/2010/main" val="3806056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Tree>
    <p:extLst>
      <p:ext uri="{BB962C8B-B14F-4D97-AF65-F5344CB8AC3E}">
        <p14:creationId xmlns:p14="http://schemas.microsoft.com/office/powerpoint/2010/main" val="1255095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4/4/16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4140190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4/4/16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678048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4/4/16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571841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4/4/16</a:t>
            </a:fld>
            <a:endParaRPr lang="en-US" dirty="0"/>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90677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4/4/16</a:t>
            </a:fld>
            <a:endParaRPr lang="en-US" dirty="0"/>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3758911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4/4/16</a:t>
            </a:fld>
            <a:endParaRPr lang="en-US" dirty="0"/>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64310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4/4/16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421055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4" Type="http://schemas.openxmlformats.org/officeDocument/2006/relationships/image" Target="../media/image2.emf"/><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theme" Target="../theme/theme2.xml"/><Relationship Id="rId10" Type="http://schemas.openxmlformats.org/officeDocument/2006/relationships/image" Target="../media/image2.emf"/><Relationship Id="rId1" Type="http://schemas.openxmlformats.org/officeDocument/2006/relationships/slideLayout" Target="../slideLayouts/slideLayout2.xml"/><Relationship Id="rId2"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37650" cy="457200"/>
            <a:chOff x="0" y="6511925"/>
            <a:chExt cx="9137650" cy="430213"/>
          </a:xfrm>
          <a:solidFill>
            <a:schemeClr val="accent1">
              <a:lumMod val="75000"/>
            </a:schemeClr>
          </a:solidFill>
        </p:grpSpPr>
        <p:pic>
          <p:nvPicPr>
            <p:cNvPr id="8" name="Always Learning Logo" descr="Pearson: Always Learning 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black">
            <a:xfrm>
              <a:off x="0" y="6511926"/>
              <a:ext cx="1660525" cy="430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9" name="Pearson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10" name="Copyright" descr="Copyright 2015, 2012, 2009"/>
            <p:cNvSpPr txBox="1">
              <a:spLocks noChangeArrowheads="1"/>
            </p:cNvSpPr>
            <p:nvPr/>
          </p:nvSpPr>
          <p:spPr bwMode="auto">
            <a:xfrm>
              <a:off x="1600200" y="6511926"/>
              <a:ext cx="6130132"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ctr">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Copyright © 2017,</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2013, 2011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
        <p:nvSpPr>
          <p:cNvPr id="13" name="Title 10"/>
          <p:cNvSpPr txBox="1">
            <a:spLocks/>
          </p:cNvSpPr>
          <p:nvPr/>
        </p:nvSpPr>
        <p:spPr>
          <a:xfrm>
            <a:off x="457200" y="215372"/>
            <a:ext cx="8229600" cy="601058"/>
          </a:xfrm>
          <a:prstGeom prst="rect">
            <a:avLst/>
          </a:prstGeom>
        </p:spPr>
        <p:txBody>
          <a:bodyPr anchor="t"/>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400" dirty="0" smtClean="0">
                <a:solidFill>
                  <a:schemeClr val="bg1"/>
                </a:solidFill>
              </a:rPr>
              <a:t>Cultural</a:t>
            </a:r>
            <a:r>
              <a:rPr lang="en-US" sz="4400" baseline="0" dirty="0" smtClean="0">
                <a:solidFill>
                  <a:schemeClr val="bg1"/>
                </a:solidFill>
              </a:rPr>
              <a:t> Anthropology</a:t>
            </a:r>
            <a:endParaRPr lang="en-US" sz="4400" dirty="0">
              <a:solidFill>
                <a:schemeClr val="bg1"/>
              </a:solidFill>
            </a:endParaRPr>
          </a:p>
        </p:txBody>
      </p:sp>
      <p:sp>
        <p:nvSpPr>
          <p:cNvPr id="14" name="Text Placeholder 6"/>
          <p:cNvSpPr txBox="1">
            <a:spLocks/>
          </p:cNvSpPr>
          <p:nvPr/>
        </p:nvSpPr>
        <p:spPr>
          <a:xfrm>
            <a:off x="457200" y="816430"/>
            <a:ext cx="8229600" cy="478970"/>
          </a:xfrm>
          <a:prstGeom prst="rect">
            <a:avLst/>
          </a:prstGeom>
        </p:spPr>
        <p:txBody>
          <a:bodyPr>
            <a:noAutofit/>
          </a:bodyPr>
          <a:lstStyle>
            <a:lvl1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1pPr>
            <a:lvl2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2pPr>
            <a:lvl3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3pPr>
            <a:lvl4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4pPr>
            <a:lvl5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5pPr>
            <a:lvl6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6pPr>
            <a:lvl7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7pPr>
            <a:lvl8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8pPr>
            <a:lvl9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9pPr>
          </a:lstStyle>
          <a:p>
            <a:r>
              <a:rPr lang="en-US" dirty="0" smtClean="0"/>
              <a:t>Eighth</a:t>
            </a:r>
            <a:r>
              <a:rPr lang="en-US" baseline="0" dirty="0" smtClean="0"/>
              <a:t> </a:t>
            </a:r>
            <a:r>
              <a:rPr lang="en-US" dirty="0" smtClean="0"/>
              <a:t>Edition</a:t>
            </a:r>
            <a:endParaRPr lang="en-US" dirty="0"/>
          </a:p>
        </p:txBody>
      </p:sp>
    </p:spTree>
    <p:extLst>
      <p:ext uri="{BB962C8B-B14F-4D97-AF65-F5344CB8AC3E}">
        <p14:creationId xmlns:p14="http://schemas.microsoft.com/office/powerpoint/2010/main" val="3671177032"/>
      </p:ext>
    </p:extLst>
  </p:cSld>
  <p:clrMap bg1="lt1" tx1="dk1" bg2="lt2" tx2="dk2" accent1="accent1" accent2="accent2" accent3="accent3" accent4="accent4" accent5="accent5" accent6="accent6" hlink="hlink" folHlink="folHlink"/>
  <p:sldLayoutIdLst>
    <p:sldLayoutId id="2147483672"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44000" cy="457200"/>
            <a:chOff x="0" y="6511925"/>
            <a:chExt cx="9137650" cy="430213"/>
          </a:xfrm>
          <a:solidFill>
            <a:schemeClr val="accent1">
              <a:lumMod val="75000"/>
            </a:schemeClr>
          </a:solidFill>
        </p:grpSpPr>
        <p:pic>
          <p:nvPicPr>
            <p:cNvPr id="8" name="Pearson Logo"/>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9" name="Copyright" descr="Copyright 2015, 2012, 2009"/>
            <p:cNvSpPr txBox="1">
              <a:spLocks noChangeArrowheads="1"/>
            </p:cNvSpPr>
            <p:nvPr/>
          </p:nvSpPr>
          <p:spPr bwMode="auto">
            <a:xfrm>
              <a:off x="0" y="6511926"/>
              <a:ext cx="7696200"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l">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Copyright © 2017, 2013, 2011 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Tree>
    <p:extLst>
      <p:ext uri="{BB962C8B-B14F-4D97-AF65-F5344CB8AC3E}">
        <p14:creationId xmlns:p14="http://schemas.microsoft.com/office/powerpoint/2010/main" val="3622156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ctr"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r>
              <a:rPr lang="en-US" dirty="0" smtClean="0"/>
              <a:t>Chapter 5</a:t>
            </a:r>
            <a:endParaRPr lang="en-US" dirty="0"/>
          </a:p>
        </p:txBody>
      </p:sp>
      <p:sp>
        <p:nvSpPr>
          <p:cNvPr id="3" name="Text Placeholder 2"/>
          <p:cNvSpPr>
            <a:spLocks noGrp="1"/>
          </p:cNvSpPr>
          <p:nvPr>
            <p:ph type="body" sz="quarter" idx="15"/>
          </p:nvPr>
        </p:nvSpPr>
        <p:spPr/>
        <p:txBody>
          <a:bodyPr/>
          <a:lstStyle/>
          <a:p>
            <a:r>
              <a:rPr lang="en-US" dirty="0" smtClean="0"/>
              <a:t>Consumption and Exchange</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600200"/>
            <a:ext cx="3679722" cy="4562855"/>
          </a:xfrm>
          <a:prstGeom prst="rect">
            <a:avLst/>
          </a:prstGeom>
        </p:spPr>
      </p:pic>
    </p:spTree>
    <p:extLst>
      <p:ext uri="{BB962C8B-B14F-4D97-AF65-F5344CB8AC3E}">
        <p14:creationId xmlns:p14="http://schemas.microsoft.com/office/powerpoint/2010/main" val="2436185768"/>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Learning Objectives</a:t>
            </a:r>
            <a:endParaRPr lang="en-US" dirty="0"/>
          </a:p>
        </p:txBody>
      </p:sp>
      <p:sp>
        <p:nvSpPr>
          <p:cNvPr id="5" name="Content Placeholder 4"/>
          <p:cNvSpPr>
            <a:spLocks noGrp="1"/>
          </p:cNvSpPr>
          <p:nvPr>
            <p:ph idx="1"/>
          </p:nvPr>
        </p:nvSpPr>
        <p:spPr/>
        <p:txBody>
          <a:bodyPr/>
          <a:lstStyle/>
          <a:p>
            <a:pPr marL="0" indent="0">
              <a:buNone/>
            </a:pPr>
            <a:r>
              <a:rPr lang="en-US" dirty="0" smtClean="0">
                <a:solidFill>
                  <a:srgbClr val="376092"/>
                </a:solidFill>
              </a:rPr>
              <a:t>5.1</a:t>
            </a:r>
            <a:r>
              <a:rPr lang="en-US" dirty="0" smtClean="0">
                <a:solidFill>
                  <a:schemeClr val="accent1"/>
                </a:solidFill>
              </a:rPr>
              <a:t> </a:t>
            </a:r>
            <a:r>
              <a:rPr lang="en-US" dirty="0" smtClean="0"/>
              <a:t>Recognize what is consumption in a cross-cultural perspective.</a:t>
            </a:r>
          </a:p>
          <a:p>
            <a:pPr marL="0" indent="0">
              <a:buNone/>
            </a:pPr>
            <a:endParaRPr lang="en-US" dirty="0"/>
          </a:p>
          <a:p>
            <a:pPr marL="0" indent="0">
              <a:buNone/>
            </a:pPr>
            <a:r>
              <a:rPr lang="en-US" dirty="0" smtClean="0">
                <a:solidFill>
                  <a:srgbClr val="376092"/>
                </a:solidFill>
              </a:rPr>
              <a:t>5.2</a:t>
            </a:r>
            <a:r>
              <a:rPr lang="en-US" dirty="0" smtClean="0"/>
              <a:t> Identify the varieties of exchange in cross-cultural perspective. </a:t>
            </a:r>
          </a:p>
          <a:p>
            <a:pPr marL="0" indent="0">
              <a:buNone/>
            </a:pPr>
            <a:endParaRPr lang="en-US" dirty="0"/>
          </a:p>
          <a:p>
            <a:pPr marL="0" indent="0">
              <a:buNone/>
            </a:pPr>
            <a:r>
              <a:rPr lang="en-US" dirty="0" smtClean="0">
                <a:solidFill>
                  <a:srgbClr val="376092"/>
                </a:solidFill>
              </a:rPr>
              <a:t>5.3</a:t>
            </a:r>
            <a:r>
              <a:rPr lang="en-US" dirty="0" smtClean="0"/>
              <a:t> Illustrate how consumption and exchange are changing.</a:t>
            </a:r>
            <a:endParaRPr lang="en-US" dirty="0"/>
          </a:p>
        </p:txBody>
      </p:sp>
    </p:spTree>
    <p:extLst>
      <p:ext uri="{BB962C8B-B14F-4D97-AF65-F5344CB8AC3E}">
        <p14:creationId xmlns:p14="http://schemas.microsoft.com/office/powerpoint/2010/main" val="2544906674"/>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600" dirty="0" smtClean="0"/>
              <a:t>Culture and Consumption</a:t>
            </a:r>
            <a:r>
              <a:rPr lang="en-US" sz="3200" dirty="0" smtClean="0"/>
              <a:t/>
            </a:r>
            <a:br>
              <a:rPr lang="en-US" sz="3200" dirty="0" smtClean="0"/>
            </a:br>
            <a:r>
              <a:rPr lang="en-US" sz="2000" dirty="0" smtClean="0"/>
              <a:t>5.1 Recognize what is consumption in a cross-cultural perspective.</a:t>
            </a:r>
            <a:endParaRPr lang="en-US" sz="2000" dirty="0"/>
          </a:p>
        </p:txBody>
      </p:sp>
      <p:sp>
        <p:nvSpPr>
          <p:cNvPr id="3" name="Content Placeholder 2"/>
          <p:cNvSpPr>
            <a:spLocks noGrp="1"/>
          </p:cNvSpPr>
          <p:nvPr>
            <p:ph idx="1"/>
          </p:nvPr>
        </p:nvSpPr>
        <p:spPr/>
        <p:txBody>
          <a:bodyPr>
            <a:normAutofit fontScale="92500" lnSpcReduction="20000"/>
          </a:bodyPr>
          <a:lstStyle/>
          <a:p>
            <a:r>
              <a:rPr lang="en-US" dirty="0"/>
              <a:t>What Is </a:t>
            </a:r>
            <a:r>
              <a:rPr lang="en-US" dirty="0" smtClean="0"/>
              <a:t>Consumption</a:t>
            </a:r>
            <a:r>
              <a:rPr lang="en-US" dirty="0"/>
              <a:t>?</a:t>
            </a:r>
          </a:p>
          <a:p>
            <a:endParaRPr lang="en-US" dirty="0"/>
          </a:p>
          <a:p>
            <a:r>
              <a:rPr lang="en-US" dirty="0"/>
              <a:t>Modes of </a:t>
            </a:r>
            <a:r>
              <a:rPr lang="en-US" dirty="0" smtClean="0"/>
              <a:t>Consumption</a:t>
            </a:r>
            <a:endParaRPr lang="en-US" dirty="0"/>
          </a:p>
          <a:p>
            <a:endParaRPr lang="en-US" dirty="0"/>
          </a:p>
          <a:p>
            <a:r>
              <a:rPr lang="en-US" dirty="0"/>
              <a:t>Consumption </a:t>
            </a:r>
            <a:r>
              <a:rPr lang="en-US" dirty="0" smtClean="0"/>
              <a:t>Funds</a:t>
            </a:r>
            <a:endParaRPr lang="en-US" dirty="0"/>
          </a:p>
          <a:p>
            <a:endParaRPr lang="en-US" dirty="0"/>
          </a:p>
          <a:p>
            <a:r>
              <a:rPr lang="en-US" dirty="0"/>
              <a:t>Theorizing </a:t>
            </a:r>
            <a:r>
              <a:rPr lang="en-US" dirty="0" smtClean="0"/>
              <a:t>Consumption </a:t>
            </a:r>
            <a:r>
              <a:rPr lang="en-US" dirty="0"/>
              <a:t>I</a:t>
            </a:r>
            <a:r>
              <a:rPr lang="en-US" dirty="0" smtClean="0"/>
              <a:t>nequalities</a:t>
            </a:r>
            <a:endParaRPr lang="en-US" dirty="0"/>
          </a:p>
          <a:p>
            <a:endParaRPr lang="en-US" dirty="0"/>
          </a:p>
          <a:p>
            <a:r>
              <a:rPr lang="en-US" dirty="0"/>
              <a:t>Forbidden </a:t>
            </a:r>
            <a:r>
              <a:rPr lang="en-US" dirty="0" smtClean="0"/>
              <a:t>Consumption</a:t>
            </a:r>
            <a:r>
              <a:rPr lang="en-US" dirty="0"/>
              <a:t>: </a:t>
            </a:r>
            <a:r>
              <a:rPr lang="en-US" dirty="0" smtClean="0"/>
              <a:t>Food </a:t>
            </a:r>
            <a:r>
              <a:rPr lang="en-US" dirty="0"/>
              <a:t>T</a:t>
            </a:r>
            <a:r>
              <a:rPr lang="en-US" dirty="0" smtClean="0"/>
              <a:t>aboos</a:t>
            </a:r>
            <a:endParaRPr lang="en-US" dirty="0"/>
          </a:p>
        </p:txBody>
      </p:sp>
    </p:spTree>
    <p:extLst>
      <p:ext uri="{BB962C8B-B14F-4D97-AF65-F5344CB8AC3E}">
        <p14:creationId xmlns:p14="http://schemas.microsoft.com/office/powerpoint/2010/main" val="2778448196"/>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Consumption?</a:t>
            </a:r>
            <a:endParaRPr lang="en-US" dirty="0"/>
          </a:p>
        </p:txBody>
      </p:sp>
      <p:sp>
        <p:nvSpPr>
          <p:cNvPr id="3" name="Content Placeholder 2"/>
          <p:cNvSpPr>
            <a:spLocks noGrp="1"/>
          </p:cNvSpPr>
          <p:nvPr>
            <p:ph idx="1"/>
          </p:nvPr>
        </p:nvSpPr>
        <p:spPr/>
        <p:txBody>
          <a:bodyPr/>
          <a:lstStyle/>
          <a:p>
            <a:r>
              <a:rPr lang="en-US" dirty="0"/>
              <a:t>The dominant way, in a culture, of using up goods and services</a:t>
            </a:r>
          </a:p>
          <a:p>
            <a:r>
              <a:rPr lang="en-US" dirty="0"/>
              <a:t>Two </a:t>
            </a:r>
            <a:r>
              <a:rPr lang="en-US" dirty="0" smtClean="0"/>
              <a:t>processes</a:t>
            </a:r>
            <a:r>
              <a:rPr lang="en-US" dirty="0"/>
              <a:t>:</a:t>
            </a:r>
          </a:p>
          <a:p>
            <a:pPr lvl="1"/>
            <a:r>
              <a:rPr lang="en-US" dirty="0"/>
              <a:t>A person’s “intake” in terms of eating or other ways of using things up</a:t>
            </a:r>
          </a:p>
          <a:p>
            <a:pPr lvl="1"/>
            <a:r>
              <a:rPr lang="en-US" dirty="0"/>
              <a:t>“Output” in terms of spending or using resources to obtain those things</a:t>
            </a:r>
          </a:p>
          <a:p>
            <a:endParaRPr lang="en-US" dirty="0"/>
          </a:p>
        </p:txBody>
      </p:sp>
    </p:spTree>
    <p:extLst>
      <p:ext uri="{BB962C8B-B14F-4D97-AF65-F5344CB8AC3E}">
        <p14:creationId xmlns:p14="http://schemas.microsoft.com/office/powerpoint/2010/main" val="629842081"/>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Modes of Consumption </a:t>
            </a:r>
            <a:r>
              <a:rPr lang="en-US" sz="2800" dirty="0" smtClean="0"/>
              <a:t>(1 of 3)</a:t>
            </a:r>
            <a:endParaRPr lang="en-US" sz="2800" dirty="0"/>
          </a:p>
        </p:txBody>
      </p:sp>
      <p:sp>
        <p:nvSpPr>
          <p:cNvPr id="3" name="Content Placeholder 2"/>
          <p:cNvSpPr>
            <a:spLocks noGrp="1"/>
          </p:cNvSpPr>
          <p:nvPr>
            <p:ph idx="1"/>
          </p:nvPr>
        </p:nvSpPr>
        <p:spPr/>
        <p:txBody>
          <a:bodyPr>
            <a:normAutofit fontScale="92500" lnSpcReduction="10000"/>
          </a:bodyPr>
          <a:lstStyle/>
          <a:p>
            <a:r>
              <a:rPr lang="en-US" dirty="0"/>
              <a:t>Related to modes of livelihood</a:t>
            </a:r>
          </a:p>
          <a:p>
            <a:r>
              <a:rPr lang="en-US" dirty="0"/>
              <a:t>Based on the relationship between demand and supply</a:t>
            </a:r>
          </a:p>
          <a:p>
            <a:r>
              <a:rPr lang="en-US" dirty="0"/>
              <a:t>Two major modes:</a:t>
            </a:r>
          </a:p>
          <a:p>
            <a:pPr lvl="1"/>
            <a:r>
              <a:rPr lang="en-US" dirty="0"/>
              <a:t>Minimalism—characterized by few and finite consumer demands and adequate and sustainable means to achieve them</a:t>
            </a:r>
          </a:p>
          <a:p>
            <a:pPr lvl="1"/>
            <a:r>
              <a:rPr lang="en-US" dirty="0"/>
              <a:t>Consumerism—people’s demands are many and infinite, and the means of satisfying them are never sufficient</a:t>
            </a:r>
          </a:p>
          <a:p>
            <a:endParaRPr lang="en-US" dirty="0"/>
          </a:p>
        </p:txBody>
      </p:sp>
    </p:spTree>
    <p:extLst>
      <p:ext uri="{BB962C8B-B14F-4D97-AF65-F5344CB8AC3E}">
        <p14:creationId xmlns:p14="http://schemas.microsoft.com/office/powerpoint/2010/main" val="1553952529"/>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Modes of Consumption </a:t>
            </a:r>
            <a:r>
              <a:rPr lang="en-US" sz="2800" dirty="0" smtClean="0"/>
              <a:t>(2 of 3)</a:t>
            </a:r>
            <a:endParaRPr lang="en-US" sz="2800" dirty="0"/>
          </a:p>
        </p:txBody>
      </p:sp>
      <p:sp>
        <p:nvSpPr>
          <p:cNvPr id="3" name="Content Placeholder 2"/>
          <p:cNvSpPr>
            <a:spLocks noGrp="1"/>
          </p:cNvSpPr>
          <p:nvPr>
            <p:ph idx="1"/>
          </p:nvPr>
        </p:nvSpPr>
        <p:spPr/>
        <p:txBody>
          <a:bodyPr/>
          <a:lstStyle/>
          <a:p>
            <a:r>
              <a:rPr lang="en-US" dirty="0" smtClean="0"/>
              <a:t>Consumption </a:t>
            </a:r>
            <a:r>
              <a:rPr lang="en-US" dirty="0"/>
              <a:t>v</a:t>
            </a:r>
            <a:r>
              <a:rPr lang="en-US" dirty="0" smtClean="0"/>
              <a:t>aries </a:t>
            </a:r>
            <a:r>
              <a:rPr lang="en-US" dirty="0"/>
              <a:t>c</a:t>
            </a:r>
            <a:r>
              <a:rPr lang="en-US" dirty="0" smtClean="0"/>
              <a:t>ross-culturally</a:t>
            </a:r>
          </a:p>
          <a:p>
            <a:pPr lvl="1"/>
            <a:r>
              <a:rPr lang="en-US" dirty="0" smtClean="0"/>
              <a:t>Foragers </a:t>
            </a:r>
            <a:r>
              <a:rPr lang="en-US" dirty="0"/>
              <a:t>are generally egalitarian</a:t>
            </a:r>
          </a:p>
          <a:p>
            <a:pPr lvl="2"/>
            <a:r>
              <a:rPr lang="en-US" dirty="0"/>
              <a:t>Sharing within the group is the norm</a:t>
            </a:r>
          </a:p>
          <a:p>
            <a:pPr lvl="2"/>
            <a:r>
              <a:rPr lang="en-US" dirty="0"/>
              <a:t>Everyone has equal access to all resources</a:t>
            </a:r>
          </a:p>
          <a:p>
            <a:pPr lvl="1"/>
            <a:r>
              <a:rPr lang="en-US" dirty="0"/>
              <a:t>Most agricultural and industrial</a:t>
            </a:r>
            <a:r>
              <a:rPr lang="en-US" dirty="0" smtClean="0"/>
              <a:t>/digital </a:t>
            </a:r>
            <a:r>
              <a:rPr lang="en-US" dirty="0"/>
              <a:t>societies exhibit consumption inequalities, some severe</a:t>
            </a:r>
          </a:p>
          <a:p>
            <a:endParaRPr lang="en-US" dirty="0"/>
          </a:p>
        </p:txBody>
      </p:sp>
    </p:spTree>
    <p:extLst>
      <p:ext uri="{BB962C8B-B14F-4D97-AF65-F5344CB8AC3E}">
        <p14:creationId xmlns:p14="http://schemas.microsoft.com/office/powerpoint/2010/main" val="4191985816"/>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Modes of Consumption </a:t>
            </a:r>
            <a:r>
              <a:rPr lang="en-US" sz="2800" dirty="0" smtClean="0"/>
              <a:t>(3 of 3)</a:t>
            </a:r>
            <a:endParaRPr lang="en-US" sz="2800" dirty="0"/>
          </a:p>
        </p:txBody>
      </p:sp>
      <p:sp>
        <p:nvSpPr>
          <p:cNvPr id="3" name="Content Placeholder 2"/>
          <p:cNvSpPr>
            <a:spLocks noGrp="1"/>
          </p:cNvSpPr>
          <p:nvPr>
            <p:ph idx="1"/>
          </p:nvPr>
        </p:nvSpPr>
        <p:spPr/>
        <p:txBody>
          <a:bodyPr/>
          <a:lstStyle/>
          <a:p>
            <a:r>
              <a:rPr lang="en-US" dirty="0" smtClean="0"/>
              <a:t>Leveling mechanism:</a:t>
            </a:r>
          </a:p>
          <a:p>
            <a:pPr lvl="1"/>
            <a:r>
              <a:rPr lang="en-US" dirty="0" smtClean="0"/>
              <a:t>An </a:t>
            </a:r>
            <a:r>
              <a:rPr lang="en-US" dirty="0"/>
              <a:t>important process in small-scale societies that works to keep people equal</a:t>
            </a:r>
          </a:p>
          <a:p>
            <a:pPr lvl="1"/>
            <a:r>
              <a:rPr lang="en-US" dirty="0"/>
              <a:t>Unwritten, culturally embedded rules that prevent an individual from becoming wealthier or more powerful</a:t>
            </a:r>
          </a:p>
          <a:p>
            <a:pPr lvl="1"/>
            <a:r>
              <a:rPr lang="en-US" dirty="0"/>
              <a:t>Maintained through social pressure and gossip</a:t>
            </a:r>
          </a:p>
          <a:p>
            <a:endParaRPr lang="en-US" dirty="0"/>
          </a:p>
        </p:txBody>
      </p:sp>
    </p:spTree>
    <p:extLst>
      <p:ext uri="{BB962C8B-B14F-4D97-AF65-F5344CB8AC3E}">
        <p14:creationId xmlns:p14="http://schemas.microsoft.com/office/powerpoint/2010/main" val="3575050415"/>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Consumption Funds</a:t>
            </a:r>
            <a:endParaRPr lang="en-US" dirty="0"/>
          </a:p>
        </p:txBody>
      </p:sp>
      <p:sp>
        <p:nvSpPr>
          <p:cNvPr id="3" name="Content Placeholder 2"/>
          <p:cNvSpPr>
            <a:spLocks noGrp="1"/>
          </p:cNvSpPr>
          <p:nvPr>
            <p:ph idx="1"/>
          </p:nvPr>
        </p:nvSpPr>
        <p:spPr/>
        <p:txBody>
          <a:bodyPr>
            <a:normAutofit/>
          </a:bodyPr>
          <a:lstStyle/>
          <a:p>
            <a:r>
              <a:rPr lang="en-US" dirty="0" smtClean="0"/>
              <a:t>Consumption fund: </a:t>
            </a:r>
          </a:p>
          <a:p>
            <a:pPr lvl="1"/>
            <a:r>
              <a:rPr lang="en-US" dirty="0"/>
              <a:t>C</a:t>
            </a:r>
            <a:r>
              <a:rPr lang="en-US" dirty="0" smtClean="0"/>
              <a:t>ategory </a:t>
            </a:r>
            <a:r>
              <a:rPr lang="en-US" dirty="0"/>
              <a:t>of a personal or household </a:t>
            </a:r>
            <a:r>
              <a:rPr lang="en-US" dirty="0" smtClean="0"/>
              <a:t>budget used </a:t>
            </a:r>
            <a:r>
              <a:rPr lang="en-US" dirty="0"/>
              <a:t>to provide for consumption needs and </a:t>
            </a:r>
            <a:r>
              <a:rPr lang="en-US" dirty="0" smtClean="0"/>
              <a:t>desires</a:t>
            </a:r>
          </a:p>
          <a:p>
            <a:pPr lvl="1"/>
            <a:r>
              <a:rPr lang="en-US" dirty="0" smtClean="0"/>
              <a:t>Five consumption funds:</a:t>
            </a:r>
          </a:p>
          <a:p>
            <a:pPr lvl="2"/>
            <a:r>
              <a:rPr lang="en-US" dirty="0"/>
              <a:t>Basic needs fund</a:t>
            </a:r>
          </a:p>
          <a:p>
            <a:pPr lvl="2"/>
            <a:r>
              <a:rPr lang="en-US" dirty="0"/>
              <a:t>Recurrent costs fund</a:t>
            </a:r>
          </a:p>
          <a:p>
            <a:pPr lvl="2"/>
            <a:r>
              <a:rPr lang="en-US" dirty="0"/>
              <a:t>Entertainment fund</a:t>
            </a:r>
          </a:p>
          <a:p>
            <a:pPr lvl="2"/>
            <a:r>
              <a:rPr lang="en-US" dirty="0"/>
              <a:t>Ceremonial fund</a:t>
            </a:r>
          </a:p>
          <a:p>
            <a:pPr lvl="2"/>
            <a:r>
              <a:rPr lang="en-US" dirty="0"/>
              <a:t>Rent/tax fund</a:t>
            </a:r>
          </a:p>
          <a:p>
            <a:endParaRPr lang="en-US" dirty="0"/>
          </a:p>
        </p:txBody>
      </p:sp>
    </p:spTree>
    <p:extLst>
      <p:ext uri="{BB962C8B-B14F-4D97-AF65-F5344CB8AC3E}">
        <p14:creationId xmlns:p14="http://schemas.microsoft.com/office/powerpoint/2010/main" val="1497642718"/>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Theorizing Consumption Inequalities </a:t>
            </a:r>
            <a:br>
              <a:rPr lang="en-US" dirty="0" smtClean="0"/>
            </a:br>
            <a:r>
              <a:rPr lang="en-US" sz="3100" dirty="0" smtClean="0"/>
              <a:t>(1 of 2)</a:t>
            </a:r>
            <a:endParaRPr lang="en-US" sz="3100" dirty="0"/>
          </a:p>
        </p:txBody>
      </p:sp>
      <p:sp>
        <p:nvSpPr>
          <p:cNvPr id="3" name="Content Placeholder 2"/>
          <p:cNvSpPr>
            <a:spLocks noGrp="1"/>
          </p:cNvSpPr>
          <p:nvPr>
            <p:ph idx="1"/>
          </p:nvPr>
        </p:nvSpPr>
        <p:spPr/>
        <p:txBody>
          <a:bodyPr>
            <a:normAutofit lnSpcReduction="10000"/>
          </a:bodyPr>
          <a:lstStyle/>
          <a:p>
            <a:r>
              <a:rPr lang="en-US" dirty="0" smtClean="0"/>
              <a:t>Entitlement: </a:t>
            </a:r>
          </a:p>
          <a:p>
            <a:pPr lvl="1"/>
            <a:r>
              <a:rPr lang="en-US" dirty="0" smtClean="0"/>
              <a:t>A culturally defined right to life-sustaining resources</a:t>
            </a:r>
          </a:p>
          <a:p>
            <a:pPr lvl="1"/>
            <a:r>
              <a:rPr lang="en-US" dirty="0" smtClean="0"/>
              <a:t>Direct entitlement: secure access to life-sustaining resources</a:t>
            </a:r>
          </a:p>
          <a:p>
            <a:pPr lvl="2"/>
            <a:r>
              <a:rPr lang="en-US" dirty="0" smtClean="0"/>
              <a:t>Example: owning a farm able to produce food</a:t>
            </a:r>
          </a:p>
          <a:p>
            <a:pPr lvl="1"/>
            <a:r>
              <a:rPr lang="en-US" dirty="0" smtClean="0"/>
              <a:t>Indirect entitlement: life-sustaining resources must be gained through exchange</a:t>
            </a:r>
          </a:p>
          <a:p>
            <a:pPr lvl="2"/>
            <a:r>
              <a:rPr lang="en-US" dirty="0" smtClean="0"/>
              <a:t>Example: working for a wage to earn money to buy food</a:t>
            </a:r>
            <a:endParaRPr lang="en-US" dirty="0"/>
          </a:p>
        </p:txBody>
      </p:sp>
    </p:spTree>
    <p:extLst>
      <p:ext uri="{BB962C8B-B14F-4D97-AF65-F5344CB8AC3E}">
        <p14:creationId xmlns:p14="http://schemas.microsoft.com/office/powerpoint/2010/main" val="4201710326"/>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Theorizing Consumption </a:t>
            </a:r>
            <a:r>
              <a:rPr lang="en-US" dirty="0" smtClean="0"/>
              <a:t>Inequalities </a:t>
            </a:r>
            <a:br>
              <a:rPr lang="en-US" dirty="0" smtClean="0"/>
            </a:br>
            <a:r>
              <a:rPr lang="en-US" sz="3100" dirty="0" smtClean="0"/>
              <a:t>(2 of 2)</a:t>
            </a:r>
            <a:endParaRPr lang="en-US" sz="3100" dirty="0"/>
          </a:p>
        </p:txBody>
      </p:sp>
      <p:sp>
        <p:nvSpPr>
          <p:cNvPr id="3" name="Content Placeholder 2"/>
          <p:cNvSpPr>
            <a:spLocks noGrp="1"/>
          </p:cNvSpPr>
          <p:nvPr>
            <p:ph idx="1"/>
          </p:nvPr>
        </p:nvSpPr>
        <p:spPr/>
        <p:txBody>
          <a:bodyPr>
            <a:normAutofit/>
          </a:bodyPr>
          <a:lstStyle/>
          <a:p>
            <a:r>
              <a:rPr lang="en-US" dirty="0" smtClean="0"/>
              <a:t>Entitlement inequalities at three levels</a:t>
            </a:r>
          </a:p>
          <a:p>
            <a:pPr lvl="1"/>
            <a:r>
              <a:rPr lang="en-US" dirty="0" smtClean="0"/>
              <a:t>International</a:t>
            </a:r>
            <a:endParaRPr lang="en-US" dirty="0"/>
          </a:p>
          <a:p>
            <a:pPr lvl="2"/>
            <a:r>
              <a:rPr lang="en-US" dirty="0"/>
              <a:t>The global economy means some countries are more secure than others</a:t>
            </a:r>
          </a:p>
          <a:p>
            <a:pPr lvl="1"/>
            <a:r>
              <a:rPr lang="en-US" dirty="0" smtClean="0"/>
              <a:t>State</a:t>
            </a:r>
            <a:endParaRPr lang="en-US" dirty="0"/>
          </a:p>
          <a:p>
            <a:pPr lvl="2"/>
            <a:r>
              <a:rPr lang="en-US" dirty="0" smtClean="0"/>
              <a:t>Those </a:t>
            </a:r>
            <a:r>
              <a:rPr lang="en-US" dirty="0"/>
              <a:t>with direct entitlements may be more secure than those with indirect entitlements</a:t>
            </a:r>
          </a:p>
          <a:p>
            <a:pPr lvl="1"/>
            <a:r>
              <a:rPr lang="en-US" dirty="0"/>
              <a:t>Household</a:t>
            </a:r>
          </a:p>
          <a:p>
            <a:pPr lvl="2"/>
            <a:r>
              <a:rPr lang="en-US" dirty="0"/>
              <a:t>Some members are more secure than others</a:t>
            </a:r>
          </a:p>
          <a:p>
            <a:endParaRPr lang="en-US" dirty="0"/>
          </a:p>
        </p:txBody>
      </p:sp>
    </p:spTree>
    <p:extLst>
      <p:ext uri="{BB962C8B-B14F-4D97-AF65-F5344CB8AC3E}">
        <p14:creationId xmlns:p14="http://schemas.microsoft.com/office/powerpoint/2010/main" val="1959884576"/>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Consumption Microcultures </a:t>
            </a:r>
            <a:r>
              <a:rPr lang="en-US" sz="2800" dirty="0" smtClean="0"/>
              <a:t>(1 of 3)</a:t>
            </a:r>
            <a:endParaRPr lang="en-US" sz="2800" dirty="0"/>
          </a:p>
        </p:txBody>
      </p:sp>
      <p:sp>
        <p:nvSpPr>
          <p:cNvPr id="3" name="Content Placeholder 2"/>
          <p:cNvSpPr>
            <a:spLocks noGrp="1"/>
          </p:cNvSpPr>
          <p:nvPr>
            <p:ph idx="1"/>
          </p:nvPr>
        </p:nvSpPr>
        <p:spPr/>
        <p:txBody>
          <a:bodyPr/>
          <a:lstStyle/>
          <a:p>
            <a:r>
              <a:rPr lang="en-US" dirty="0" smtClean="0"/>
              <a:t>Microcultures </a:t>
            </a:r>
            <a:r>
              <a:rPr lang="en-US" dirty="0"/>
              <a:t>have distinct entitlement patterns</a:t>
            </a:r>
          </a:p>
          <a:p>
            <a:r>
              <a:rPr lang="en-US" dirty="0"/>
              <a:t>Social inequality may play </a:t>
            </a:r>
            <a:r>
              <a:rPr lang="en-US" dirty="0" smtClean="0"/>
              <a:t>an important </a:t>
            </a:r>
            <a:r>
              <a:rPr lang="en-US" dirty="0"/>
              <a:t>role and affect human welfare</a:t>
            </a:r>
          </a:p>
          <a:p>
            <a:r>
              <a:rPr lang="en-US" dirty="0"/>
              <a:t>Examples:</a:t>
            </a:r>
          </a:p>
          <a:p>
            <a:pPr lvl="1"/>
            <a:r>
              <a:rPr lang="en-US" dirty="0"/>
              <a:t>Class</a:t>
            </a:r>
          </a:p>
          <a:p>
            <a:pPr lvl="1"/>
            <a:r>
              <a:rPr lang="en-US" dirty="0"/>
              <a:t>Gender</a:t>
            </a:r>
          </a:p>
          <a:p>
            <a:pPr lvl="1"/>
            <a:r>
              <a:rPr lang="en-US" dirty="0"/>
              <a:t>“Race”</a:t>
            </a:r>
            <a:r>
              <a:rPr lang="en-US" dirty="0" smtClean="0"/>
              <a:t>/ethnicity</a:t>
            </a:r>
            <a:endParaRPr lang="en-US" dirty="0"/>
          </a:p>
          <a:p>
            <a:endParaRPr lang="en-US" dirty="0"/>
          </a:p>
        </p:txBody>
      </p:sp>
    </p:spTree>
    <p:extLst>
      <p:ext uri="{BB962C8B-B14F-4D97-AF65-F5344CB8AC3E}">
        <p14:creationId xmlns:p14="http://schemas.microsoft.com/office/powerpoint/2010/main" val="1157596931"/>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Consumption Microcultures </a:t>
            </a:r>
            <a:r>
              <a:rPr lang="en-US" sz="3100" dirty="0" smtClean="0"/>
              <a:t>(2 </a:t>
            </a:r>
            <a:r>
              <a:rPr lang="en-US" sz="3100" dirty="0"/>
              <a:t>of </a:t>
            </a:r>
            <a:r>
              <a:rPr lang="en-US" sz="3100" dirty="0" smtClean="0"/>
              <a:t>3)</a:t>
            </a:r>
            <a:endParaRPr lang="en-US" sz="3100" dirty="0"/>
          </a:p>
        </p:txBody>
      </p:sp>
      <p:sp>
        <p:nvSpPr>
          <p:cNvPr id="3" name="Content Placeholder 2"/>
          <p:cNvSpPr>
            <a:spLocks noGrp="1"/>
          </p:cNvSpPr>
          <p:nvPr>
            <p:ph idx="1"/>
          </p:nvPr>
        </p:nvSpPr>
        <p:spPr/>
        <p:txBody>
          <a:bodyPr>
            <a:normAutofit fontScale="92500" lnSpcReduction="10000"/>
          </a:bodyPr>
          <a:lstStyle/>
          <a:p>
            <a:r>
              <a:rPr lang="en-US" dirty="0"/>
              <a:t>Example: </a:t>
            </a:r>
            <a:r>
              <a:rPr lang="en-US" dirty="0" smtClean="0"/>
              <a:t>Gender Inequality and a Deadly Disease in </a:t>
            </a:r>
            <a:r>
              <a:rPr lang="en-US" dirty="0"/>
              <a:t>Papua New </a:t>
            </a:r>
            <a:r>
              <a:rPr lang="en-US" dirty="0" smtClean="0"/>
              <a:t>Guinea</a:t>
            </a:r>
          </a:p>
          <a:p>
            <a:pPr lvl="1"/>
            <a:r>
              <a:rPr lang="en-US" dirty="0" smtClean="0"/>
              <a:t>1957–1977: </a:t>
            </a:r>
            <a:r>
              <a:rPr lang="en-US" dirty="0"/>
              <a:t>many mysterious </a:t>
            </a:r>
            <a:r>
              <a:rPr lang="en-US" dirty="0" smtClean="0"/>
              <a:t>deaths, </a:t>
            </a:r>
            <a:r>
              <a:rPr lang="en-US" dirty="0"/>
              <a:t>especially among women</a:t>
            </a:r>
          </a:p>
          <a:p>
            <a:pPr lvl="1"/>
            <a:r>
              <a:rPr lang="en-US" dirty="0"/>
              <a:t>Cause found to be a neurological disease contracted through eating flesh of deceased people</a:t>
            </a:r>
          </a:p>
          <a:p>
            <a:pPr lvl="1"/>
            <a:r>
              <a:rPr lang="en-US" dirty="0"/>
              <a:t>Women were more deprived of dietary protein from pork, as men get the better food</a:t>
            </a:r>
          </a:p>
          <a:p>
            <a:pPr lvl="1"/>
            <a:r>
              <a:rPr lang="en-US" dirty="0"/>
              <a:t>Women resorted to cannibalism</a:t>
            </a:r>
          </a:p>
          <a:p>
            <a:pPr lvl="1"/>
            <a:r>
              <a:rPr lang="en-US" dirty="0"/>
              <a:t>Sometimes ate contaminated corpses, thus contracting the disease kuru</a:t>
            </a:r>
          </a:p>
          <a:p>
            <a:endParaRPr lang="en-US" dirty="0"/>
          </a:p>
        </p:txBody>
      </p:sp>
    </p:spTree>
    <p:extLst>
      <p:ext uri="{BB962C8B-B14F-4D97-AF65-F5344CB8AC3E}">
        <p14:creationId xmlns:p14="http://schemas.microsoft.com/office/powerpoint/2010/main" val="1082061697"/>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Map 5.1 Location of the Kuru Epidemic in Papua New Guinea</a:t>
            </a:r>
            <a:endParaRPr lang="en-US" dirty="0"/>
          </a:p>
        </p:txBody>
      </p:sp>
      <p:pic>
        <p:nvPicPr>
          <p:cNvPr id="6" name="Content Placeholder 5" descr="A map of Papua New Guinea shows the Kuru disease area about 200 miles north of the capital city of Port Moresby. An inset globe shows the area is north of Australi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310172" y="1524000"/>
            <a:ext cx="4547828" cy="4708783"/>
          </a:xfrm>
        </p:spPr>
      </p:pic>
    </p:spTree>
    <p:extLst>
      <p:ext uri="{BB962C8B-B14F-4D97-AF65-F5344CB8AC3E}">
        <p14:creationId xmlns:p14="http://schemas.microsoft.com/office/powerpoint/2010/main" val="307393037"/>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Consumption Microcultures </a:t>
            </a:r>
            <a:r>
              <a:rPr lang="en-US" sz="3100" dirty="0" smtClean="0"/>
              <a:t>(3 </a:t>
            </a:r>
            <a:r>
              <a:rPr lang="en-US" sz="3100" dirty="0"/>
              <a:t>of </a:t>
            </a:r>
            <a:r>
              <a:rPr lang="en-US" sz="3100" dirty="0" smtClean="0"/>
              <a:t>3)</a:t>
            </a:r>
            <a:endParaRPr lang="en-US" sz="3100" dirty="0"/>
          </a:p>
        </p:txBody>
      </p:sp>
      <p:sp>
        <p:nvSpPr>
          <p:cNvPr id="3" name="Content Placeholder 2"/>
          <p:cNvSpPr>
            <a:spLocks noGrp="1"/>
          </p:cNvSpPr>
          <p:nvPr>
            <p:ph idx="1"/>
          </p:nvPr>
        </p:nvSpPr>
        <p:spPr/>
        <p:txBody>
          <a:bodyPr/>
          <a:lstStyle/>
          <a:p>
            <a:r>
              <a:rPr lang="en-US" dirty="0" smtClean="0"/>
              <a:t>Example: “Race” and Children’s Shopping Patterns</a:t>
            </a:r>
          </a:p>
          <a:p>
            <a:pPr lvl="1"/>
            <a:r>
              <a:rPr lang="en-US" dirty="0"/>
              <a:t>Study in New Haven, Connecticut</a:t>
            </a:r>
          </a:p>
          <a:p>
            <a:pPr lvl="1"/>
            <a:r>
              <a:rPr lang="en-US" dirty="0"/>
              <a:t>Low-income neighborhood of African Americans</a:t>
            </a:r>
          </a:p>
          <a:p>
            <a:pPr lvl="1"/>
            <a:r>
              <a:rPr lang="en-US" dirty="0"/>
              <a:t>Children have little money to spend and strong emphasis on family sharing</a:t>
            </a:r>
          </a:p>
          <a:p>
            <a:pPr lvl="1"/>
            <a:r>
              <a:rPr lang="en-US" dirty="0"/>
              <a:t>Shopping choices guided by practicality and generosity</a:t>
            </a:r>
          </a:p>
          <a:p>
            <a:endParaRPr lang="en-US" dirty="0"/>
          </a:p>
        </p:txBody>
      </p:sp>
    </p:spTree>
    <p:extLst>
      <p:ext uri="{BB962C8B-B14F-4D97-AF65-F5344CB8AC3E}">
        <p14:creationId xmlns:p14="http://schemas.microsoft.com/office/powerpoint/2010/main" val="434435371"/>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Map 5.2 Connecticut, United States</a:t>
            </a:r>
            <a:endParaRPr lang="en-US" dirty="0"/>
          </a:p>
        </p:txBody>
      </p:sp>
      <p:pic>
        <p:nvPicPr>
          <p:cNvPr id="6" name="Content Placeholder 5" descr="A map of Connecticut shows New Haven, the capital city of Hartford, and the Foxwoods Casino &amp; Mashantucket Pequot Museum. An inset globe shows the state is in eastern North Americ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511453" y="1600200"/>
            <a:ext cx="4121094" cy="4525963"/>
          </a:xfrm>
        </p:spPr>
      </p:pic>
    </p:spTree>
    <p:extLst>
      <p:ext uri="{BB962C8B-B14F-4D97-AF65-F5344CB8AC3E}">
        <p14:creationId xmlns:p14="http://schemas.microsoft.com/office/powerpoint/2010/main" val="3971121100"/>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Forbidden Consumption: Food Taboos</a:t>
            </a:r>
            <a:endParaRPr lang="en-US" sz="3100" dirty="0"/>
          </a:p>
        </p:txBody>
      </p:sp>
      <p:sp>
        <p:nvSpPr>
          <p:cNvPr id="3" name="Content Placeholder 2"/>
          <p:cNvSpPr>
            <a:spLocks noGrp="1"/>
          </p:cNvSpPr>
          <p:nvPr>
            <p:ph idx="1"/>
          </p:nvPr>
        </p:nvSpPr>
        <p:spPr/>
        <p:txBody>
          <a:bodyPr/>
          <a:lstStyle/>
          <a:p>
            <a:r>
              <a:rPr lang="en-US" dirty="0" smtClean="0"/>
              <a:t>Case study: Jewish and Muslim taboos on eating pig meat</a:t>
            </a:r>
          </a:p>
          <a:p>
            <a:pPr lvl="1"/>
            <a:r>
              <a:rPr lang="en-US" dirty="0" smtClean="0"/>
              <a:t>Cultural </a:t>
            </a:r>
            <a:r>
              <a:rPr lang="en-US" dirty="0"/>
              <a:t>m</a:t>
            </a:r>
            <a:r>
              <a:rPr lang="en-US" dirty="0" smtClean="0"/>
              <a:t>aterialist argument:</a:t>
            </a:r>
          </a:p>
          <a:p>
            <a:pPr lvl="2"/>
            <a:r>
              <a:rPr lang="en-US" dirty="0" smtClean="0"/>
              <a:t>Can be explained ecologically: Pigs unsuited to arid climates and local modes of livelihood (Harris)</a:t>
            </a:r>
          </a:p>
          <a:p>
            <a:pPr lvl="1"/>
            <a:r>
              <a:rPr lang="en-US" dirty="0" smtClean="0"/>
              <a:t>Symbolic/interpretivist argument:</a:t>
            </a:r>
          </a:p>
          <a:p>
            <a:pPr lvl="2"/>
            <a:r>
              <a:rPr lang="en-US" dirty="0" smtClean="0"/>
              <a:t>Can be explained as a communication of meaning: Pigs’ physiology renders them symbolically anomalous and therefore impure (Douglas)</a:t>
            </a:r>
            <a:endParaRPr lang="en-US" dirty="0"/>
          </a:p>
        </p:txBody>
      </p:sp>
    </p:spTree>
    <p:extLst>
      <p:ext uri="{BB962C8B-B14F-4D97-AF65-F5344CB8AC3E}">
        <p14:creationId xmlns:p14="http://schemas.microsoft.com/office/powerpoint/2010/main" val="3648061604"/>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600" dirty="0" smtClean="0"/>
              <a:t>Culture and Exchange </a:t>
            </a:r>
            <a:r>
              <a:rPr lang="en-US" sz="3200" dirty="0" smtClean="0"/>
              <a:t/>
            </a:r>
            <a:br>
              <a:rPr lang="en-US" sz="3200" dirty="0" smtClean="0"/>
            </a:br>
            <a:r>
              <a:rPr lang="en-US" sz="2000" dirty="0" smtClean="0"/>
              <a:t>5.2 Identify the varieties of exchange in cross-cultural perspective.</a:t>
            </a:r>
            <a:endParaRPr lang="en-US" sz="2000" dirty="0"/>
          </a:p>
        </p:txBody>
      </p:sp>
      <p:sp>
        <p:nvSpPr>
          <p:cNvPr id="3" name="Content Placeholder 2"/>
          <p:cNvSpPr>
            <a:spLocks noGrp="1"/>
          </p:cNvSpPr>
          <p:nvPr>
            <p:ph idx="1"/>
          </p:nvPr>
        </p:nvSpPr>
        <p:spPr/>
        <p:txBody>
          <a:bodyPr/>
          <a:lstStyle/>
          <a:p>
            <a:endParaRPr lang="en-US" dirty="0" smtClean="0"/>
          </a:p>
          <a:p>
            <a:r>
              <a:rPr lang="en-US" dirty="0" smtClean="0"/>
              <a:t>What </a:t>
            </a:r>
            <a:r>
              <a:rPr lang="en-US" dirty="0"/>
              <a:t>Is </a:t>
            </a:r>
            <a:r>
              <a:rPr lang="en-US" dirty="0" smtClean="0"/>
              <a:t>Exchanged</a:t>
            </a:r>
            <a:r>
              <a:rPr lang="en-US" dirty="0"/>
              <a:t>?</a:t>
            </a:r>
          </a:p>
          <a:p>
            <a:endParaRPr lang="en-US" dirty="0"/>
          </a:p>
          <a:p>
            <a:r>
              <a:rPr lang="en-US" dirty="0"/>
              <a:t>Modes of E</a:t>
            </a:r>
            <a:r>
              <a:rPr lang="en-US" dirty="0" smtClean="0"/>
              <a:t>xchange</a:t>
            </a:r>
            <a:endParaRPr lang="en-US" dirty="0"/>
          </a:p>
        </p:txBody>
      </p:sp>
    </p:spTree>
    <p:extLst>
      <p:ext uri="{BB962C8B-B14F-4D97-AF65-F5344CB8AC3E}">
        <p14:creationId xmlns:p14="http://schemas.microsoft.com/office/powerpoint/2010/main" val="21882737"/>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Exchanged? </a:t>
            </a:r>
            <a:r>
              <a:rPr lang="en-US" sz="2800" dirty="0" smtClean="0"/>
              <a:t>(1 of 2)</a:t>
            </a:r>
            <a:endParaRPr lang="en-US" sz="2800" dirty="0"/>
          </a:p>
        </p:txBody>
      </p:sp>
      <p:sp>
        <p:nvSpPr>
          <p:cNvPr id="3" name="Content Placeholder 2"/>
          <p:cNvSpPr>
            <a:spLocks noGrp="1"/>
          </p:cNvSpPr>
          <p:nvPr>
            <p:ph idx="1"/>
          </p:nvPr>
        </p:nvSpPr>
        <p:spPr/>
        <p:txBody>
          <a:bodyPr/>
          <a:lstStyle/>
          <a:p>
            <a:r>
              <a:rPr lang="en-US" dirty="0" smtClean="0"/>
              <a:t>Exchange:</a:t>
            </a:r>
          </a:p>
          <a:p>
            <a:pPr lvl="1"/>
            <a:r>
              <a:rPr lang="en-US" dirty="0" smtClean="0"/>
              <a:t>The </a:t>
            </a:r>
            <a:r>
              <a:rPr lang="en-US" dirty="0"/>
              <a:t>dominant way, in a culture, of transferring goods, services, and other items between and among people and groups</a:t>
            </a:r>
          </a:p>
          <a:p>
            <a:endParaRPr lang="en-US" dirty="0"/>
          </a:p>
        </p:txBody>
      </p:sp>
    </p:spTree>
    <p:extLst>
      <p:ext uri="{BB962C8B-B14F-4D97-AF65-F5344CB8AC3E}">
        <p14:creationId xmlns:p14="http://schemas.microsoft.com/office/powerpoint/2010/main" val="2738918867"/>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Exchanged? </a:t>
            </a:r>
            <a:r>
              <a:rPr lang="en-US" sz="2800" dirty="0" smtClean="0"/>
              <a:t>(2 of 2)</a:t>
            </a:r>
            <a:endParaRPr lang="en-US" sz="2800" dirty="0"/>
          </a:p>
        </p:txBody>
      </p:sp>
      <p:sp>
        <p:nvSpPr>
          <p:cNvPr id="3" name="Content Placeholder 2"/>
          <p:cNvSpPr>
            <a:spLocks noGrp="1"/>
          </p:cNvSpPr>
          <p:nvPr>
            <p:ph idx="1"/>
          </p:nvPr>
        </p:nvSpPr>
        <p:spPr/>
        <p:txBody>
          <a:bodyPr>
            <a:normAutofit/>
          </a:bodyPr>
          <a:lstStyle/>
          <a:p>
            <a:r>
              <a:rPr lang="en-US" dirty="0" smtClean="0"/>
              <a:t>What do people exchange?</a:t>
            </a:r>
            <a:endParaRPr lang="en-US" dirty="0"/>
          </a:p>
          <a:p>
            <a:pPr lvl="1"/>
            <a:r>
              <a:rPr lang="en-US" dirty="0"/>
              <a:t>Material </a:t>
            </a:r>
            <a:r>
              <a:rPr lang="en-US" dirty="0" smtClean="0"/>
              <a:t>goods (food, gifts)</a:t>
            </a:r>
            <a:endParaRPr lang="en-US" dirty="0"/>
          </a:p>
          <a:p>
            <a:pPr lvl="1"/>
            <a:r>
              <a:rPr lang="en-US" dirty="0" smtClean="0"/>
              <a:t>Symbolic goods </a:t>
            </a:r>
          </a:p>
          <a:p>
            <a:pPr lvl="2"/>
            <a:r>
              <a:rPr lang="en-US" dirty="0" smtClean="0"/>
              <a:t>Example: myths in the Balgo Hills, Australia</a:t>
            </a:r>
          </a:p>
          <a:p>
            <a:pPr lvl="1"/>
            <a:r>
              <a:rPr lang="en-US" dirty="0" smtClean="0"/>
              <a:t>Labor</a:t>
            </a:r>
            <a:endParaRPr lang="en-US" dirty="0"/>
          </a:p>
          <a:p>
            <a:pPr lvl="1"/>
            <a:r>
              <a:rPr lang="en-US" dirty="0" smtClean="0"/>
              <a:t>Money (symbolic or material?)</a:t>
            </a:r>
            <a:endParaRPr lang="en-US" dirty="0"/>
          </a:p>
          <a:p>
            <a:pPr lvl="1"/>
            <a:r>
              <a:rPr lang="en-US" dirty="0" smtClean="0"/>
              <a:t>People (slavery, offspring in marriage)</a:t>
            </a:r>
            <a:endParaRPr lang="en-US" dirty="0"/>
          </a:p>
          <a:p>
            <a:pPr lvl="1"/>
            <a:r>
              <a:rPr lang="en-US" dirty="0"/>
              <a:t>Other?</a:t>
            </a:r>
          </a:p>
          <a:p>
            <a:endParaRPr lang="en-US" dirty="0"/>
          </a:p>
        </p:txBody>
      </p:sp>
    </p:spTree>
    <p:extLst>
      <p:ext uri="{BB962C8B-B14F-4D97-AF65-F5344CB8AC3E}">
        <p14:creationId xmlns:p14="http://schemas.microsoft.com/office/powerpoint/2010/main" val="604472777"/>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Map 5.5 The Balgo Hills (Wirrimanu) Region in Western Australia</a:t>
            </a:r>
            <a:endParaRPr lang="en-US" dirty="0"/>
          </a:p>
        </p:txBody>
      </p:sp>
      <p:pic>
        <p:nvPicPr>
          <p:cNvPr id="6" name="Content Placeholder 5" descr="A map of Australia shows the Balgo Hills in the northeast corner of the state of Western Australia. The map also shows the following Australian states and cities: Northern Territory (Darwin); South Australia; Queensland; New South Wales (Sydney); ACT (capital of Canberra); and Victoria (Melbourne). An inset globe shows Australia between the Indian and Pacific Oceans."/>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155959" y="1600200"/>
            <a:ext cx="4832082" cy="4525963"/>
          </a:xfrm>
        </p:spPr>
      </p:pic>
    </p:spTree>
    <p:extLst>
      <p:ext uri="{BB962C8B-B14F-4D97-AF65-F5344CB8AC3E}">
        <p14:creationId xmlns:p14="http://schemas.microsoft.com/office/powerpoint/2010/main" val="3081962290"/>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Think Like an Anthropologist: </a:t>
            </a:r>
            <a:r>
              <a:rPr lang="en-US" dirty="0"/>
              <a:t/>
            </a:r>
            <a:br>
              <a:rPr lang="en-US" dirty="0"/>
            </a:br>
            <a:r>
              <a:rPr lang="en-US" dirty="0"/>
              <a:t>The Rules of </a:t>
            </a:r>
            <a:r>
              <a:rPr lang="en-US" dirty="0" smtClean="0"/>
              <a:t>Hospitality</a:t>
            </a:r>
            <a:endParaRPr lang="en-US" sz="3100" dirty="0"/>
          </a:p>
        </p:txBody>
      </p:sp>
      <p:sp>
        <p:nvSpPr>
          <p:cNvPr id="3" name="Content Placeholder 2"/>
          <p:cNvSpPr>
            <a:spLocks noGrp="1"/>
          </p:cNvSpPr>
          <p:nvPr>
            <p:ph idx="1"/>
          </p:nvPr>
        </p:nvSpPr>
        <p:spPr/>
        <p:txBody>
          <a:bodyPr>
            <a:normAutofit fontScale="85000" lnSpcReduction="20000"/>
          </a:bodyPr>
          <a:lstStyle/>
          <a:p>
            <a:r>
              <a:rPr lang="en-US" dirty="0"/>
              <a:t>In Oman, women’s main social activity is visiting other women in their homes</a:t>
            </a:r>
          </a:p>
          <a:p>
            <a:r>
              <a:rPr lang="en-US" dirty="0" smtClean="0"/>
              <a:t>Social </a:t>
            </a:r>
            <a:r>
              <a:rPr lang="en-US" dirty="0"/>
              <a:t>etiquette dictates what is served</a:t>
            </a:r>
          </a:p>
          <a:p>
            <a:pPr lvl="1"/>
            <a:r>
              <a:rPr lang="en-US" dirty="0"/>
              <a:t>Coffee and dates; cookies, </a:t>
            </a:r>
            <a:r>
              <a:rPr lang="en-US" dirty="0" smtClean="0"/>
              <a:t>candy, </a:t>
            </a:r>
            <a:r>
              <a:rPr lang="en-US" dirty="0"/>
              <a:t>and popcorn</a:t>
            </a:r>
          </a:p>
          <a:p>
            <a:r>
              <a:rPr lang="en-US" dirty="0" smtClean="0"/>
              <a:t>Number </a:t>
            </a:r>
            <a:r>
              <a:rPr lang="en-US" dirty="0"/>
              <a:t>of dishes also important</a:t>
            </a:r>
          </a:p>
          <a:p>
            <a:pPr lvl="1"/>
            <a:r>
              <a:rPr lang="en-US" dirty="0"/>
              <a:t>Single dish for close neighbors</a:t>
            </a:r>
          </a:p>
          <a:p>
            <a:pPr lvl="1"/>
            <a:r>
              <a:rPr lang="en-US" dirty="0"/>
              <a:t>At least two dishes for all other visitors</a:t>
            </a:r>
          </a:p>
          <a:p>
            <a:r>
              <a:rPr lang="en-US" dirty="0" smtClean="0"/>
              <a:t>Guests </a:t>
            </a:r>
            <a:r>
              <a:rPr lang="en-US" dirty="0"/>
              <a:t>should leave about half of the food served to </a:t>
            </a:r>
            <a:r>
              <a:rPr lang="en-US" dirty="0" smtClean="0"/>
              <a:t>them</a:t>
            </a:r>
          </a:p>
          <a:p>
            <a:r>
              <a:rPr lang="en-US" dirty="0" smtClean="0"/>
              <a:t>How </a:t>
            </a:r>
            <a:r>
              <a:rPr lang="en-US" dirty="0"/>
              <a:t>do these Omani rules of hospitality resemble or contrast with your rules of hospitality?</a:t>
            </a:r>
          </a:p>
          <a:p>
            <a:endParaRPr lang="en-US" dirty="0"/>
          </a:p>
          <a:p>
            <a:endParaRPr lang="en-US" dirty="0"/>
          </a:p>
          <a:p>
            <a:endParaRPr lang="en-US" dirty="0"/>
          </a:p>
        </p:txBody>
      </p:sp>
    </p:spTree>
    <p:extLst>
      <p:ext uri="{BB962C8B-B14F-4D97-AF65-F5344CB8AC3E}">
        <p14:creationId xmlns:p14="http://schemas.microsoft.com/office/powerpoint/2010/main" val="1791716033"/>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dirty="0" smtClean="0"/>
              <a:t>Map 5.4 Oman</a:t>
            </a:r>
            <a:endParaRPr lang="en-US" dirty="0"/>
          </a:p>
        </p:txBody>
      </p:sp>
      <p:pic>
        <p:nvPicPr>
          <p:cNvPr id="6" name="Content Placeholder 5" descr="A map shows Oman and its capital city of Masqat on the coast of the Arabian Sea. Other countries and capitals in the area are Bahrain (Al Manamah), Qatar (Ad Dawhah), U.A.E (Abu Zaby), Saudi Arabia (Ar Riyad), and Yemen (Sana). An inset globe shows the area is in the Middle East."/>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560334" y="1447800"/>
            <a:ext cx="4069066" cy="4757624"/>
          </a:xfrm>
        </p:spPr>
      </p:pic>
    </p:spTree>
    <p:extLst>
      <p:ext uri="{BB962C8B-B14F-4D97-AF65-F5344CB8AC3E}">
        <p14:creationId xmlns:p14="http://schemas.microsoft.com/office/powerpoint/2010/main" val="3434605681"/>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Modes of Exchange </a:t>
            </a:r>
            <a:r>
              <a:rPr lang="en-US" sz="2800" dirty="0" smtClean="0"/>
              <a:t>(1 of 4)</a:t>
            </a:r>
            <a:endParaRPr lang="en-US" sz="2800" dirty="0"/>
          </a:p>
        </p:txBody>
      </p:sp>
      <p:sp>
        <p:nvSpPr>
          <p:cNvPr id="3" name="Content Placeholder 2"/>
          <p:cNvSpPr>
            <a:spLocks noGrp="1"/>
          </p:cNvSpPr>
          <p:nvPr>
            <p:ph idx="1"/>
          </p:nvPr>
        </p:nvSpPr>
        <p:spPr/>
        <p:txBody>
          <a:bodyPr>
            <a:normAutofit fontScale="92500" lnSpcReduction="10000"/>
          </a:bodyPr>
          <a:lstStyle/>
          <a:p>
            <a:r>
              <a:rPr lang="en-US" dirty="0" smtClean="0"/>
              <a:t>Balanced exchange</a:t>
            </a:r>
          </a:p>
          <a:p>
            <a:pPr lvl="1"/>
            <a:r>
              <a:rPr lang="en-US" dirty="0" smtClean="0"/>
              <a:t>Generalized reciprocity</a:t>
            </a:r>
          </a:p>
          <a:p>
            <a:pPr lvl="2"/>
            <a:r>
              <a:rPr lang="en-US" dirty="0" smtClean="0"/>
              <a:t>Pure gift</a:t>
            </a:r>
          </a:p>
          <a:p>
            <a:pPr lvl="1"/>
            <a:r>
              <a:rPr lang="en-US" dirty="0" smtClean="0"/>
              <a:t>Expected reciprocity</a:t>
            </a:r>
          </a:p>
          <a:p>
            <a:pPr lvl="1"/>
            <a:r>
              <a:rPr lang="en-US" dirty="0" smtClean="0"/>
              <a:t>Redistribution</a:t>
            </a:r>
          </a:p>
          <a:p>
            <a:r>
              <a:rPr lang="en-US" dirty="0" smtClean="0"/>
              <a:t>Unbalanced exchange</a:t>
            </a:r>
          </a:p>
          <a:p>
            <a:pPr lvl="1"/>
            <a:r>
              <a:rPr lang="en-US" dirty="0" smtClean="0"/>
              <a:t>Market exchange</a:t>
            </a:r>
          </a:p>
          <a:p>
            <a:pPr lvl="1"/>
            <a:r>
              <a:rPr lang="en-US" dirty="0" smtClean="0"/>
              <a:t>Gambling</a:t>
            </a:r>
          </a:p>
          <a:p>
            <a:pPr lvl="1"/>
            <a:r>
              <a:rPr lang="en-US" dirty="0" smtClean="0"/>
              <a:t>Theft</a:t>
            </a:r>
          </a:p>
          <a:p>
            <a:pPr lvl="1"/>
            <a:r>
              <a:rPr lang="en-US" dirty="0" smtClean="0"/>
              <a:t>Exploitation</a:t>
            </a:r>
            <a:endParaRPr lang="en-US" dirty="0"/>
          </a:p>
        </p:txBody>
      </p:sp>
    </p:spTree>
    <p:extLst>
      <p:ext uri="{BB962C8B-B14F-4D97-AF65-F5344CB8AC3E}">
        <p14:creationId xmlns:p14="http://schemas.microsoft.com/office/powerpoint/2010/main" val="623221778"/>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Modes of Exchange </a:t>
            </a:r>
            <a:r>
              <a:rPr lang="en-US" sz="2800" dirty="0" smtClean="0"/>
              <a:t>(2 </a:t>
            </a:r>
            <a:r>
              <a:rPr lang="en-US" sz="2800" dirty="0"/>
              <a:t>of </a:t>
            </a:r>
            <a:r>
              <a:rPr lang="en-US" sz="2800" dirty="0" smtClean="0"/>
              <a:t>4)</a:t>
            </a:r>
            <a:endParaRPr lang="en-US" sz="2800" dirty="0"/>
          </a:p>
        </p:txBody>
      </p:sp>
      <p:sp>
        <p:nvSpPr>
          <p:cNvPr id="3" name="Content Placeholder 2"/>
          <p:cNvSpPr>
            <a:spLocks noGrp="1"/>
          </p:cNvSpPr>
          <p:nvPr>
            <p:ph idx="1"/>
          </p:nvPr>
        </p:nvSpPr>
        <p:spPr/>
        <p:txBody>
          <a:bodyPr/>
          <a:lstStyle/>
          <a:p>
            <a:r>
              <a:rPr lang="en-US" dirty="0" smtClean="0"/>
              <a:t>Balanced exchange: </a:t>
            </a:r>
            <a:r>
              <a:rPr lang="en-US" dirty="0"/>
              <a:t>g</a:t>
            </a:r>
            <a:r>
              <a:rPr lang="en-US" dirty="0" smtClean="0"/>
              <a:t>eneralized reciprocity</a:t>
            </a:r>
          </a:p>
          <a:p>
            <a:pPr lvl="1"/>
            <a:r>
              <a:rPr lang="en-US" dirty="0"/>
              <a:t>Involves the least conscious sense of interest in material gain or of what might be received in return</a:t>
            </a:r>
          </a:p>
          <a:p>
            <a:pPr lvl="1"/>
            <a:r>
              <a:rPr lang="en-US" dirty="0"/>
              <a:t>Main form of exchange in foraging societies</a:t>
            </a:r>
          </a:p>
          <a:p>
            <a:pPr lvl="1"/>
            <a:r>
              <a:rPr lang="en-US" dirty="0"/>
              <a:t>Also found among close kin and friends cross-culturally</a:t>
            </a:r>
          </a:p>
          <a:p>
            <a:pPr lvl="1"/>
            <a:r>
              <a:rPr lang="en-US" dirty="0"/>
              <a:t>A pure gift is an extreme form</a:t>
            </a:r>
          </a:p>
          <a:p>
            <a:pPr lvl="1"/>
            <a:endParaRPr lang="en-US" dirty="0"/>
          </a:p>
        </p:txBody>
      </p:sp>
    </p:spTree>
    <p:extLst>
      <p:ext uri="{BB962C8B-B14F-4D97-AF65-F5344CB8AC3E}">
        <p14:creationId xmlns:p14="http://schemas.microsoft.com/office/powerpoint/2010/main" val="1547230764"/>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Modes of Exchange </a:t>
            </a:r>
            <a:r>
              <a:rPr lang="en-US" sz="2800" dirty="0" smtClean="0"/>
              <a:t>(3 </a:t>
            </a:r>
            <a:r>
              <a:rPr lang="en-US" sz="2800" dirty="0"/>
              <a:t>of </a:t>
            </a:r>
            <a:r>
              <a:rPr lang="en-US" sz="2800" dirty="0" smtClean="0"/>
              <a:t>4)</a:t>
            </a:r>
            <a:endParaRPr lang="en-US" sz="2800" dirty="0"/>
          </a:p>
        </p:txBody>
      </p:sp>
      <p:sp>
        <p:nvSpPr>
          <p:cNvPr id="3" name="Content Placeholder 2"/>
          <p:cNvSpPr>
            <a:spLocks noGrp="1"/>
          </p:cNvSpPr>
          <p:nvPr>
            <p:ph idx="1"/>
          </p:nvPr>
        </p:nvSpPr>
        <p:spPr/>
        <p:txBody>
          <a:bodyPr/>
          <a:lstStyle/>
          <a:p>
            <a:r>
              <a:rPr lang="en-US" dirty="0" smtClean="0"/>
              <a:t>Balanced exchange: expected reciprocity</a:t>
            </a:r>
          </a:p>
          <a:p>
            <a:pPr lvl="1"/>
            <a:r>
              <a:rPr lang="en-US" dirty="0"/>
              <a:t>Exchange of approximately equally valued goods or services between people of roughly equal social status</a:t>
            </a:r>
          </a:p>
          <a:p>
            <a:pPr lvl="1"/>
            <a:r>
              <a:rPr lang="en-US" dirty="0"/>
              <a:t>Exchange may be simultaneous or on an </a:t>
            </a:r>
            <a:r>
              <a:rPr lang="en-US" dirty="0" smtClean="0"/>
              <a:t>agreed-upon </a:t>
            </a:r>
            <a:r>
              <a:rPr lang="en-US" dirty="0"/>
              <a:t>schedule</a:t>
            </a:r>
          </a:p>
          <a:p>
            <a:pPr lvl="1"/>
            <a:r>
              <a:rPr lang="en-US" dirty="0"/>
              <a:t>If a party fails to complete the exchange, the relationship will break down</a:t>
            </a:r>
          </a:p>
          <a:p>
            <a:endParaRPr lang="en-US" dirty="0"/>
          </a:p>
        </p:txBody>
      </p:sp>
    </p:spTree>
    <p:extLst>
      <p:ext uri="{BB962C8B-B14F-4D97-AF65-F5344CB8AC3E}">
        <p14:creationId xmlns:p14="http://schemas.microsoft.com/office/powerpoint/2010/main" val="3053442567"/>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Modes of Exchange </a:t>
            </a:r>
            <a:r>
              <a:rPr lang="en-US" sz="2800" dirty="0" smtClean="0"/>
              <a:t>(4 </a:t>
            </a:r>
            <a:r>
              <a:rPr lang="en-US" sz="2800" dirty="0"/>
              <a:t>of </a:t>
            </a:r>
            <a:r>
              <a:rPr lang="en-US" sz="2800" dirty="0" smtClean="0"/>
              <a:t>4)</a:t>
            </a:r>
            <a:endParaRPr lang="en-US" sz="2800" dirty="0"/>
          </a:p>
        </p:txBody>
      </p:sp>
      <p:sp>
        <p:nvSpPr>
          <p:cNvPr id="3" name="Content Placeholder 2"/>
          <p:cNvSpPr>
            <a:spLocks noGrp="1"/>
          </p:cNvSpPr>
          <p:nvPr>
            <p:ph idx="1"/>
          </p:nvPr>
        </p:nvSpPr>
        <p:spPr/>
        <p:txBody>
          <a:bodyPr/>
          <a:lstStyle/>
          <a:p>
            <a:r>
              <a:rPr lang="en-US" dirty="0" smtClean="0"/>
              <a:t>Unbalanced exchange: market exchange</a:t>
            </a:r>
          </a:p>
          <a:p>
            <a:pPr lvl="1"/>
            <a:r>
              <a:rPr lang="en-US" dirty="0"/>
              <a:t>The buying and selling of commodities under competitive conditions in which the forces of supply and demand determine value and the seller seeks to make a profit</a:t>
            </a:r>
          </a:p>
          <a:p>
            <a:pPr lvl="1"/>
            <a:r>
              <a:rPr lang="en-US" dirty="0" smtClean="0"/>
              <a:t>Ranges </a:t>
            </a:r>
            <a:r>
              <a:rPr lang="en-US" dirty="0"/>
              <a:t>from informal (periodic market) to huge shopping centers (permanent market)</a:t>
            </a:r>
          </a:p>
        </p:txBody>
      </p:sp>
    </p:spTree>
    <p:extLst>
      <p:ext uri="{BB962C8B-B14F-4D97-AF65-F5344CB8AC3E}">
        <p14:creationId xmlns:p14="http://schemas.microsoft.com/office/powerpoint/2010/main" val="3650274982"/>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Anthropology Works: Evaluating the Social Effects of Indian Gaming </a:t>
            </a:r>
            <a:r>
              <a:rPr lang="en-US" sz="3100" dirty="0" smtClean="0"/>
              <a:t>(1 of 2)</a:t>
            </a:r>
            <a:endParaRPr lang="en-US" sz="3100" dirty="0"/>
          </a:p>
        </p:txBody>
      </p:sp>
      <p:sp>
        <p:nvSpPr>
          <p:cNvPr id="3" name="Content Placeholder 2"/>
          <p:cNvSpPr>
            <a:spLocks noGrp="1"/>
          </p:cNvSpPr>
          <p:nvPr>
            <p:ph idx="1"/>
          </p:nvPr>
        </p:nvSpPr>
        <p:spPr/>
        <p:txBody>
          <a:bodyPr/>
          <a:lstStyle/>
          <a:p>
            <a:r>
              <a:rPr lang="en-US" dirty="0"/>
              <a:t>Research to evaluate the social and economic effects of Indian gaming operations on tribal and local governments in California</a:t>
            </a:r>
          </a:p>
          <a:p>
            <a:r>
              <a:rPr lang="en-US" dirty="0"/>
              <a:t>Two key factors in determining if benefits are locally felt by Indians:</a:t>
            </a:r>
          </a:p>
          <a:p>
            <a:pPr lvl="1"/>
            <a:r>
              <a:rPr lang="en-US" dirty="0"/>
              <a:t>If casinos are owned by tribal governments</a:t>
            </a:r>
          </a:p>
          <a:p>
            <a:pPr lvl="1"/>
            <a:r>
              <a:rPr lang="en-US" dirty="0"/>
              <a:t>If casinos are located on existing tribal trust lands</a:t>
            </a:r>
          </a:p>
          <a:p>
            <a:endParaRPr lang="en-US" dirty="0"/>
          </a:p>
        </p:txBody>
      </p:sp>
    </p:spTree>
    <p:extLst>
      <p:ext uri="{BB962C8B-B14F-4D97-AF65-F5344CB8AC3E}">
        <p14:creationId xmlns:p14="http://schemas.microsoft.com/office/powerpoint/2010/main" val="628649195"/>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Anthropology Works: Evaluating the Social Effects of Indian </a:t>
            </a:r>
            <a:r>
              <a:rPr lang="en-US" dirty="0" smtClean="0"/>
              <a:t>Gaming </a:t>
            </a:r>
            <a:r>
              <a:rPr lang="en-US" sz="3100" dirty="0" smtClean="0"/>
              <a:t>(2 of 2)</a:t>
            </a:r>
            <a:endParaRPr lang="en-US" sz="3100" dirty="0"/>
          </a:p>
        </p:txBody>
      </p:sp>
      <p:sp>
        <p:nvSpPr>
          <p:cNvPr id="3" name="Content Placeholder 2"/>
          <p:cNvSpPr>
            <a:spLocks noGrp="1"/>
          </p:cNvSpPr>
          <p:nvPr>
            <p:ph idx="1"/>
          </p:nvPr>
        </p:nvSpPr>
        <p:spPr/>
        <p:txBody>
          <a:bodyPr>
            <a:normAutofit/>
          </a:bodyPr>
          <a:lstStyle/>
          <a:p>
            <a:r>
              <a:rPr lang="en-US" dirty="0" smtClean="0"/>
              <a:t>Gaming </a:t>
            </a:r>
            <a:r>
              <a:rPr lang="en-US" dirty="0"/>
              <a:t>in </a:t>
            </a:r>
            <a:r>
              <a:rPr lang="en-US" dirty="0" smtClean="0"/>
              <a:t>California </a:t>
            </a:r>
            <a:r>
              <a:rPr lang="en-US" dirty="0"/>
              <a:t>led to greater economic inequality between gaming and nongaming reservations</a:t>
            </a:r>
          </a:p>
          <a:p>
            <a:r>
              <a:rPr lang="en-US" dirty="0"/>
              <a:t>Revenue Sharing Trust Fund was created to counteract this effect</a:t>
            </a:r>
          </a:p>
          <a:p>
            <a:r>
              <a:rPr lang="en-US" dirty="0"/>
              <a:t>Gaming benefits the communities beyond the reservation as </a:t>
            </a:r>
            <a:r>
              <a:rPr lang="en-US" dirty="0" smtClean="0"/>
              <a:t>well</a:t>
            </a:r>
            <a:endParaRPr lang="en-US" dirty="0"/>
          </a:p>
          <a:p>
            <a:endParaRPr lang="en-US" dirty="0"/>
          </a:p>
        </p:txBody>
      </p:sp>
    </p:spTree>
    <p:extLst>
      <p:ext uri="{BB962C8B-B14F-4D97-AF65-F5344CB8AC3E}">
        <p14:creationId xmlns:p14="http://schemas.microsoft.com/office/powerpoint/2010/main" val="273969312"/>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000" dirty="0" smtClean="0"/>
              <a:t>Consumption, Exchange, and Global-Local Relations </a:t>
            </a:r>
            <a:r>
              <a:rPr lang="en-US" sz="2400" dirty="0" smtClean="0"/>
              <a:t>(1 of 2)</a:t>
            </a:r>
            <a:r>
              <a:rPr lang="en-US" sz="2800" dirty="0" smtClean="0"/>
              <a:t/>
            </a:r>
            <a:br>
              <a:rPr lang="en-US" sz="2800" dirty="0" smtClean="0"/>
            </a:br>
            <a:r>
              <a:rPr lang="en-US" sz="2000" dirty="0" smtClean="0"/>
              <a:t>5.3 Illustrate how consumption and exchange are changing.</a:t>
            </a:r>
            <a:endParaRPr lang="en-US" sz="2000" dirty="0"/>
          </a:p>
        </p:txBody>
      </p:sp>
      <p:sp>
        <p:nvSpPr>
          <p:cNvPr id="3" name="Content Placeholder 2"/>
          <p:cNvSpPr>
            <a:spLocks noGrp="1"/>
          </p:cNvSpPr>
          <p:nvPr>
            <p:ph idx="1"/>
          </p:nvPr>
        </p:nvSpPr>
        <p:spPr/>
        <p:txBody>
          <a:bodyPr/>
          <a:lstStyle/>
          <a:p>
            <a:r>
              <a:rPr lang="en-US" dirty="0"/>
              <a:t>Sugar, </a:t>
            </a:r>
            <a:r>
              <a:rPr lang="en-US" dirty="0" smtClean="0"/>
              <a:t>Salt</a:t>
            </a:r>
            <a:r>
              <a:rPr lang="en-US" dirty="0"/>
              <a:t>, and </a:t>
            </a:r>
            <a:r>
              <a:rPr lang="en-US" dirty="0" smtClean="0"/>
              <a:t>Steel Tools </a:t>
            </a:r>
            <a:r>
              <a:rPr lang="en-US" dirty="0"/>
              <a:t>in the Amazon</a:t>
            </a:r>
          </a:p>
          <a:p>
            <a:r>
              <a:rPr lang="en-US" dirty="0" smtClean="0"/>
              <a:t>Global Networks </a:t>
            </a:r>
            <a:r>
              <a:rPr lang="en-US" dirty="0"/>
              <a:t>and </a:t>
            </a:r>
            <a:r>
              <a:rPr lang="en-US" dirty="0" smtClean="0"/>
              <a:t>Ecstasy </a:t>
            </a:r>
            <a:r>
              <a:rPr lang="en-US" dirty="0"/>
              <a:t>in the United States</a:t>
            </a:r>
          </a:p>
          <a:p>
            <a:r>
              <a:rPr lang="en-US" dirty="0"/>
              <a:t>Global </a:t>
            </a:r>
            <a:r>
              <a:rPr lang="en-US" dirty="0" smtClean="0"/>
              <a:t>Demand </a:t>
            </a:r>
            <a:r>
              <a:rPr lang="en-US" dirty="0"/>
              <a:t>for Phosphates Eats an Island</a:t>
            </a:r>
          </a:p>
          <a:p>
            <a:r>
              <a:rPr lang="en-US" dirty="0" smtClean="0"/>
              <a:t>Alternative Food Movements </a:t>
            </a:r>
            <a:r>
              <a:rPr lang="en-US" dirty="0"/>
              <a:t>in Europe and North </a:t>
            </a:r>
            <a:r>
              <a:rPr lang="en-US" dirty="0" smtClean="0"/>
              <a:t>America</a:t>
            </a:r>
          </a:p>
          <a:p>
            <a:r>
              <a:rPr lang="en-US" dirty="0" smtClean="0"/>
              <a:t>The Enduring Potlatch</a:t>
            </a:r>
            <a:endParaRPr lang="en-US" dirty="0"/>
          </a:p>
          <a:p>
            <a:endParaRPr lang="en-US" dirty="0"/>
          </a:p>
        </p:txBody>
      </p:sp>
    </p:spTree>
    <p:extLst>
      <p:ext uri="{BB962C8B-B14F-4D97-AF65-F5344CB8AC3E}">
        <p14:creationId xmlns:p14="http://schemas.microsoft.com/office/powerpoint/2010/main" val="4126076912"/>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Consumption, Exchange, and Global-Local </a:t>
            </a:r>
            <a:r>
              <a:rPr lang="en-US" dirty="0" smtClean="0"/>
              <a:t>Relations </a:t>
            </a:r>
            <a:r>
              <a:rPr lang="en-US" sz="3100" dirty="0" smtClean="0"/>
              <a:t>(2 of 2)</a:t>
            </a:r>
            <a:endParaRPr lang="en-US" sz="3100" dirty="0"/>
          </a:p>
        </p:txBody>
      </p:sp>
      <p:sp>
        <p:nvSpPr>
          <p:cNvPr id="3" name="Content Placeholder 2"/>
          <p:cNvSpPr>
            <a:spLocks noGrp="1"/>
          </p:cNvSpPr>
          <p:nvPr>
            <p:ph idx="1"/>
          </p:nvPr>
        </p:nvSpPr>
        <p:spPr/>
        <p:txBody>
          <a:bodyPr/>
          <a:lstStyle/>
          <a:p>
            <a:r>
              <a:rPr lang="en-US" dirty="0" smtClean="0"/>
              <a:t>Trends</a:t>
            </a:r>
          </a:p>
          <a:p>
            <a:pPr lvl="1"/>
            <a:r>
              <a:rPr lang="en-US" dirty="0"/>
              <a:t>Increasing power of globalization in shaping consumption and exchange</a:t>
            </a:r>
          </a:p>
          <a:p>
            <a:pPr lvl="1"/>
            <a:r>
              <a:rPr lang="en-US" dirty="0" smtClean="0"/>
              <a:t>Some </a:t>
            </a:r>
            <a:r>
              <a:rPr lang="en-US" dirty="0"/>
              <a:t>examples of resistance by local cultures to the global economy</a:t>
            </a:r>
          </a:p>
          <a:p>
            <a:endParaRPr lang="en-US" dirty="0"/>
          </a:p>
        </p:txBody>
      </p:sp>
    </p:spTree>
    <p:extLst>
      <p:ext uri="{BB962C8B-B14F-4D97-AF65-F5344CB8AC3E}">
        <p14:creationId xmlns:p14="http://schemas.microsoft.com/office/powerpoint/2010/main" val="220239673"/>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Sugar, Salt, and Steel Tools </a:t>
            </a:r>
            <a:br>
              <a:rPr lang="en-US" dirty="0" smtClean="0"/>
            </a:br>
            <a:r>
              <a:rPr lang="en-US" dirty="0" smtClean="0"/>
              <a:t>in the Amazon</a:t>
            </a:r>
            <a:endParaRPr lang="en-US" dirty="0"/>
          </a:p>
        </p:txBody>
      </p:sp>
      <p:sp>
        <p:nvSpPr>
          <p:cNvPr id="3" name="Content Placeholder 2"/>
          <p:cNvSpPr>
            <a:spLocks noGrp="1"/>
          </p:cNvSpPr>
          <p:nvPr>
            <p:ph idx="1"/>
          </p:nvPr>
        </p:nvSpPr>
        <p:spPr/>
        <p:txBody>
          <a:bodyPr/>
          <a:lstStyle/>
          <a:p>
            <a:r>
              <a:rPr lang="en-US" dirty="0"/>
              <a:t>Growing attachment to commodities such as sugar, salt, and steel tools</a:t>
            </a:r>
          </a:p>
          <a:p>
            <a:r>
              <a:rPr lang="en-US" dirty="0" smtClean="0"/>
              <a:t>Involvement </a:t>
            </a:r>
            <a:r>
              <a:rPr lang="en-US" dirty="0"/>
              <a:t>with cash economy to obtain such goods</a:t>
            </a:r>
          </a:p>
          <a:p>
            <a:r>
              <a:rPr lang="en-US" dirty="0" smtClean="0"/>
              <a:t>Declining </a:t>
            </a:r>
            <a:r>
              <a:rPr lang="en-US" dirty="0"/>
              <a:t>diet and nutrition </a:t>
            </a:r>
          </a:p>
          <a:p>
            <a:endParaRPr lang="en-US" dirty="0"/>
          </a:p>
        </p:txBody>
      </p:sp>
    </p:spTree>
    <p:extLst>
      <p:ext uri="{BB962C8B-B14F-4D97-AF65-F5344CB8AC3E}">
        <p14:creationId xmlns:p14="http://schemas.microsoft.com/office/powerpoint/2010/main" val="2174053490"/>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Global Networks and Ecstasy </a:t>
            </a:r>
            <a:br>
              <a:rPr lang="en-US" dirty="0" smtClean="0"/>
            </a:br>
            <a:r>
              <a:rPr lang="en-US" dirty="0" smtClean="0"/>
              <a:t>in the United States</a:t>
            </a:r>
            <a:endParaRPr lang="en-US" dirty="0"/>
          </a:p>
        </p:txBody>
      </p:sp>
      <p:sp>
        <p:nvSpPr>
          <p:cNvPr id="3" name="Content Placeholder 2"/>
          <p:cNvSpPr>
            <a:spLocks noGrp="1"/>
          </p:cNvSpPr>
          <p:nvPr>
            <p:ph idx="1"/>
          </p:nvPr>
        </p:nvSpPr>
        <p:spPr/>
        <p:txBody>
          <a:bodyPr/>
          <a:lstStyle/>
          <a:p>
            <a:r>
              <a:rPr lang="en-US" dirty="0"/>
              <a:t>Since 1990s, rise in use of ecstasy in the </a:t>
            </a:r>
            <a:r>
              <a:rPr lang="en-US" dirty="0" smtClean="0"/>
              <a:t>United States</a:t>
            </a:r>
            <a:endParaRPr lang="en-US" dirty="0"/>
          </a:p>
          <a:p>
            <a:r>
              <a:rPr lang="en-US" dirty="0" smtClean="0"/>
              <a:t>Fieldwork </a:t>
            </a:r>
            <a:r>
              <a:rPr lang="en-US" dirty="0"/>
              <a:t>study in Baltimore, Maryland</a:t>
            </a:r>
          </a:p>
          <a:p>
            <a:r>
              <a:rPr lang="en-US" dirty="0" smtClean="0"/>
              <a:t>Global </a:t>
            </a:r>
            <a:r>
              <a:rPr lang="en-US" dirty="0"/>
              <a:t>supply chain</a:t>
            </a:r>
          </a:p>
          <a:p>
            <a:endParaRPr lang="en-US" dirty="0"/>
          </a:p>
        </p:txBody>
      </p:sp>
    </p:spTree>
    <p:extLst>
      <p:ext uri="{BB962C8B-B14F-4D97-AF65-F5344CB8AC3E}">
        <p14:creationId xmlns:p14="http://schemas.microsoft.com/office/powerpoint/2010/main" val="1659751618"/>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Global Demand for Phosphate </a:t>
            </a:r>
            <a:br>
              <a:rPr lang="en-US" dirty="0" smtClean="0"/>
            </a:br>
            <a:r>
              <a:rPr lang="en-US" dirty="0" smtClean="0"/>
              <a:t>Eats an Island</a:t>
            </a:r>
            <a:endParaRPr lang="en-US" dirty="0"/>
          </a:p>
        </p:txBody>
      </p:sp>
      <p:sp>
        <p:nvSpPr>
          <p:cNvPr id="3" name="Content Placeholder 2"/>
          <p:cNvSpPr>
            <a:spLocks noGrp="1"/>
          </p:cNvSpPr>
          <p:nvPr>
            <p:ph idx="1"/>
          </p:nvPr>
        </p:nvSpPr>
        <p:spPr/>
        <p:txBody>
          <a:bodyPr/>
          <a:lstStyle/>
          <a:p>
            <a:r>
              <a:rPr lang="en-US" dirty="0" smtClean="0"/>
              <a:t>Phosphate is used for fertilizer</a:t>
            </a:r>
          </a:p>
          <a:p>
            <a:r>
              <a:rPr lang="en-US" dirty="0" err="1" smtClean="0"/>
              <a:t>Banaba</a:t>
            </a:r>
            <a:r>
              <a:rPr lang="en-US" dirty="0" smtClean="0"/>
              <a:t> </a:t>
            </a:r>
            <a:r>
              <a:rPr lang="en-US" dirty="0" smtClean="0"/>
              <a:t>Island, in the Republic of Kiribati, is rich source of phosphate</a:t>
            </a:r>
          </a:p>
          <a:p>
            <a:r>
              <a:rPr lang="en-US" dirty="0" smtClean="0"/>
              <a:t>90 </a:t>
            </a:r>
            <a:r>
              <a:rPr lang="en-US" dirty="0" smtClean="0"/>
              <a:t>percent of the surface has been removed by mining; most residents displaced</a:t>
            </a:r>
            <a:endParaRPr lang="en-US" dirty="0"/>
          </a:p>
        </p:txBody>
      </p:sp>
    </p:spTree>
    <p:extLst>
      <p:ext uri="{BB962C8B-B14F-4D97-AF65-F5344CB8AC3E}">
        <p14:creationId xmlns:p14="http://schemas.microsoft.com/office/powerpoint/2010/main" val="2789761289"/>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Alternative Food Movements in Europe and North America</a:t>
            </a:r>
            <a:endParaRPr lang="en-US" dirty="0"/>
          </a:p>
        </p:txBody>
      </p:sp>
      <p:sp>
        <p:nvSpPr>
          <p:cNvPr id="3" name="Content Placeholder 2"/>
          <p:cNvSpPr>
            <a:spLocks noGrp="1"/>
          </p:cNvSpPr>
          <p:nvPr>
            <p:ph idx="1"/>
          </p:nvPr>
        </p:nvSpPr>
        <p:spPr/>
        <p:txBody>
          <a:bodyPr/>
          <a:lstStyle/>
          <a:p>
            <a:r>
              <a:rPr lang="en-US" dirty="0" smtClean="0"/>
              <a:t>Seek to reestablish direct links between food producers, consumers, and marketers</a:t>
            </a:r>
          </a:p>
          <a:p>
            <a:r>
              <a:rPr lang="en-US" dirty="0" smtClean="0"/>
              <a:t>Promote </a:t>
            </a:r>
            <a:r>
              <a:rPr lang="en-US" dirty="0" smtClean="0"/>
              <a:t>locally grown, not mass-produced food</a:t>
            </a:r>
          </a:p>
          <a:p>
            <a:r>
              <a:rPr lang="en-US" dirty="0" smtClean="0"/>
              <a:t>Example</a:t>
            </a:r>
            <a:r>
              <a:rPr lang="en-US" dirty="0" smtClean="0"/>
              <a:t>: Italy’s Slow Food Movement</a:t>
            </a:r>
            <a:endParaRPr lang="en-US" dirty="0"/>
          </a:p>
        </p:txBody>
      </p:sp>
    </p:spTree>
    <p:extLst>
      <p:ext uri="{BB962C8B-B14F-4D97-AF65-F5344CB8AC3E}">
        <p14:creationId xmlns:p14="http://schemas.microsoft.com/office/powerpoint/2010/main" val="3520544529"/>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Enduring Potlatch</a:t>
            </a:r>
            <a:endParaRPr lang="en-US" dirty="0"/>
          </a:p>
        </p:txBody>
      </p:sp>
      <p:sp>
        <p:nvSpPr>
          <p:cNvPr id="3" name="Content Placeholder 2"/>
          <p:cNvSpPr>
            <a:spLocks noGrp="1"/>
          </p:cNvSpPr>
          <p:nvPr>
            <p:ph idx="1"/>
          </p:nvPr>
        </p:nvSpPr>
        <p:spPr/>
        <p:txBody>
          <a:bodyPr/>
          <a:lstStyle/>
          <a:p>
            <a:r>
              <a:rPr lang="en-US" dirty="0"/>
              <a:t>Resurgence of group feasting and exchange in recent times among native peoples of the Northwest Coast </a:t>
            </a:r>
            <a:r>
              <a:rPr lang="en-US" dirty="0" smtClean="0"/>
              <a:t>region</a:t>
            </a:r>
          </a:p>
          <a:p>
            <a:r>
              <a:rPr lang="en-US" dirty="0" err="1" smtClean="0"/>
              <a:t>Potlatching</a:t>
            </a:r>
            <a:r>
              <a:rPr lang="en-US" dirty="0" smtClean="0"/>
              <a:t> </a:t>
            </a:r>
            <a:r>
              <a:rPr lang="en-US" dirty="0" smtClean="0"/>
              <a:t>had been banned by the Canadian government from 1884 to 1951</a:t>
            </a:r>
          </a:p>
          <a:p>
            <a:endParaRPr lang="en-US" dirty="0"/>
          </a:p>
          <a:p>
            <a:endParaRPr lang="en-US" dirty="0"/>
          </a:p>
          <a:p>
            <a:endParaRPr lang="en-US" dirty="0"/>
          </a:p>
        </p:txBody>
      </p:sp>
    </p:spTree>
    <p:extLst>
      <p:ext uri="{BB962C8B-B14F-4D97-AF65-F5344CB8AC3E}">
        <p14:creationId xmlns:p14="http://schemas.microsoft.com/office/powerpoint/2010/main" val="2693233027"/>
      </p:ext>
    </p:extLst>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Culturama: The Kwakw</a:t>
            </a:r>
            <a:r>
              <a:rPr lang="en-US" u="sng" dirty="0"/>
              <a:t>a</a:t>
            </a:r>
            <a:r>
              <a:rPr lang="en-US" dirty="0"/>
              <a:t>k</a:t>
            </a:r>
            <a:r>
              <a:rPr lang="en-US" u="sng" dirty="0"/>
              <a:t>a</a:t>
            </a:r>
            <a:r>
              <a:rPr lang="en-US" dirty="0"/>
              <a:t>’wakw </a:t>
            </a:r>
            <a:r>
              <a:rPr lang="en-US" dirty="0" smtClean="0"/>
              <a:t/>
            </a:r>
            <a:br>
              <a:rPr lang="en-US" dirty="0" smtClean="0"/>
            </a:br>
            <a:r>
              <a:rPr lang="en-US" dirty="0" smtClean="0"/>
              <a:t>of Canada</a:t>
            </a:r>
            <a:endParaRPr lang="en-US" dirty="0"/>
          </a:p>
        </p:txBody>
      </p:sp>
      <p:sp>
        <p:nvSpPr>
          <p:cNvPr id="3" name="Content Placeholder 2"/>
          <p:cNvSpPr>
            <a:spLocks noGrp="1"/>
          </p:cNvSpPr>
          <p:nvPr>
            <p:ph idx="1"/>
          </p:nvPr>
        </p:nvSpPr>
        <p:spPr/>
        <p:txBody>
          <a:bodyPr/>
          <a:lstStyle/>
          <a:p>
            <a:r>
              <a:rPr lang="en-US" dirty="0"/>
              <a:t>A cluster of 20 linguistically related groups of Canada’s Pacific Northwest region</a:t>
            </a:r>
          </a:p>
          <a:p>
            <a:r>
              <a:rPr lang="en-US" dirty="0"/>
              <a:t>Means “the people who speak </a:t>
            </a:r>
            <a:r>
              <a:rPr lang="en-US" dirty="0" smtClean="0"/>
              <a:t>Kwak’wala</a:t>
            </a:r>
            <a:r>
              <a:rPr lang="en-US" dirty="0"/>
              <a:t>”</a:t>
            </a:r>
          </a:p>
          <a:p>
            <a:r>
              <a:rPr lang="en-US" dirty="0"/>
              <a:t>Famous for aspects of their material culture</a:t>
            </a:r>
          </a:p>
          <a:p>
            <a:pPr lvl="1"/>
            <a:r>
              <a:rPr lang="en-US" dirty="0"/>
              <a:t>Tall, carved wooden totem poles</a:t>
            </a:r>
          </a:p>
          <a:p>
            <a:pPr lvl="1"/>
            <a:r>
              <a:rPr lang="en-US" dirty="0"/>
              <a:t>Canoes, masks, and serving bowls</a:t>
            </a:r>
          </a:p>
          <a:p>
            <a:pPr lvl="1"/>
            <a:r>
              <a:rPr lang="en-US" dirty="0"/>
              <a:t>Richly decorate capes, skirts, and blankets</a:t>
            </a:r>
          </a:p>
          <a:p>
            <a:endParaRPr lang="en-US" dirty="0"/>
          </a:p>
        </p:txBody>
      </p:sp>
    </p:spTree>
    <p:extLst>
      <p:ext uri="{BB962C8B-B14F-4D97-AF65-F5344CB8AC3E}">
        <p14:creationId xmlns:p14="http://schemas.microsoft.com/office/powerpoint/2010/main" val="240816158"/>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Map </a:t>
            </a:r>
            <a:r>
              <a:rPr lang="en-US" dirty="0" smtClean="0"/>
              <a:t>5.7 </a:t>
            </a:r>
            <a:r>
              <a:rPr lang="en-US" dirty="0"/>
              <a:t>Kwakw</a:t>
            </a:r>
            <a:r>
              <a:rPr lang="en-US" u="sng" dirty="0"/>
              <a:t>a</a:t>
            </a:r>
            <a:r>
              <a:rPr lang="en-US" dirty="0"/>
              <a:t>k</a:t>
            </a:r>
            <a:r>
              <a:rPr lang="en-US" u="sng" dirty="0"/>
              <a:t>a</a:t>
            </a:r>
            <a:r>
              <a:rPr lang="en-US" dirty="0" smtClean="0"/>
              <a:t>’wakw</a:t>
            </a:r>
            <a:r>
              <a:rPr lang="en-US" dirty="0"/>
              <a:t/>
            </a:r>
            <a:br>
              <a:rPr lang="en-US" dirty="0"/>
            </a:br>
            <a:r>
              <a:rPr lang="en-US" dirty="0"/>
              <a:t>Region in </a:t>
            </a:r>
            <a:r>
              <a:rPr lang="en-US" dirty="0" smtClean="0"/>
              <a:t>Canada </a:t>
            </a:r>
            <a:endParaRPr lang="en-US" dirty="0"/>
          </a:p>
        </p:txBody>
      </p:sp>
      <p:pic>
        <p:nvPicPr>
          <p:cNvPr id="6" name="Content Placeholder 5" descr="A map of northern Vancouver Island shows Alert Bay and the Queen Charlotte Strait separating it from the Canadian mainland to the east. An inset globe shows the location of the area is in northwestern North Americ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514600" y="1481931"/>
            <a:ext cx="4114800" cy="4762501"/>
          </a:xfrm>
        </p:spPr>
      </p:pic>
    </p:spTree>
    <p:extLst>
      <p:ext uri="{BB962C8B-B14F-4D97-AF65-F5344CB8AC3E}">
        <p14:creationId xmlns:p14="http://schemas.microsoft.com/office/powerpoint/2010/main" val="316388899"/>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Beebe8e_PPT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Beebe8e_PPT_master</Template>
  <TotalTime>347</TotalTime>
  <Words>1736</Words>
  <Application>Microsoft Macintosh PowerPoint</Application>
  <PresentationFormat>On-screen Show (4:3)</PresentationFormat>
  <Paragraphs>206</Paragraphs>
  <Slides>37</Slides>
  <Notes>7</Notes>
  <HiddenSlides>0</HiddenSlides>
  <MMClips>0</MMClips>
  <ScaleCrop>false</ScaleCrop>
  <HeadingPairs>
    <vt:vector size="4" baseType="variant">
      <vt:variant>
        <vt:lpstr>Theme</vt:lpstr>
      </vt:variant>
      <vt:variant>
        <vt:i4>2</vt:i4>
      </vt:variant>
      <vt:variant>
        <vt:lpstr>Slide Titles</vt:lpstr>
      </vt:variant>
      <vt:variant>
        <vt:i4>37</vt:i4>
      </vt:variant>
    </vt:vector>
  </HeadingPairs>
  <TitlesOfParts>
    <vt:vector size="39" baseType="lpstr">
      <vt:lpstr>Beebe8e_PPT_master</vt:lpstr>
      <vt:lpstr>Office Theme</vt:lpstr>
      <vt:lpstr>PowerPoint Presentation</vt:lpstr>
      <vt:lpstr>Learning Objectives</vt:lpstr>
      <vt:lpstr>Culture and Consumption 5.1 Recognize what is consumption in a cross-cultural perspective.</vt:lpstr>
      <vt:lpstr>What Is Consumption?</vt:lpstr>
      <vt:lpstr>Modes of Consumption (1 of 3)</vt:lpstr>
      <vt:lpstr>Modes of Consumption (2 of 3)</vt:lpstr>
      <vt:lpstr>Modes of Consumption (3 of 3)</vt:lpstr>
      <vt:lpstr>Consumption Funds</vt:lpstr>
      <vt:lpstr>Theorizing Consumption Inequalities  (1 of 2)</vt:lpstr>
      <vt:lpstr>Theorizing Consumption Inequalities  (2 of 2)</vt:lpstr>
      <vt:lpstr>Consumption Microcultures (1 of 3)</vt:lpstr>
      <vt:lpstr>Consumption Microcultures (2 of 3)</vt:lpstr>
      <vt:lpstr>Map 5.1 Location of the Kuru Epidemic in Papua New Guinea</vt:lpstr>
      <vt:lpstr>Consumption Microcultures (3 of 3)</vt:lpstr>
      <vt:lpstr>Map 5.2 Connecticut, United States</vt:lpstr>
      <vt:lpstr>Forbidden Consumption: Food Taboos</vt:lpstr>
      <vt:lpstr>Culture and Exchange  5.2 Identify the varieties of exchange in cross-cultural perspective.</vt:lpstr>
      <vt:lpstr>What Is Exchanged? (1 of 2)</vt:lpstr>
      <vt:lpstr>What Is Exchanged? (2 of 2)</vt:lpstr>
      <vt:lpstr>Map 5.5 The Balgo Hills (Wirrimanu) Region in Western Australia</vt:lpstr>
      <vt:lpstr>Think Like an Anthropologist:  The Rules of Hospitality</vt:lpstr>
      <vt:lpstr>Map 5.4 Oman</vt:lpstr>
      <vt:lpstr>Modes of Exchange (1 of 4)</vt:lpstr>
      <vt:lpstr>Modes of Exchange (2 of 4)</vt:lpstr>
      <vt:lpstr>Modes of Exchange (3 of 4)</vt:lpstr>
      <vt:lpstr>Modes of Exchange (4 of 4)</vt:lpstr>
      <vt:lpstr>Anthropology Works: Evaluating the Social Effects of Indian Gaming (1 of 2)</vt:lpstr>
      <vt:lpstr>Anthropology Works: Evaluating the Social Effects of Indian Gaming (2 of 2)</vt:lpstr>
      <vt:lpstr>Consumption, Exchange, and Global-Local Relations (1 of 2) 5.3 Illustrate how consumption and exchange are changing.</vt:lpstr>
      <vt:lpstr>Consumption, Exchange, and Global-Local Relations (2 of 2)</vt:lpstr>
      <vt:lpstr>Sugar, Salt, and Steel Tools  in the Amazon</vt:lpstr>
      <vt:lpstr>Global Networks and Ecstasy  in the United States</vt:lpstr>
      <vt:lpstr>Global Demand for Phosphate  Eats an Island</vt:lpstr>
      <vt:lpstr>Alternative Food Movements in Europe and North America</vt:lpstr>
      <vt:lpstr>The Enduring Potlatch</vt:lpstr>
      <vt:lpstr>Culturama: The Kwakwaka’wakw  of Canada</vt:lpstr>
      <vt:lpstr>Map 5.7 Kwakwaka’wakw Region in Canada </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Megan</dc:creator>
  <cp:lastModifiedBy>Jill Hawes</cp:lastModifiedBy>
  <cp:revision>35</cp:revision>
  <dcterms:created xsi:type="dcterms:W3CDTF">2015-09-18T14:54:36Z</dcterms:created>
  <dcterms:modified xsi:type="dcterms:W3CDTF">2016-04-04T22:23:52Z</dcterms:modified>
</cp:coreProperties>
</file>