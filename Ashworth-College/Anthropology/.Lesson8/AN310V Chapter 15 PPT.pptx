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2"/>
  </p:notesMasterIdLst>
  <p:sldIdLst>
    <p:sldId id="257" r:id="rId3"/>
    <p:sldId id="256" r:id="rId4"/>
    <p:sldId id="258" r:id="rId5"/>
    <p:sldId id="259" r:id="rId6"/>
    <p:sldId id="260" r:id="rId7"/>
    <p:sldId id="262" r:id="rId8"/>
    <p:sldId id="263" r:id="rId9"/>
    <p:sldId id="261" r:id="rId10"/>
    <p:sldId id="264" r:id="rId11"/>
    <p:sldId id="265" r:id="rId12"/>
    <p:sldId id="269" r:id="rId13"/>
    <p:sldId id="266" r:id="rId14"/>
    <p:sldId id="267" r:id="rId15"/>
    <p:sldId id="268" r:id="rId16"/>
    <p:sldId id="273" r:id="rId17"/>
    <p:sldId id="271" r:id="rId18"/>
    <p:sldId id="296" r:id="rId19"/>
    <p:sldId id="272" r:id="rId20"/>
    <p:sldId id="274" r:id="rId21"/>
    <p:sldId id="275" r:id="rId22"/>
    <p:sldId id="276" r:id="rId23"/>
    <p:sldId id="277" r:id="rId24"/>
    <p:sldId id="278" r:id="rId25"/>
    <p:sldId id="279" r:id="rId26"/>
    <p:sldId id="281" r:id="rId27"/>
    <p:sldId id="282" r:id="rId28"/>
    <p:sldId id="283" r:id="rId29"/>
    <p:sldId id="284" r:id="rId30"/>
    <p:sldId id="285" r:id="rId31"/>
    <p:sldId id="286" r:id="rId32"/>
    <p:sldId id="287" r:id="rId33"/>
    <p:sldId id="288" r:id="rId34"/>
    <p:sldId id="289" r:id="rId35"/>
    <p:sldId id="290" r:id="rId36"/>
    <p:sldId id="292" r:id="rId37"/>
    <p:sldId id="297" r:id="rId38"/>
    <p:sldId id="291" r:id="rId39"/>
    <p:sldId id="293" r:id="rId40"/>
    <p:sldId id="294"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063" autoAdjust="0"/>
  </p:normalViewPr>
  <p:slideViewPr>
    <p:cSldViewPr>
      <p:cViewPr varScale="1">
        <p:scale>
          <a:sx n="80" d="100"/>
          <a:sy n="80" d="100"/>
        </p:scale>
        <p:origin x="-1056" y="-10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theme" Target="theme/theme1.xml"/><Relationship Id="rId47"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notesMaster" Target="notesMasters/notesMaster1.xml"/><Relationship Id="rId43" Type="http://schemas.openxmlformats.org/officeDocument/2006/relationships/printerSettings" Target="printerSettings/printerSettings1.bin"/><Relationship Id="rId44" Type="http://schemas.openxmlformats.org/officeDocument/2006/relationships/presProps" Target="presProps.xml"/><Relationship Id="rId4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16BA25-33C1-4939-B746-19B360F3B762}" type="datetimeFigureOut">
              <a:rPr lang="en-US" smtClean="0"/>
              <a:t>4/8/16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DBF960-1B7C-4ACA-A92B-4FE93350070F}" type="slidenum">
              <a:rPr lang="en-US" smtClean="0"/>
              <a:t>‹#›</a:t>
            </a:fld>
            <a:endParaRPr lang="en-US" dirty="0"/>
          </a:p>
        </p:txBody>
      </p:sp>
    </p:spTree>
    <p:extLst>
      <p:ext uri="{BB962C8B-B14F-4D97-AF65-F5344CB8AC3E}">
        <p14:creationId xmlns:p14="http://schemas.microsoft.com/office/powerpoint/2010/main" val="352209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sz="1600" dirty="0"/>
          </a:p>
        </p:txBody>
      </p:sp>
      <p:sp>
        <p:nvSpPr>
          <p:cNvPr id="4" name="Slide Number Placeholder 3"/>
          <p:cNvSpPr>
            <a:spLocks noGrp="1"/>
          </p:cNvSpPr>
          <p:nvPr>
            <p:ph type="sldNum" sz="quarter" idx="10"/>
          </p:nvPr>
        </p:nvSpPr>
        <p:spPr/>
        <p:txBody>
          <a:bodyPr/>
          <a:lstStyle/>
          <a:p>
            <a:fld id="{25DBF960-1B7C-4ACA-A92B-4FE93350070F}" type="slidenum">
              <a:rPr lang="en-US" smtClean="0"/>
              <a:t>1</a:t>
            </a:fld>
            <a:endParaRPr lang="en-US" dirty="0"/>
          </a:p>
        </p:txBody>
      </p:sp>
    </p:spTree>
    <p:extLst>
      <p:ext uri="{BB962C8B-B14F-4D97-AF65-F5344CB8AC3E}">
        <p14:creationId xmlns:p14="http://schemas.microsoft.com/office/powerpoint/2010/main" val="506640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 a population of 34 million, Kerala has living standards, literacy</a:t>
            </a:r>
            <a:r>
              <a:rPr lang="en-US" baseline="0" dirty="0" smtClean="0"/>
              <a:t> </a:t>
            </a:r>
            <a:r>
              <a:rPr lang="en-US" dirty="0" smtClean="0"/>
              <a:t>rates, and health indicators that are high compared with the rest</a:t>
            </a:r>
            <a:r>
              <a:rPr lang="en-US" baseline="0" dirty="0" smtClean="0"/>
              <a:t> </a:t>
            </a:r>
            <a:r>
              <a:rPr lang="en-US" dirty="0" smtClean="0"/>
              <a:t>of India. Kerala comprises 14 districts and three historical regions:</a:t>
            </a:r>
            <a:r>
              <a:rPr lang="en-US" baseline="0" dirty="0" smtClean="0"/>
              <a:t> </a:t>
            </a:r>
            <a:r>
              <a:rPr lang="en-US" dirty="0" smtClean="0"/>
              <a:t>Travancore in the south, Kochi in the central part, and Malabar in the</a:t>
            </a:r>
            <a:r>
              <a:rPr lang="en-US" baseline="0" dirty="0" smtClean="0"/>
              <a:t> </a:t>
            </a:r>
            <a:r>
              <a:rPr lang="en-US" dirty="0" smtClean="0"/>
              <a:t>north. Long a socialist democracy, Kerala now allows the free market</a:t>
            </a:r>
            <a:r>
              <a:rPr lang="en-US" baseline="0" dirty="0" smtClean="0"/>
              <a:t> </a:t>
            </a:r>
            <a:r>
              <a:rPr lang="en-US" dirty="0" smtClean="0"/>
              <a:t>and foreign direct investment to play larger roles. A major tourist</a:t>
            </a:r>
            <a:r>
              <a:rPr lang="en-US" baseline="0" dirty="0" smtClean="0"/>
              <a:t> </a:t>
            </a:r>
            <a:r>
              <a:rPr lang="en-US" dirty="0" smtClean="0"/>
              <a:t>destination because of its tropical ecology and cultural features such</a:t>
            </a:r>
            <a:r>
              <a:rPr lang="en-US" baseline="0" dirty="0" smtClean="0"/>
              <a:t> </a:t>
            </a:r>
            <a:r>
              <a:rPr lang="en-US" dirty="0" smtClean="0"/>
              <a:t>as dramatic martial arts and theater, Kerala also hosts a growing</a:t>
            </a:r>
            <a:r>
              <a:rPr lang="en-US" baseline="0" dirty="0" smtClean="0"/>
              <a:t> </a:t>
            </a:r>
            <a:r>
              <a:rPr lang="en-US" dirty="0" smtClean="0"/>
              <a:t>Ayurvedic health tourism industry along its coast.</a:t>
            </a:r>
            <a:endParaRPr lang="en-US" dirty="0"/>
          </a:p>
        </p:txBody>
      </p:sp>
      <p:sp>
        <p:nvSpPr>
          <p:cNvPr id="4" name="Slide Number Placeholder 3"/>
          <p:cNvSpPr>
            <a:spLocks noGrp="1"/>
          </p:cNvSpPr>
          <p:nvPr>
            <p:ph type="sldNum" sz="quarter" idx="10"/>
          </p:nvPr>
        </p:nvSpPr>
        <p:spPr/>
        <p:txBody>
          <a:bodyPr/>
          <a:lstStyle/>
          <a:p>
            <a:fld id="{25DBF960-1B7C-4ACA-A92B-4FE93350070F}" type="slidenum">
              <a:rPr lang="en-US" smtClean="0"/>
              <a:t>11</a:t>
            </a:fld>
            <a:endParaRPr lang="en-US" dirty="0"/>
          </a:p>
        </p:txBody>
      </p:sp>
    </p:spTree>
    <p:extLst>
      <p:ext uri="{BB962C8B-B14F-4D97-AF65-F5344CB8AC3E}">
        <p14:creationId xmlns:p14="http://schemas.microsoft.com/office/powerpoint/2010/main" val="2957261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woman repays her loan at a small-scale savings and loan business in rural Haiti. Many of the credit union members use their loans to set up small businesses.</a:t>
            </a:r>
            <a:endParaRPr lang="en-US" dirty="0"/>
          </a:p>
        </p:txBody>
      </p:sp>
      <p:sp>
        <p:nvSpPr>
          <p:cNvPr id="4" name="Slide Number Placeholder 3"/>
          <p:cNvSpPr>
            <a:spLocks noGrp="1"/>
          </p:cNvSpPr>
          <p:nvPr>
            <p:ph type="sldNum" sz="quarter" idx="10"/>
          </p:nvPr>
        </p:nvSpPr>
        <p:spPr/>
        <p:txBody>
          <a:bodyPr/>
          <a:lstStyle/>
          <a:p>
            <a:fld id="{25DBF960-1B7C-4ACA-A92B-4FE93350070F}" type="slidenum">
              <a:rPr lang="en-US" smtClean="0"/>
              <a:t>17</a:t>
            </a:fld>
            <a:endParaRPr lang="en-US" dirty="0"/>
          </a:p>
        </p:txBody>
      </p:sp>
    </p:spTree>
    <p:extLst>
      <p:ext uri="{BB962C8B-B14F-4D97-AF65-F5344CB8AC3E}">
        <p14:creationId xmlns:p14="http://schemas.microsoft.com/office/powerpoint/2010/main" val="127248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Republic of Haiti occupies one-third of the Caribbean island of Hispaniola. The population of Haiti is around 10 million.</a:t>
            </a:r>
            <a:endParaRPr lang="en-US" dirty="0"/>
          </a:p>
        </p:txBody>
      </p:sp>
      <p:sp>
        <p:nvSpPr>
          <p:cNvPr id="4" name="Slide Number Placeholder 3"/>
          <p:cNvSpPr>
            <a:spLocks noGrp="1"/>
          </p:cNvSpPr>
          <p:nvPr>
            <p:ph type="sldNum" sz="quarter" idx="10"/>
          </p:nvPr>
        </p:nvSpPr>
        <p:spPr/>
        <p:txBody>
          <a:bodyPr/>
          <a:lstStyle/>
          <a:p>
            <a:fld id="{25DBF960-1B7C-4ACA-A92B-4FE93350070F}" type="slidenum">
              <a:rPr lang="en-US" smtClean="0"/>
              <a:t>18</a:t>
            </a:fld>
            <a:endParaRPr lang="en-US" dirty="0"/>
          </a:p>
        </p:txBody>
      </p:sp>
    </p:spTree>
    <p:extLst>
      <p:ext uri="{BB962C8B-B14F-4D97-AF65-F5344CB8AC3E}">
        <p14:creationId xmlns:p14="http://schemas.microsoft.com/office/powerpoint/2010/main" val="1235916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Created in 1999, Nunavut is the newest and largest of Canada’s territories. It is also the least populated, with 34,000 people. About 85 percent of the people are First Nations peoples, mainly Inuit. Official languages are Inuktitut, Inuinnagtun, English, and French. The landscape is mainly Arctic tundra. The award winning movie </a:t>
            </a:r>
            <a:r>
              <a:rPr lang="en-US" sz="1200" b="0" i="1" u="none" strike="noStrike" kern="1200" baseline="0" dirty="0" smtClean="0">
                <a:solidFill>
                  <a:schemeClr val="tx1"/>
                </a:solidFill>
                <a:latin typeface="+mn-lt"/>
                <a:ea typeface="+mn-ea"/>
                <a:cs typeface="+mn-cs"/>
              </a:rPr>
              <a:t>Atanarjuat (The Fast Runner) </a:t>
            </a:r>
            <a:r>
              <a:rPr lang="en-US" sz="1200" b="0" i="0" u="none" strike="noStrike" kern="1200" baseline="0" dirty="0" smtClean="0">
                <a:solidFill>
                  <a:schemeClr val="tx1"/>
                </a:solidFill>
                <a:latin typeface="+mn-lt"/>
                <a:ea typeface="+mn-ea"/>
                <a:cs typeface="+mn-cs"/>
              </a:rPr>
              <a:t>was produced by Inuit filmmakers and filmed in Nunavut.</a:t>
            </a:r>
            <a:endParaRPr lang="en-US" dirty="0"/>
          </a:p>
        </p:txBody>
      </p:sp>
      <p:sp>
        <p:nvSpPr>
          <p:cNvPr id="4" name="Slide Number Placeholder 3"/>
          <p:cNvSpPr>
            <a:spLocks noGrp="1"/>
          </p:cNvSpPr>
          <p:nvPr>
            <p:ph type="sldNum" sz="quarter" idx="10"/>
          </p:nvPr>
        </p:nvSpPr>
        <p:spPr/>
        <p:txBody>
          <a:bodyPr/>
          <a:lstStyle/>
          <a:p>
            <a:fld id="{25DBF960-1B7C-4ACA-A92B-4FE93350070F}" type="slidenum">
              <a:rPr lang="en-US" smtClean="0"/>
              <a:t>27</a:t>
            </a:fld>
            <a:endParaRPr lang="en-US" dirty="0"/>
          </a:p>
        </p:txBody>
      </p:sp>
    </p:spTree>
    <p:extLst>
      <p:ext uri="{BB962C8B-B14F-4D97-AF65-F5344CB8AC3E}">
        <p14:creationId xmlns:p14="http://schemas.microsoft.com/office/powerpoint/2010/main" val="2661752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Nigeria is the most populous country in Africa, with over 140 million people. It has more than 250 ethnic groups, with the largest being the Fulani, Hausa, Yorúbà, and Igbo. Nigerians speak over 500 languages; English is the official language. Nigeria is Africa’s biggest petroleum producer, with an average of two million barrels a day extracted in the Niger Delta. The delta makes up 7.5 percent of Nigeria’s landmass, but its population of 31 million accounts for 22 percent of the population. The Niger Delta’s petroleum industry supports a high economic growth rate for the country, making it one of the fastest growing economies in the world. Yet little of this wealth filters back to the local people of the delta, who bear the brunt of the environmental and cultural damage caused by the petroleum industry. Oil spills are a frequent problem. One of the world’s richest wetlands and richest areas of cultural diversity, with over 40 ethnic groups, is endangered by large-scale petroleum mining that benefits people in the capital city and in other countries.</a:t>
            </a:r>
            <a:endParaRPr lang="en-US" dirty="0"/>
          </a:p>
        </p:txBody>
      </p:sp>
      <p:sp>
        <p:nvSpPr>
          <p:cNvPr id="4" name="Slide Number Placeholder 3"/>
          <p:cNvSpPr>
            <a:spLocks noGrp="1"/>
          </p:cNvSpPr>
          <p:nvPr>
            <p:ph type="sldNum" sz="quarter" idx="10"/>
          </p:nvPr>
        </p:nvSpPr>
        <p:spPr/>
        <p:txBody>
          <a:bodyPr/>
          <a:lstStyle/>
          <a:p>
            <a:fld id="{25DBF960-1B7C-4ACA-A92B-4FE93350070F}" type="slidenum">
              <a:rPr lang="en-US" smtClean="0"/>
              <a:t>35</a:t>
            </a:fld>
            <a:endParaRPr lang="en-US" dirty="0"/>
          </a:p>
        </p:txBody>
      </p:sp>
    </p:spTree>
    <p:extLst>
      <p:ext uri="{BB962C8B-B14F-4D97-AF65-F5344CB8AC3E}">
        <p14:creationId xmlns:p14="http://schemas.microsoft.com/office/powerpoint/2010/main" val="3868760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farmer walks through an oil-soaked field. About 500,000 Ogoni people live in Ogoniland, a deltaic region in southern Nigeria. The</a:t>
            </a:r>
            <a:r>
              <a:rPr lang="en-US" baseline="0" dirty="0" smtClean="0"/>
              <a:t> </a:t>
            </a:r>
            <a:r>
              <a:rPr lang="en-US" dirty="0" smtClean="0"/>
              <a:t>fertility of the Niger delta has supported farming and fishing populations at high density for many years. Since Shell discovered oil there</a:t>
            </a:r>
            <a:r>
              <a:rPr lang="en-US" baseline="0" dirty="0" smtClean="0"/>
              <a:t> </a:t>
            </a:r>
            <a:r>
              <a:rPr lang="en-US" dirty="0" smtClean="0"/>
              <a:t>in 1958, 100 oil wells were constructed in Ogoniland and countless oil spills have occurred.</a:t>
            </a:r>
            <a:endParaRPr lang="en-US" dirty="0"/>
          </a:p>
        </p:txBody>
      </p:sp>
      <p:sp>
        <p:nvSpPr>
          <p:cNvPr id="4" name="Slide Number Placeholder 3"/>
          <p:cNvSpPr>
            <a:spLocks noGrp="1"/>
          </p:cNvSpPr>
          <p:nvPr>
            <p:ph type="sldNum" sz="quarter" idx="10"/>
          </p:nvPr>
        </p:nvSpPr>
        <p:spPr/>
        <p:txBody>
          <a:bodyPr/>
          <a:lstStyle/>
          <a:p>
            <a:fld id="{25DBF960-1B7C-4ACA-A92B-4FE93350070F}" type="slidenum">
              <a:rPr lang="en-US" smtClean="0"/>
              <a:t>36</a:t>
            </a:fld>
            <a:endParaRPr lang="en-US" dirty="0"/>
          </a:p>
        </p:txBody>
      </p:sp>
    </p:spTree>
    <p:extLst>
      <p:ext uri="{BB962C8B-B14F-4D97-AF65-F5344CB8AC3E}">
        <p14:creationId xmlns:p14="http://schemas.microsoft.com/office/powerpoint/2010/main" val="4283785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15</a:t>
            </a:r>
            <a:endParaRPr lang="en-US" dirty="0"/>
          </a:p>
        </p:txBody>
      </p:sp>
      <p:sp>
        <p:nvSpPr>
          <p:cNvPr id="3" name="Text Placeholder 2"/>
          <p:cNvSpPr>
            <a:spLocks noGrp="1"/>
          </p:cNvSpPr>
          <p:nvPr>
            <p:ph type="body" sz="quarter" idx="15"/>
          </p:nvPr>
        </p:nvSpPr>
        <p:spPr/>
        <p:txBody>
          <a:bodyPr/>
          <a:lstStyle/>
          <a:p>
            <a:r>
              <a:rPr lang="en-US" dirty="0" smtClean="0"/>
              <a:t>People Defining Development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15.1</a:t>
            </a:r>
            <a:r>
              <a:rPr lang="en-US" dirty="0" smtClean="0"/>
              <a:t> Identify what is development and approaches to it.</a:t>
            </a:r>
          </a:p>
          <a:p>
            <a:endParaRPr lang="en-US" dirty="0"/>
          </a:p>
          <a:p>
            <a:pPr marL="0" indent="0">
              <a:buNone/>
            </a:pPr>
            <a:r>
              <a:rPr lang="en-US" dirty="0" smtClean="0">
                <a:solidFill>
                  <a:schemeClr val="tx2"/>
                </a:solidFill>
              </a:rPr>
              <a:t>15.2</a:t>
            </a:r>
            <a:r>
              <a:rPr lang="en-US" dirty="0" smtClean="0"/>
              <a:t> Summarize how indigenous peoples and women are redefining development.</a:t>
            </a:r>
          </a:p>
          <a:p>
            <a:endParaRPr lang="en-US" dirty="0"/>
          </a:p>
          <a:p>
            <a:pPr marL="0" indent="0">
              <a:buNone/>
            </a:pPr>
            <a:r>
              <a:rPr lang="en-US" dirty="0" smtClean="0">
                <a:solidFill>
                  <a:schemeClr val="tx2"/>
                </a:solidFill>
              </a:rPr>
              <a:t>15.3</a:t>
            </a:r>
            <a:r>
              <a:rPr lang="en-US" dirty="0" smtClean="0"/>
              <a:t> Identify urgent issues in development.</a:t>
            </a: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Defining Development and Approaches </a:t>
            </a:r>
            <a:br>
              <a:rPr lang="en-US" sz="3200" dirty="0" smtClean="0"/>
            </a:br>
            <a:r>
              <a:rPr lang="en-US" sz="3200" dirty="0" smtClean="0"/>
              <a:t>to It </a:t>
            </a:r>
            <a:r>
              <a:rPr lang="en-US" sz="2800" dirty="0" smtClean="0"/>
              <a:t>(1 of 2)</a:t>
            </a:r>
            <a:br>
              <a:rPr lang="en-US" sz="2800" dirty="0" smtClean="0"/>
            </a:br>
            <a:r>
              <a:rPr lang="en-US" sz="2000" dirty="0" smtClean="0"/>
              <a:t>15.1 Identify what is development and approaches to it.</a:t>
            </a:r>
            <a:endParaRPr lang="en-US" sz="2000" dirty="0"/>
          </a:p>
        </p:txBody>
      </p:sp>
      <p:sp>
        <p:nvSpPr>
          <p:cNvPr id="3" name="Content Placeholder 2"/>
          <p:cNvSpPr>
            <a:spLocks noGrp="1"/>
          </p:cNvSpPr>
          <p:nvPr>
            <p:ph idx="1"/>
          </p:nvPr>
        </p:nvSpPr>
        <p:spPr/>
        <p:txBody>
          <a:bodyPr>
            <a:normAutofit/>
          </a:bodyPr>
          <a:lstStyle/>
          <a:p>
            <a:r>
              <a:rPr lang="en-US" dirty="0" smtClean="0"/>
              <a:t>Two Processes of Social Change</a:t>
            </a:r>
          </a:p>
          <a:p>
            <a:endParaRPr lang="en-US" dirty="0" smtClean="0"/>
          </a:p>
          <a:p>
            <a:r>
              <a:rPr lang="en-US" dirty="0" smtClean="0"/>
              <a:t>Theories and Models of Development</a:t>
            </a:r>
          </a:p>
          <a:p>
            <a:endParaRPr lang="en-US" dirty="0" smtClean="0"/>
          </a:p>
          <a:p>
            <a:r>
              <a:rPr lang="en-US" dirty="0" smtClean="0"/>
              <a:t>Institutional Approaches to Development</a:t>
            </a:r>
          </a:p>
          <a:p>
            <a:endParaRPr lang="en-US" dirty="0" smtClean="0"/>
          </a:p>
          <a:p>
            <a:r>
              <a:rPr lang="en-US" dirty="0" smtClean="0"/>
              <a:t>The Development Project</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Defining Development </a:t>
            </a:r>
            <a:r>
              <a:rPr lang="en-US" dirty="0" smtClean="0"/>
              <a:t>and Approaches </a:t>
            </a:r>
            <a:r>
              <a:rPr lang="en-US" dirty="0"/>
              <a:t>to I</a:t>
            </a:r>
            <a:r>
              <a:rPr lang="en-US" dirty="0" smtClean="0"/>
              <a:t>t </a:t>
            </a:r>
            <a:r>
              <a:rPr lang="en-US" sz="3100" dirty="0" smtClean="0"/>
              <a:t>(2 of 2)</a:t>
            </a:r>
            <a:endParaRPr lang="en-US" sz="3100" dirty="0"/>
          </a:p>
        </p:txBody>
      </p:sp>
      <p:sp>
        <p:nvSpPr>
          <p:cNvPr id="3" name="Content Placeholder 2"/>
          <p:cNvSpPr>
            <a:spLocks noGrp="1"/>
          </p:cNvSpPr>
          <p:nvPr>
            <p:ph idx="1"/>
          </p:nvPr>
        </p:nvSpPr>
        <p:spPr/>
        <p:txBody>
          <a:bodyPr>
            <a:normAutofit/>
          </a:bodyPr>
          <a:lstStyle/>
          <a:p>
            <a:r>
              <a:rPr lang="en-US" dirty="0" smtClean="0"/>
              <a:t>Development</a:t>
            </a:r>
          </a:p>
          <a:p>
            <a:pPr lvl="1"/>
            <a:r>
              <a:rPr lang="en-US" dirty="0" smtClean="0"/>
              <a:t>Change </a:t>
            </a:r>
            <a:r>
              <a:rPr lang="en-US" dirty="0"/>
              <a:t>directed toward improving human </a:t>
            </a:r>
            <a:r>
              <a:rPr lang="en-US" dirty="0" smtClean="0"/>
              <a:t>welfare</a:t>
            </a:r>
          </a:p>
          <a:p>
            <a:pPr lvl="1"/>
            <a:endParaRPr lang="en-US" dirty="0"/>
          </a:p>
          <a:p>
            <a:r>
              <a:rPr lang="en-US" dirty="0" smtClean="0"/>
              <a:t>Poverty</a:t>
            </a:r>
          </a:p>
          <a:p>
            <a:pPr lvl="1"/>
            <a:r>
              <a:rPr lang="en-US" dirty="0" smtClean="0"/>
              <a:t>Lack </a:t>
            </a:r>
            <a:r>
              <a:rPr lang="en-US" dirty="0"/>
              <a:t>of access to tangible or intangible resources </a:t>
            </a:r>
            <a:r>
              <a:rPr lang="en-US" dirty="0" smtClean="0"/>
              <a:t>that contribute </a:t>
            </a:r>
            <a:r>
              <a:rPr lang="en-US" dirty="0"/>
              <a:t>to life and the well-being of a person, group, </a:t>
            </a:r>
            <a:r>
              <a:rPr lang="en-US" dirty="0" smtClean="0"/>
              <a:t>country, or </a:t>
            </a:r>
            <a:r>
              <a:rPr lang="en-US" dirty="0"/>
              <a:t>region</a:t>
            </a:r>
          </a:p>
        </p:txBody>
      </p:sp>
    </p:spTree>
    <p:extLst>
      <p:ext uri="{BB962C8B-B14F-4D97-AF65-F5344CB8AC3E}">
        <p14:creationId xmlns:p14="http://schemas.microsoft.com/office/powerpoint/2010/main" val="171144558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Processes of Social Change</a:t>
            </a:r>
            <a:endParaRPr lang="en-US" dirty="0"/>
          </a:p>
        </p:txBody>
      </p:sp>
      <p:sp>
        <p:nvSpPr>
          <p:cNvPr id="3" name="Content Placeholder 2"/>
          <p:cNvSpPr>
            <a:spLocks noGrp="1"/>
          </p:cNvSpPr>
          <p:nvPr>
            <p:ph idx="1"/>
          </p:nvPr>
        </p:nvSpPr>
        <p:spPr/>
        <p:txBody>
          <a:bodyPr/>
          <a:lstStyle/>
          <a:p>
            <a:r>
              <a:rPr lang="en-US" dirty="0" smtClean="0"/>
              <a:t>Invention </a:t>
            </a:r>
          </a:p>
          <a:p>
            <a:pPr lvl="1"/>
            <a:r>
              <a:rPr lang="en-US" dirty="0" smtClean="0"/>
              <a:t>The discovery of something new</a:t>
            </a:r>
          </a:p>
          <a:p>
            <a:pPr lvl="2"/>
            <a:r>
              <a:rPr lang="en-US" dirty="0" smtClean="0"/>
              <a:t>May be sudden or gradual</a:t>
            </a:r>
          </a:p>
          <a:p>
            <a:pPr lvl="1"/>
            <a:endParaRPr lang="en-US" dirty="0" smtClean="0"/>
          </a:p>
          <a:p>
            <a:r>
              <a:rPr lang="en-US" dirty="0" smtClean="0"/>
              <a:t>Diffusion</a:t>
            </a:r>
          </a:p>
          <a:p>
            <a:pPr lvl="1"/>
            <a:r>
              <a:rPr lang="en-US" dirty="0" smtClean="0"/>
              <a:t>The spread of culture through contact</a:t>
            </a:r>
          </a:p>
          <a:p>
            <a:pPr lvl="2"/>
            <a:r>
              <a:rPr lang="en-US" dirty="0" smtClean="0"/>
              <a:t>May be mutual borrowing</a:t>
            </a:r>
          </a:p>
          <a:p>
            <a:pPr lvl="2"/>
            <a:r>
              <a:rPr lang="en-US" dirty="0" smtClean="0"/>
              <a:t>May be through force between unequal societies</a:t>
            </a:r>
            <a:endParaRPr lang="en-US" dirty="0"/>
          </a:p>
        </p:txBody>
      </p:sp>
    </p:spTree>
    <p:extLst>
      <p:ext uri="{BB962C8B-B14F-4D97-AF65-F5344CB8AC3E}">
        <p14:creationId xmlns:p14="http://schemas.microsoft.com/office/powerpoint/2010/main" val="141381533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Anthropology Works: </a:t>
            </a:r>
            <a:r>
              <a:rPr lang="en-US" sz="3200" dirty="0" smtClean="0"/>
              <a:t>The </a:t>
            </a:r>
            <a:r>
              <a:rPr lang="en-US" sz="3200" dirty="0"/>
              <a:t>Saami, Snowmobiles, and Social Impact </a:t>
            </a:r>
            <a:r>
              <a:rPr lang="en-US" sz="3200" dirty="0" smtClean="0"/>
              <a:t>Analysis </a:t>
            </a:r>
            <a:r>
              <a:rPr lang="en-US" sz="2800" dirty="0" smtClean="0"/>
              <a:t>(1 of 2)</a:t>
            </a:r>
            <a:endParaRPr lang="en-US" sz="2800" dirty="0"/>
          </a:p>
        </p:txBody>
      </p:sp>
      <p:sp>
        <p:nvSpPr>
          <p:cNvPr id="3" name="Content Placeholder 2"/>
          <p:cNvSpPr>
            <a:spLocks noGrp="1"/>
          </p:cNvSpPr>
          <p:nvPr>
            <p:ph idx="1"/>
          </p:nvPr>
        </p:nvSpPr>
        <p:spPr/>
        <p:txBody>
          <a:bodyPr>
            <a:normAutofit fontScale="92500" lnSpcReduction="20000"/>
          </a:bodyPr>
          <a:lstStyle/>
          <a:p>
            <a:r>
              <a:rPr lang="en-US" sz="3600" dirty="0"/>
              <a:t>Social impact assessments gauge the potential social costs and benefits of particular innovations before change is undertaken</a:t>
            </a:r>
          </a:p>
          <a:p>
            <a:r>
              <a:rPr lang="en-US" sz="3600" dirty="0"/>
              <a:t>Prior to the </a:t>
            </a:r>
            <a:r>
              <a:rPr lang="en-US" sz="3600" dirty="0" smtClean="0"/>
              <a:t>1960s, </a:t>
            </a:r>
            <a:r>
              <a:rPr lang="en-US" sz="3600" dirty="0"/>
              <a:t>a Saami group in Finland had an economy based on reindeer herding</a:t>
            </a:r>
          </a:p>
          <a:p>
            <a:pPr lvl="1"/>
            <a:r>
              <a:rPr lang="en-US" dirty="0"/>
              <a:t>Provided most of their diet</a:t>
            </a:r>
          </a:p>
          <a:p>
            <a:pPr lvl="1"/>
            <a:r>
              <a:rPr lang="en-US" dirty="0"/>
              <a:t>Used as draft animals</a:t>
            </a:r>
          </a:p>
          <a:p>
            <a:pPr lvl="1"/>
            <a:r>
              <a:rPr lang="en-US" dirty="0"/>
              <a:t>Used for clothing</a:t>
            </a:r>
          </a:p>
          <a:p>
            <a:pPr lvl="1"/>
            <a:r>
              <a:rPr lang="en-US" dirty="0"/>
              <a:t>Key items of exchange</a:t>
            </a:r>
          </a:p>
          <a:p>
            <a:endParaRPr lang="en-US" sz="3600" dirty="0"/>
          </a:p>
        </p:txBody>
      </p:sp>
    </p:spTree>
    <p:extLst>
      <p:ext uri="{BB962C8B-B14F-4D97-AF65-F5344CB8AC3E}">
        <p14:creationId xmlns:p14="http://schemas.microsoft.com/office/powerpoint/2010/main" val="3293856006"/>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Anthropology Works: </a:t>
            </a:r>
            <a:r>
              <a:rPr lang="en-US" sz="3200" dirty="0" smtClean="0"/>
              <a:t>The </a:t>
            </a:r>
            <a:r>
              <a:rPr lang="en-US" sz="3200" dirty="0"/>
              <a:t>Saami, Snowmobiles, and Social Impact </a:t>
            </a:r>
            <a:r>
              <a:rPr lang="en-US" sz="3200" dirty="0" smtClean="0"/>
              <a:t>Analysis </a:t>
            </a:r>
            <a:r>
              <a:rPr lang="en-US" sz="2800" dirty="0" smtClean="0"/>
              <a:t>(2 of 2)</a:t>
            </a:r>
            <a:endParaRPr lang="en-US" sz="2800" dirty="0"/>
          </a:p>
        </p:txBody>
      </p:sp>
      <p:sp>
        <p:nvSpPr>
          <p:cNvPr id="3" name="Content Placeholder 2"/>
          <p:cNvSpPr>
            <a:spLocks noGrp="1"/>
          </p:cNvSpPr>
          <p:nvPr>
            <p:ph idx="1"/>
          </p:nvPr>
        </p:nvSpPr>
        <p:spPr/>
        <p:txBody>
          <a:bodyPr>
            <a:normAutofit fontScale="92500" lnSpcReduction="20000"/>
          </a:bodyPr>
          <a:lstStyle/>
          <a:p>
            <a:r>
              <a:rPr lang="en-US" dirty="0"/>
              <a:t>Introduction of snowmobiles for herding in the 1960s changed the culture</a:t>
            </a:r>
          </a:p>
          <a:p>
            <a:pPr lvl="1"/>
            <a:r>
              <a:rPr lang="en-US" dirty="0"/>
              <a:t>Herds were no longer domesticated</a:t>
            </a:r>
          </a:p>
          <a:p>
            <a:pPr lvl="1"/>
            <a:r>
              <a:rPr lang="en-US" dirty="0"/>
              <a:t>Herders covered larger areas</a:t>
            </a:r>
          </a:p>
          <a:p>
            <a:pPr lvl="1"/>
            <a:r>
              <a:rPr lang="en-US" dirty="0"/>
              <a:t>Used multiple roundups</a:t>
            </a:r>
          </a:p>
          <a:p>
            <a:pPr lvl="1"/>
            <a:r>
              <a:rPr lang="en-US" dirty="0"/>
              <a:t>Young men became dominant herders (squeezing out women and older men)</a:t>
            </a:r>
          </a:p>
          <a:p>
            <a:pPr lvl="1"/>
            <a:r>
              <a:rPr lang="en-US" dirty="0"/>
              <a:t>Herds declined as a result of the stress associated with </a:t>
            </a:r>
            <a:r>
              <a:rPr lang="en-US" dirty="0" smtClean="0"/>
              <a:t>the </a:t>
            </a:r>
            <a:r>
              <a:rPr lang="en-US" dirty="0"/>
              <a:t>snowmobiles</a:t>
            </a:r>
          </a:p>
          <a:p>
            <a:pPr lvl="1"/>
            <a:r>
              <a:rPr lang="en-US" dirty="0"/>
              <a:t>New dependence on outside cash economy drove many to </a:t>
            </a:r>
            <a:r>
              <a:rPr lang="en-US" dirty="0" smtClean="0"/>
              <a:t>migrate </a:t>
            </a:r>
            <a:r>
              <a:rPr lang="en-US" dirty="0"/>
              <a:t>to cities for work</a:t>
            </a:r>
          </a:p>
          <a:p>
            <a:endParaRPr lang="en-US" dirty="0"/>
          </a:p>
        </p:txBody>
      </p:sp>
    </p:spTree>
    <p:extLst>
      <p:ext uri="{BB962C8B-B14F-4D97-AF65-F5344CB8AC3E}">
        <p14:creationId xmlns:p14="http://schemas.microsoft.com/office/powerpoint/2010/main" val="33706391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Theories and Models of Development </a:t>
            </a:r>
            <a:r>
              <a:rPr lang="en-US" sz="2800" dirty="0" smtClean="0"/>
              <a:t>(1 of 5)</a:t>
            </a:r>
            <a:endParaRPr lang="en-US" sz="2800" dirty="0"/>
          </a:p>
        </p:txBody>
      </p:sp>
      <p:sp>
        <p:nvSpPr>
          <p:cNvPr id="3" name="Content Placeholder 2"/>
          <p:cNvSpPr>
            <a:spLocks noGrp="1"/>
          </p:cNvSpPr>
          <p:nvPr>
            <p:ph idx="1"/>
          </p:nvPr>
        </p:nvSpPr>
        <p:spPr/>
        <p:txBody>
          <a:bodyPr>
            <a:normAutofit fontScale="92500"/>
          </a:bodyPr>
          <a:lstStyle/>
          <a:p>
            <a:r>
              <a:rPr lang="en-US" dirty="0" smtClean="0"/>
              <a:t>Modernization</a:t>
            </a:r>
          </a:p>
          <a:p>
            <a:pPr lvl="1"/>
            <a:r>
              <a:rPr lang="en-US" dirty="0"/>
              <a:t> A form of change marked by economic growth through industrialization and market expansion, political consolidation through the state, technological innovation, literacy, and options for social mobility</a:t>
            </a:r>
          </a:p>
          <a:p>
            <a:pPr lvl="1"/>
            <a:r>
              <a:rPr lang="en-US" dirty="0"/>
              <a:t>Major goals</a:t>
            </a:r>
          </a:p>
          <a:p>
            <a:pPr lvl="2"/>
            <a:r>
              <a:rPr lang="en-US" dirty="0"/>
              <a:t>Material progress and individual betterment</a:t>
            </a:r>
          </a:p>
          <a:p>
            <a:pPr lvl="1"/>
            <a:r>
              <a:rPr lang="en-US" dirty="0"/>
              <a:t>Major criticisms</a:t>
            </a:r>
          </a:p>
          <a:p>
            <a:pPr lvl="2"/>
            <a:r>
              <a:rPr lang="en-US" dirty="0"/>
              <a:t>Focus on ever-increasing consumption</a:t>
            </a:r>
          </a:p>
          <a:p>
            <a:pPr lvl="2"/>
            <a:r>
              <a:rPr lang="en-US" dirty="0"/>
              <a:t>Heavy use of nonrenewable resources</a:t>
            </a:r>
          </a:p>
          <a:p>
            <a:pPr lvl="1"/>
            <a:endParaRPr lang="en-US" dirty="0"/>
          </a:p>
        </p:txBody>
      </p:sp>
    </p:spTree>
    <p:extLst>
      <p:ext uri="{BB962C8B-B14F-4D97-AF65-F5344CB8AC3E}">
        <p14:creationId xmlns:p14="http://schemas.microsoft.com/office/powerpoint/2010/main" val="40466372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Theories and Models of Development </a:t>
            </a:r>
            <a:r>
              <a:rPr lang="en-US" sz="2800" dirty="0" smtClean="0"/>
              <a:t>(2 </a:t>
            </a:r>
            <a:r>
              <a:rPr lang="en-US" sz="2800" dirty="0"/>
              <a:t>of 5)</a:t>
            </a:r>
          </a:p>
        </p:txBody>
      </p:sp>
      <p:sp>
        <p:nvSpPr>
          <p:cNvPr id="3" name="Content Placeholder 2"/>
          <p:cNvSpPr>
            <a:spLocks noGrp="1"/>
          </p:cNvSpPr>
          <p:nvPr>
            <p:ph idx="1"/>
          </p:nvPr>
        </p:nvSpPr>
        <p:spPr/>
        <p:txBody>
          <a:bodyPr>
            <a:normAutofit fontScale="92500"/>
          </a:bodyPr>
          <a:lstStyle/>
          <a:p>
            <a:r>
              <a:rPr lang="en-US" dirty="0" smtClean="0"/>
              <a:t>Growth-Oriented Development</a:t>
            </a:r>
          </a:p>
          <a:p>
            <a:pPr lvl="1"/>
            <a:r>
              <a:rPr lang="en-US" dirty="0" smtClean="0"/>
              <a:t>Development </a:t>
            </a:r>
            <a:r>
              <a:rPr lang="en-US" dirty="0"/>
              <a:t>as “induced” change by applying modernization theory in so-called developing countries</a:t>
            </a:r>
          </a:p>
          <a:p>
            <a:pPr lvl="1"/>
            <a:r>
              <a:rPr lang="en-US" dirty="0"/>
              <a:t>Promoting economic growth includes two strategies</a:t>
            </a:r>
          </a:p>
          <a:p>
            <a:pPr lvl="2"/>
            <a:r>
              <a:rPr lang="en-US" dirty="0"/>
              <a:t>Increasing economic productivity and trade through modernized agriculture and manufacturing and participation in world markets</a:t>
            </a:r>
          </a:p>
          <a:p>
            <a:pPr lvl="2"/>
            <a:r>
              <a:rPr lang="en-US" dirty="0"/>
              <a:t>Reducing government expenditures on public services to reduce debt and reallocate resources to increase productivity</a:t>
            </a:r>
          </a:p>
          <a:p>
            <a:endParaRPr lang="en-US" dirty="0"/>
          </a:p>
        </p:txBody>
      </p:sp>
    </p:spTree>
    <p:extLst>
      <p:ext uri="{BB962C8B-B14F-4D97-AF65-F5344CB8AC3E}">
        <p14:creationId xmlns:p14="http://schemas.microsoft.com/office/powerpoint/2010/main" val="406962911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Theories and Models of Development </a:t>
            </a:r>
            <a:r>
              <a:rPr lang="en-US" sz="2800" dirty="0" smtClean="0"/>
              <a:t>(3 </a:t>
            </a:r>
            <a:r>
              <a:rPr lang="en-US" sz="2800" dirty="0"/>
              <a:t>of 5)</a:t>
            </a:r>
          </a:p>
        </p:txBody>
      </p:sp>
      <p:sp>
        <p:nvSpPr>
          <p:cNvPr id="3" name="Content Placeholder 2"/>
          <p:cNvSpPr>
            <a:spLocks noGrp="1"/>
          </p:cNvSpPr>
          <p:nvPr>
            <p:ph idx="1"/>
          </p:nvPr>
        </p:nvSpPr>
        <p:spPr/>
        <p:txBody>
          <a:bodyPr>
            <a:normAutofit lnSpcReduction="10000"/>
          </a:bodyPr>
          <a:lstStyle/>
          <a:p>
            <a:r>
              <a:rPr lang="en-US" dirty="0" smtClean="0"/>
              <a:t>Distributional Development</a:t>
            </a:r>
          </a:p>
          <a:p>
            <a:pPr lvl="1"/>
            <a:r>
              <a:rPr lang="en-US" dirty="0"/>
              <a:t>Emphasis on social equity in benefits, especially in terms of increased income, literacy, and health</a:t>
            </a:r>
          </a:p>
          <a:p>
            <a:pPr lvl="1"/>
            <a:r>
              <a:rPr lang="en-US" dirty="0"/>
              <a:t>Based on evidence that growth-oriented strategies, applied without concern for distribution, increase social inequality</a:t>
            </a:r>
          </a:p>
          <a:p>
            <a:pPr lvl="1"/>
            <a:r>
              <a:rPr lang="en-US" dirty="0"/>
              <a:t>Needs benevolent governments to ensure equitable access to crucial resources to enhance the ability of the poor to provide for their own needs</a:t>
            </a:r>
          </a:p>
          <a:p>
            <a:pPr lvl="1"/>
            <a:endParaRPr lang="en-US" dirty="0"/>
          </a:p>
        </p:txBody>
      </p:sp>
    </p:spTree>
    <p:extLst>
      <p:ext uri="{BB962C8B-B14F-4D97-AF65-F5344CB8AC3E}">
        <p14:creationId xmlns:p14="http://schemas.microsoft.com/office/powerpoint/2010/main" val="340539730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15.2 Kerala, South India</a:t>
            </a:r>
            <a:endParaRPr lang="en-US" dirty="0"/>
          </a:p>
        </p:txBody>
      </p:sp>
      <p:pic>
        <p:nvPicPr>
          <p:cNvPr id="4" name="Content Placeholder 3" descr="A map of Kerala shows its capital Thiruvananthapuram, the city of Kochi, and a small district (Mahe) that is part of the union territory of Pondicherry. Kerala is bordered by Tamil Nadu to the east and Karnataka to the northeast; to the west is the Lakshadweep Sea. An inset globe shows Kerala is in southern Ind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67410" y="1490775"/>
            <a:ext cx="4214390" cy="4757625"/>
          </a:xfrm>
        </p:spPr>
      </p:pic>
    </p:spTree>
    <p:extLst>
      <p:ext uri="{BB962C8B-B14F-4D97-AF65-F5344CB8AC3E}">
        <p14:creationId xmlns:p14="http://schemas.microsoft.com/office/powerpoint/2010/main" val="1147171701"/>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Theories and Models of Development </a:t>
            </a:r>
            <a:r>
              <a:rPr lang="en-US" sz="2800" dirty="0" smtClean="0"/>
              <a:t>(4 </a:t>
            </a:r>
            <a:r>
              <a:rPr lang="en-US" sz="2800" dirty="0"/>
              <a:t>of 5)</a:t>
            </a:r>
          </a:p>
        </p:txBody>
      </p:sp>
      <p:sp>
        <p:nvSpPr>
          <p:cNvPr id="3" name="Content Placeholder 2"/>
          <p:cNvSpPr>
            <a:spLocks noGrp="1"/>
          </p:cNvSpPr>
          <p:nvPr>
            <p:ph idx="1"/>
          </p:nvPr>
        </p:nvSpPr>
        <p:spPr/>
        <p:txBody>
          <a:bodyPr/>
          <a:lstStyle/>
          <a:p>
            <a:r>
              <a:rPr lang="en-US" dirty="0" smtClean="0"/>
              <a:t>Human Development</a:t>
            </a:r>
          </a:p>
          <a:p>
            <a:pPr lvl="1"/>
            <a:r>
              <a:rPr lang="en-US" dirty="0"/>
              <a:t>Emphasizes investing in human welfare, which will lead to economic development</a:t>
            </a:r>
          </a:p>
          <a:p>
            <a:pPr lvl="1"/>
            <a:r>
              <a:rPr lang="en-US" dirty="0" smtClean="0"/>
              <a:t>Economic </a:t>
            </a:r>
            <a:r>
              <a:rPr lang="en-US" dirty="0"/>
              <a:t>resources combined with distributive policies</a:t>
            </a:r>
          </a:p>
          <a:p>
            <a:pPr lvl="1"/>
            <a:endParaRPr lang="en-US" dirty="0"/>
          </a:p>
        </p:txBody>
      </p:sp>
    </p:spTree>
    <p:extLst>
      <p:ext uri="{BB962C8B-B14F-4D97-AF65-F5344CB8AC3E}">
        <p14:creationId xmlns:p14="http://schemas.microsoft.com/office/powerpoint/2010/main" val="298721105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Theories and Models of Development </a:t>
            </a:r>
            <a:r>
              <a:rPr lang="en-US" sz="2800" dirty="0" smtClean="0"/>
              <a:t>(5 </a:t>
            </a:r>
            <a:r>
              <a:rPr lang="en-US" sz="2800" dirty="0"/>
              <a:t>of 5)</a:t>
            </a:r>
          </a:p>
        </p:txBody>
      </p:sp>
      <p:sp>
        <p:nvSpPr>
          <p:cNvPr id="3" name="Content Placeholder 2"/>
          <p:cNvSpPr>
            <a:spLocks noGrp="1"/>
          </p:cNvSpPr>
          <p:nvPr>
            <p:ph idx="1"/>
          </p:nvPr>
        </p:nvSpPr>
        <p:spPr/>
        <p:txBody>
          <a:bodyPr>
            <a:normAutofit fontScale="92500"/>
          </a:bodyPr>
          <a:lstStyle/>
          <a:p>
            <a:r>
              <a:rPr lang="en-US" dirty="0" smtClean="0"/>
              <a:t>Sustainable Development</a:t>
            </a:r>
          </a:p>
          <a:p>
            <a:pPr lvl="1"/>
            <a:r>
              <a:rPr lang="en-US" dirty="0"/>
              <a:t>Forms of improvement that do not destroy nonrenewable resources</a:t>
            </a:r>
          </a:p>
          <a:p>
            <a:pPr lvl="1"/>
            <a:r>
              <a:rPr lang="en-US" dirty="0"/>
              <a:t>Financially supportable over time</a:t>
            </a:r>
          </a:p>
          <a:p>
            <a:pPr lvl="1"/>
            <a:r>
              <a:rPr lang="en-US" dirty="0"/>
              <a:t>The economic growth of wealthy countries has been costly in terms of the natural environment and people whose lives depend on fragile ecosystems</a:t>
            </a:r>
          </a:p>
          <a:p>
            <a:pPr lvl="1"/>
            <a:r>
              <a:rPr lang="en-US" dirty="0"/>
              <a:t>Today, increased concern globally about the environment is generating new ideas about energy generation</a:t>
            </a:r>
          </a:p>
          <a:p>
            <a:pPr lvl="1"/>
            <a:endParaRPr lang="en-US" dirty="0"/>
          </a:p>
        </p:txBody>
      </p:sp>
    </p:spTree>
    <p:extLst>
      <p:ext uri="{BB962C8B-B14F-4D97-AF65-F5344CB8AC3E}">
        <p14:creationId xmlns:p14="http://schemas.microsoft.com/office/powerpoint/2010/main" val="1118922839"/>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Institutional Approaches </a:t>
            </a:r>
            <a:br>
              <a:rPr lang="en-US" dirty="0" smtClean="0"/>
            </a:br>
            <a:r>
              <a:rPr lang="en-US" dirty="0" smtClean="0"/>
              <a:t>to Development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smtClean="0"/>
              <a:t>Large-Scale Development Institutions</a:t>
            </a:r>
          </a:p>
          <a:p>
            <a:pPr lvl="1"/>
            <a:r>
              <a:rPr lang="en-US" dirty="0" smtClean="0"/>
              <a:t>Multilateral (multiple donor countries)</a:t>
            </a:r>
          </a:p>
          <a:p>
            <a:pPr lvl="2"/>
            <a:r>
              <a:rPr lang="en-US" dirty="0" smtClean="0"/>
              <a:t>United Nations</a:t>
            </a:r>
          </a:p>
          <a:p>
            <a:pPr lvl="3"/>
            <a:r>
              <a:rPr lang="en-US" dirty="0" smtClean="0"/>
              <a:t>UNDP, FAO, WHO, UNICEF, UNESCO, UNHCR</a:t>
            </a:r>
          </a:p>
          <a:p>
            <a:pPr lvl="2"/>
            <a:r>
              <a:rPr lang="en-US" dirty="0" smtClean="0"/>
              <a:t>World Bank</a:t>
            </a:r>
          </a:p>
          <a:p>
            <a:pPr lvl="3"/>
            <a:r>
              <a:rPr lang="en-US" dirty="0" smtClean="0"/>
              <a:t>IBRD loans with interest to credit-worthy governments</a:t>
            </a:r>
          </a:p>
          <a:p>
            <a:pPr lvl="3"/>
            <a:r>
              <a:rPr lang="en-US" dirty="0" smtClean="0"/>
              <a:t>IDA interest-free loans to poorest countries</a:t>
            </a:r>
            <a:endParaRPr lang="en-US" dirty="0"/>
          </a:p>
          <a:p>
            <a:pPr lvl="1"/>
            <a:r>
              <a:rPr lang="en-US" dirty="0" smtClean="0"/>
              <a:t>Bilateral (one donor country)</a:t>
            </a:r>
          </a:p>
          <a:p>
            <a:pPr lvl="2"/>
            <a:r>
              <a:rPr lang="en-US" dirty="0" smtClean="0"/>
              <a:t>USAID, JICA, CIDA, DfID</a:t>
            </a:r>
            <a:r>
              <a:rPr lang="en-US" dirty="0"/>
              <a:t> </a:t>
            </a:r>
            <a:r>
              <a:rPr lang="en-US" dirty="0" smtClean="0"/>
              <a:t>. . .</a:t>
            </a:r>
          </a:p>
          <a:p>
            <a:pPr lvl="1"/>
            <a:endParaRPr lang="en-US" dirty="0"/>
          </a:p>
        </p:txBody>
      </p:sp>
    </p:spTree>
    <p:extLst>
      <p:ext uri="{BB962C8B-B14F-4D97-AF65-F5344CB8AC3E}">
        <p14:creationId xmlns:p14="http://schemas.microsoft.com/office/powerpoint/2010/main" val="406724984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Institutional Approaches </a:t>
            </a:r>
            <a:r>
              <a:rPr lang="en-US" dirty="0" smtClean="0"/>
              <a:t/>
            </a:r>
            <a:br>
              <a:rPr lang="en-US" dirty="0" smtClean="0"/>
            </a:br>
            <a:r>
              <a:rPr lang="en-US" dirty="0" smtClean="0"/>
              <a:t>to </a:t>
            </a:r>
            <a:r>
              <a:rPr lang="en-US" dirty="0"/>
              <a:t>Development </a:t>
            </a:r>
            <a:r>
              <a:rPr lang="en-US" sz="3100" dirty="0" smtClean="0"/>
              <a:t>(2 </a:t>
            </a:r>
            <a:r>
              <a:rPr lang="en-US" sz="3100" dirty="0"/>
              <a:t>of 2)</a:t>
            </a:r>
          </a:p>
        </p:txBody>
      </p:sp>
      <p:sp>
        <p:nvSpPr>
          <p:cNvPr id="3" name="Content Placeholder 2"/>
          <p:cNvSpPr>
            <a:spLocks noGrp="1"/>
          </p:cNvSpPr>
          <p:nvPr>
            <p:ph idx="1"/>
          </p:nvPr>
        </p:nvSpPr>
        <p:spPr/>
        <p:txBody>
          <a:bodyPr/>
          <a:lstStyle/>
          <a:p>
            <a:r>
              <a:rPr lang="en-US" dirty="0" smtClean="0"/>
              <a:t>Grassroots Approaches</a:t>
            </a:r>
          </a:p>
          <a:p>
            <a:pPr lvl="1"/>
            <a:r>
              <a:rPr lang="en-US" dirty="0" smtClean="0"/>
              <a:t>Locally initiated small-scale projects</a:t>
            </a:r>
          </a:p>
          <a:p>
            <a:pPr lvl="1"/>
            <a:r>
              <a:rPr lang="en-US" dirty="0" smtClean="0"/>
              <a:t>Social capital</a:t>
            </a:r>
          </a:p>
          <a:p>
            <a:pPr lvl="2"/>
            <a:r>
              <a:rPr lang="en-US" dirty="0" smtClean="0"/>
              <a:t>The </a:t>
            </a:r>
            <a:r>
              <a:rPr lang="en-US" dirty="0"/>
              <a:t>intangible resources existing in social </a:t>
            </a:r>
            <a:r>
              <a:rPr lang="en-US" dirty="0" smtClean="0"/>
              <a:t>ties, trust</a:t>
            </a:r>
            <a:r>
              <a:rPr lang="en-US" dirty="0"/>
              <a:t>, and </a:t>
            </a:r>
            <a:r>
              <a:rPr lang="en-US" dirty="0" smtClean="0"/>
              <a:t>cooperation</a:t>
            </a:r>
          </a:p>
          <a:p>
            <a:pPr lvl="1"/>
            <a:r>
              <a:rPr lang="en-US" dirty="0" smtClean="0"/>
              <a:t>Religious organizations sponsor a variety of grassroots projects</a:t>
            </a:r>
          </a:p>
          <a:p>
            <a:pPr lvl="2"/>
            <a:r>
              <a:rPr lang="en-US" dirty="0" smtClean="0"/>
              <a:t>Example: BEC in the Philippines</a:t>
            </a:r>
            <a:endParaRPr lang="en-US" dirty="0"/>
          </a:p>
        </p:txBody>
      </p:sp>
    </p:spTree>
    <p:extLst>
      <p:ext uri="{BB962C8B-B14F-4D97-AF65-F5344CB8AC3E}">
        <p14:creationId xmlns:p14="http://schemas.microsoft.com/office/powerpoint/2010/main" val="121455380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Culturama: </a:t>
            </a:r>
            <a:r>
              <a:rPr lang="en-US" sz="3600" dirty="0" smtClean="0"/>
              <a:t>Peyizan </a:t>
            </a:r>
            <a:r>
              <a:rPr lang="en-US" sz="3600" dirty="0"/>
              <a:t>Yo of </a:t>
            </a:r>
            <a:r>
              <a:rPr lang="en-US" sz="3600" dirty="0" smtClean="0"/>
              <a:t>Haiti </a:t>
            </a:r>
            <a:r>
              <a:rPr lang="en-US" sz="2800" dirty="0" smtClean="0"/>
              <a:t>(1 of 2)</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smtClean="0"/>
              <a:t>Haiti</a:t>
            </a:r>
          </a:p>
          <a:p>
            <a:pPr lvl="1"/>
            <a:r>
              <a:rPr lang="en-US" dirty="0" smtClean="0"/>
              <a:t>Became first independent state in Latin America in 1804 after a revolt against </a:t>
            </a:r>
            <a:r>
              <a:rPr lang="en-US" dirty="0" smtClean="0"/>
              <a:t>France, </a:t>
            </a:r>
            <a:r>
              <a:rPr lang="en-US" dirty="0" smtClean="0"/>
              <a:t>and the first to abolish slavery in the Western Hemisphere </a:t>
            </a:r>
          </a:p>
          <a:p>
            <a:pPr lvl="1"/>
            <a:r>
              <a:rPr lang="en-US" dirty="0" smtClean="0"/>
              <a:t>Legacy of colonialism has degraded environment and the economy</a:t>
            </a:r>
          </a:p>
          <a:p>
            <a:r>
              <a:rPr lang="en-US" dirty="0" smtClean="0"/>
              <a:t>Peyizan Yo</a:t>
            </a:r>
          </a:p>
          <a:p>
            <a:pPr lvl="1"/>
            <a:r>
              <a:rPr lang="en-US" dirty="0" smtClean="0"/>
              <a:t>Small </a:t>
            </a:r>
            <a:r>
              <a:rPr lang="en-US" dirty="0"/>
              <a:t>farmers in Haiti who produce for their own use and for the market </a:t>
            </a:r>
          </a:p>
          <a:p>
            <a:pPr lvl="1"/>
            <a:r>
              <a:rPr lang="en-US" dirty="0" smtClean="0"/>
              <a:t>Active </a:t>
            </a:r>
            <a:r>
              <a:rPr lang="en-US" dirty="0"/>
              <a:t>social </a:t>
            </a:r>
            <a:r>
              <a:rPr lang="en-US" dirty="0" smtClean="0"/>
              <a:t>organizations promote economic security</a:t>
            </a:r>
            <a:endParaRPr lang="en-US" dirty="0"/>
          </a:p>
        </p:txBody>
      </p:sp>
    </p:spTree>
    <p:extLst>
      <p:ext uri="{BB962C8B-B14F-4D97-AF65-F5344CB8AC3E}">
        <p14:creationId xmlns:p14="http://schemas.microsoft.com/office/powerpoint/2010/main" val="30113986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Culturama: </a:t>
            </a:r>
            <a:r>
              <a:rPr lang="en-US" sz="3600" dirty="0" smtClean="0"/>
              <a:t>Peyizan </a:t>
            </a:r>
            <a:r>
              <a:rPr lang="en-US" sz="3600" dirty="0"/>
              <a:t>Yo of Haiti </a:t>
            </a:r>
            <a:r>
              <a:rPr lang="en-US" sz="2800" dirty="0" smtClean="0"/>
              <a:t>(2 </a:t>
            </a:r>
            <a:r>
              <a:rPr lang="en-US" sz="2800" dirty="0"/>
              <a:t>of 2)</a:t>
            </a:r>
          </a:p>
        </p:txBody>
      </p:sp>
      <p:pic>
        <p:nvPicPr>
          <p:cNvPr id="4" name="Content Placeholder 3" descr="A photo shows the Haitian savings and loan business being run by two women with papers spread out on an outdoor picnic tabl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451554" y="1600200"/>
            <a:ext cx="6240891" cy="4525963"/>
          </a:xfrm>
        </p:spPr>
      </p:pic>
    </p:spTree>
    <p:extLst>
      <p:ext uri="{BB962C8B-B14F-4D97-AF65-F5344CB8AC3E}">
        <p14:creationId xmlns:p14="http://schemas.microsoft.com/office/powerpoint/2010/main" val="460105919"/>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15.3 Haiti</a:t>
            </a:r>
            <a:endParaRPr lang="en-US" dirty="0"/>
          </a:p>
        </p:txBody>
      </p:sp>
      <p:pic>
        <p:nvPicPr>
          <p:cNvPr id="4" name="Content Placeholder 3" descr="A map shows Haiti and its capital Port-Au-Prince. Haiti shares an island with Dominican Republic to the east, whose capital is Santo Domingo. An inset globe shows the area is in the Caribbean Se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95600" y="1447800"/>
            <a:ext cx="3510812" cy="4723452"/>
          </a:xfrm>
        </p:spPr>
      </p:pic>
    </p:spTree>
    <p:extLst>
      <p:ext uri="{BB962C8B-B14F-4D97-AF65-F5344CB8AC3E}">
        <p14:creationId xmlns:p14="http://schemas.microsoft.com/office/powerpoint/2010/main" val="3823819051"/>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Development Project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smtClean="0"/>
              <a:t>Development project</a:t>
            </a:r>
          </a:p>
          <a:p>
            <a:pPr lvl="1"/>
            <a:r>
              <a:rPr lang="en-US" dirty="0" smtClean="0"/>
              <a:t>A </a:t>
            </a:r>
            <a:r>
              <a:rPr lang="en-US" dirty="0"/>
              <a:t>set of activities designed to put </a:t>
            </a:r>
            <a:r>
              <a:rPr lang="en-US" dirty="0" smtClean="0"/>
              <a:t>development policies </a:t>
            </a:r>
            <a:r>
              <a:rPr lang="en-US" dirty="0"/>
              <a:t>into </a:t>
            </a:r>
            <a:r>
              <a:rPr lang="en-US" dirty="0" smtClean="0"/>
              <a:t>action</a:t>
            </a:r>
          </a:p>
          <a:p>
            <a:pPr lvl="1"/>
            <a:r>
              <a:rPr lang="en-US" dirty="0" smtClean="0"/>
              <a:t>Development project </a:t>
            </a:r>
            <a:r>
              <a:rPr lang="en-US" dirty="0"/>
              <a:t>c</a:t>
            </a:r>
            <a:r>
              <a:rPr lang="en-US" dirty="0" smtClean="0"/>
              <a:t>ycle</a:t>
            </a:r>
          </a:p>
          <a:p>
            <a:pPr lvl="2"/>
            <a:r>
              <a:rPr lang="en-US" dirty="0" smtClean="0"/>
              <a:t>Project </a:t>
            </a:r>
            <a:r>
              <a:rPr lang="en-US" dirty="0"/>
              <a:t>i</a:t>
            </a:r>
            <a:r>
              <a:rPr lang="en-US" dirty="0" smtClean="0"/>
              <a:t>dentification</a:t>
            </a:r>
          </a:p>
          <a:p>
            <a:pPr lvl="2"/>
            <a:r>
              <a:rPr lang="en-US" dirty="0" smtClean="0"/>
              <a:t>Project design</a:t>
            </a:r>
          </a:p>
          <a:p>
            <a:pPr lvl="2"/>
            <a:r>
              <a:rPr lang="en-US" dirty="0" smtClean="0"/>
              <a:t>Project appraisal</a:t>
            </a:r>
          </a:p>
          <a:p>
            <a:pPr lvl="2"/>
            <a:r>
              <a:rPr lang="en-US" dirty="0" smtClean="0"/>
              <a:t>Project implementation</a:t>
            </a:r>
          </a:p>
          <a:p>
            <a:pPr lvl="2"/>
            <a:r>
              <a:rPr lang="en-US" dirty="0" smtClean="0"/>
              <a:t>Project evaluation</a:t>
            </a:r>
          </a:p>
        </p:txBody>
      </p:sp>
    </p:spTree>
    <p:extLst>
      <p:ext uri="{BB962C8B-B14F-4D97-AF65-F5344CB8AC3E}">
        <p14:creationId xmlns:p14="http://schemas.microsoft.com/office/powerpoint/2010/main" val="21251691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Project </a:t>
            </a:r>
            <a:r>
              <a:rPr lang="en-US" sz="2800" dirty="0" smtClean="0"/>
              <a:t>(2 </a:t>
            </a:r>
            <a:r>
              <a:rPr lang="en-US" sz="2800" dirty="0"/>
              <a:t>of 4)</a:t>
            </a:r>
          </a:p>
        </p:txBody>
      </p:sp>
      <p:sp>
        <p:nvSpPr>
          <p:cNvPr id="3" name="Content Placeholder 2"/>
          <p:cNvSpPr>
            <a:spLocks noGrp="1"/>
          </p:cNvSpPr>
          <p:nvPr>
            <p:ph idx="1"/>
          </p:nvPr>
        </p:nvSpPr>
        <p:spPr/>
        <p:txBody>
          <a:bodyPr/>
          <a:lstStyle/>
          <a:p>
            <a:r>
              <a:rPr lang="en-US" dirty="0" smtClean="0"/>
              <a:t>Anthropologists and development projects</a:t>
            </a:r>
          </a:p>
          <a:p>
            <a:pPr lvl="1"/>
            <a:r>
              <a:rPr lang="en-US" dirty="0" smtClean="0"/>
              <a:t>When hired only to evaluate projects, they found failure was common because: </a:t>
            </a:r>
          </a:p>
          <a:p>
            <a:pPr lvl="2"/>
            <a:r>
              <a:rPr lang="en-US" dirty="0" smtClean="0"/>
              <a:t>Project did not fit context</a:t>
            </a:r>
          </a:p>
          <a:p>
            <a:pPr lvl="2"/>
            <a:r>
              <a:rPr lang="en-US" dirty="0" smtClean="0"/>
              <a:t>Benefits did not reach target group</a:t>
            </a:r>
          </a:p>
          <a:p>
            <a:pPr lvl="2"/>
            <a:r>
              <a:rPr lang="en-US" dirty="0" smtClean="0"/>
              <a:t>The intended beneficiaries were worse off than before</a:t>
            </a:r>
          </a:p>
        </p:txBody>
      </p:sp>
    </p:spTree>
    <p:extLst>
      <p:ext uri="{BB962C8B-B14F-4D97-AF65-F5344CB8AC3E}">
        <p14:creationId xmlns:p14="http://schemas.microsoft.com/office/powerpoint/2010/main" val="295530607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Project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Cultural Fit</a:t>
            </a:r>
          </a:p>
          <a:p>
            <a:pPr lvl="1"/>
            <a:r>
              <a:rPr lang="en-US" dirty="0" smtClean="0"/>
              <a:t>A </a:t>
            </a:r>
            <a:r>
              <a:rPr lang="en-US" dirty="0"/>
              <a:t>characteristic of informed and effective </a:t>
            </a:r>
            <a:r>
              <a:rPr lang="en-US" dirty="0" smtClean="0"/>
              <a:t>project design </a:t>
            </a:r>
            <a:r>
              <a:rPr lang="en-US" dirty="0"/>
              <a:t>in which planners take local culture into </a:t>
            </a:r>
            <a:r>
              <a:rPr lang="en-US" dirty="0" smtClean="0"/>
              <a:t>account</a:t>
            </a:r>
          </a:p>
          <a:p>
            <a:pPr lvl="2"/>
            <a:r>
              <a:rPr lang="en-US" dirty="0" smtClean="0"/>
              <a:t>Example of failure: nutrition program in the South Pacific delivered powdered milk to the lactose intolerant</a:t>
            </a:r>
          </a:p>
          <a:p>
            <a:pPr lvl="2"/>
            <a:r>
              <a:rPr lang="en-US" dirty="0" smtClean="0"/>
              <a:t>Example of success: short-term reforestation in Haiti</a:t>
            </a:r>
          </a:p>
          <a:p>
            <a:pPr lvl="1"/>
            <a:endParaRPr lang="en-US" dirty="0"/>
          </a:p>
        </p:txBody>
      </p:sp>
    </p:spTree>
    <p:extLst>
      <p:ext uri="{BB962C8B-B14F-4D97-AF65-F5344CB8AC3E}">
        <p14:creationId xmlns:p14="http://schemas.microsoft.com/office/powerpoint/2010/main" val="58720954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Project </a:t>
            </a:r>
            <a:r>
              <a:rPr lang="en-US" sz="2800" dirty="0" smtClean="0"/>
              <a:t>(4 </a:t>
            </a:r>
            <a:r>
              <a:rPr lang="en-US" sz="2800" dirty="0"/>
              <a:t>of 4)</a:t>
            </a:r>
          </a:p>
        </p:txBody>
      </p:sp>
      <p:sp>
        <p:nvSpPr>
          <p:cNvPr id="3" name="Content Placeholder 2"/>
          <p:cNvSpPr>
            <a:spLocks noGrp="1"/>
          </p:cNvSpPr>
          <p:nvPr>
            <p:ph idx="1"/>
          </p:nvPr>
        </p:nvSpPr>
        <p:spPr/>
        <p:txBody>
          <a:bodyPr>
            <a:normAutofit/>
          </a:bodyPr>
          <a:lstStyle/>
          <a:p>
            <a:r>
              <a:rPr lang="en-US" dirty="0" smtClean="0"/>
              <a:t>The Anthropological Critique of Development Projects</a:t>
            </a:r>
          </a:p>
          <a:p>
            <a:pPr lvl="1"/>
            <a:r>
              <a:rPr lang="en-US" dirty="0" smtClean="0"/>
              <a:t>Traditional development anthropology</a:t>
            </a:r>
          </a:p>
          <a:p>
            <a:pPr lvl="2"/>
            <a:r>
              <a:rPr lang="en-US" dirty="0" smtClean="0"/>
              <a:t>The anthropologist accepts the </a:t>
            </a:r>
            <a:r>
              <a:rPr lang="en-US" dirty="0"/>
              <a:t>role of helping to make development work </a:t>
            </a:r>
            <a:r>
              <a:rPr lang="en-US" dirty="0" smtClean="0"/>
              <a:t>better by </a:t>
            </a:r>
            <a:r>
              <a:rPr lang="en-US" dirty="0"/>
              <a:t>providing cultural information to </a:t>
            </a:r>
            <a:r>
              <a:rPr lang="en-US" dirty="0" smtClean="0"/>
              <a:t>planners</a:t>
            </a:r>
          </a:p>
          <a:p>
            <a:pPr lvl="1"/>
            <a:r>
              <a:rPr lang="en-US" dirty="0" smtClean="0"/>
              <a:t>Critical development anthropology </a:t>
            </a:r>
            <a:endParaRPr lang="en-US" dirty="0"/>
          </a:p>
          <a:p>
            <a:pPr lvl="2"/>
            <a:r>
              <a:rPr lang="en-US" dirty="0"/>
              <a:t>T</a:t>
            </a:r>
            <a:r>
              <a:rPr lang="en-US" dirty="0" smtClean="0"/>
              <a:t>he </a:t>
            </a:r>
            <a:r>
              <a:rPr lang="en-US" dirty="0"/>
              <a:t>anthropologist </a:t>
            </a:r>
            <a:r>
              <a:rPr lang="en-US" dirty="0" smtClean="0"/>
              <a:t>asks </a:t>
            </a:r>
            <a:r>
              <a:rPr lang="en-US" dirty="0"/>
              <a:t>why and to whose benefit </a:t>
            </a:r>
            <a:r>
              <a:rPr lang="en-US" dirty="0" smtClean="0"/>
              <a:t>particular policies </a:t>
            </a:r>
            <a:r>
              <a:rPr lang="en-US" dirty="0"/>
              <a:t>and programs are </a:t>
            </a:r>
            <a:r>
              <a:rPr lang="en-US" dirty="0" smtClean="0"/>
              <a:t>pursued</a:t>
            </a:r>
            <a:endParaRPr lang="en-US" dirty="0"/>
          </a:p>
        </p:txBody>
      </p:sp>
    </p:spTree>
    <p:extLst>
      <p:ext uri="{BB962C8B-B14F-4D97-AF65-F5344CB8AC3E}">
        <p14:creationId xmlns:p14="http://schemas.microsoft.com/office/powerpoint/2010/main" val="3217394886"/>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Development, Indigenous People, and Women</a:t>
            </a:r>
            <a:r>
              <a:rPr lang="en-US" sz="2800" dirty="0" smtClean="0"/>
              <a:t/>
            </a:r>
            <a:br>
              <a:rPr lang="en-US" sz="2800" dirty="0" smtClean="0"/>
            </a:br>
            <a:r>
              <a:rPr lang="en-US" sz="1800" dirty="0" smtClean="0"/>
              <a:t>15.2 Summarize how indigenous peoples and women are redefining development.</a:t>
            </a:r>
            <a:endParaRPr lang="en-US" sz="1800" dirty="0"/>
          </a:p>
        </p:txBody>
      </p:sp>
      <p:sp>
        <p:nvSpPr>
          <p:cNvPr id="3" name="Content Placeholder 2"/>
          <p:cNvSpPr>
            <a:spLocks noGrp="1"/>
          </p:cNvSpPr>
          <p:nvPr>
            <p:ph idx="1"/>
          </p:nvPr>
        </p:nvSpPr>
        <p:spPr/>
        <p:txBody>
          <a:bodyPr/>
          <a:lstStyle/>
          <a:p>
            <a:endParaRPr lang="en-US" dirty="0" smtClean="0"/>
          </a:p>
          <a:p>
            <a:r>
              <a:rPr lang="en-US" dirty="0" smtClean="0"/>
              <a:t>Indigenous People and Development</a:t>
            </a:r>
          </a:p>
          <a:p>
            <a:endParaRPr lang="en-US" dirty="0" smtClean="0"/>
          </a:p>
          <a:p>
            <a:r>
              <a:rPr lang="en-US" dirty="0" smtClean="0"/>
              <a:t>Women and Development</a:t>
            </a:r>
            <a:endParaRPr lang="en-US" dirty="0"/>
          </a:p>
        </p:txBody>
      </p:sp>
    </p:spTree>
    <p:extLst>
      <p:ext uri="{BB962C8B-B14F-4D97-AF65-F5344CB8AC3E}">
        <p14:creationId xmlns:p14="http://schemas.microsoft.com/office/powerpoint/2010/main" val="3683880088"/>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Indigenous People and Development </a:t>
            </a:r>
            <a:r>
              <a:rPr lang="en-US" sz="2800" dirty="0" smtClean="0"/>
              <a:t>(1 of 4)</a:t>
            </a:r>
            <a:endParaRPr lang="en-US" sz="2800" dirty="0"/>
          </a:p>
        </p:txBody>
      </p:sp>
      <p:sp>
        <p:nvSpPr>
          <p:cNvPr id="3" name="Content Placeholder 2"/>
          <p:cNvSpPr>
            <a:spLocks noGrp="1"/>
          </p:cNvSpPr>
          <p:nvPr>
            <p:ph idx="1"/>
          </p:nvPr>
        </p:nvSpPr>
        <p:spPr/>
        <p:txBody>
          <a:bodyPr>
            <a:normAutofit/>
          </a:bodyPr>
          <a:lstStyle/>
          <a:p>
            <a:r>
              <a:rPr lang="en-US" dirty="0" smtClean="0"/>
              <a:t>Indigenous populations increasingly under threat from extractive industries, political repression, tourism</a:t>
            </a:r>
          </a:p>
          <a:p>
            <a:r>
              <a:rPr lang="en-US" dirty="0" smtClean="0"/>
              <a:t>Accurate numbers of indigenous people difficult to obtain; roughly 400 million             (5 percent of global population)</a:t>
            </a:r>
            <a:endParaRPr lang="en-US" dirty="0"/>
          </a:p>
          <a:p>
            <a:endParaRPr lang="en-US" dirty="0"/>
          </a:p>
        </p:txBody>
      </p:sp>
    </p:spTree>
    <p:extLst>
      <p:ext uri="{BB962C8B-B14F-4D97-AF65-F5344CB8AC3E}">
        <p14:creationId xmlns:p14="http://schemas.microsoft.com/office/powerpoint/2010/main" val="332074548"/>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Indigenous People and Development </a:t>
            </a:r>
            <a:r>
              <a:rPr lang="en-US" sz="2800" dirty="0" smtClean="0"/>
              <a:t>(2 </a:t>
            </a:r>
            <a:r>
              <a:rPr lang="en-US" sz="2800" dirty="0"/>
              <a:t>of 4)</a:t>
            </a:r>
          </a:p>
        </p:txBody>
      </p:sp>
      <p:sp>
        <p:nvSpPr>
          <p:cNvPr id="3" name="Content Placeholder 2"/>
          <p:cNvSpPr>
            <a:spLocks noGrp="1"/>
          </p:cNvSpPr>
          <p:nvPr>
            <p:ph idx="1"/>
          </p:nvPr>
        </p:nvSpPr>
        <p:spPr/>
        <p:txBody>
          <a:bodyPr/>
          <a:lstStyle/>
          <a:p>
            <a:r>
              <a:rPr lang="en-US" dirty="0"/>
              <a:t>Indigenous People as Victims of </a:t>
            </a:r>
            <a:r>
              <a:rPr lang="en-US" dirty="0" smtClean="0"/>
              <a:t>Colonialism and Development</a:t>
            </a:r>
          </a:p>
          <a:p>
            <a:pPr lvl="1"/>
            <a:r>
              <a:rPr lang="en-US" dirty="0"/>
              <a:t>Indigenous people have been subjected to loss of rights, land, and culture they once </a:t>
            </a:r>
            <a:r>
              <a:rPr lang="en-US" dirty="0" smtClean="0"/>
              <a:t>had</a:t>
            </a:r>
          </a:p>
          <a:p>
            <a:pPr lvl="2"/>
            <a:r>
              <a:rPr lang="en-US" dirty="0" smtClean="0"/>
              <a:t>Historically</a:t>
            </a:r>
          </a:p>
          <a:p>
            <a:pPr lvl="3"/>
            <a:r>
              <a:rPr lang="en-US" dirty="0"/>
              <a:t>T</a:t>
            </a:r>
            <a:r>
              <a:rPr lang="en-US" dirty="0" smtClean="0"/>
              <a:t>he result of colonial takeovers</a:t>
            </a:r>
          </a:p>
          <a:p>
            <a:pPr lvl="2"/>
            <a:r>
              <a:rPr lang="en-US" dirty="0" smtClean="0"/>
              <a:t>In contemporary times</a:t>
            </a:r>
          </a:p>
          <a:p>
            <a:pPr lvl="3"/>
            <a:r>
              <a:rPr lang="en-US" dirty="0" smtClean="0"/>
              <a:t>Example: “planned resettlement” of “hill tribes” in Southeast Asia</a:t>
            </a:r>
            <a:endParaRPr lang="en-US" dirty="0"/>
          </a:p>
        </p:txBody>
      </p:sp>
    </p:spTree>
    <p:extLst>
      <p:ext uri="{BB962C8B-B14F-4D97-AF65-F5344CB8AC3E}">
        <p14:creationId xmlns:p14="http://schemas.microsoft.com/office/powerpoint/2010/main" val="3800980249"/>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Indigenous People and Development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Indigenous </a:t>
            </a:r>
            <a:r>
              <a:rPr lang="en-US" dirty="0"/>
              <a:t>People and Territorial </a:t>
            </a:r>
            <a:r>
              <a:rPr lang="en-US" dirty="0" smtClean="0"/>
              <a:t>Entitlements</a:t>
            </a:r>
          </a:p>
          <a:p>
            <a:pPr lvl="1"/>
            <a:r>
              <a:rPr lang="en-US" dirty="0" smtClean="0"/>
              <a:t>Mixed results across geographic regions</a:t>
            </a:r>
          </a:p>
          <a:p>
            <a:pPr lvl="1"/>
            <a:r>
              <a:rPr lang="en-US" dirty="0" smtClean="0"/>
              <a:t>Two examples of success</a:t>
            </a:r>
          </a:p>
          <a:p>
            <a:pPr lvl="2"/>
            <a:r>
              <a:rPr lang="en-US" dirty="0" smtClean="0"/>
              <a:t>Nunavut Territory, Canada</a:t>
            </a:r>
          </a:p>
          <a:p>
            <a:pPr lvl="2"/>
            <a:r>
              <a:rPr lang="en-US" dirty="0" smtClean="0"/>
              <a:t>Torres Strait Islands, Australia</a:t>
            </a:r>
            <a:endParaRPr lang="en-US" dirty="0"/>
          </a:p>
        </p:txBody>
      </p:sp>
    </p:spTree>
    <p:extLst>
      <p:ext uri="{BB962C8B-B14F-4D97-AF65-F5344CB8AC3E}">
        <p14:creationId xmlns:p14="http://schemas.microsoft.com/office/powerpoint/2010/main" val="428924451"/>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Map 15.5 Nunavut Territory, Canada</a:t>
            </a:r>
            <a:endParaRPr lang="en-US" dirty="0"/>
          </a:p>
        </p:txBody>
      </p:sp>
      <p:pic>
        <p:nvPicPr>
          <p:cNvPr id="4" name="Content Placeholder 3" descr="A map of Nunavut shows its capital Iqaluit on Baffin Island, and the villages of Igloolik, Resolute, and, on Ellesmere Island, Alert. Nunavut is bordered by Canada’s Northwest Territories to the west and Manitoba to the south. To the east across the Hudson Bay is Quebec and to the north across the Baffin Bay is Kalaallit Nunaat (Greenland) (Denmark). An inset globe shows the area is in far northern Nor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87189" y="1515684"/>
            <a:ext cx="3742211" cy="4808916"/>
          </a:xfrm>
        </p:spPr>
      </p:pic>
    </p:spTree>
    <p:extLst>
      <p:ext uri="{BB962C8B-B14F-4D97-AF65-F5344CB8AC3E}">
        <p14:creationId xmlns:p14="http://schemas.microsoft.com/office/powerpoint/2010/main" val="3637100153"/>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Indigenous People and Development </a:t>
            </a:r>
            <a:r>
              <a:rPr lang="en-US" sz="2800" dirty="0" smtClean="0"/>
              <a:t>(4 </a:t>
            </a:r>
            <a:r>
              <a:rPr lang="en-US" sz="2800" dirty="0"/>
              <a:t>of 4)</a:t>
            </a:r>
          </a:p>
        </p:txBody>
      </p:sp>
      <p:sp>
        <p:nvSpPr>
          <p:cNvPr id="3" name="Content Placeholder 2"/>
          <p:cNvSpPr>
            <a:spLocks noGrp="1"/>
          </p:cNvSpPr>
          <p:nvPr>
            <p:ph idx="1"/>
          </p:nvPr>
        </p:nvSpPr>
        <p:spPr/>
        <p:txBody>
          <a:bodyPr/>
          <a:lstStyle/>
          <a:p>
            <a:r>
              <a:rPr lang="en-US" dirty="0" smtClean="0"/>
              <a:t>Organizing for Change</a:t>
            </a:r>
          </a:p>
          <a:p>
            <a:pPr lvl="1"/>
            <a:r>
              <a:rPr lang="en-US" dirty="0" smtClean="0"/>
              <a:t>Indigenous peoples have formed grassroots organizations “development from within”</a:t>
            </a:r>
          </a:p>
          <a:p>
            <a:pPr lvl="1"/>
            <a:r>
              <a:rPr lang="en-US" dirty="0" smtClean="0"/>
              <a:t>Example: Hundee of Ethiopia</a:t>
            </a:r>
            <a:endParaRPr lang="en-US" dirty="0"/>
          </a:p>
          <a:p>
            <a:pPr lvl="2"/>
            <a:r>
              <a:rPr lang="en-US" dirty="0" smtClean="0"/>
              <a:t>Includes elements of Western development combined with Oromo values and traditional laws</a:t>
            </a:r>
            <a:endParaRPr lang="en-US" dirty="0"/>
          </a:p>
        </p:txBody>
      </p:sp>
    </p:spTree>
    <p:extLst>
      <p:ext uri="{BB962C8B-B14F-4D97-AF65-F5344CB8AC3E}">
        <p14:creationId xmlns:p14="http://schemas.microsoft.com/office/powerpoint/2010/main" val="1715284573"/>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Women and Development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smtClean="0"/>
              <a:t>Male Bias in Development</a:t>
            </a:r>
          </a:p>
          <a:p>
            <a:pPr lvl="1"/>
            <a:r>
              <a:rPr lang="en-US" dirty="0" smtClean="0"/>
              <a:t>The </a:t>
            </a:r>
            <a:r>
              <a:rPr lang="en-US" dirty="0"/>
              <a:t>design and implementation </a:t>
            </a:r>
            <a:r>
              <a:rPr lang="en-US" dirty="0" smtClean="0"/>
              <a:t>of development projects </a:t>
            </a:r>
            <a:r>
              <a:rPr lang="en-US" dirty="0"/>
              <a:t>with men as beneficiaries and </a:t>
            </a:r>
            <a:r>
              <a:rPr lang="en-US" dirty="0" smtClean="0"/>
              <a:t>without regard to </a:t>
            </a:r>
            <a:r>
              <a:rPr lang="en-US" dirty="0"/>
              <a:t>the impact of the projects on women’s roles and </a:t>
            </a:r>
            <a:r>
              <a:rPr lang="en-US" dirty="0" smtClean="0"/>
              <a:t>status</a:t>
            </a:r>
          </a:p>
          <a:p>
            <a:pPr lvl="1"/>
            <a:r>
              <a:rPr lang="en-US" dirty="0" smtClean="0"/>
              <a:t>Project planners tend to regard men as the farmers and users of technology</a:t>
            </a:r>
          </a:p>
          <a:p>
            <a:pPr lvl="1"/>
            <a:r>
              <a:rPr lang="en-US" dirty="0" smtClean="0"/>
              <a:t>Projects targeted at women often focus on the domestic domain: child care, family planning</a:t>
            </a:r>
          </a:p>
        </p:txBody>
      </p:sp>
    </p:spTree>
    <p:extLst>
      <p:ext uri="{BB962C8B-B14F-4D97-AF65-F5344CB8AC3E}">
        <p14:creationId xmlns:p14="http://schemas.microsoft.com/office/powerpoint/2010/main" val="4214882574"/>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Women and Development </a:t>
            </a:r>
            <a:r>
              <a:rPr lang="en-US" sz="2800" dirty="0" smtClean="0"/>
              <a:t>(2 </a:t>
            </a:r>
            <a:r>
              <a:rPr lang="en-US" sz="2800" dirty="0"/>
              <a:t>of 2)</a:t>
            </a:r>
          </a:p>
        </p:txBody>
      </p:sp>
      <p:sp>
        <p:nvSpPr>
          <p:cNvPr id="3" name="Content Placeholder 2"/>
          <p:cNvSpPr>
            <a:spLocks noGrp="1"/>
          </p:cNvSpPr>
          <p:nvPr>
            <p:ph idx="1"/>
          </p:nvPr>
        </p:nvSpPr>
        <p:spPr/>
        <p:txBody>
          <a:bodyPr/>
          <a:lstStyle/>
          <a:p>
            <a:r>
              <a:rPr lang="en-US" dirty="0" smtClean="0"/>
              <a:t>Women’s Organizations for Change</a:t>
            </a:r>
          </a:p>
          <a:p>
            <a:pPr lvl="1"/>
            <a:r>
              <a:rPr lang="en-US" dirty="0" smtClean="0"/>
              <a:t>Women’s advocacy organizations include groups:</a:t>
            </a:r>
          </a:p>
          <a:p>
            <a:pPr lvl="2"/>
            <a:r>
              <a:rPr lang="en-US" dirty="0"/>
              <a:t>B</a:t>
            </a:r>
            <a:r>
              <a:rPr lang="en-US" dirty="0" smtClean="0"/>
              <a:t>ased on traditional culture</a:t>
            </a:r>
          </a:p>
          <a:p>
            <a:pPr lvl="3"/>
            <a:r>
              <a:rPr lang="en-US" dirty="0" smtClean="0"/>
              <a:t>Example: SMW in Kazakhstan</a:t>
            </a:r>
          </a:p>
          <a:p>
            <a:pPr lvl="2"/>
            <a:r>
              <a:rPr lang="en-US" dirty="0" smtClean="0"/>
              <a:t>Inspired by outside models</a:t>
            </a:r>
          </a:p>
          <a:p>
            <a:pPr lvl="2"/>
            <a:r>
              <a:rPr lang="en-US" dirty="0" smtClean="0"/>
              <a:t>Small-scale and local</a:t>
            </a:r>
          </a:p>
          <a:p>
            <a:pPr lvl="2"/>
            <a:r>
              <a:rPr lang="en-US" dirty="0" smtClean="0"/>
              <a:t>Global</a:t>
            </a:r>
          </a:p>
          <a:p>
            <a:pPr lvl="3"/>
            <a:r>
              <a:rPr lang="en-US" dirty="0" smtClean="0"/>
              <a:t>Example: Women’s World Banking</a:t>
            </a:r>
          </a:p>
          <a:p>
            <a:pPr lvl="2"/>
            <a:r>
              <a:rPr lang="en-US" dirty="0" smtClean="0"/>
              <a:t>Based on informal support networks</a:t>
            </a:r>
          </a:p>
          <a:p>
            <a:pPr lvl="3"/>
            <a:r>
              <a:rPr lang="en-US" dirty="0" smtClean="0"/>
              <a:t>Example: Maya vendors in Chiapas, Mexico	</a:t>
            </a:r>
            <a:endParaRPr lang="en-US" dirty="0"/>
          </a:p>
        </p:txBody>
      </p:sp>
    </p:spTree>
    <p:extLst>
      <p:ext uri="{BB962C8B-B14F-4D97-AF65-F5344CB8AC3E}">
        <p14:creationId xmlns:p14="http://schemas.microsoft.com/office/powerpoint/2010/main" val="325527356"/>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4000" dirty="0" smtClean="0"/>
              <a:t>Urgent Issues in Development </a:t>
            </a:r>
            <a:r>
              <a:rPr lang="en-US" sz="2800" dirty="0" smtClean="0"/>
              <a:t>(1 of 2)</a:t>
            </a:r>
            <a:br>
              <a:rPr lang="en-US" sz="2800" dirty="0" smtClean="0"/>
            </a:br>
            <a:r>
              <a:rPr lang="en-US" sz="2400" dirty="0" smtClean="0"/>
              <a:t>15.3 Identify </a:t>
            </a:r>
            <a:r>
              <a:rPr lang="en-US" sz="2400" dirty="0"/>
              <a:t>u</a:t>
            </a:r>
            <a:r>
              <a:rPr lang="en-US" sz="2400" dirty="0" smtClean="0"/>
              <a:t>rgent </a:t>
            </a:r>
            <a:r>
              <a:rPr lang="en-US" sz="2400" dirty="0"/>
              <a:t>i</a:t>
            </a:r>
            <a:r>
              <a:rPr lang="en-US" sz="2400" dirty="0" smtClean="0"/>
              <a:t>ssues in development.</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Life Projects and Human Rights</a:t>
            </a:r>
          </a:p>
          <a:p>
            <a:endParaRPr lang="en-US" dirty="0" smtClean="0"/>
          </a:p>
          <a:p>
            <a:r>
              <a:rPr lang="en-US" dirty="0" smtClean="0"/>
              <a:t>Cultural </a:t>
            </a:r>
            <a:r>
              <a:rPr lang="en-US" dirty="0"/>
              <a:t>Heritage, Human </a:t>
            </a:r>
            <a:r>
              <a:rPr lang="en-US" dirty="0" smtClean="0"/>
              <a:t>Rights, and </a:t>
            </a:r>
            <a:r>
              <a:rPr lang="en-US" dirty="0"/>
              <a:t>Development: Linking the </a:t>
            </a:r>
            <a:r>
              <a:rPr lang="en-US" dirty="0" smtClean="0"/>
              <a:t>Past and </a:t>
            </a:r>
            <a:r>
              <a:rPr lang="en-US" dirty="0"/>
              <a:t>Present to the </a:t>
            </a:r>
            <a:r>
              <a:rPr lang="en-US" dirty="0" smtClean="0"/>
              <a:t>Future</a:t>
            </a:r>
          </a:p>
        </p:txBody>
      </p:sp>
    </p:spTree>
    <p:extLst>
      <p:ext uri="{BB962C8B-B14F-4D97-AF65-F5344CB8AC3E}">
        <p14:creationId xmlns:p14="http://schemas.microsoft.com/office/powerpoint/2010/main" val="1611793293"/>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Urgent Issues in Development </a:t>
            </a:r>
            <a:r>
              <a:rPr lang="en-US" sz="3100" dirty="0" smtClean="0"/>
              <a:t>(2 of 2)</a:t>
            </a:r>
            <a:endParaRPr lang="en-US" sz="3100" dirty="0"/>
          </a:p>
        </p:txBody>
      </p:sp>
      <p:sp>
        <p:nvSpPr>
          <p:cNvPr id="3" name="Content Placeholder 2"/>
          <p:cNvSpPr>
            <a:spLocks noGrp="1"/>
          </p:cNvSpPr>
          <p:nvPr>
            <p:ph idx="1"/>
          </p:nvPr>
        </p:nvSpPr>
        <p:spPr/>
        <p:txBody>
          <a:bodyPr/>
          <a:lstStyle/>
          <a:p>
            <a:r>
              <a:rPr lang="en-US" dirty="0" smtClean="0"/>
              <a:t>Development aggression</a:t>
            </a:r>
          </a:p>
          <a:p>
            <a:pPr lvl="1"/>
            <a:r>
              <a:rPr lang="en-US" dirty="0" smtClean="0"/>
              <a:t>The </a:t>
            </a:r>
            <a:r>
              <a:rPr lang="en-US" dirty="0"/>
              <a:t>imposition of development </a:t>
            </a:r>
            <a:r>
              <a:rPr lang="en-US" dirty="0" smtClean="0"/>
              <a:t>projects and </a:t>
            </a:r>
            <a:r>
              <a:rPr lang="en-US" dirty="0"/>
              <a:t>policies without the free, prior, and informed </a:t>
            </a:r>
            <a:r>
              <a:rPr lang="en-US" dirty="0" smtClean="0"/>
              <a:t>consent of </a:t>
            </a:r>
            <a:r>
              <a:rPr lang="en-US" dirty="0"/>
              <a:t>the affected </a:t>
            </a:r>
            <a:r>
              <a:rPr lang="en-US" dirty="0" smtClean="0"/>
              <a:t>people</a:t>
            </a:r>
            <a:endParaRPr lang="en-US" dirty="0"/>
          </a:p>
        </p:txBody>
      </p:sp>
    </p:spTree>
    <p:extLst>
      <p:ext uri="{BB962C8B-B14F-4D97-AF65-F5344CB8AC3E}">
        <p14:creationId xmlns:p14="http://schemas.microsoft.com/office/powerpoint/2010/main" val="897943237"/>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Projects and Human Rights</a:t>
            </a:r>
            <a:endParaRPr lang="en-US" dirty="0"/>
          </a:p>
        </p:txBody>
      </p:sp>
      <p:sp>
        <p:nvSpPr>
          <p:cNvPr id="3" name="Content Placeholder 2"/>
          <p:cNvSpPr>
            <a:spLocks noGrp="1"/>
          </p:cNvSpPr>
          <p:nvPr>
            <p:ph idx="1"/>
          </p:nvPr>
        </p:nvSpPr>
        <p:spPr/>
        <p:txBody>
          <a:bodyPr/>
          <a:lstStyle/>
          <a:p>
            <a:r>
              <a:rPr lang="en-US" dirty="0"/>
              <a:t>Moving away from “development projects</a:t>
            </a:r>
            <a:r>
              <a:rPr lang="en-US" dirty="0" smtClean="0"/>
              <a:t>” designed </a:t>
            </a:r>
            <a:r>
              <a:rPr lang="en-US" dirty="0"/>
              <a:t>by outsiders</a:t>
            </a:r>
          </a:p>
          <a:p>
            <a:r>
              <a:rPr lang="en-US" dirty="0" smtClean="0"/>
              <a:t>Moving to </a:t>
            </a:r>
            <a:r>
              <a:rPr lang="en-US" dirty="0"/>
              <a:t>projects defined by insiders: their vision for the direction they want to take in life, informed by their knowledge, </a:t>
            </a:r>
            <a:r>
              <a:rPr lang="en-US" dirty="0" smtClean="0"/>
              <a:t>history, </a:t>
            </a:r>
            <a:r>
              <a:rPr lang="en-US" dirty="0"/>
              <a:t>and context, and how to achieve that vision</a:t>
            </a:r>
          </a:p>
          <a:p>
            <a:r>
              <a:rPr lang="en-US" dirty="0"/>
              <a:t>Against extractive </a:t>
            </a:r>
            <a:r>
              <a:rPr lang="en-US" dirty="0" smtClean="0"/>
              <a:t>development</a:t>
            </a:r>
            <a:endParaRPr lang="en-US" dirty="0"/>
          </a:p>
        </p:txBody>
      </p:sp>
    </p:spTree>
    <p:extLst>
      <p:ext uri="{BB962C8B-B14F-4D97-AF65-F5344CB8AC3E}">
        <p14:creationId xmlns:p14="http://schemas.microsoft.com/office/powerpoint/2010/main" val="422686948"/>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700" dirty="0"/>
              <a:t>Eye on the Environment: Oil, Environmental Degradation, and Human Rights in the </a:t>
            </a:r>
            <a:r>
              <a:rPr lang="en-US" sz="2700" dirty="0" smtClean="0"/>
              <a:t>Niger Delta </a:t>
            </a:r>
            <a:r>
              <a:rPr lang="en-US" sz="2400" dirty="0" smtClean="0"/>
              <a:t>(1 of 3)</a:t>
            </a:r>
            <a:endParaRPr lang="en-US" sz="2400" dirty="0"/>
          </a:p>
        </p:txBody>
      </p:sp>
      <p:sp>
        <p:nvSpPr>
          <p:cNvPr id="3" name="Content Placeholder 2"/>
          <p:cNvSpPr>
            <a:spLocks noGrp="1"/>
          </p:cNvSpPr>
          <p:nvPr>
            <p:ph idx="1"/>
          </p:nvPr>
        </p:nvSpPr>
        <p:spPr/>
        <p:txBody>
          <a:bodyPr>
            <a:normAutofit lnSpcReduction="10000"/>
          </a:bodyPr>
          <a:lstStyle/>
          <a:p>
            <a:r>
              <a:rPr lang="en-US" dirty="0"/>
              <a:t>Since the 1950s and the discovery of vast petroleum reserves, Nigeria is a major oil </a:t>
            </a:r>
            <a:r>
              <a:rPr lang="en-US" dirty="0" smtClean="0"/>
              <a:t>producer</a:t>
            </a:r>
            <a:endParaRPr lang="en-US" dirty="0"/>
          </a:p>
          <a:p>
            <a:r>
              <a:rPr lang="en-US" dirty="0" smtClean="0"/>
              <a:t>Industry caused significant environmental damage, destroying agricultural and fishing livelihoods</a:t>
            </a:r>
            <a:endParaRPr lang="en-US" dirty="0"/>
          </a:p>
          <a:p>
            <a:r>
              <a:rPr lang="en-US" dirty="0"/>
              <a:t>Ken Saro-Wiwa, an author and Nobel </a:t>
            </a:r>
            <a:r>
              <a:rPr lang="en-US" dirty="0" smtClean="0"/>
              <a:t>prizewinner</a:t>
            </a:r>
            <a:r>
              <a:rPr lang="en-US" dirty="0"/>
              <a:t>, was a vocal opponent of oil development in Ogoniland</a:t>
            </a:r>
          </a:p>
          <a:p>
            <a:endParaRPr lang="en-US" dirty="0"/>
          </a:p>
        </p:txBody>
      </p:sp>
    </p:spTree>
    <p:extLst>
      <p:ext uri="{BB962C8B-B14F-4D97-AF65-F5344CB8AC3E}">
        <p14:creationId xmlns:p14="http://schemas.microsoft.com/office/powerpoint/2010/main" val="201511408"/>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Map 15.7 Nigeria and the Niger Delta</a:t>
            </a:r>
            <a:endParaRPr lang="en-US" dirty="0"/>
          </a:p>
        </p:txBody>
      </p:sp>
      <p:pic>
        <p:nvPicPr>
          <p:cNvPr id="4" name="Content Placeholder 3" descr="A map of Nigeria shows its capital Abuja, the city of Lagos, and the Delta States along its southern coast on the Gulf of Guinea. Nigeria is bordered by Benin to the west, Niger to the north, and Cameroon to the east. An inset globe shows the area is in western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01658" y="1447800"/>
            <a:ext cx="4080142" cy="4800600"/>
          </a:xfrm>
        </p:spPr>
      </p:pic>
    </p:spTree>
    <p:extLst>
      <p:ext uri="{BB962C8B-B14F-4D97-AF65-F5344CB8AC3E}">
        <p14:creationId xmlns:p14="http://schemas.microsoft.com/office/powerpoint/2010/main" val="633191781"/>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Eye on the Environment: Oil, Environmental Degradation, a</a:t>
            </a:r>
            <a:r>
              <a:rPr lang="en-US" sz="2800" dirty="0" smtClean="0"/>
              <a:t>nd </a:t>
            </a:r>
            <a:r>
              <a:rPr lang="en-US" sz="2800" dirty="0"/>
              <a:t>Human Rights in the Niger Delta </a:t>
            </a:r>
            <a:r>
              <a:rPr lang="en-US" sz="2000" dirty="0" smtClean="0"/>
              <a:t>(2 </a:t>
            </a:r>
            <a:r>
              <a:rPr lang="en-US" sz="2000" dirty="0"/>
              <a:t>of 3)</a:t>
            </a:r>
            <a:endParaRPr lang="en-US" sz="2000" b="1" dirty="0"/>
          </a:p>
        </p:txBody>
      </p:sp>
      <p:pic>
        <p:nvPicPr>
          <p:cNvPr id="4" name="Content Placeholder 3" descr="A photo shows a man holding a cloth to his mouth and nose as he walks across branches on the ground set in an oily muck.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21258" y="1600200"/>
            <a:ext cx="3301484" cy="4525963"/>
          </a:xfrm>
        </p:spPr>
      </p:pic>
    </p:spTree>
    <p:extLst>
      <p:ext uri="{BB962C8B-B14F-4D97-AF65-F5344CB8AC3E}">
        <p14:creationId xmlns:p14="http://schemas.microsoft.com/office/powerpoint/2010/main" val="3914487535"/>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700" dirty="0"/>
              <a:t>Eye on the Environment: Oil, Environmental </a:t>
            </a:r>
            <a:r>
              <a:rPr lang="en-US" sz="2700" dirty="0" smtClean="0"/>
              <a:t>Degradation</a:t>
            </a:r>
            <a:r>
              <a:rPr lang="en-US" sz="2700" dirty="0"/>
              <a:t>, </a:t>
            </a:r>
            <a:r>
              <a:rPr lang="en-US" sz="2700" dirty="0" smtClean="0"/>
              <a:t>and Human </a:t>
            </a:r>
            <a:r>
              <a:rPr lang="en-US" sz="2700" dirty="0"/>
              <a:t>Rights in the Nigerian Delta </a:t>
            </a:r>
            <a:r>
              <a:rPr lang="en-US" sz="2400" dirty="0" smtClean="0"/>
              <a:t>(3 </a:t>
            </a:r>
            <a:r>
              <a:rPr lang="en-US" sz="2400" dirty="0"/>
              <a:t>of </a:t>
            </a:r>
            <a:r>
              <a:rPr lang="en-US" sz="2400" dirty="0" smtClean="0"/>
              <a:t>3)</a:t>
            </a:r>
            <a:endParaRPr lang="en-US" sz="2400" dirty="0"/>
          </a:p>
        </p:txBody>
      </p:sp>
      <p:sp>
        <p:nvSpPr>
          <p:cNvPr id="3" name="Content Placeholder 2"/>
          <p:cNvSpPr>
            <a:spLocks noGrp="1"/>
          </p:cNvSpPr>
          <p:nvPr>
            <p:ph idx="1"/>
          </p:nvPr>
        </p:nvSpPr>
        <p:spPr/>
        <p:txBody>
          <a:bodyPr/>
          <a:lstStyle/>
          <a:p>
            <a:r>
              <a:rPr lang="en-US" dirty="0"/>
              <a:t>Saro-Wiwa was arrested, tried, and executed under suspicious circumstances in 1995</a:t>
            </a:r>
          </a:p>
          <a:p>
            <a:r>
              <a:rPr lang="en-US" dirty="0"/>
              <a:t>He maintained that oil exploration violated human and cultural rights because it undermined his people’s way of life and threatened their continued existence</a:t>
            </a:r>
          </a:p>
          <a:p>
            <a:endParaRPr lang="en-US" dirty="0"/>
          </a:p>
        </p:txBody>
      </p:sp>
    </p:spTree>
    <p:extLst>
      <p:ext uri="{BB962C8B-B14F-4D97-AF65-F5344CB8AC3E}">
        <p14:creationId xmlns:p14="http://schemas.microsoft.com/office/powerpoint/2010/main" val="4160788439"/>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a:t>Cultural Heritage, Human Rights, and Development: Linking the Past and Present to the </a:t>
            </a:r>
            <a:r>
              <a:rPr lang="en-US" sz="2800" dirty="0" smtClean="0"/>
              <a:t>Future </a:t>
            </a:r>
            <a:r>
              <a:rPr lang="en-US" sz="2400" dirty="0" smtClean="0"/>
              <a:t>(1 of 2)</a:t>
            </a:r>
            <a:endParaRPr lang="en-US" sz="2400" dirty="0"/>
          </a:p>
        </p:txBody>
      </p:sp>
      <p:sp>
        <p:nvSpPr>
          <p:cNvPr id="3" name="Content Placeholder 2"/>
          <p:cNvSpPr>
            <a:spLocks noGrp="1"/>
          </p:cNvSpPr>
          <p:nvPr>
            <p:ph idx="1"/>
          </p:nvPr>
        </p:nvSpPr>
        <p:spPr/>
        <p:txBody>
          <a:bodyPr/>
          <a:lstStyle/>
          <a:p>
            <a:r>
              <a:rPr lang="en-US" dirty="0" smtClean="0"/>
              <a:t>Cultural heritage tourism as double-edged sword</a:t>
            </a:r>
          </a:p>
          <a:p>
            <a:pPr lvl="1"/>
            <a:r>
              <a:rPr lang="en-US" dirty="0" smtClean="0"/>
              <a:t>Tourism brings income </a:t>
            </a:r>
          </a:p>
          <a:p>
            <a:pPr lvl="1"/>
            <a:r>
              <a:rPr lang="en-US" dirty="0" smtClean="0"/>
              <a:t>Requires infrastructure development</a:t>
            </a:r>
          </a:p>
          <a:p>
            <a:pPr lvl="1"/>
            <a:r>
              <a:rPr lang="en-US" dirty="0" smtClean="0"/>
              <a:t>Numerous visitors may damage site</a:t>
            </a:r>
          </a:p>
          <a:p>
            <a:pPr lvl="2"/>
            <a:r>
              <a:rPr lang="en-US" dirty="0" smtClean="0"/>
              <a:t>Example: Angkor Wat</a:t>
            </a:r>
          </a:p>
          <a:p>
            <a:pPr lvl="1"/>
            <a:endParaRPr lang="en-US" dirty="0" smtClean="0"/>
          </a:p>
          <a:p>
            <a:pPr lvl="1"/>
            <a:endParaRPr lang="en-US" dirty="0" smtClean="0"/>
          </a:p>
        </p:txBody>
      </p:sp>
    </p:spTree>
    <p:extLst>
      <p:ext uri="{BB962C8B-B14F-4D97-AF65-F5344CB8AC3E}">
        <p14:creationId xmlns:p14="http://schemas.microsoft.com/office/powerpoint/2010/main" val="2044486070"/>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a:t>Cultural Heritage, Human Rights, and Development: Linking the Past and Present to the Future </a:t>
            </a:r>
            <a:r>
              <a:rPr lang="en-US" sz="2400" dirty="0" smtClean="0"/>
              <a:t>(2 </a:t>
            </a:r>
            <a:r>
              <a:rPr lang="en-US" sz="2400" dirty="0"/>
              <a:t>of 2)</a:t>
            </a:r>
          </a:p>
        </p:txBody>
      </p:sp>
      <p:sp>
        <p:nvSpPr>
          <p:cNvPr id="3" name="Content Placeholder 2"/>
          <p:cNvSpPr>
            <a:spLocks noGrp="1"/>
          </p:cNvSpPr>
          <p:nvPr>
            <p:ph idx="1"/>
          </p:nvPr>
        </p:nvSpPr>
        <p:spPr/>
        <p:txBody>
          <a:bodyPr/>
          <a:lstStyle/>
          <a:p>
            <a:r>
              <a:rPr lang="en-US" dirty="0" smtClean="0"/>
              <a:t>Cultural Property Rights Law</a:t>
            </a:r>
          </a:p>
          <a:p>
            <a:pPr lvl="1"/>
            <a:r>
              <a:rPr lang="en-US" dirty="0" smtClean="0"/>
              <a:t>Developing field as lawyers and lawmakers define rights and protections for cultural heritage</a:t>
            </a:r>
          </a:p>
          <a:p>
            <a:pPr lvl="1"/>
            <a:r>
              <a:rPr lang="en-US" dirty="0" smtClean="0"/>
              <a:t>Another double-edged sword</a:t>
            </a:r>
          </a:p>
          <a:p>
            <a:pPr lvl="2"/>
            <a:r>
              <a:rPr lang="en-US" dirty="0" smtClean="0"/>
              <a:t>May secure rights and proceeds for threatened aspects of culture</a:t>
            </a:r>
          </a:p>
          <a:p>
            <a:pPr lvl="2"/>
            <a:r>
              <a:rPr lang="en-US" dirty="0" smtClean="0"/>
              <a:t>However, the process of legalization and related requirements may transform everyday life into legal battles</a:t>
            </a:r>
            <a:endParaRPr lang="en-US" dirty="0"/>
          </a:p>
        </p:txBody>
      </p:sp>
    </p:spTree>
    <p:extLst>
      <p:ext uri="{BB962C8B-B14F-4D97-AF65-F5344CB8AC3E}">
        <p14:creationId xmlns:p14="http://schemas.microsoft.com/office/powerpoint/2010/main" val="3207239805"/>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291</TotalTime>
  <Words>2201</Words>
  <Application>Microsoft Macintosh PowerPoint</Application>
  <PresentationFormat>On-screen Show (4:3)</PresentationFormat>
  <Paragraphs>218</Paragraphs>
  <Slides>39</Slides>
  <Notes>7</Notes>
  <HiddenSlides>0</HiddenSlides>
  <MMClips>0</MMClip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Beebe8e_PPT_master</vt:lpstr>
      <vt:lpstr>Office Theme</vt:lpstr>
      <vt:lpstr>PowerPoint Presentation</vt:lpstr>
      <vt:lpstr>Learning Objectives</vt:lpstr>
      <vt:lpstr>Defining Development and Approaches  to It (1 of 2) 15.1 Identify what is development and approaches to it.</vt:lpstr>
      <vt:lpstr>Defining Development and Approaches to It (2 of 2)</vt:lpstr>
      <vt:lpstr>Two Processes of Social Change</vt:lpstr>
      <vt:lpstr>Anthropology Works: The Saami, Snowmobiles, and Social Impact Analysis (1 of 2)</vt:lpstr>
      <vt:lpstr>Anthropology Works: The Saami, Snowmobiles, and Social Impact Analysis (2 of 2)</vt:lpstr>
      <vt:lpstr>Theories and Models of Development (1 of 5)</vt:lpstr>
      <vt:lpstr>Theories and Models of Development (2 of 5)</vt:lpstr>
      <vt:lpstr>Theories and Models of Development (3 of 5)</vt:lpstr>
      <vt:lpstr>Map 15.2 Kerala, South India</vt:lpstr>
      <vt:lpstr>Theories and Models of Development (4 of 5)</vt:lpstr>
      <vt:lpstr>Theories and Models of Development (5 of 5)</vt:lpstr>
      <vt:lpstr>Institutional Approaches  to Development (1 of 2)</vt:lpstr>
      <vt:lpstr>Institutional Approaches  to Development (2 of 2)</vt:lpstr>
      <vt:lpstr>Culturama: Peyizan Yo of Haiti (1 of 2)</vt:lpstr>
      <vt:lpstr>Culturama: Peyizan Yo of Haiti (2 of 2)</vt:lpstr>
      <vt:lpstr>Map 15.3 Haiti</vt:lpstr>
      <vt:lpstr>The Development Project (1 of 4)</vt:lpstr>
      <vt:lpstr>The Development Project (2 of 4)</vt:lpstr>
      <vt:lpstr>The Development Project (3 of 4)</vt:lpstr>
      <vt:lpstr>The Development Project (4 of 4)</vt:lpstr>
      <vt:lpstr>Development, Indigenous People, and Women 15.2 Summarize how indigenous peoples and women are redefining development.</vt:lpstr>
      <vt:lpstr>Indigenous People and Development (1 of 4)</vt:lpstr>
      <vt:lpstr>Indigenous People and Development (2 of 4)</vt:lpstr>
      <vt:lpstr>Indigenous People and Development (3 of 4)</vt:lpstr>
      <vt:lpstr>Map 15.5 Nunavut Territory, Canada</vt:lpstr>
      <vt:lpstr>Indigenous People and Development (4 of 4)</vt:lpstr>
      <vt:lpstr>Women and Development (1 of 2)</vt:lpstr>
      <vt:lpstr>Women and Development (2 of 2)</vt:lpstr>
      <vt:lpstr>Urgent Issues in Development (1 of 2) 15.3 Identify urgent issues in development.</vt:lpstr>
      <vt:lpstr>Urgent Issues in Development (2 of 2)</vt:lpstr>
      <vt:lpstr>Life Projects and Human Rights</vt:lpstr>
      <vt:lpstr>Eye on the Environment: Oil, Environmental Degradation, and Human Rights in the Niger Delta (1 of 3)</vt:lpstr>
      <vt:lpstr>Map 15.7 Nigeria and the Niger Delta</vt:lpstr>
      <vt:lpstr>Eye on the Environment: Oil, Environmental Degradation, and Human Rights in the Niger Delta (2 of 3)</vt:lpstr>
      <vt:lpstr>Eye on the Environment: Oil, Environmental Degradation, and Human Rights in the Nigerian Delta (3 of 3)</vt:lpstr>
      <vt:lpstr>Cultural Heritage, Human Rights, and Development: Linking the Past and Present to the Future (1 of 2)</vt:lpstr>
      <vt:lpstr>Cultural Heritage, Human Rights, and Development: Linking the Past and Present to the Future (2 of 2)</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35</cp:revision>
  <dcterms:created xsi:type="dcterms:W3CDTF">2015-09-18T14:54:36Z</dcterms:created>
  <dcterms:modified xsi:type="dcterms:W3CDTF">2016-04-08T16:09:09Z</dcterms:modified>
</cp:coreProperties>
</file>