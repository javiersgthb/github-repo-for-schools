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1"/>
  </p:notesMasterIdLst>
  <p:sldIdLst>
    <p:sldId id="257" r:id="rId3"/>
    <p:sldId id="256" r:id="rId4"/>
    <p:sldId id="260" r:id="rId5"/>
    <p:sldId id="258" r:id="rId6"/>
    <p:sldId id="259" r:id="rId7"/>
    <p:sldId id="261" r:id="rId8"/>
    <p:sldId id="262" r:id="rId9"/>
    <p:sldId id="263" r:id="rId10"/>
    <p:sldId id="293" r:id="rId11"/>
    <p:sldId id="264" r:id="rId12"/>
    <p:sldId id="265" r:id="rId13"/>
    <p:sldId id="267" r:id="rId14"/>
    <p:sldId id="268" r:id="rId15"/>
    <p:sldId id="270" r:id="rId16"/>
    <p:sldId id="266" r:id="rId17"/>
    <p:sldId id="269" r:id="rId18"/>
    <p:sldId id="271" r:id="rId19"/>
    <p:sldId id="272" r:id="rId20"/>
    <p:sldId id="273" r:id="rId21"/>
    <p:sldId id="274" r:id="rId22"/>
    <p:sldId id="275" r:id="rId23"/>
    <p:sldId id="276" r:id="rId24"/>
    <p:sldId id="277" r:id="rId25"/>
    <p:sldId id="278" r:id="rId26"/>
    <p:sldId id="279" r:id="rId27"/>
    <p:sldId id="292" r:id="rId28"/>
    <p:sldId id="280" r:id="rId29"/>
    <p:sldId id="281" r:id="rId30"/>
    <p:sldId id="282" r:id="rId31"/>
    <p:sldId id="283" r:id="rId32"/>
    <p:sldId id="284" r:id="rId33"/>
    <p:sldId id="285" r:id="rId34"/>
    <p:sldId id="286" r:id="rId35"/>
    <p:sldId id="288" r:id="rId36"/>
    <p:sldId id="289" r:id="rId37"/>
    <p:sldId id="290" r:id="rId38"/>
    <p:sldId id="291" r:id="rId39"/>
    <p:sldId id="28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BAB208A-5D92-4D6B-8E61-D01D52F59F32}">
          <p14:sldIdLst>
            <p14:sldId id="257"/>
            <p14:sldId id="256"/>
            <p14:sldId id="260"/>
            <p14:sldId id="258"/>
            <p14:sldId id="259"/>
            <p14:sldId id="261"/>
            <p14:sldId id="262"/>
            <p14:sldId id="263"/>
            <p14:sldId id="293"/>
            <p14:sldId id="264"/>
            <p14:sldId id="265"/>
            <p14:sldId id="267"/>
            <p14:sldId id="268"/>
            <p14:sldId id="270"/>
            <p14:sldId id="266"/>
            <p14:sldId id="269"/>
            <p14:sldId id="271"/>
            <p14:sldId id="272"/>
            <p14:sldId id="273"/>
            <p14:sldId id="274"/>
            <p14:sldId id="275"/>
            <p14:sldId id="276"/>
            <p14:sldId id="277"/>
            <p14:sldId id="278"/>
            <p14:sldId id="279"/>
            <p14:sldId id="292"/>
            <p14:sldId id="280"/>
            <p14:sldId id="281"/>
            <p14:sldId id="282"/>
            <p14:sldId id="283"/>
            <p14:sldId id="284"/>
            <p14:sldId id="285"/>
            <p14:sldId id="286"/>
            <p14:sldId id="288"/>
            <p14:sldId id="289"/>
            <p14:sldId id="290"/>
            <p14:sldId id="291"/>
            <p14:sldId id="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24" autoAdjust="0"/>
  </p:normalViewPr>
  <p:slideViewPr>
    <p:cSldViewPr>
      <p:cViewPr>
        <p:scale>
          <a:sx n="103" d="100"/>
          <a:sy n="103" d="100"/>
        </p:scale>
        <p:origin x="-392" y="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notesMaster" Target="notesMasters/notesMaster1.xml"/><Relationship Id="rId42" Type="http://schemas.openxmlformats.org/officeDocument/2006/relationships/printerSettings" Target="printerSettings/printerSettings1.bin"/><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64868A-60E8-43DB-90F7-72771F1DDEA1}" type="datetimeFigureOut">
              <a:rPr lang="en-US" smtClean="0"/>
              <a:t>4/8/16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430C46-A5DA-4DCB-9B8B-AB028C842E02}" type="slidenum">
              <a:rPr lang="en-US" smtClean="0"/>
              <a:t>‹#›</a:t>
            </a:fld>
            <a:endParaRPr lang="en-US" dirty="0"/>
          </a:p>
        </p:txBody>
      </p:sp>
    </p:spTree>
    <p:extLst>
      <p:ext uri="{BB962C8B-B14F-4D97-AF65-F5344CB8AC3E}">
        <p14:creationId xmlns:p14="http://schemas.microsoft.com/office/powerpoint/2010/main" val="369609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sz="1600" dirty="0"/>
          </a:p>
        </p:txBody>
      </p:sp>
      <p:sp>
        <p:nvSpPr>
          <p:cNvPr id="4" name="Slide Number Placeholder 3"/>
          <p:cNvSpPr>
            <a:spLocks noGrp="1"/>
          </p:cNvSpPr>
          <p:nvPr>
            <p:ph type="sldNum" sz="quarter" idx="10"/>
          </p:nvPr>
        </p:nvSpPr>
        <p:spPr/>
        <p:txBody>
          <a:bodyPr/>
          <a:lstStyle/>
          <a:p>
            <a:fld id="{38430C46-A5DA-4DCB-9B8B-AB028C842E02}" type="slidenum">
              <a:rPr lang="en-US" smtClean="0"/>
              <a:t>1</a:t>
            </a:fld>
            <a:endParaRPr lang="en-US" dirty="0"/>
          </a:p>
        </p:txBody>
      </p:sp>
    </p:spTree>
    <p:extLst>
      <p:ext uri="{BB962C8B-B14F-4D97-AF65-F5344CB8AC3E}">
        <p14:creationId xmlns:p14="http://schemas.microsoft.com/office/powerpoint/2010/main" val="195892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Kingdom of Tonga is an archipelago of 169 islands, nicknamed</a:t>
            </a:r>
            <a:r>
              <a:rPr lang="en-US" baseline="0" dirty="0" smtClean="0"/>
              <a:t> </a:t>
            </a:r>
            <a:r>
              <a:rPr lang="en-US" dirty="0" smtClean="0"/>
              <a:t>by Captain Cook as the Friendly Islands on the basis of his reception</a:t>
            </a:r>
            <a:r>
              <a:rPr lang="en-US" baseline="0" dirty="0" smtClean="0"/>
              <a:t> </a:t>
            </a:r>
            <a:r>
              <a:rPr lang="en-US" dirty="0" smtClean="0"/>
              <a:t>there. Tonga is a monarchy, and the current king is Tupou VI, who</a:t>
            </a:r>
            <a:r>
              <a:rPr lang="en-US" baseline="0" dirty="0" smtClean="0"/>
              <a:t> </a:t>
            </a:r>
            <a:r>
              <a:rPr lang="en-US" dirty="0" smtClean="0"/>
              <a:t>assumed the throne in 2012. Before him, Queen Salote Tupou II</a:t>
            </a:r>
            <a:r>
              <a:rPr lang="en-US" baseline="0" dirty="0" smtClean="0"/>
              <a:t> </a:t>
            </a:r>
            <a:r>
              <a:rPr lang="en-US" dirty="0" smtClean="0"/>
              <a:t>reigned from 1918 to 1965. The population is around 106,000, with</a:t>
            </a:r>
            <a:r>
              <a:rPr lang="en-US" baseline="0" dirty="0" smtClean="0"/>
              <a:t> </a:t>
            </a:r>
            <a:r>
              <a:rPr lang="en-US" dirty="0" smtClean="0"/>
              <a:t>two-thirds</a:t>
            </a:r>
            <a:r>
              <a:rPr lang="en-US" baseline="0" dirty="0" smtClean="0"/>
              <a:t> </a:t>
            </a:r>
            <a:r>
              <a:rPr lang="en-US" dirty="0" smtClean="0"/>
              <a:t>living on the main island, Tongatapu. Rural Tongans are</a:t>
            </a:r>
            <a:r>
              <a:rPr lang="en-US" baseline="0" dirty="0" smtClean="0"/>
              <a:t> </a:t>
            </a:r>
            <a:r>
              <a:rPr lang="en-US" dirty="0" smtClean="0"/>
              <a:t>small-scale farmers. Most Tongans are ethnically Polynesian, and</a:t>
            </a:r>
            <a:r>
              <a:rPr lang="en-US" baseline="0" dirty="0" smtClean="0"/>
              <a:t> </a:t>
            </a:r>
            <a:r>
              <a:rPr lang="en-US" dirty="0" smtClean="0"/>
              <a:t>Christianity is by far the dominant religion. Languages are Tongan</a:t>
            </a:r>
            <a:r>
              <a:rPr lang="en-US" baseline="0" dirty="0" smtClean="0"/>
              <a:t> </a:t>
            </a:r>
            <a:r>
              <a:rPr lang="en-US" dirty="0" smtClean="0"/>
              <a:t>and English. Many Tongans have emigrated, and remittances are a</a:t>
            </a:r>
            <a:r>
              <a:rPr lang="en-US" baseline="0" dirty="0" smtClean="0"/>
              <a:t> </a:t>
            </a:r>
            <a:r>
              <a:rPr lang="en-US" dirty="0" smtClean="0"/>
              <a:t>major part of the economy.</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9</a:t>
            </a:fld>
            <a:endParaRPr lang="en-US" dirty="0"/>
          </a:p>
        </p:txBody>
      </p:sp>
    </p:spTree>
    <p:extLst>
      <p:ext uri="{BB962C8B-B14F-4D97-AF65-F5344CB8AC3E}">
        <p14:creationId xmlns:p14="http://schemas.microsoft.com/office/powerpoint/2010/main" val="4054286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Three Gorges Dam, the world’s biggest dam, is one of several</a:t>
            </a:r>
            <a:r>
              <a:rPr lang="en-US" baseline="0" dirty="0" smtClean="0"/>
              <a:t> </a:t>
            </a:r>
            <a:r>
              <a:rPr lang="en-US" dirty="0" smtClean="0"/>
              <a:t>projects that are transforming China’s environment. The dam has</a:t>
            </a:r>
            <a:r>
              <a:rPr lang="en-US" baseline="0" dirty="0" smtClean="0"/>
              <a:t> </a:t>
            </a:r>
            <a:r>
              <a:rPr lang="en-US" dirty="0" smtClean="0"/>
              <a:t>created a vast reservoir upstream to Chongqing. Engineers believe</a:t>
            </a:r>
            <a:r>
              <a:rPr lang="en-US" baseline="0" dirty="0" smtClean="0"/>
              <a:t> </a:t>
            </a:r>
            <a:r>
              <a:rPr lang="en-US" dirty="0" smtClean="0"/>
              <a:t>that the dam will solve the problem of annual flooding of the Yangtze</a:t>
            </a:r>
            <a:r>
              <a:rPr lang="en-US" baseline="0" dirty="0" smtClean="0"/>
              <a:t> </a:t>
            </a:r>
            <a:r>
              <a:rPr lang="en-US" dirty="0" smtClean="0"/>
              <a:t>River, the world’s third-largest river, and generate immense amounts</a:t>
            </a:r>
          </a:p>
          <a:p>
            <a:r>
              <a:rPr lang="en-US" dirty="0" smtClean="0"/>
              <a:t>of power. Environmentalists point to the downsides, which include</a:t>
            </a:r>
            <a:r>
              <a:rPr lang="en-US" baseline="0" dirty="0" smtClean="0"/>
              <a:t> </a:t>
            </a:r>
            <a:r>
              <a:rPr lang="en-US" dirty="0" smtClean="0"/>
              <a:t>the decline of many important fish species, destabilizing slopes, and</a:t>
            </a:r>
            <a:r>
              <a:rPr lang="en-US" baseline="0" dirty="0" smtClean="0"/>
              <a:t> </a:t>
            </a:r>
            <a:r>
              <a:rPr lang="en-US" dirty="0" smtClean="0"/>
              <a:t>eroding islands in the Yangtze River delta. Cultural anthropologists</a:t>
            </a:r>
            <a:r>
              <a:rPr lang="en-US" baseline="0" dirty="0" smtClean="0"/>
              <a:t> </a:t>
            </a:r>
            <a:r>
              <a:rPr lang="en-US" dirty="0" smtClean="0"/>
              <a:t>are concerned about the forced migration of over one million people</a:t>
            </a:r>
            <a:r>
              <a:rPr lang="en-US" baseline="0" dirty="0" smtClean="0"/>
              <a:t> </a:t>
            </a:r>
            <a:r>
              <a:rPr lang="en-US" dirty="0" smtClean="0"/>
              <a:t>from 13 major cities and 140 villages, and the loss of rural farming</a:t>
            </a:r>
            <a:r>
              <a:rPr lang="en-US" baseline="0" dirty="0" smtClean="0"/>
              <a:t> </a:t>
            </a:r>
            <a:r>
              <a:rPr lang="en-US" dirty="0" smtClean="0"/>
              <a:t>livelihoods as land is flooded. Archaeologists decry the loss of</a:t>
            </a:r>
            <a:r>
              <a:rPr lang="en-US" baseline="0" dirty="0" smtClean="0"/>
              <a:t> </a:t>
            </a:r>
            <a:r>
              <a:rPr lang="en-US" dirty="0" smtClean="0"/>
              <a:t>unknown numbers of prehistoric and historic sites now buried under</a:t>
            </a:r>
            <a:r>
              <a:rPr lang="en-US" baseline="0" dirty="0" smtClean="0"/>
              <a:t> </a:t>
            </a:r>
            <a:r>
              <a:rPr lang="en-US" dirty="0" smtClean="0"/>
              <a:t>water. Others mourn the loss of one of the most beautiful places in</a:t>
            </a:r>
            <a:r>
              <a:rPr lang="en-US" baseline="0" dirty="0" smtClean="0"/>
              <a:t> </a:t>
            </a:r>
            <a:r>
              <a:rPr lang="en-US" dirty="0" smtClean="0"/>
              <a:t>the world, with its “gumdrop” mountains and breathtaking vistas that</a:t>
            </a:r>
            <a:r>
              <a:rPr lang="en-US" baseline="0" dirty="0" smtClean="0"/>
              <a:t> </a:t>
            </a:r>
            <a:r>
              <a:rPr lang="en-US" dirty="0" smtClean="0"/>
              <a:t>have inspired artists for centuries.</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15</a:t>
            </a:fld>
            <a:endParaRPr lang="en-US" dirty="0"/>
          </a:p>
        </p:txBody>
      </p:sp>
    </p:spTree>
    <p:extLst>
      <p:ext uri="{BB962C8B-B14F-4D97-AF65-F5344CB8AC3E}">
        <p14:creationId xmlns:p14="http://schemas.microsoft.com/office/powerpoint/2010/main" val="4066011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Within the Republic of Guatemala, th</a:t>
            </a:r>
            <a:r>
              <a:rPr lang="en-US" baseline="0" dirty="0" smtClean="0"/>
              <a:t>e </a:t>
            </a:r>
            <a:r>
              <a:rPr lang="en-US" dirty="0" smtClean="0"/>
              <a:t>Maya constitute about 40 percent of</a:t>
            </a:r>
            <a:r>
              <a:rPr lang="en-US" baseline="0" dirty="0" smtClean="0"/>
              <a:t> </a:t>
            </a:r>
            <a:r>
              <a:rPr lang="en-US" dirty="0" smtClean="0"/>
              <a:t>the country’s population of 14 million.</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20</a:t>
            </a:fld>
            <a:endParaRPr lang="en-US" dirty="0"/>
          </a:p>
        </p:txBody>
      </p:sp>
    </p:spTree>
    <p:extLst>
      <p:ext uri="{BB962C8B-B14F-4D97-AF65-F5344CB8AC3E}">
        <p14:creationId xmlns:p14="http://schemas.microsoft.com/office/powerpoint/2010/main" val="3319324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Republic of Madagascar includes the main island of</a:t>
            </a:r>
            <a:r>
              <a:rPr lang="en-US" baseline="0" dirty="0" smtClean="0"/>
              <a:t> </a:t>
            </a:r>
            <a:r>
              <a:rPr lang="en-US" dirty="0" smtClean="0"/>
              <a:t>Madagascar and several much smaller islands off its coast. It is the</a:t>
            </a:r>
            <a:r>
              <a:rPr lang="en-US" baseline="0" dirty="0" smtClean="0"/>
              <a:t> </a:t>
            </a:r>
            <a:r>
              <a:rPr lang="en-US" dirty="0" smtClean="0"/>
              <a:t>home of five percent of the world’s plant and animal species, of</a:t>
            </a:r>
            <a:r>
              <a:rPr lang="en-US" baseline="0" dirty="0" smtClean="0"/>
              <a:t> </a:t>
            </a:r>
            <a:r>
              <a:rPr lang="en-US" dirty="0" smtClean="0"/>
              <a:t>which 80 percent are unique to Madagascar. The terrain varies from</a:t>
            </a:r>
            <a:r>
              <a:rPr lang="en-US" baseline="0" dirty="0" smtClean="0"/>
              <a:t> </a:t>
            </a:r>
            <a:r>
              <a:rPr lang="en-US" dirty="0" smtClean="0"/>
              <a:t>highlands to lowlands, rainforests, and deserts. The economy is</a:t>
            </a:r>
            <a:r>
              <a:rPr lang="en-US" baseline="0" dirty="0" smtClean="0"/>
              <a:t> </a:t>
            </a:r>
            <a:r>
              <a:rPr lang="en-US" dirty="0" smtClean="0"/>
              <a:t>reliant on tourism, especially ecotourism, and mining is increasing.</a:t>
            </a:r>
            <a:r>
              <a:rPr lang="en-US" baseline="0" dirty="0" smtClean="0"/>
              <a:t> </a:t>
            </a:r>
            <a:r>
              <a:rPr lang="en-US" dirty="0" smtClean="0"/>
              <a:t>The total population is 22 million. DNA analysis reveals that the</a:t>
            </a:r>
            <a:r>
              <a:rPr lang="en-US" baseline="0" dirty="0" smtClean="0"/>
              <a:t> </a:t>
            </a:r>
            <a:r>
              <a:rPr lang="en-US" dirty="0" smtClean="0"/>
              <a:t>population is a mixture of Malay and East African heritage. The</a:t>
            </a:r>
            <a:r>
              <a:rPr lang="en-US" baseline="0" dirty="0" smtClean="0"/>
              <a:t> </a:t>
            </a:r>
            <a:r>
              <a:rPr lang="en-US" dirty="0" smtClean="0"/>
              <a:t>primary language is Malagasy, which shares about 90 percent of</a:t>
            </a:r>
            <a:r>
              <a:rPr lang="en-US" baseline="0" dirty="0" smtClean="0"/>
              <a:t> </a:t>
            </a:r>
            <a:r>
              <a:rPr lang="en-US" dirty="0" smtClean="0"/>
              <a:t>its vocabulary with a language in southern Borneo. About half the</a:t>
            </a:r>
            <a:r>
              <a:rPr lang="en-US" baseline="0" dirty="0" smtClean="0"/>
              <a:t> </a:t>
            </a:r>
            <a:r>
              <a:rPr lang="en-US" dirty="0" smtClean="0"/>
              <a:t>people practice traditional religions related to</a:t>
            </a:r>
            <a:r>
              <a:rPr lang="en-US" baseline="0" dirty="0" smtClean="0"/>
              <a:t> </a:t>
            </a:r>
            <a:r>
              <a:rPr lang="en-US" dirty="0" smtClean="0"/>
              <a:t>ancestors, and most</a:t>
            </a:r>
            <a:r>
              <a:rPr lang="en-US" baseline="0" dirty="0" smtClean="0"/>
              <a:t> </a:t>
            </a:r>
            <a:r>
              <a:rPr lang="en-US" dirty="0" smtClean="0"/>
              <a:t>others are Catholics or Protestants.</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23</a:t>
            </a:fld>
            <a:endParaRPr lang="en-US" dirty="0"/>
          </a:p>
        </p:txBody>
      </p:sp>
    </p:spTree>
    <p:extLst>
      <p:ext uri="{BB962C8B-B14F-4D97-AF65-F5344CB8AC3E}">
        <p14:creationId xmlns:p14="http://schemas.microsoft.com/office/powerpoint/2010/main" val="108084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recent times, the Republic of El Salvador has tended to emphasize one or two major export crops, with coffee being dominant. Coffee growing requires high-altitude land, and therefore coffee production has displaced many indigenous people. The country’s total population is nearly six million. About 90 percent are mestizo, nine percent of European descent (mostly Spanish), and one percent indigenous. The dominant language is Spanish, although some indigenous people speak Nahuat. Eighty-three percent of the people are Roman Catholic, and Protestants are 15 percent and growing in number.</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28</a:t>
            </a:fld>
            <a:endParaRPr lang="en-US" dirty="0"/>
          </a:p>
        </p:txBody>
      </p:sp>
    </p:spTree>
    <p:extLst>
      <p:ext uri="{BB962C8B-B14F-4D97-AF65-F5344CB8AC3E}">
        <p14:creationId xmlns:p14="http://schemas.microsoft.com/office/powerpoint/2010/main" val="260619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29</a:t>
            </a:fld>
            <a:endParaRPr lang="en-US" dirty="0"/>
          </a:p>
        </p:txBody>
      </p:sp>
    </p:spTree>
    <p:extLst>
      <p:ext uri="{BB962C8B-B14F-4D97-AF65-F5344CB8AC3E}">
        <p14:creationId xmlns:p14="http://schemas.microsoft.com/office/powerpoint/2010/main" val="3501258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word sahel comes from the Arabic</a:t>
            </a:r>
            <a:r>
              <a:rPr lang="en-US" baseline="0" dirty="0" smtClean="0"/>
              <a:t> </a:t>
            </a:r>
            <a:r>
              <a:rPr lang="en-US" dirty="0" smtClean="0"/>
              <a:t>for “shore” or “border,” referring in this</a:t>
            </a:r>
            <a:r>
              <a:rPr lang="en-US" baseline="0" dirty="0" smtClean="0"/>
              <a:t> </a:t>
            </a:r>
            <a:r>
              <a:rPr lang="en-US" dirty="0" smtClean="0"/>
              <a:t>case to the area between the Sahara</a:t>
            </a:r>
            <a:r>
              <a:rPr lang="en-US" baseline="0" dirty="0" smtClean="0"/>
              <a:t> </a:t>
            </a:r>
            <a:r>
              <a:rPr lang="en-US" dirty="0" smtClean="0"/>
              <a:t>desert and the more fertile regions</a:t>
            </a:r>
            <a:r>
              <a:rPr lang="en-US" baseline="0" dirty="0" smtClean="0"/>
              <a:t> </a:t>
            </a:r>
            <a:r>
              <a:rPr lang="en-US" dirty="0" smtClean="0"/>
              <a:t>to the south. Primarily savanna,</a:t>
            </a:r>
            <a:r>
              <a:rPr lang="en-US" baseline="0" dirty="0" smtClean="0"/>
              <a:t> </a:t>
            </a:r>
            <a:r>
              <a:rPr lang="en-US" dirty="0" smtClean="0"/>
              <a:t>the region has been the home to</a:t>
            </a:r>
            <a:r>
              <a:rPr lang="en-US" baseline="0" dirty="0" smtClean="0"/>
              <a:t> </a:t>
            </a:r>
            <a:r>
              <a:rPr lang="en-US" dirty="0" smtClean="0"/>
              <a:t>many rich kingdoms that controlled</a:t>
            </a:r>
            <a:r>
              <a:rPr lang="en-US" baseline="0" dirty="0" smtClean="0"/>
              <a:t> </a:t>
            </a:r>
            <a:r>
              <a:rPr lang="en-US" dirty="0" smtClean="0"/>
              <a:t>Saharan trade routes. Most people</a:t>
            </a:r>
            <a:r>
              <a:rPr lang="en-US" baseline="0" dirty="0" smtClean="0"/>
              <a:t> </a:t>
            </a:r>
            <a:r>
              <a:rPr lang="en-US" dirty="0" smtClean="0"/>
              <a:t>make their living from pastoralism</a:t>
            </a:r>
            <a:r>
              <a:rPr lang="en-US" baseline="0" dirty="0" smtClean="0"/>
              <a:t> </a:t>
            </a:r>
            <a:r>
              <a:rPr lang="en-US" dirty="0" smtClean="0"/>
              <a:t>and semisedentary cattle raising.</a:t>
            </a:r>
            <a:r>
              <a:rPr lang="en-US" baseline="0" dirty="0" smtClean="0"/>
              <a:t> </a:t>
            </a:r>
            <a:r>
              <a:rPr lang="en-US" dirty="0" smtClean="0"/>
              <a:t>The region has recently experienced</a:t>
            </a:r>
            <a:r>
              <a:rPr lang="en-US" baseline="0" dirty="0" smtClean="0"/>
              <a:t> </a:t>
            </a:r>
            <a:r>
              <a:rPr lang="en-US" dirty="0" smtClean="0"/>
              <a:t>several major droughts, leading to the</a:t>
            </a:r>
            <a:r>
              <a:rPr lang="en-US" baseline="0" dirty="0" smtClean="0"/>
              <a:t> </a:t>
            </a:r>
            <a:r>
              <a:rPr lang="en-US" dirty="0" smtClean="0"/>
              <a:t>widespread death of herd animals,</a:t>
            </a:r>
            <a:r>
              <a:rPr lang="en-US" baseline="0" dirty="0" smtClean="0"/>
              <a:t> </a:t>
            </a:r>
            <a:r>
              <a:rPr lang="en-US" dirty="0" smtClean="0"/>
              <a:t>widespread human starvation and</a:t>
            </a:r>
            <a:r>
              <a:rPr lang="en-US" baseline="0" dirty="0" smtClean="0"/>
              <a:t> </a:t>
            </a:r>
            <a:r>
              <a:rPr lang="en-US" dirty="0" smtClean="0"/>
              <a:t>malnutrition, and forced population</a:t>
            </a:r>
            <a:r>
              <a:rPr lang="en-US" baseline="0" dirty="0" smtClean="0"/>
              <a:t> </a:t>
            </a:r>
            <a:r>
              <a:rPr lang="en-US" dirty="0" smtClean="0"/>
              <a:t>displacement. (Note: Since the time</a:t>
            </a:r>
            <a:r>
              <a:rPr lang="en-US" baseline="0" dirty="0" smtClean="0"/>
              <a:t> </a:t>
            </a:r>
            <a:r>
              <a:rPr lang="en-US" dirty="0" smtClean="0"/>
              <a:t>of this map, Sudan has split into two</a:t>
            </a:r>
            <a:r>
              <a:rPr lang="en-US" baseline="0" dirty="0" smtClean="0"/>
              <a:t> </a:t>
            </a:r>
            <a:r>
              <a:rPr lang="en-US" dirty="0" smtClean="0"/>
              <a:t>separate countries)</a:t>
            </a:r>
            <a:endParaRPr lang="en-US" dirty="0"/>
          </a:p>
        </p:txBody>
      </p:sp>
      <p:sp>
        <p:nvSpPr>
          <p:cNvPr id="4" name="Slide Number Placeholder 3"/>
          <p:cNvSpPr>
            <a:spLocks noGrp="1"/>
          </p:cNvSpPr>
          <p:nvPr>
            <p:ph type="sldNum" sz="quarter" idx="10"/>
          </p:nvPr>
        </p:nvSpPr>
        <p:spPr/>
        <p:txBody>
          <a:bodyPr/>
          <a:lstStyle/>
          <a:p>
            <a:fld id="{38430C46-A5DA-4DCB-9B8B-AB028C842E02}" type="slidenum">
              <a:rPr lang="en-US" smtClean="0"/>
              <a:t>36</a:t>
            </a:fld>
            <a:endParaRPr lang="en-US" dirty="0"/>
          </a:p>
        </p:txBody>
      </p:sp>
    </p:spTree>
    <p:extLst>
      <p:ext uri="{BB962C8B-B14F-4D97-AF65-F5344CB8AC3E}">
        <p14:creationId xmlns:p14="http://schemas.microsoft.com/office/powerpoint/2010/main" val="154240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14</a:t>
            </a:r>
            <a:endParaRPr lang="en-US" dirty="0"/>
          </a:p>
        </p:txBody>
      </p:sp>
      <p:sp>
        <p:nvSpPr>
          <p:cNvPr id="3" name="Text Placeholder 2"/>
          <p:cNvSpPr>
            <a:spLocks noGrp="1"/>
          </p:cNvSpPr>
          <p:nvPr>
            <p:ph type="body" sz="quarter" idx="15"/>
          </p:nvPr>
        </p:nvSpPr>
        <p:spPr/>
        <p:txBody>
          <a:bodyPr/>
          <a:lstStyle/>
          <a:p>
            <a:r>
              <a:rPr lang="en-US" dirty="0" smtClean="0"/>
              <a:t>People on the Move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accent1">
                    <a:lumMod val="75000"/>
                  </a:schemeClr>
                </a:solidFill>
              </a:rPr>
              <a:t>14.1</a:t>
            </a:r>
            <a:r>
              <a:rPr lang="en-US" dirty="0" smtClean="0"/>
              <a:t> Describe the major categories of migration.</a:t>
            </a:r>
          </a:p>
          <a:p>
            <a:endParaRPr lang="en-US" dirty="0"/>
          </a:p>
          <a:p>
            <a:pPr marL="0" indent="0">
              <a:buNone/>
            </a:pPr>
            <a:r>
              <a:rPr lang="en-US" dirty="0" smtClean="0">
                <a:solidFill>
                  <a:srgbClr val="376092"/>
                </a:solidFill>
              </a:rPr>
              <a:t>14.2</a:t>
            </a:r>
            <a:r>
              <a:rPr lang="en-US" dirty="0" smtClean="0"/>
              <a:t> Discuss examples of the new immigrants to the United States and Canada.</a:t>
            </a:r>
          </a:p>
          <a:p>
            <a:endParaRPr lang="en-US" dirty="0"/>
          </a:p>
          <a:p>
            <a:pPr marL="0" indent="0">
              <a:buNone/>
            </a:pPr>
            <a:r>
              <a:rPr lang="en-US" dirty="0" smtClean="0">
                <a:solidFill>
                  <a:srgbClr val="376092"/>
                </a:solidFill>
              </a:rPr>
              <a:t>14.3</a:t>
            </a:r>
            <a:r>
              <a:rPr lang="en-US" dirty="0" smtClean="0"/>
              <a:t> Recognize how cultural anthropologists contribute to migration policies and programs.</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on the Move</a:t>
            </a:r>
            <a:endParaRPr lang="en-US" dirty="0"/>
          </a:p>
        </p:txBody>
      </p:sp>
      <p:sp>
        <p:nvSpPr>
          <p:cNvPr id="3" name="Content Placeholder 2"/>
          <p:cNvSpPr>
            <a:spLocks noGrp="1"/>
          </p:cNvSpPr>
          <p:nvPr>
            <p:ph idx="1"/>
          </p:nvPr>
        </p:nvSpPr>
        <p:spPr/>
        <p:txBody>
          <a:bodyPr/>
          <a:lstStyle/>
          <a:p>
            <a:r>
              <a:rPr lang="en-US" dirty="0" smtClean="0"/>
              <a:t>Migration:</a:t>
            </a:r>
          </a:p>
          <a:p>
            <a:pPr lvl="1"/>
            <a:r>
              <a:rPr lang="en-US" dirty="0" smtClean="0"/>
              <a:t>The </a:t>
            </a:r>
            <a:r>
              <a:rPr lang="en-US" dirty="0"/>
              <a:t>movement of a person or people from one place to </a:t>
            </a:r>
            <a:r>
              <a:rPr lang="en-US" dirty="0" smtClean="0"/>
              <a:t>another</a:t>
            </a:r>
          </a:p>
          <a:p>
            <a:pPr lvl="1"/>
            <a:endParaRPr lang="en-US" dirty="0"/>
          </a:p>
          <a:p>
            <a:pPr lvl="1"/>
            <a:r>
              <a:rPr lang="en-US" dirty="0" smtClean="0"/>
              <a:t>Multiple </a:t>
            </a:r>
            <a:r>
              <a:rPr lang="en-US" dirty="0"/>
              <a:t>causes, depending on context</a:t>
            </a:r>
          </a:p>
          <a:p>
            <a:pPr lvl="1"/>
            <a:r>
              <a:rPr lang="en-US" dirty="0"/>
              <a:t>M</a:t>
            </a:r>
            <a:r>
              <a:rPr lang="en-US" dirty="0" smtClean="0"/>
              <a:t>ultiple </a:t>
            </a:r>
            <a:r>
              <a:rPr lang="en-US" dirty="0"/>
              <a:t>consequences, depending on context</a:t>
            </a:r>
          </a:p>
          <a:p>
            <a:endParaRPr lang="en-US" dirty="0"/>
          </a:p>
        </p:txBody>
      </p:sp>
    </p:spTree>
    <p:extLst>
      <p:ext uri="{BB962C8B-B14F-4D97-AF65-F5344CB8AC3E}">
        <p14:creationId xmlns:p14="http://schemas.microsoft.com/office/powerpoint/2010/main" val="37447094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4000" dirty="0" smtClean="0"/>
              <a:t>Categories of Migration </a:t>
            </a:r>
            <a:r>
              <a:rPr lang="en-US" sz="3200" dirty="0" smtClean="0"/>
              <a:t/>
            </a:r>
            <a:br>
              <a:rPr lang="en-US" sz="3200" dirty="0" smtClean="0"/>
            </a:br>
            <a:r>
              <a:rPr lang="en-US" sz="2400" dirty="0" smtClean="0"/>
              <a:t>14.1 Describe the major categories of migration.</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Categories Based on Spatial Boundaries</a:t>
            </a:r>
          </a:p>
          <a:p>
            <a:endParaRPr lang="en-US" dirty="0" smtClean="0"/>
          </a:p>
          <a:p>
            <a:r>
              <a:rPr lang="en-US" dirty="0" smtClean="0"/>
              <a:t>Categories Based on Reason for Moving</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Categories Based on </a:t>
            </a:r>
            <a:br>
              <a:rPr lang="en-US" dirty="0" smtClean="0"/>
            </a:br>
            <a:r>
              <a:rPr lang="en-US" dirty="0" smtClean="0"/>
              <a:t>Spatial Boundaries </a:t>
            </a:r>
            <a:r>
              <a:rPr lang="en-US" sz="3100" dirty="0" smtClean="0"/>
              <a:t>(1 of 4)</a:t>
            </a:r>
            <a:endParaRPr lang="en-US" sz="3100" dirty="0"/>
          </a:p>
        </p:txBody>
      </p:sp>
      <p:sp>
        <p:nvSpPr>
          <p:cNvPr id="3" name="Content Placeholder 2"/>
          <p:cNvSpPr>
            <a:spLocks noGrp="1"/>
          </p:cNvSpPr>
          <p:nvPr>
            <p:ph idx="1"/>
          </p:nvPr>
        </p:nvSpPr>
        <p:spPr/>
        <p:txBody>
          <a:bodyPr>
            <a:normAutofit lnSpcReduction="10000"/>
          </a:bodyPr>
          <a:lstStyle/>
          <a:p>
            <a:r>
              <a:rPr lang="en-US" dirty="0"/>
              <a:t>Internal migration</a:t>
            </a:r>
          </a:p>
          <a:p>
            <a:pPr lvl="1"/>
            <a:r>
              <a:rPr lang="en-US" dirty="0"/>
              <a:t>Movement within country boundaries</a:t>
            </a:r>
          </a:p>
          <a:p>
            <a:r>
              <a:rPr lang="en-US" dirty="0"/>
              <a:t>International migration</a:t>
            </a:r>
          </a:p>
          <a:p>
            <a:pPr lvl="1"/>
            <a:r>
              <a:rPr lang="en-US" dirty="0"/>
              <a:t>Movement across country boundaries</a:t>
            </a:r>
          </a:p>
          <a:p>
            <a:r>
              <a:rPr lang="en-US" dirty="0"/>
              <a:t>Transnational migration</a:t>
            </a:r>
          </a:p>
          <a:p>
            <a:pPr lvl="1"/>
            <a:r>
              <a:rPr lang="en-US" dirty="0"/>
              <a:t>Movement in which a person regularly moves back and forth between two or more countries and forms a new cultural identity transcending a single geopolitical unit</a:t>
            </a:r>
          </a:p>
          <a:p>
            <a:endParaRPr lang="en-US" dirty="0"/>
          </a:p>
        </p:txBody>
      </p:sp>
    </p:spTree>
    <p:extLst>
      <p:ext uri="{BB962C8B-B14F-4D97-AF65-F5344CB8AC3E}">
        <p14:creationId xmlns:p14="http://schemas.microsoft.com/office/powerpoint/2010/main" val="144984699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Based </a:t>
            </a:r>
            <a:r>
              <a:rPr lang="en-US" dirty="0" smtClean="0"/>
              <a:t>on</a:t>
            </a:r>
            <a:br>
              <a:rPr lang="en-US" dirty="0" smtClean="0"/>
            </a:br>
            <a:r>
              <a:rPr lang="en-US" dirty="0" smtClean="0"/>
              <a:t> </a:t>
            </a:r>
            <a:r>
              <a:rPr lang="en-US" dirty="0"/>
              <a:t>Spatial Boundaries </a:t>
            </a:r>
            <a:r>
              <a:rPr lang="en-US" sz="3100" dirty="0" smtClean="0"/>
              <a:t>(2 </a:t>
            </a:r>
            <a:r>
              <a:rPr lang="en-US" sz="3100" dirty="0"/>
              <a:t>of 4)</a:t>
            </a:r>
          </a:p>
        </p:txBody>
      </p:sp>
      <p:sp>
        <p:nvSpPr>
          <p:cNvPr id="3" name="Content Placeholder 2"/>
          <p:cNvSpPr>
            <a:spLocks noGrp="1"/>
          </p:cNvSpPr>
          <p:nvPr>
            <p:ph idx="1"/>
          </p:nvPr>
        </p:nvSpPr>
        <p:spPr/>
        <p:txBody>
          <a:bodyPr>
            <a:normAutofit/>
          </a:bodyPr>
          <a:lstStyle/>
          <a:p>
            <a:r>
              <a:rPr lang="en-US" dirty="0" smtClean="0"/>
              <a:t>Internal Migration</a:t>
            </a:r>
          </a:p>
          <a:p>
            <a:pPr lvl="1"/>
            <a:r>
              <a:rPr lang="en-US" dirty="0" smtClean="0"/>
              <a:t>Rural-to-urban </a:t>
            </a:r>
            <a:r>
              <a:rPr lang="en-US" dirty="0"/>
              <a:t>is the dominant form</a:t>
            </a:r>
          </a:p>
          <a:p>
            <a:pPr lvl="1"/>
            <a:r>
              <a:rPr lang="en-US" dirty="0" smtClean="0"/>
              <a:t>Push–pull </a:t>
            </a:r>
            <a:r>
              <a:rPr lang="en-US" dirty="0"/>
              <a:t>theory of labor </a:t>
            </a:r>
            <a:r>
              <a:rPr lang="en-US" dirty="0" smtClean="0"/>
              <a:t>migration</a:t>
            </a:r>
            <a:endParaRPr lang="en-US" dirty="0"/>
          </a:p>
          <a:p>
            <a:pPr lvl="2"/>
            <a:r>
              <a:rPr lang="en-US" dirty="0"/>
              <a:t>This theory developed in response to high levels </a:t>
            </a:r>
            <a:r>
              <a:rPr lang="en-US" dirty="0" smtClean="0"/>
              <a:t>of rural-to-urban </a:t>
            </a:r>
            <a:r>
              <a:rPr lang="en-US" dirty="0"/>
              <a:t>migration in the </a:t>
            </a:r>
            <a:r>
              <a:rPr lang="en-US" dirty="0" smtClean="0"/>
              <a:t>mid-twentieth </a:t>
            </a:r>
            <a:r>
              <a:rPr lang="en-US" dirty="0"/>
              <a:t>century</a:t>
            </a:r>
          </a:p>
          <a:p>
            <a:pPr lvl="2"/>
            <a:r>
              <a:rPr lang="en-US" dirty="0"/>
              <a:t>Based on quality-of-life factors and “rational </a:t>
            </a:r>
            <a:r>
              <a:rPr lang="en-US" dirty="0" smtClean="0"/>
              <a:t>choice,” a </a:t>
            </a:r>
            <a:r>
              <a:rPr lang="en-US" dirty="0"/>
              <a:t>person’s assessment of where a better life can be achieved</a:t>
            </a:r>
          </a:p>
          <a:p>
            <a:endParaRPr lang="en-US" dirty="0"/>
          </a:p>
        </p:txBody>
      </p:sp>
    </p:spTree>
    <p:extLst>
      <p:ext uri="{BB962C8B-B14F-4D97-AF65-F5344CB8AC3E}">
        <p14:creationId xmlns:p14="http://schemas.microsoft.com/office/powerpoint/2010/main" val="3229302275"/>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Based on </a:t>
            </a:r>
            <a:r>
              <a:rPr lang="en-US" dirty="0" smtClean="0"/>
              <a:t/>
            </a:r>
            <a:br>
              <a:rPr lang="en-US" dirty="0" smtClean="0"/>
            </a:br>
            <a:r>
              <a:rPr lang="en-US" dirty="0" smtClean="0"/>
              <a:t>Spatial </a:t>
            </a:r>
            <a:r>
              <a:rPr lang="en-US" dirty="0"/>
              <a:t>Boundaries </a:t>
            </a:r>
            <a:r>
              <a:rPr lang="en-US" sz="3100" dirty="0" smtClean="0"/>
              <a:t>(3 </a:t>
            </a:r>
            <a:r>
              <a:rPr lang="en-US" sz="3100" dirty="0"/>
              <a:t>of 4)</a:t>
            </a:r>
          </a:p>
        </p:txBody>
      </p:sp>
      <p:sp>
        <p:nvSpPr>
          <p:cNvPr id="3" name="Content Placeholder 2"/>
          <p:cNvSpPr>
            <a:spLocks noGrp="1"/>
          </p:cNvSpPr>
          <p:nvPr>
            <p:ph idx="1"/>
          </p:nvPr>
        </p:nvSpPr>
        <p:spPr/>
        <p:txBody>
          <a:bodyPr>
            <a:normAutofit lnSpcReduction="10000"/>
          </a:bodyPr>
          <a:lstStyle/>
          <a:p>
            <a:r>
              <a:rPr lang="en-US" dirty="0" smtClean="0"/>
              <a:t>International Migration</a:t>
            </a:r>
          </a:p>
          <a:p>
            <a:pPr lvl="1"/>
            <a:r>
              <a:rPr lang="en-US" dirty="0"/>
              <a:t>Growing rates since 1945</a:t>
            </a:r>
          </a:p>
          <a:p>
            <a:pPr lvl="1"/>
            <a:r>
              <a:rPr lang="en-US" dirty="0"/>
              <a:t>Work-related reasons important for voluntary migrants</a:t>
            </a:r>
          </a:p>
          <a:p>
            <a:pPr lvl="1"/>
            <a:r>
              <a:rPr lang="en-US" dirty="0"/>
              <a:t>Increasing numbers of involuntary international migrants, especially refugees and trafficked persons</a:t>
            </a:r>
          </a:p>
          <a:p>
            <a:pPr lvl="1"/>
            <a:r>
              <a:rPr lang="en-US" dirty="0"/>
              <a:t>Racist and politicized policies in many of the major destination countries about which immigrants to admit</a:t>
            </a:r>
          </a:p>
          <a:p>
            <a:pPr lvl="1"/>
            <a:endParaRPr lang="en-US" dirty="0"/>
          </a:p>
        </p:txBody>
      </p:sp>
    </p:spTree>
    <p:extLst>
      <p:ext uri="{BB962C8B-B14F-4D97-AF65-F5344CB8AC3E}">
        <p14:creationId xmlns:p14="http://schemas.microsoft.com/office/powerpoint/2010/main" val="3130826081"/>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Based on </a:t>
            </a:r>
            <a:br>
              <a:rPr lang="en-US" dirty="0"/>
            </a:br>
            <a:r>
              <a:rPr lang="en-US" dirty="0" smtClean="0"/>
              <a:t>Spatial </a:t>
            </a:r>
            <a:r>
              <a:rPr lang="en-US" dirty="0"/>
              <a:t>Boundaries </a:t>
            </a:r>
            <a:r>
              <a:rPr lang="en-US" sz="3100" dirty="0" smtClean="0"/>
              <a:t>(4 </a:t>
            </a:r>
            <a:r>
              <a:rPr lang="en-US" sz="3100" dirty="0"/>
              <a:t>of 4)</a:t>
            </a:r>
          </a:p>
        </p:txBody>
      </p:sp>
      <p:sp>
        <p:nvSpPr>
          <p:cNvPr id="3" name="Content Placeholder 2"/>
          <p:cNvSpPr>
            <a:spLocks noGrp="1"/>
          </p:cNvSpPr>
          <p:nvPr>
            <p:ph idx="1"/>
          </p:nvPr>
        </p:nvSpPr>
        <p:spPr/>
        <p:txBody>
          <a:bodyPr/>
          <a:lstStyle/>
          <a:p>
            <a:r>
              <a:rPr lang="en-US" dirty="0" smtClean="0"/>
              <a:t>Transnational Migration</a:t>
            </a:r>
          </a:p>
          <a:p>
            <a:pPr lvl="1"/>
            <a:r>
              <a:rPr lang="en-US" dirty="0"/>
              <a:t>Defined as migration in which a person regularly moves back and forth between two or more countries</a:t>
            </a:r>
          </a:p>
          <a:p>
            <a:pPr lvl="1"/>
            <a:r>
              <a:rPr lang="en-US" dirty="0"/>
              <a:t>Much transnational migration motivated by economic factors</a:t>
            </a:r>
          </a:p>
          <a:p>
            <a:pPr lvl="1"/>
            <a:r>
              <a:rPr lang="en-US" dirty="0"/>
              <a:t>Importance of </a:t>
            </a:r>
            <a:r>
              <a:rPr lang="en-US" dirty="0" smtClean="0"/>
              <a:t>remittances</a:t>
            </a:r>
          </a:p>
          <a:p>
            <a:pPr lvl="2"/>
            <a:r>
              <a:rPr lang="en-US" dirty="0" smtClean="0"/>
              <a:t>Example: Tonga</a:t>
            </a:r>
            <a:endParaRPr lang="en-US" dirty="0"/>
          </a:p>
          <a:p>
            <a:pPr lvl="1"/>
            <a:r>
              <a:rPr lang="en-US" dirty="0"/>
              <a:t>Questions of “citizenship” and identity</a:t>
            </a:r>
          </a:p>
          <a:p>
            <a:pPr lvl="1"/>
            <a:endParaRPr lang="en-US" dirty="0"/>
          </a:p>
        </p:txBody>
      </p:sp>
    </p:spTree>
    <p:extLst>
      <p:ext uri="{BB962C8B-B14F-4D97-AF65-F5344CB8AC3E}">
        <p14:creationId xmlns:p14="http://schemas.microsoft.com/office/powerpoint/2010/main" val="847924630"/>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14.1 Tonga</a:t>
            </a:r>
            <a:endParaRPr lang="en-US" dirty="0"/>
          </a:p>
        </p:txBody>
      </p:sp>
      <p:pic>
        <p:nvPicPr>
          <p:cNvPr id="4" name="Content Placeholder 3" descr="A map of Tonga shows its capital Nuku’alofa on its largest island, Tongatapu, and smaller islands making up the Vava’u Group and Ha’apai Group. Inset maps show the country is near Fiji and Samoa, in the South Pacific."/>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19400" y="1503866"/>
            <a:ext cx="3429000" cy="4825871"/>
          </a:xfrm>
        </p:spPr>
      </p:pic>
    </p:spTree>
    <p:extLst>
      <p:ext uri="{BB962C8B-B14F-4D97-AF65-F5344CB8AC3E}">
        <p14:creationId xmlns:p14="http://schemas.microsoft.com/office/powerpoint/2010/main" val="364193276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a:t>
            </a:r>
            <a:r>
              <a:rPr lang="en-US" dirty="0" smtClean="0"/>
              <a:t>Moving </a:t>
            </a:r>
            <a:r>
              <a:rPr lang="en-US" sz="3100" dirty="0" smtClean="0"/>
              <a:t>(1 of 6)</a:t>
            </a:r>
            <a:endParaRPr lang="en-US" sz="3100" dirty="0"/>
          </a:p>
        </p:txBody>
      </p:sp>
      <p:sp>
        <p:nvSpPr>
          <p:cNvPr id="3" name="Content Placeholder 2"/>
          <p:cNvSpPr>
            <a:spLocks noGrp="1"/>
          </p:cNvSpPr>
          <p:nvPr>
            <p:ph idx="1"/>
          </p:nvPr>
        </p:nvSpPr>
        <p:spPr/>
        <p:txBody>
          <a:bodyPr>
            <a:normAutofit/>
          </a:bodyPr>
          <a:lstStyle/>
          <a:p>
            <a:r>
              <a:rPr lang="en-US" dirty="0" smtClean="0"/>
              <a:t>Labor Migrants</a:t>
            </a:r>
          </a:p>
          <a:p>
            <a:pPr lvl="1"/>
            <a:r>
              <a:rPr lang="en-US" dirty="0" smtClean="0"/>
              <a:t>Work </a:t>
            </a:r>
            <a:r>
              <a:rPr lang="en-US" dirty="0"/>
              <a:t>period </a:t>
            </a:r>
            <a:r>
              <a:rPr lang="en-US" dirty="0" smtClean="0"/>
              <a:t>brief; </a:t>
            </a:r>
            <a:r>
              <a:rPr lang="en-US" dirty="0"/>
              <a:t>no permanent residence</a:t>
            </a:r>
          </a:p>
          <a:p>
            <a:pPr lvl="1"/>
            <a:r>
              <a:rPr lang="en-US" dirty="0"/>
              <a:t>When legally contracted, it is called wage labor migration</a:t>
            </a:r>
          </a:p>
          <a:p>
            <a:pPr lvl="1"/>
            <a:r>
              <a:rPr lang="en-US" dirty="0" smtClean="0"/>
              <a:t>Example: circular </a:t>
            </a:r>
            <a:r>
              <a:rPr lang="en-US" dirty="0"/>
              <a:t>migration of women domestic workers in Latin America and the </a:t>
            </a:r>
            <a:r>
              <a:rPr lang="en-US" dirty="0" smtClean="0"/>
              <a:t>Caribbean</a:t>
            </a:r>
            <a:endParaRPr lang="en-US" dirty="0"/>
          </a:p>
          <a:p>
            <a:pPr marL="0" indent="0">
              <a:buNone/>
            </a:pPr>
            <a:endParaRPr lang="en-US" dirty="0"/>
          </a:p>
        </p:txBody>
      </p:sp>
    </p:spTree>
    <p:extLst>
      <p:ext uri="{BB962C8B-B14F-4D97-AF65-F5344CB8AC3E}">
        <p14:creationId xmlns:p14="http://schemas.microsoft.com/office/powerpoint/2010/main" val="132553961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Moving </a:t>
            </a:r>
            <a:r>
              <a:rPr lang="en-US" sz="3100" dirty="0" smtClean="0"/>
              <a:t>(2 </a:t>
            </a:r>
            <a:r>
              <a:rPr lang="en-US" sz="3100" dirty="0"/>
              <a:t>of 6)</a:t>
            </a:r>
          </a:p>
        </p:txBody>
      </p:sp>
      <p:sp>
        <p:nvSpPr>
          <p:cNvPr id="3" name="Content Placeholder 2"/>
          <p:cNvSpPr>
            <a:spLocks noGrp="1"/>
          </p:cNvSpPr>
          <p:nvPr>
            <p:ph idx="1"/>
          </p:nvPr>
        </p:nvSpPr>
        <p:spPr/>
        <p:txBody>
          <a:bodyPr/>
          <a:lstStyle/>
          <a:p>
            <a:r>
              <a:rPr lang="en-US" dirty="0" smtClean="0"/>
              <a:t>Displaced Persons </a:t>
            </a:r>
          </a:p>
          <a:p>
            <a:pPr lvl="1"/>
            <a:r>
              <a:rPr lang="en-US" dirty="0" smtClean="0"/>
              <a:t>Refugees</a:t>
            </a:r>
            <a:endParaRPr lang="en-US" dirty="0"/>
          </a:p>
          <a:p>
            <a:pPr lvl="2"/>
            <a:r>
              <a:rPr lang="en-US" dirty="0"/>
              <a:t>Victims of persecution, natural disaster, other</a:t>
            </a:r>
          </a:p>
          <a:p>
            <a:pPr lvl="1"/>
            <a:r>
              <a:rPr lang="en-US" dirty="0"/>
              <a:t>Internally displaced persons (IDPs)</a:t>
            </a:r>
          </a:p>
          <a:p>
            <a:pPr lvl="2"/>
            <a:r>
              <a:rPr lang="en-US" dirty="0" smtClean="0"/>
              <a:t>Remain in their home </a:t>
            </a:r>
            <a:r>
              <a:rPr lang="en-US" dirty="0" smtClean="0"/>
              <a:t>country; </a:t>
            </a:r>
            <a:r>
              <a:rPr lang="en-US" dirty="0" smtClean="0"/>
              <a:t>victims </a:t>
            </a:r>
            <a:r>
              <a:rPr lang="en-US" dirty="0"/>
              <a:t>of persecution, natural disaster, other</a:t>
            </a:r>
          </a:p>
          <a:p>
            <a:pPr lvl="1"/>
            <a:r>
              <a:rPr lang="en-US" dirty="0"/>
              <a:t>Development-induced displacement</a:t>
            </a:r>
          </a:p>
          <a:p>
            <a:pPr lvl="2"/>
            <a:r>
              <a:rPr lang="en-US" dirty="0"/>
              <a:t>Victims of projects such as dams, mines, shopping centers, urban </a:t>
            </a:r>
            <a:r>
              <a:rPr lang="en-US" dirty="0" smtClean="0"/>
              <a:t>growth</a:t>
            </a:r>
          </a:p>
          <a:p>
            <a:pPr marL="0" indent="0">
              <a:buNone/>
            </a:pPr>
            <a:endParaRPr lang="en-US" dirty="0"/>
          </a:p>
        </p:txBody>
      </p:sp>
    </p:spTree>
    <p:extLst>
      <p:ext uri="{BB962C8B-B14F-4D97-AF65-F5344CB8AC3E}">
        <p14:creationId xmlns:p14="http://schemas.microsoft.com/office/powerpoint/2010/main" val="139812246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Moving </a:t>
            </a:r>
            <a:r>
              <a:rPr lang="en-US" sz="3100" dirty="0" smtClean="0"/>
              <a:t>(3 </a:t>
            </a:r>
            <a:r>
              <a:rPr lang="en-US" sz="3100" dirty="0"/>
              <a:t>of 6)</a:t>
            </a:r>
          </a:p>
        </p:txBody>
      </p:sp>
      <p:sp>
        <p:nvSpPr>
          <p:cNvPr id="3" name="Content Placeholder 2"/>
          <p:cNvSpPr>
            <a:spLocks noGrp="1"/>
          </p:cNvSpPr>
          <p:nvPr>
            <p:ph idx="1"/>
          </p:nvPr>
        </p:nvSpPr>
        <p:spPr/>
        <p:txBody>
          <a:bodyPr/>
          <a:lstStyle/>
          <a:p>
            <a:r>
              <a:rPr lang="en-US" dirty="0" smtClean="0"/>
              <a:t>Refugees</a:t>
            </a:r>
          </a:p>
          <a:p>
            <a:pPr lvl="1"/>
            <a:r>
              <a:rPr lang="en-US" dirty="0"/>
              <a:t>A large and growing category of displaced persons</a:t>
            </a:r>
          </a:p>
          <a:p>
            <a:pPr lvl="1"/>
            <a:r>
              <a:rPr lang="en-US" dirty="0"/>
              <a:t>Roughly </a:t>
            </a:r>
            <a:r>
              <a:rPr lang="en-US" dirty="0" smtClean="0"/>
              <a:t>16 million people </a:t>
            </a:r>
            <a:r>
              <a:rPr lang="en-US" dirty="0"/>
              <a:t>today are refugees—that is </a:t>
            </a:r>
            <a:r>
              <a:rPr lang="en-US" dirty="0" smtClean="0"/>
              <a:t>more than one </a:t>
            </a:r>
            <a:r>
              <a:rPr lang="en-US" dirty="0"/>
              <a:t>of every 500 people in the world</a:t>
            </a:r>
          </a:p>
          <a:p>
            <a:pPr lvl="1"/>
            <a:r>
              <a:rPr lang="en-US" dirty="0"/>
              <a:t>Women and children are the majority of </a:t>
            </a:r>
            <a:r>
              <a:rPr lang="en-US" dirty="0" smtClean="0"/>
              <a:t>refugees</a:t>
            </a:r>
            <a:endParaRPr lang="en-US" dirty="0"/>
          </a:p>
        </p:txBody>
      </p:sp>
    </p:spTree>
    <p:extLst>
      <p:ext uri="{BB962C8B-B14F-4D97-AF65-F5344CB8AC3E}">
        <p14:creationId xmlns:p14="http://schemas.microsoft.com/office/powerpoint/2010/main" val="1228623710"/>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Moving </a:t>
            </a:r>
            <a:r>
              <a:rPr lang="en-US" sz="3100" dirty="0" smtClean="0"/>
              <a:t>(4 </a:t>
            </a:r>
            <a:r>
              <a:rPr lang="en-US" sz="3100" dirty="0"/>
              <a:t>of 6)</a:t>
            </a:r>
          </a:p>
        </p:txBody>
      </p:sp>
      <p:sp>
        <p:nvSpPr>
          <p:cNvPr id="3" name="Content Placeholder 2"/>
          <p:cNvSpPr>
            <a:spLocks noGrp="1"/>
          </p:cNvSpPr>
          <p:nvPr>
            <p:ph idx="1"/>
          </p:nvPr>
        </p:nvSpPr>
        <p:spPr/>
        <p:txBody>
          <a:bodyPr/>
          <a:lstStyle/>
          <a:p>
            <a:r>
              <a:rPr lang="en-US" dirty="0" smtClean="0"/>
              <a:t>Internally Displaced Persons (IDPs)</a:t>
            </a:r>
          </a:p>
          <a:p>
            <a:pPr lvl="1"/>
            <a:r>
              <a:rPr lang="en-US" dirty="0"/>
              <a:t>The fastest-growing category of displaced people</a:t>
            </a:r>
          </a:p>
          <a:p>
            <a:pPr lvl="1"/>
            <a:r>
              <a:rPr lang="en-US" dirty="0"/>
              <a:t>Perhaps </a:t>
            </a:r>
            <a:r>
              <a:rPr lang="en-US" dirty="0" smtClean="0"/>
              <a:t>38 </a:t>
            </a:r>
            <a:r>
              <a:rPr lang="en-US" dirty="0"/>
              <a:t>million </a:t>
            </a:r>
            <a:r>
              <a:rPr lang="en-US" dirty="0" smtClean="0"/>
              <a:t>IDPs</a:t>
            </a:r>
            <a:r>
              <a:rPr lang="en-US" dirty="0" smtClean="0"/>
              <a:t> </a:t>
            </a:r>
            <a:r>
              <a:rPr lang="en-US" dirty="0"/>
              <a:t>today</a:t>
            </a:r>
          </a:p>
          <a:p>
            <a:pPr lvl="1"/>
            <a:r>
              <a:rPr lang="en-US" dirty="0"/>
              <a:t>Africa is the continent with the most IDPs</a:t>
            </a:r>
          </a:p>
          <a:p>
            <a:pPr lvl="1"/>
            <a:r>
              <a:rPr lang="en-US" dirty="0"/>
              <a:t>Political violence the major cause, </a:t>
            </a:r>
            <a:r>
              <a:rPr lang="en-US" dirty="0" smtClean="0"/>
              <a:t>as well as development </a:t>
            </a:r>
            <a:r>
              <a:rPr lang="en-US" dirty="0"/>
              <a:t>projects (development-induced displacement, DID)</a:t>
            </a:r>
          </a:p>
          <a:p>
            <a:pPr lvl="1"/>
            <a:endParaRPr lang="en-US" dirty="0"/>
          </a:p>
        </p:txBody>
      </p:sp>
    </p:spTree>
    <p:extLst>
      <p:ext uri="{BB962C8B-B14F-4D97-AF65-F5344CB8AC3E}">
        <p14:creationId xmlns:p14="http://schemas.microsoft.com/office/powerpoint/2010/main" val="3620141249"/>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Moving </a:t>
            </a:r>
            <a:r>
              <a:rPr lang="en-US" sz="3100" dirty="0" smtClean="0"/>
              <a:t>(5 </a:t>
            </a:r>
            <a:r>
              <a:rPr lang="en-US" sz="3100" dirty="0"/>
              <a:t>of 6)</a:t>
            </a:r>
          </a:p>
        </p:txBody>
      </p:sp>
      <p:sp>
        <p:nvSpPr>
          <p:cNvPr id="3" name="Content Placeholder 2"/>
          <p:cNvSpPr>
            <a:spLocks noGrp="1"/>
          </p:cNvSpPr>
          <p:nvPr>
            <p:ph idx="1"/>
          </p:nvPr>
        </p:nvSpPr>
        <p:spPr/>
        <p:txBody>
          <a:bodyPr/>
          <a:lstStyle/>
          <a:p>
            <a:r>
              <a:rPr lang="en-US" dirty="0" smtClean="0"/>
              <a:t>Development-Induced Displacement</a:t>
            </a:r>
          </a:p>
          <a:p>
            <a:pPr lvl="1"/>
            <a:r>
              <a:rPr lang="en-US" dirty="0" smtClean="0"/>
              <a:t>Dam projects alone have displaced 80 million people</a:t>
            </a:r>
          </a:p>
          <a:p>
            <a:pPr lvl="1"/>
            <a:r>
              <a:rPr lang="en-US" dirty="0" smtClean="0"/>
              <a:t>Example: Three Gorges Dam in China</a:t>
            </a:r>
            <a:endParaRPr lang="en-US" dirty="0"/>
          </a:p>
        </p:txBody>
      </p:sp>
    </p:spTree>
    <p:extLst>
      <p:ext uri="{BB962C8B-B14F-4D97-AF65-F5344CB8AC3E}">
        <p14:creationId xmlns:p14="http://schemas.microsoft.com/office/powerpoint/2010/main" val="1235286646"/>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14.2 Site of Three Gorges Dam </a:t>
            </a:r>
            <a:br>
              <a:rPr lang="en-US" dirty="0" smtClean="0"/>
            </a:br>
            <a:r>
              <a:rPr lang="en-US" dirty="0" smtClean="0"/>
              <a:t>in China</a:t>
            </a:r>
            <a:endParaRPr lang="en-US" dirty="0"/>
          </a:p>
        </p:txBody>
      </p:sp>
      <p:pic>
        <p:nvPicPr>
          <p:cNvPr id="4" name="Content Placeholder 3" descr="A map shows the site of Three Gorges Dam along the Yangtze River, between the cities of Chongqing and Wuhan. An inset globe shows the area is in central Chin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76400" y="1494003"/>
            <a:ext cx="6096000" cy="4860464"/>
          </a:xfrm>
        </p:spPr>
      </p:pic>
    </p:spTree>
    <p:extLst>
      <p:ext uri="{BB962C8B-B14F-4D97-AF65-F5344CB8AC3E}">
        <p14:creationId xmlns:p14="http://schemas.microsoft.com/office/powerpoint/2010/main" val="838942514"/>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Categories </a:t>
            </a:r>
            <a:r>
              <a:rPr lang="en-US" dirty="0" smtClean="0"/>
              <a:t>Based </a:t>
            </a:r>
            <a:r>
              <a:rPr lang="en-US" dirty="0"/>
              <a:t>on </a:t>
            </a:r>
            <a:r>
              <a:rPr lang="en-US" dirty="0" smtClean="0"/>
              <a:t/>
            </a:r>
            <a:br>
              <a:rPr lang="en-US" dirty="0" smtClean="0"/>
            </a:br>
            <a:r>
              <a:rPr lang="en-US" dirty="0" smtClean="0"/>
              <a:t>Reason </a:t>
            </a:r>
            <a:r>
              <a:rPr lang="en-US" dirty="0"/>
              <a:t>for Moving </a:t>
            </a:r>
            <a:r>
              <a:rPr lang="en-US" sz="3100" dirty="0" smtClean="0"/>
              <a:t>(6 </a:t>
            </a:r>
            <a:r>
              <a:rPr lang="en-US" sz="3100" dirty="0"/>
              <a:t>of 6)</a:t>
            </a:r>
          </a:p>
        </p:txBody>
      </p:sp>
      <p:sp>
        <p:nvSpPr>
          <p:cNvPr id="3" name="Content Placeholder 2"/>
          <p:cNvSpPr>
            <a:spLocks noGrp="1"/>
          </p:cNvSpPr>
          <p:nvPr>
            <p:ph idx="1"/>
          </p:nvPr>
        </p:nvSpPr>
        <p:spPr/>
        <p:txBody>
          <a:bodyPr/>
          <a:lstStyle/>
          <a:p>
            <a:r>
              <a:rPr lang="en-US" dirty="0" smtClean="0"/>
              <a:t>Institutional Migrants</a:t>
            </a:r>
          </a:p>
          <a:p>
            <a:pPr lvl="1"/>
            <a:r>
              <a:rPr lang="en-US" dirty="0"/>
              <a:t>People who move into a social institution, either voluntarily or involuntarily</a:t>
            </a:r>
          </a:p>
          <a:p>
            <a:pPr lvl="2"/>
            <a:r>
              <a:rPr lang="en-US" dirty="0"/>
              <a:t>Members of the military</a:t>
            </a:r>
          </a:p>
          <a:p>
            <a:pPr lvl="2"/>
            <a:r>
              <a:rPr lang="en-US" dirty="0"/>
              <a:t>Students</a:t>
            </a:r>
          </a:p>
          <a:p>
            <a:pPr lvl="2"/>
            <a:r>
              <a:rPr lang="en-US" dirty="0"/>
              <a:t>The aged</a:t>
            </a:r>
          </a:p>
          <a:p>
            <a:pPr lvl="1"/>
            <a:endParaRPr lang="en-US" dirty="0"/>
          </a:p>
        </p:txBody>
      </p:sp>
    </p:spTree>
    <p:extLst>
      <p:ext uri="{BB962C8B-B14F-4D97-AF65-F5344CB8AC3E}">
        <p14:creationId xmlns:p14="http://schemas.microsoft.com/office/powerpoint/2010/main" val="1267473990"/>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smtClean="0"/>
              <a:t>Think Like an Anthropologist: Haitian Cane Cutters in the Dominican Republic: Structure or Agency? </a:t>
            </a:r>
            <a:r>
              <a:rPr lang="en-US" sz="2400" dirty="0" smtClean="0"/>
              <a:t>(1 of 2)</a:t>
            </a:r>
            <a:endParaRPr lang="en-US" sz="2400" dirty="0"/>
          </a:p>
        </p:txBody>
      </p:sp>
      <p:sp>
        <p:nvSpPr>
          <p:cNvPr id="3" name="Content Placeholder 2"/>
          <p:cNvSpPr>
            <a:spLocks noGrp="1"/>
          </p:cNvSpPr>
          <p:nvPr>
            <p:ph idx="1"/>
          </p:nvPr>
        </p:nvSpPr>
        <p:spPr/>
        <p:txBody>
          <a:bodyPr>
            <a:normAutofit/>
          </a:bodyPr>
          <a:lstStyle/>
          <a:p>
            <a:r>
              <a:rPr lang="en-US" dirty="0" smtClean="0"/>
              <a:t>Men called </a:t>
            </a:r>
            <a:r>
              <a:rPr lang="en-US" dirty="0"/>
              <a:t>braceros, agricultural workers allowed to enter a country for a specified period of time</a:t>
            </a:r>
          </a:p>
          <a:p>
            <a:r>
              <a:rPr lang="en-US" dirty="0"/>
              <a:t>Anthropologists and others have taken two positions on the Haitian braceros</a:t>
            </a:r>
          </a:p>
          <a:p>
            <a:pPr lvl="1"/>
            <a:r>
              <a:rPr lang="en-US" dirty="0"/>
              <a:t>View 1: </a:t>
            </a:r>
            <a:r>
              <a:rPr lang="en-US" dirty="0" smtClean="0"/>
              <a:t>This </a:t>
            </a:r>
            <a:r>
              <a:rPr lang="en-US" dirty="0"/>
              <a:t>system is a violation of Haitian men’s human rights</a:t>
            </a:r>
          </a:p>
          <a:p>
            <a:pPr lvl="1"/>
            <a:r>
              <a:rPr lang="en-US" dirty="0"/>
              <a:t>View 2: Haitian braceros are exercising free choice when they go to the </a:t>
            </a:r>
            <a:r>
              <a:rPr lang="en-US" dirty="0" smtClean="0"/>
              <a:t>Dominican Republic to </a:t>
            </a:r>
            <a:r>
              <a:rPr lang="en-US" dirty="0"/>
              <a:t>work</a:t>
            </a:r>
          </a:p>
          <a:p>
            <a:endParaRPr lang="en-US" dirty="0"/>
          </a:p>
        </p:txBody>
      </p:sp>
    </p:spTree>
    <p:extLst>
      <p:ext uri="{BB962C8B-B14F-4D97-AF65-F5344CB8AC3E}">
        <p14:creationId xmlns:p14="http://schemas.microsoft.com/office/powerpoint/2010/main" val="1630392372"/>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Think Like an Anthropologist: Haitian Cane Cutters in the Dominican Republic: Structure or Agency? </a:t>
            </a:r>
            <a:r>
              <a:rPr lang="en-US" sz="2400" dirty="0" smtClean="0"/>
              <a:t>(2 </a:t>
            </a:r>
            <a:r>
              <a:rPr lang="en-US" sz="2400" dirty="0"/>
              <a:t>of 2)</a:t>
            </a:r>
          </a:p>
        </p:txBody>
      </p:sp>
      <p:sp>
        <p:nvSpPr>
          <p:cNvPr id="3" name="Content Placeholder 2"/>
          <p:cNvSpPr>
            <a:spLocks noGrp="1"/>
          </p:cNvSpPr>
          <p:nvPr>
            <p:ph idx="1"/>
          </p:nvPr>
        </p:nvSpPr>
        <p:spPr/>
        <p:txBody>
          <a:bodyPr/>
          <a:lstStyle/>
          <a:p>
            <a:r>
              <a:rPr lang="en-US" dirty="0"/>
              <a:t>Research by anthropologist Samuel Martínez reveals a more complex understanding of motivation and </a:t>
            </a:r>
            <a:r>
              <a:rPr lang="en-US" dirty="0" smtClean="0"/>
              <a:t>choice</a:t>
            </a:r>
            <a:endParaRPr lang="en-US" dirty="0"/>
          </a:p>
          <a:p>
            <a:r>
              <a:rPr lang="en-US" dirty="0"/>
              <a:t>He shows that the braceros are not really “free” to “choose” to work in the </a:t>
            </a:r>
            <a:r>
              <a:rPr lang="en-US" dirty="0" smtClean="0"/>
              <a:t>DR </a:t>
            </a:r>
            <a:r>
              <a:rPr lang="en-US" dirty="0"/>
              <a:t>because of the extreme poverty in Haiti</a:t>
            </a:r>
          </a:p>
          <a:p>
            <a:r>
              <a:rPr lang="en-US" dirty="0"/>
              <a:t>It is not free choice, it is “structured choice” or “illusory choice”</a:t>
            </a:r>
          </a:p>
          <a:p>
            <a:endParaRPr lang="en-US" dirty="0"/>
          </a:p>
        </p:txBody>
      </p:sp>
    </p:spTree>
    <p:extLst>
      <p:ext uri="{BB962C8B-B14F-4D97-AF65-F5344CB8AC3E}">
        <p14:creationId xmlns:p14="http://schemas.microsoft.com/office/powerpoint/2010/main" val="1775768701"/>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Culturama: The Maya of Guatemala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smtClean="0"/>
              <a:t>The term Maya </a:t>
            </a:r>
            <a:r>
              <a:rPr lang="en-US" dirty="0"/>
              <a:t>refers to a diverse range of indigenous people who share elements of a common culture and speak varieties of the Mayan language</a:t>
            </a:r>
          </a:p>
          <a:p>
            <a:r>
              <a:rPr lang="en-US" dirty="0"/>
              <a:t>Most live in Mexico and Guatemala</a:t>
            </a:r>
          </a:p>
          <a:p>
            <a:r>
              <a:rPr lang="en-US" dirty="0"/>
              <a:t>Descendants of a formerly rich and powerful civilization, most Maya now live in poverty and lack basic human rights</a:t>
            </a:r>
          </a:p>
          <a:p>
            <a:endParaRPr lang="en-US" dirty="0"/>
          </a:p>
        </p:txBody>
      </p:sp>
    </p:spTree>
    <p:extLst>
      <p:ext uri="{BB962C8B-B14F-4D97-AF65-F5344CB8AC3E}">
        <p14:creationId xmlns:p14="http://schemas.microsoft.com/office/powerpoint/2010/main" val="1626967288"/>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14.3 Guatemala</a:t>
            </a:r>
            <a:endParaRPr lang="en-US" dirty="0"/>
          </a:p>
        </p:txBody>
      </p:sp>
      <p:pic>
        <p:nvPicPr>
          <p:cNvPr id="4" name="Content Placeholder 3" descr="A map of Guatemala shows its capital Guatemala City, and the cities of Santa Maria Tzeja and Santa Cruz del Quiche in the department of El Quiche. Guatemala is bordered by Mexico to the north, Belize to the east, and Honduras and Salvador to the south. An inset globe shows Guatemala is in Central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48000" y="1447800"/>
            <a:ext cx="3200400" cy="4846421"/>
          </a:xfrm>
        </p:spPr>
      </p:pic>
    </p:spTree>
    <p:extLst>
      <p:ext uri="{BB962C8B-B14F-4D97-AF65-F5344CB8AC3E}">
        <p14:creationId xmlns:p14="http://schemas.microsoft.com/office/powerpoint/2010/main" val="2546629891"/>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Culturama: The Maya of Guatemala </a:t>
            </a:r>
            <a:r>
              <a:rPr lang="en-US" sz="2800" dirty="0" smtClean="0"/>
              <a:t>(2 </a:t>
            </a:r>
            <a:r>
              <a:rPr lang="en-US" sz="2800" dirty="0"/>
              <a:t>of 2)</a:t>
            </a:r>
          </a:p>
        </p:txBody>
      </p:sp>
      <p:sp>
        <p:nvSpPr>
          <p:cNvPr id="3" name="Content Placeholder 2"/>
          <p:cNvSpPr>
            <a:spLocks noGrp="1"/>
          </p:cNvSpPr>
          <p:nvPr>
            <p:ph idx="1"/>
          </p:nvPr>
        </p:nvSpPr>
        <p:spPr/>
        <p:txBody>
          <a:bodyPr>
            <a:normAutofit fontScale="85000" lnSpcReduction="20000"/>
          </a:bodyPr>
          <a:lstStyle/>
          <a:p>
            <a:r>
              <a:rPr lang="en-US" dirty="0"/>
              <a:t>The Maya in Guatemala suffered years of genocide during the 36-year civil war</a:t>
            </a:r>
          </a:p>
          <a:p>
            <a:pPr lvl="1"/>
            <a:r>
              <a:rPr lang="en-US" dirty="0"/>
              <a:t>200,000 were “disappeared”</a:t>
            </a:r>
          </a:p>
          <a:p>
            <a:pPr lvl="1"/>
            <a:r>
              <a:rPr lang="en-US" dirty="0"/>
              <a:t>250,000 live as IDPs today</a:t>
            </a:r>
          </a:p>
          <a:p>
            <a:r>
              <a:rPr lang="en-US" dirty="0"/>
              <a:t>Case study of Maya people who left their home area and poverty for a better life in the lowland jungle</a:t>
            </a:r>
          </a:p>
          <a:p>
            <a:pPr lvl="1"/>
            <a:r>
              <a:rPr lang="en-US" dirty="0"/>
              <a:t>Their new village of Santa María Tzejá was subjected to terrorism and brutally attacked</a:t>
            </a:r>
          </a:p>
          <a:p>
            <a:pPr lvl="1"/>
            <a:r>
              <a:rPr lang="en-US" dirty="0"/>
              <a:t>Survivors fled into the jungle</a:t>
            </a:r>
          </a:p>
          <a:p>
            <a:pPr lvl="1"/>
            <a:r>
              <a:rPr lang="en-US" dirty="0"/>
              <a:t>Some went to Mexico and the </a:t>
            </a:r>
            <a:r>
              <a:rPr lang="en-US" dirty="0" smtClean="0"/>
              <a:t>United States</a:t>
            </a:r>
            <a:endParaRPr lang="en-US" dirty="0"/>
          </a:p>
          <a:p>
            <a:pPr lvl="1"/>
            <a:r>
              <a:rPr lang="en-US" dirty="0"/>
              <a:t>After the 1996 peace accords, some returned and began to rebuild</a:t>
            </a:r>
          </a:p>
          <a:p>
            <a:endParaRPr lang="en-US" dirty="0"/>
          </a:p>
        </p:txBody>
      </p:sp>
    </p:spTree>
    <p:extLst>
      <p:ext uri="{BB962C8B-B14F-4D97-AF65-F5344CB8AC3E}">
        <p14:creationId xmlns:p14="http://schemas.microsoft.com/office/powerpoint/2010/main" val="3959994811"/>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Think Like an Anthropologist: Stress among Boarding School Girls in Madagascar</a:t>
            </a:r>
            <a:endParaRPr lang="en-US" sz="3200" dirty="0"/>
          </a:p>
        </p:txBody>
      </p:sp>
      <p:sp>
        <p:nvSpPr>
          <p:cNvPr id="3" name="Content Placeholder 2"/>
          <p:cNvSpPr>
            <a:spLocks noGrp="1"/>
          </p:cNvSpPr>
          <p:nvPr>
            <p:ph idx="1"/>
          </p:nvPr>
        </p:nvSpPr>
        <p:spPr/>
        <p:txBody>
          <a:bodyPr>
            <a:normAutofit fontScale="92500" lnSpcReduction="10000"/>
          </a:bodyPr>
          <a:lstStyle/>
          <a:p>
            <a:r>
              <a:rPr lang="en-US" dirty="0"/>
              <a:t>According to ethnographic research, in a boarding school in </a:t>
            </a:r>
            <a:r>
              <a:rPr lang="en-US" dirty="0" smtClean="0"/>
              <a:t>Madagascar, </a:t>
            </a:r>
            <a:r>
              <a:rPr lang="en-US" dirty="0"/>
              <a:t>girls experience more adjustment strains than boys</a:t>
            </a:r>
          </a:p>
          <a:p>
            <a:r>
              <a:rPr lang="en-US" dirty="0" smtClean="0"/>
              <a:t>Teenage </a:t>
            </a:r>
            <a:r>
              <a:rPr lang="en-US" dirty="0"/>
              <a:t>girls experienced spirit possession</a:t>
            </a:r>
          </a:p>
          <a:p>
            <a:r>
              <a:rPr lang="en-US" dirty="0"/>
              <a:t>Analysis of </a:t>
            </a:r>
            <a:r>
              <a:rPr lang="en-US" dirty="0" smtClean="0"/>
              <a:t>findings</a:t>
            </a:r>
            <a:endParaRPr lang="en-US" dirty="0"/>
          </a:p>
          <a:p>
            <a:pPr lvl="1"/>
            <a:r>
              <a:rPr lang="en-US" dirty="0"/>
              <a:t>Spirit possession is associated with a girl being unmarried and pregnant</a:t>
            </a:r>
          </a:p>
          <a:p>
            <a:pPr lvl="1"/>
            <a:r>
              <a:rPr lang="en-US" dirty="0"/>
              <a:t>An expression of the girl’s distress </a:t>
            </a:r>
          </a:p>
          <a:p>
            <a:pPr lvl="1"/>
            <a:r>
              <a:rPr lang="en-US" dirty="0"/>
              <a:t>Her difficult position between country/city and girlhood/womanhood</a:t>
            </a:r>
          </a:p>
          <a:p>
            <a:endParaRPr lang="en-US" dirty="0"/>
          </a:p>
        </p:txBody>
      </p:sp>
    </p:spTree>
    <p:extLst>
      <p:ext uri="{BB962C8B-B14F-4D97-AF65-F5344CB8AC3E}">
        <p14:creationId xmlns:p14="http://schemas.microsoft.com/office/powerpoint/2010/main" val="260942968"/>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14.4 Madagascar</a:t>
            </a:r>
            <a:endParaRPr lang="en-US" dirty="0"/>
          </a:p>
        </p:txBody>
      </p:sp>
      <p:pic>
        <p:nvPicPr>
          <p:cNvPr id="4" name="Content Placeholder 3" descr="A map of Madagascar shows its capital city of Antananarivo. Madagascar is a large island in the Indian Ocean off the east coast of Mozambique. Two inset maps show the area is in southeast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76600" y="1447800"/>
            <a:ext cx="2667000" cy="4793628"/>
          </a:xfrm>
        </p:spPr>
      </p:pic>
    </p:spTree>
    <p:extLst>
      <p:ext uri="{BB962C8B-B14F-4D97-AF65-F5344CB8AC3E}">
        <p14:creationId xmlns:p14="http://schemas.microsoft.com/office/powerpoint/2010/main" val="712394329"/>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The New Immigrants to the United States</a:t>
            </a:r>
            <a:br>
              <a:rPr lang="en-US" sz="3200" dirty="0" smtClean="0"/>
            </a:br>
            <a:r>
              <a:rPr lang="en-US" sz="3200" dirty="0" smtClean="0"/>
              <a:t> and Canada </a:t>
            </a:r>
            <a:r>
              <a:rPr lang="en-US" sz="2400" dirty="0" smtClean="0"/>
              <a:t>(1 of 2)</a:t>
            </a:r>
            <a:r>
              <a:rPr lang="en-US" sz="1800" dirty="0" smtClean="0"/>
              <a:t/>
            </a:r>
            <a:br>
              <a:rPr lang="en-US" sz="1800" dirty="0" smtClean="0"/>
            </a:br>
            <a:r>
              <a:rPr lang="en-US" sz="1800" dirty="0" smtClean="0"/>
              <a:t> 14.2 Discuss examples of the new immigrants to the United States and Canada.</a:t>
            </a:r>
            <a:endParaRPr lang="en-US" sz="1800"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a:t>New Immigrants from Latin America and the Caribbean</a:t>
            </a:r>
          </a:p>
          <a:p>
            <a:endParaRPr lang="en-US" dirty="0" smtClean="0"/>
          </a:p>
          <a:p>
            <a:r>
              <a:rPr lang="en-US" dirty="0" smtClean="0"/>
              <a:t>The </a:t>
            </a:r>
            <a:r>
              <a:rPr lang="en-US" dirty="0"/>
              <a:t>New Immigrants from </a:t>
            </a:r>
            <a:r>
              <a:rPr lang="en-US" dirty="0" smtClean="0"/>
              <a:t>Asia</a:t>
            </a:r>
          </a:p>
          <a:p>
            <a:endParaRPr lang="en-US" dirty="0" smtClean="0"/>
          </a:p>
          <a:p>
            <a:r>
              <a:rPr lang="en-US" dirty="0" smtClean="0"/>
              <a:t>The New Immigrants from the Former Soviet Union</a:t>
            </a:r>
            <a:endParaRPr lang="en-US" dirty="0"/>
          </a:p>
          <a:p>
            <a:pPr marL="0" indent="0">
              <a:buNone/>
            </a:pPr>
            <a:endParaRPr lang="en-US" dirty="0"/>
          </a:p>
        </p:txBody>
      </p:sp>
    </p:spTree>
    <p:extLst>
      <p:ext uri="{BB962C8B-B14F-4D97-AF65-F5344CB8AC3E}">
        <p14:creationId xmlns:p14="http://schemas.microsoft.com/office/powerpoint/2010/main" val="2910169274"/>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New Immigrants to the </a:t>
            </a:r>
            <a:br>
              <a:rPr lang="en-US" dirty="0" smtClean="0"/>
            </a:br>
            <a:r>
              <a:rPr lang="en-US" dirty="0" smtClean="0"/>
              <a:t>United States and Canada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Trends</a:t>
            </a:r>
          </a:p>
          <a:p>
            <a:pPr lvl="1"/>
            <a:r>
              <a:rPr lang="en-US" dirty="0" smtClean="0"/>
              <a:t>Globalization</a:t>
            </a:r>
          </a:p>
          <a:p>
            <a:pPr lvl="2"/>
            <a:r>
              <a:rPr lang="en-US" dirty="0" smtClean="0"/>
              <a:t>More countries are involved</a:t>
            </a:r>
          </a:p>
          <a:p>
            <a:pPr lvl="1"/>
            <a:r>
              <a:rPr lang="en-US" dirty="0" smtClean="0"/>
              <a:t>Acceleration</a:t>
            </a:r>
          </a:p>
          <a:p>
            <a:pPr lvl="2"/>
            <a:r>
              <a:rPr lang="en-US" dirty="0" smtClean="0"/>
              <a:t>Growth in the number of migrants worldwide</a:t>
            </a:r>
          </a:p>
          <a:p>
            <a:pPr lvl="1"/>
            <a:r>
              <a:rPr lang="en-US" dirty="0" smtClean="0"/>
              <a:t>Feminization</a:t>
            </a:r>
          </a:p>
          <a:p>
            <a:pPr lvl="2"/>
            <a:r>
              <a:rPr lang="en-US" dirty="0" smtClean="0"/>
              <a:t>Women are a growing percentage of all categories of international migration</a:t>
            </a:r>
            <a:endParaRPr lang="en-US" dirty="0"/>
          </a:p>
        </p:txBody>
      </p:sp>
    </p:spTree>
    <p:extLst>
      <p:ext uri="{BB962C8B-B14F-4D97-AF65-F5344CB8AC3E}">
        <p14:creationId xmlns:p14="http://schemas.microsoft.com/office/powerpoint/2010/main" val="274759330"/>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e chart shows that 29% of all immigrants to the United States are from Mexico, followed by China at 5%, India at 4%, Philippines at 4%, Vietnam at 3%, El Salvador at 3%, Cuba at 3%, Korea at 3%, Dominican Republic at 2%, and Guatemala at 2%. All other countries account for 41% of the total."/>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1524000"/>
            <a:ext cx="5632095" cy="4656724"/>
          </a:xfrm>
          <a:prstGeom prst="rect">
            <a:avLst/>
          </a:prstGeom>
        </p:spPr>
      </p:pic>
      <p:sp>
        <p:nvSpPr>
          <p:cNvPr id="2" name="Title 1"/>
          <p:cNvSpPr>
            <a:spLocks noGrp="1"/>
          </p:cNvSpPr>
          <p:nvPr>
            <p:ph type="title"/>
          </p:nvPr>
        </p:nvSpPr>
        <p:spPr>
          <a:xfrm>
            <a:off x="457200" y="152400"/>
            <a:ext cx="8229600" cy="1143000"/>
          </a:xfrm>
        </p:spPr>
        <p:txBody>
          <a:bodyPr>
            <a:normAutofit/>
          </a:bodyPr>
          <a:lstStyle/>
          <a:p>
            <a:r>
              <a:rPr lang="en-US" sz="2800" dirty="0"/>
              <a:t>Figure 14.1 Immigrants to the United States as a Percentage of the Total, by National Origin, 2010</a:t>
            </a:r>
          </a:p>
        </p:txBody>
      </p:sp>
    </p:spTree>
    <p:extLst>
      <p:ext uri="{BB962C8B-B14F-4D97-AF65-F5344CB8AC3E}">
        <p14:creationId xmlns:p14="http://schemas.microsoft.com/office/powerpoint/2010/main" val="1485653327"/>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New Immigrants from </a:t>
            </a:r>
            <a:br>
              <a:rPr lang="en-US" dirty="0" smtClean="0"/>
            </a:br>
            <a:r>
              <a:rPr lang="en-US" dirty="0" smtClean="0"/>
              <a:t>Latin America and the Caribbean </a:t>
            </a:r>
            <a:endParaRPr lang="en-US" dirty="0"/>
          </a:p>
        </p:txBody>
      </p:sp>
      <p:sp>
        <p:nvSpPr>
          <p:cNvPr id="3" name="Content Placeholder 2"/>
          <p:cNvSpPr>
            <a:spLocks noGrp="1"/>
          </p:cNvSpPr>
          <p:nvPr>
            <p:ph idx="1"/>
          </p:nvPr>
        </p:nvSpPr>
        <p:spPr/>
        <p:txBody>
          <a:bodyPr>
            <a:normAutofit fontScale="92500" lnSpcReduction="20000"/>
          </a:bodyPr>
          <a:lstStyle/>
          <a:p>
            <a:r>
              <a:rPr lang="en-US" dirty="0"/>
              <a:t>Mexican immigrants</a:t>
            </a:r>
          </a:p>
          <a:p>
            <a:pPr lvl="1"/>
            <a:r>
              <a:rPr lang="en-US" dirty="0"/>
              <a:t>Major source of foreign-born residents </a:t>
            </a:r>
            <a:r>
              <a:rPr lang="en-US" dirty="0" smtClean="0"/>
              <a:t>in</a:t>
            </a:r>
            <a:r>
              <a:rPr lang="en-US" dirty="0"/>
              <a:t> </a:t>
            </a:r>
            <a:r>
              <a:rPr lang="en-US" dirty="0" smtClean="0"/>
              <a:t>the U.S.</a:t>
            </a:r>
            <a:endParaRPr lang="en-US" dirty="0"/>
          </a:p>
          <a:p>
            <a:pPr lvl="1"/>
            <a:r>
              <a:rPr lang="en-US" dirty="0"/>
              <a:t>Many seasonal immigrants</a:t>
            </a:r>
          </a:p>
          <a:p>
            <a:r>
              <a:rPr lang="en-US" dirty="0"/>
              <a:t>Dominicans</a:t>
            </a:r>
          </a:p>
          <a:p>
            <a:pPr lvl="1"/>
            <a:r>
              <a:rPr lang="en-US" dirty="0"/>
              <a:t>One of the </a:t>
            </a:r>
            <a:r>
              <a:rPr lang="en-US" dirty="0" smtClean="0"/>
              <a:t>fastest-growing </a:t>
            </a:r>
            <a:r>
              <a:rPr lang="en-US" dirty="0"/>
              <a:t>immigrant groups in the U.S.</a:t>
            </a:r>
          </a:p>
          <a:p>
            <a:pPr lvl="1"/>
            <a:r>
              <a:rPr lang="en-US" dirty="0"/>
              <a:t>Chain </a:t>
            </a:r>
            <a:r>
              <a:rPr lang="en-US" dirty="0" smtClean="0"/>
              <a:t>migration</a:t>
            </a:r>
            <a:endParaRPr lang="en-US" dirty="0"/>
          </a:p>
          <a:p>
            <a:r>
              <a:rPr lang="en-US" dirty="0"/>
              <a:t>Salvadorans</a:t>
            </a:r>
          </a:p>
          <a:p>
            <a:pPr lvl="1"/>
            <a:r>
              <a:rPr lang="en-US" dirty="0"/>
              <a:t>Major stimulus for moving was the </a:t>
            </a:r>
            <a:r>
              <a:rPr lang="en-US" dirty="0" smtClean="0"/>
              <a:t>decade</a:t>
            </a:r>
            <a:r>
              <a:rPr lang="en-US" dirty="0"/>
              <a:t>-long civil war</a:t>
            </a:r>
          </a:p>
          <a:p>
            <a:pPr lvl="1"/>
            <a:r>
              <a:rPr lang="en-US" dirty="0"/>
              <a:t>The “working poor” on Long Island</a:t>
            </a:r>
          </a:p>
          <a:p>
            <a:endParaRPr lang="en-US" dirty="0"/>
          </a:p>
        </p:txBody>
      </p:sp>
    </p:spTree>
    <p:extLst>
      <p:ext uri="{BB962C8B-B14F-4D97-AF65-F5344CB8AC3E}">
        <p14:creationId xmlns:p14="http://schemas.microsoft.com/office/powerpoint/2010/main" val="946128210"/>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14.5 El Salvador</a:t>
            </a:r>
            <a:endParaRPr lang="en-US" dirty="0"/>
          </a:p>
        </p:txBody>
      </p:sp>
      <p:pic>
        <p:nvPicPr>
          <p:cNvPr id="4" name="Content Placeholder 3" descr="A map of El Salvador shows its capital city of San Salvador. El Salvador is bordered by Guatemala and Honduras to the north, and faces the Pacific Ocean to the south. An inset globe shows El Salvador is in Central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82547" y="1398828"/>
            <a:ext cx="3242053" cy="4925772"/>
          </a:xfrm>
        </p:spPr>
      </p:pic>
    </p:spTree>
    <p:extLst>
      <p:ext uri="{BB962C8B-B14F-4D97-AF65-F5344CB8AC3E}">
        <p14:creationId xmlns:p14="http://schemas.microsoft.com/office/powerpoint/2010/main" val="2914416971"/>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New Immigrants from Asia </a:t>
            </a:r>
            <a:r>
              <a:rPr lang="en-US" sz="3100" dirty="0" smtClean="0"/>
              <a:t>(1 of 3)</a:t>
            </a:r>
            <a:endParaRPr lang="en-US" sz="3100" dirty="0"/>
          </a:p>
        </p:txBody>
      </p:sp>
      <p:sp>
        <p:nvSpPr>
          <p:cNvPr id="3" name="Content Placeholder 2"/>
          <p:cNvSpPr>
            <a:spLocks noGrp="1"/>
          </p:cNvSpPr>
          <p:nvPr>
            <p:ph idx="1"/>
          </p:nvPr>
        </p:nvSpPr>
        <p:spPr/>
        <p:txBody>
          <a:bodyPr/>
          <a:lstStyle/>
          <a:p>
            <a:r>
              <a:rPr lang="en-US" dirty="0"/>
              <a:t>Changing Patterns of Consumption </a:t>
            </a:r>
            <a:r>
              <a:rPr lang="en-US" dirty="0" smtClean="0"/>
              <a:t>among Hong </a:t>
            </a:r>
            <a:r>
              <a:rPr lang="en-US" dirty="0"/>
              <a:t>Kong </a:t>
            </a:r>
            <a:r>
              <a:rPr lang="en-US" dirty="0" smtClean="0"/>
              <a:t>Chinese</a:t>
            </a:r>
          </a:p>
          <a:p>
            <a:pPr lvl="1"/>
            <a:r>
              <a:rPr lang="en-US" dirty="0" smtClean="0"/>
              <a:t>Urban </a:t>
            </a:r>
            <a:r>
              <a:rPr lang="en-US" dirty="0"/>
              <a:t>clustering </a:t>
            </a:r>
          </a:p>
          <a:p>
            <a:pPr lvl="1"/>
            <a:r>
              <a:rPr lang="en-US" dirty="0"/>
              <a:t>Expanded consumption of Anglo-Canadian products</a:t>
            </a:r>
          </a:p>
          <a:p>
            <a:pPr lvl="1"/>
            <a:r>
              <a:rPr lang="en-US" dirty="0"/>
              <a:t>Tend to be economically well-off</a:t>
            </a:r>
          </a:p>
          <a:p>
            <a:endParaRPr lang="en-US" dirty="0"/>
          </a:p>
        </p:txBody>
      </p:sp>
    </p:spTree>
    <p:extLst>
      <p:ext uri="{BB962C8B-B14F-4D97-AF65-F5344CB8AC3E}">
        <p14:creationId xmlns:p14="http://schemas.microsoft.com/office/powerpoint/2010/main" val="4204580727"/>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New Immigrants from </a:t>
            </a:r>
            <a:r>
              <a:rPr lang="en-US" dirty="0" smtClean="0"/>
              <a:t>Asia </a:t>
            </a:r>
            <a:r>
              <a:rPr lang="en-US" sz="3100" dirty="0" smtClean="0"/>
              <a:t>(2 of 3)</a:t>
            </a:r>
            <a:endParaRPr lang="en-US" sz="3100" dirty="0"/>
          </a:p>
        </p:txBody>
      </p:sp>
      <p:sp>
        <p:nvSpPr>
          <p:cNvPr id="3" name="Content Placeholder 2"/>
          <p:cNvSpPr>
            <a:spLocks noGrp="1"/>
          </p:cNvSpPr>
          <p:nvPr>
            <p:ph idx="1"/>
          </p:nvPr>
        </p:nvSpPr>
        <p:spPr/>
        <p:txBody>
          <a:bodyPr>
            <a:normAutofit/>
          </a:bodyPr>
          <a:lstStyle/>
          <a:p>
            <a:r>
              <a:rPr lang="en-US" dirty="0"/>
              <a:t>Three Patterns of Adaptation </a:t>
            </a:r>
            <a:r>
              <a:rPr lang="en-US" dirty="0" smtClean="0"/>
              <a:t>among Vietnamese-Americans</a:t>
            </a:r>
            <a:endParaRPr lang="en-US" dirty="0"/>
          </a:p>
          <a:p>
            <a:pPr lvl="1"/>
            <a:r>
              <a:rPr lang="en-US" dirty="0" smtClean="0"/>
              <a:t>Three </a:t>
            </a:r>
            <a:r>
              <a:rPr lang="en-US" dirty="0"/>
              <a:t>distinct subgroups and patterns of adaptation</a:t>
            </a:r>
          </a:p>
          <a:p>
            <a:pPr lvl="2"/>
            <a:r>
              <a:rPr lang="en-US" dirty="0"/>
              <a:t>1975-era elite</a:t>
            </a:r>
          </a:p>
          <a:p>
            <a:pPr lvl="2"/>
            <a:r>
              <a:rPr lang="en-US" dirty="0"/>
              <a:t>Boat people</a:t>
            </a:r>
          </a:p>
          <a:p>
            <a:pPr lvl="2"/>
            <a:r>
              <a:rPr lang="en-US" dirty="0"/>
              <a:t>Ethnic Chinese</a:t>
            </a:r>
          </a:p>
          <a:p>
            <a:endParaRPr lang="en-US" dirty="0"/>
          </a:p>
          <a:p>
            <a:endParaRPr lang="en-US" dirty="0"/>
          </a:p>
        </p:txBody>
      </p:sp>
    </p:spTree>
    <p:extLst>
      <p:ext uri="{BB962C8B-B14F-4D97-AF65-F5344CB8AC3E}">
        <p14:creationId xmlns:p14="http://schemas.microsoft.com/office/powerpoint/2010/main" val="294337450"/>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New Immigrants from Asia </a:t>
            </a:r>
            <a:r>
              <a:rPr lang="en-US" sz="3100" dirty="0" smtClean="0"/>
              <a:t>(3 of 3)</a:t>
            </a:r>
            <a:endParaRPr lang="en-US" sz="3100" dirty="0"/>
          </a:p>
        </p:txBody>
      </p:sp>
      <p:sp>
        <p:nvSpPr>
          <p:cNvPr id="3" name="Content Placeholder 2"/>
          <p:cNvSpPr>
            <a:spLocks noGrp="1"/>
          </p:cNvSpPr>
          <p:nvPr>
            <p:ph idx="1"/>
          </p:nvPr>
        </p:nvSpPr>
        <p:spPr/>
        <p:txBody>
          <a:bodyPr/>
          <a:lstStyle/>
          <a:p>
            <a:r>
              <a:rPr lang="en-US" dirty="0"/>
              <a:t>Hindus of New York City Maintain </a:t>
            </a:r>
            <a:r>
              <a:rPr lang="en-US" dirty="0" smtClean="0"/>
              <a:t>Their Culture</a:t>
            </a:r>
          </a:p>
          <a:p>
            <a:pPr lvl="1"/>
            <a:r>
              <a:rPr lang="en-US" dirty="0" smtClean="0"/>
              <a:t>First wave of Hindu immigrants well-educated</a:t>
            </a:r>
          </a:p>
          <a:p>
            <a:pPr lvl="1"/>
            <a:r>
              <a:rPr lang="en-US" dirty="0" smtClean="0"/>
              <a:t>Later waves less so</a:t>
            </a:r>
          </a:p>
          <a:p>
            <a:pPr lvl="1"/>
            <a:r>
              <a:rPr lang="en-US" dirty="0" smtClean="0"/>
              <a:t>Hindu temple in New York City adapts to the diverse religious practices of immigrants and works to appeal to youth</a:t>
            </a:r>
            <a:endParaRPr lang="en-US" dirty="0"/>
          </a:p>
        </p:txBody>
      </p:sp>
    </p:spTree>
    <p:extLst>
      <p:ext uri="{BB962C8B-B14F-4D97-AF65-F5344CB8AC3E}">
        <p14:creationId xmlns:p14="http://schemas.microsoft.com/office/powerpoint/2010/main" val="1262792882"/>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New Immigrants from the </a:t>
            </a:r>
            <a:br>
              <a:rPr lang="en-US" dirty="0" smtClean="0"/>
            </a:br>
            <a:r>
              <a:rPr lang="en-US" dirty="0" smtClean="0"/>
              <a:t>Former Soviet Union</a:t>
            </a:r>
            <a:endParaRPr lang="en-US" dirty="0"/>
          </a:p>
        </p:txBody>
      </p:sp>
      <p:sp>
        <p:nvSpPr>
          <p:cNvPr id="3" name="Content Placeholder 2"/>
          <p:cNvSpPr>
            <a:spLocks noGrp="1"/>
          </p:cNvSpPr>
          <p:nvPr>
            <p:ph idx="1"/>
          </p:nvPr>
        </p:nvSpPr>
        <p:spPr/>
        <p:txBody>
          <a:bodyPr/>
          <a:lstStyle/>
          <a:p>
            <a:r>
              <a:rPr lang="en-US" dirty="0" smtClean="0"/>
              <a:t>Many people were displaced within the Soviet Union</a:t>
            </a:r>
          </a:p>
          <a:p>
            <a:r>
              <a:rPr lang="en-US" dirty="0" smtClean="0"/>
              <a:t>When the Soviet Union collapsed, some attempted to return to their homeland (frequently in new states)</a:t>
            </a:r>
          </a:p>
          <a:p>
            <a:r>
              <a:rPr lang="en-US" dirty="0" smtClean="0"/>
              <a:t>Since 1988, refugees from the former Soviet Union have been one of the largest refugee nationalities to enter the United States</a:t>
            </a:r>
          </a:p>
        </p:txBody>
      </p:sp>
    </p:spTree>
    <p:extLst>
      <p:ext uri="{BB962C8B-B14F-4D97-AF65-F5344CB8AC3E}">
        <p14:creationId xmlns:p14="http://schemas.microsoft.com/office/powerpoint/2010/main" val="1479352068"/>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smtClean="0"/>
              <a:t>Migration Policies and Programs in a Globalizing World</a:t>
            </a:r>
            <a:br>
              <a:rPr lang="en-US" sz="2800" dirty="0" smtClean="0"/>
            </a:br>
            <a:r>
              <a:rPr lang="en-US" sz="2000" dirty="0" smtClean="0"/>
              <a:t>14.3 Recognize how cultural anthropologists contribute to migration policies and programs.</a:t>
            </a:r>
            <a:endParaRPr lang="en-US" sz="2000" dirty="0"/>
          </a:p>
        </p:txBody>
      </p:sp>
      <p:sp>
        <p:nvSpPr>
          <p:cNvPr id="3" name="Content Placeholder 2"/>
          <p:cNvSpPr>
            <a:spLocks noGrp="1"/>
          </p:cNvSpPr>
          <p:nvPr>
            <p:ph idx="1"/>
          </p:nvPr>
        </p:nvSpPr>
        <p:spPr/>
        <p:txBody>
          <a:bodyPr>
            <a:normAutofit/>
          </a:bodyPr>
          <a:lstStyle/>
          <a:p>
            <a:endParaRPr lang="en-US" dirty="0" smtClean="0"/>
          </a:p>
          <a:p>
            <a:r>
              <a:rPr lang="en-US" dirty="0" smtClean="0"/>
              <a:t>Protecting Migrants’ Health</a:t>
            </a:r>
          </a:p>
          <a:p>
            <a:endParaRPr lang="en-US" dirty="0"/>
          </a:p>
          <a:p>
            <a:r>
              <a:rPr lang="en-US" dirty="0" smtClean="0"/>
              <a:t>Inclusion and Exclusion</a:t>
            </a:r>
          </a:p>
          <a:p>
            <a:endParaRPr lang="en-US" dirty="0"/>
          </a:p>
          <a:p>
            <a:r>
              <a:rPr lang="en-US" dirty="0" smtClean="0"/>
              <a:t>Migration and Human Rights</a:t>
            </a:r>
          </a:p>
        </p:txBody>
      </p:sp>
    </p:spTree>
    <p:extLst>
      <p:ext uri="{BB962C8B-B14F-4D97-AF65-F5344CB8AC3E}">
        <p14:creationId xmlns:p14="http://schemas.microsoft.com/office/powerpoint/2010/main" val="235857883"/>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Protecting Migrants’ Health</a:t>
            </a:r>
            <a:endParaRPr lang="en-US" dirty="0"/>
          </a:p>
        </p:txBody>
      </p:sp>
      <p:sp>
        <p:nvSpPr>
          <p:cNvPr id="3" name="Content Placeholder 2"/>
          <p:cNvSpPr>
            <a:spLocks noGrp="1"/>
          </p:cNvSpPr>
          <p:nvPr>
            <p:ph idx="1"/>
          </p:nvPr>
        </p:nvSpPr>
        <p:spPr/>
        <p:txBody>
          <a:bodyPr/>
          <a:lstStyle/>
          <a:p>
            <a:r>
              <a:rPr lang="en-US" dirty="0" smtClean="0"/>
              <a:t>Health risks to migrants are many and varied</a:t>
            </a:r>
          </a:p>
          <a:p>
            <a:r>
              <a:rPr lang="en-US" dirty="0" smtClean="0"/>
              <a:t>Of particular concern to anthropologists is groups whose livelihood depends on spatial mobility (foragers, horticulturalists, pastoralists)</a:t>
            </a:r>
            <a:endParaRPr lang="en-US" dirty="0"/>
          </a:p>
        </p:txBody>
      </p:sp>
    </p:spTree>
    <p:extLst>
      <p:ext uri="{BB962C8B-B14F-4D97-AF65-F5344CB8AC3E}">
        <p14:creationId xmlns:p14="http://schemas.microsoft.com/office/powerpoint/2010/main" val="3072874042"/>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dirty="0"/>
              <a:t>Anthropology Works: Mapping African Pastoralists’ Movements for Risk </a:t>
            </a:r>
            <a:r>
              <a:rPr lang="en-US" sz="2800" dirty="0" smtClean="0"/>
              <a:t>Assessment and </a:t>
            </a:r>
            <a:r>
              <a:rPr lang="en-US" sz="2800" dirty="0"/>
              <a:t>Service Delivery</a:t>
            </a:r>
          </a:p>
        </p:txBody>
      </p:sp>
      <p:sp>
        <p:nvSpPr>
          <p:cNvPr id="3" name="Content Placeholder 2"/>
          <p:cNvSpPr>
            <a:spLocks noGrp="1"/>
          </p:cNvSpPr>
          <p:nvPr>
            <p:ph idx="1"/>
          </p:nvPr>
        </p:nvSpPr>
        <p:spPr/>
        <p:txBody>
          <a:bodyPr>
            <a:normAutofit lnSpcReduction="10000"/>
          </a:bodyPr>
          <a:lstStyle/>
          <a:p>
            <a:r>
              <a:rPr lang="en-US" dirty="0"/>
              <a:t>Pastoralists are often vulnerable to malnutrition as a consequence of climate changes, fluctuations in food supply, and war/political upheaval</a:t>
            </a:r>
          </a:p>
          <a:p>
            <a:r>
              <a:rPr lang="en-US" dirty="0"/>
              <a:t>Cultural anthropologists collect information to assess relative risks of different events, so governments and international aid agencies can provide services before situations become severe</a:t>
            </a:r>
          </a:p>
          <a:p>
            <a:endParaRPr lang="en-US" dirty="0"/>
          </a:p>
        </p:txBody>
      </p:sp>
    </p:spTree>
    <p:extLst>
      <p:ext uri="{BB962C8B-B14F-4D97-AF65-F5344CB8AC3E}">
        <p14:creationId xmlns:p14="http://schemas.microsoft.com/office/powerpoint/2010/main" val="1177749002"/>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14.6 Sahel Region</a:t>
            </a:r>
            <a:endParaRPr lang="en-US" dirty="0"/>
          </a:p>
        </p:txBody>
      </p:sp>
      <p:pic>
        <p:nvPicPr>
          <p:cNvPr id="4" name="Content Placeholder 3" descr="A map of the Sahel Region shows it is a west-to-east belt that includes parts of the following countries: Guinea-Bissau, the Gambia, Senegal, Mauritania, Mali, Burkina Faso, Niger, Chad, Sudan, Ethiopia, and Eritrea. An inset globe shows the region is in northern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362797" y="1427870"/>
            <a:ext cx="6485803" cy="4820530"/>
          </a:xfrm>
        </p:spPr>
      </p:pic>
    </p:spTree>
    <p:extLst>
      <p:ext uri="{BB962C8B-B14F-4D97-AF65-F5344CB8AC3E}">
        <p14:creationId xmlns:p14="http://schemas.microsoft.com/office/powerpoint/2010/main" val="171163719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Inclusion and Exclusion</a:t>
            </a:r>
            <a:endParaRPr lang="en-US" dirty="0"/>
          </a:p>
        </p:txBody>
      </p:sp>
      <p:sp>
        <p:nvSpPr>
          <p:cNvPr id="3" name="Content Placeholder 2"/>
          <p:cNvSpPr>
            <a:spLocks noGrp="1"/>
          </p:cNvSpPr>
          <p:nvPr>
            <p:ph idx="1"/>
          </p:nvPr>
        </p:nvSpPr>
        <p:spPr/>
        <p:txBody>
          <a:bodyPr/>
          <a:lstStyle/>
          <a:p>
            <a:r>
              <a:rPr lang="en-US" dirty="0" smtClean="0"/>
              <a:t>States may employ a cost-benefit analysis when considering immigration policy</a:t>
            </a:r>
          </a:p>
          <a:p>
            <a:pPr lvl="1"/>
            <a:r>
              <a:rPr lang="en-US" dirty="0" smtClean="0"/>
              <a:t>Cheap labor needed?</a:t>
            </a:r>
          </a:p>
          <a:p>
            <a:endParaRPr lang="en-US" dirty="0" smtClean="0"/>
          </a:p>
          <a:p>
            <a:r>
              <a:rPr lang="en-US" dirty="0" smtClean="0"/>
              <a:t>Lifeboat mentality</a:t>
            </a:r>
          </a:p>
          <a:p>
            <a:pPr lvl="1"/>
            <a:r>
              <a:rPr lang="en-US" dirty="0"/>
              <a:t>A</a:t>
            </a:r>
            <a:r>
              <a:rPr lang="en-US" dirty="0" smtClean="0"/>
              <a:t> </a:t>
            </a:r>
            <a:r>
              <a:rPr lang="en-US" dirty="0"/>
              <a:t>view that seeks to limit growth of </a:t>
            </a:r>
            <a:r>
              <a:rPr lang="en-US" dirty="0" smtClean="0"/>
              <a:t>a particular group </a:t>
            </a:r>
            <a:r>
              <a:rPr lang="en-US" dirty="0"/>
              <a:t>because of perceived resource </a:t>
            </a:r>
            <a:r>
              <a:rPr lang="en-US" dirty="0" smtClean="0"/>
              <a:t>constraints</a:t>
            </a:r>
          </a:p>
          <a:p>
            <a:pPr lvl="1"/>
            <a:endParaRPr lang="en-US" dirty="0"/>
          </a:p>
        </p:txBody>
      </p:sp>
    </p:spTree>
    <p:extLst>
      <p:ext uri="{BB962C8B-B14F-4D97-AF65-F5344CB8AC3E}">
        <p14:creationId xmlns:p14="http://schemas.microsoft.com/office/powerpoint/2010/main" val="3200342890"/>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Migration and Human Rights</a:t>
            </a:r>
            <a:endParaRPr lang="en-US" dirty="0"/>
          </a:p>
        </p:txBody>
      </p:sp>
      <p:sp>
        <p:nvSpPr>
          <p:cNvPr id="3" name="Content Placeholder 2"/>
          <p:cNvSpPr>
            <a:spLocks noGrp="1"/>
          </p:cNvSpPr>
          <p:nvPr>
            <p:ph idx="1"/>
          </p:nvPr>
        </p:nvSpPr>
        <p:spPr/>
        <p:txBody>
          <a:bodyPr/>
          <a:lstStyle/>
          <a:p>
            <a:r>
              <a:rPr lang="en-US" dirty="0"/>
              <a:t>Issues related to forced migration</a:t>
            </a:r>
          </a:p>
          <a:p>
            <a:pPr lvl="1"/>
            <a:r>
              <a:rPr lang="en-US" dirty="0"/>
              <a:t>The right of return</a:t>
            </a:r>
          </a:p>
          <a:p>
            <a:pPr lvl="1"/>
            <a:r>
              <a:rPr lang="en-US" dirty="0"/>
              <a:t>Differential resettlement of IDPs</a:t>
            </a:r>
          </a:p>
          <a:p>
            <a:pPr lvl="1"/>
            <a:r>
              <a:rPr lang="en-US" dirty="0"/>
              <a:t>Others—quality of life in camps</a:t>
            </a:r>
          </a:p>
          <a:p>
            <a:endParaRPr lang="en-US" dirty="0"/>
          </a:p>
        </p:txBody>
      </p:sp>
    </p:spTree>
    <p:extLst>
      <p:ext uri="{BB962C8B-B14F-4D97-AF65-F5344CB8AC3E}">
        <p14:creationId xmlns:p14="http://schemas.microsoft.com/office/powerpoint/2010/main" val="2988756993"/>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229</TotalTime>
  <Words>2113</Words>
  <Application>Microsoft Macintosh PowerPoint</Application>
  <PresentationFormat>On-screen Show (4:3)</PresentationFormat>
  <Paragraphs>200</Paragraphs>
  <Slides>38</Slides>
  <Notes>8</Notes>
  <HiddenSlides>0</HiddenSlides>
  <MMClips>0</MMClip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Beebe8e_PPT_master</vt:lpstr>
      <vt:lpstr>Office Theme</vt:lpstr>
      <vt:lpstr>PowerPoint Presentation</vt:lpstr>
      <vt:lpstr>Learning Objectives</vt:lpstr>
      <vt:lpstr>People on the Move</vt:lpstr>
      <vt:lpstr>Categories of Migration  14.1 Describe the major categories of migration.</vt:lpstr>
      <vt:lpstr>Categories Based on  Spatial Boundaries (1 of 4)</vt:lpstr>
      <vt:lpstr>Categories Based on  Spatial Boundaries (2 of 4)</vt:lpstr>
      <vt:lpstr>Categories Based on  Spatial Boundaries (3 of 4)</vt:lpstr>
      <vt:lpstr>Categories Based on  Spatial Boundaries (4 of 4)</vt:lpstr>
      <vt:lpstr>Map 14.1 Tonga</vt:lpstr>
      <vt:lpstr>Categories Based on  Reason for Moving (1 of 6)</vt:lpstr>
      <vt:lpstr>Categories Based on  Reason for Moving (2 of 6)</vt:lpstr>
      <vt:lpstr>Categories Based on  Reason for Moving (3 of 6)</vt:lpstr>
      <vt:lpstr>Categories Based on  Reason for Moving (4 of 6)</vt:lpstr>
      <vt:lpstr>Categories Based on  Reason for Moving (5 of 6)</vt:lpstr>
      <vt:lpstr>Map 14.2 Site of Three Gorges Dam  in China</vt:lpstr>
      <vt:lpstr>Categories Based on  Reason for Moving (6 of 6)</vt:lpstr>
      <vt:lpstr>Think Like an Anthropologist: Haitian Cane Cutters in the Dominican Republic: Structure or Agency? (1 of 2)</vt:lpstr>
      <vt:lpstr>Think Like an Anthropologist: Haitian Cane Cutters in the Dominican Republic: Structure or Agency? (2 of 2)</vt:lpstr>
      <vt:lpstr>Culturama: The Maya of Guatemala (1 of 2)</vt:lpstr>
      <vt:lpstr>Map 14.3 Guatemala</vt:lpstr>
      <vt:lpstr>Culturama: The Maya of Guatemala (2 of 2)</vt:lpstr>
      <vt:lpstr>Think Like an Anthropologist: Stress among Boarding School Girls in Madagascar</vt:lpstr>
      <vt:lpstr>Map 14.4 Madagascar</vt:lpstr>
      <vt:lpstr>The New Immigrants to the United States  and Canada (1 of 2)  14.2 Discuss examples of the new immigrants to the United States and Canada.</vt:lpstr>
      <vt:lpstr>The New Immigrants to the  United States and Canada (2 of 2)</vt:lpstr>
      <vt:lpstr>Figure 14.1 Immigrants to the United States as a Percentage of the Total, by National Origin, 2010</vt:lpstr>
      <vt:lpstr>The New Immigrants from  Latin America and the Caribbean </vt:lpstr>
      <vt:lpstr>Map 14.5 El Salvador</vt:lpstr>
      <vt:lpstr>The New Immigrants from Asia (1 of 3)</vt:lpstr>
      <vt:lpstr>The New Immigrants from Asia (2 of 3)</vt:lpstr>
      <vt:lpstr>The New Immigrants from Asia (3 of 3)</vt:lpstr>
      <vt:lpstr>The New Immigrants from the  Former Soviet Union</vt:lpstr>
      <vt:lpstr>Migration Policies and Programs in a Globalizing World 14.3 Recognize how cultural anthropologists contribute to migration policies and programs.</vt:lpstr>
      <vt:lpstr>Protecting Migrants’ Health</vt:lpstr>
      <vt:lpstr>Anthropology Works: Mapping African Pastoralists’ Movements for Risk Assessment and Service Delivery</vt:lpstr>
      <vt:lpstr>Map 14.6 Sahel Region</vt:lpstr>
      <vt:lpstr>Inclusion and Exclusion</vt:lpstr>
      <vt:lpstr>Migration and Human Rights</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29</cp:revision>
  <dcterms:created xsi:type="dcterms:W3CDTF">2015-09-18T14:54:36Z</dcterms:created>
  <dcterms:modified xsi:type="dcterms:W3CDTF">2016-04-08T16:04:19Z</dcterms:modified>
</cp:coreProperties>
</file>