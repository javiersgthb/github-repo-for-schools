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32"/>
  </p:notesMasterIdLst>
  <p:sldIdLst>
    <p:sldId id="257" r:id="rId3"/>
    <p:sldId id="256" r:id="rId4"/>
    <p:sldId id="258" r:id="rId5"/>
    <p:sldId id="259" r:id="rId6"/>
    <p:sldId id="322" r:id="rId7"/>
    <p:sldId id="262" r:id="rId8"/>
    <p:sldId id="263" r:id="rId9"/>
    <p:sldId id="264" r:id="rId10"/>
    <p:sldId id="265" r:id="rId11"/>
    <p:sldId id="266" r:id="rId12"/>
    <p:sldId id="267" r:id="rId13"/>
    <p:sldId id="268" r:id="rId14"/>
    <p:sldId id="272" r:id="rId15"/>
    <p:sldId id="323" r:id="rId16"/>
    <p:sldId id="271" r:id="rId17"/>
    <p:sldId id="321" r:id="rId18"/>
    <p:sldId id="274" r:id="rId19"/>
    <p:sldId id="326" r:id="rId20"/>
    <p:sldId id="324" r:id="rId21"/>
    <p:sldId id="278" r:id="rId22"/>
    <p:sldId id="325" r:id="rId23"/>
    <p:sldId id="280" r:id="rId24"/>
    <p:sldId id="282" r:id="rId25"/>
    <p:sldId id="328" r:id="rId26"/>
    <p:sldId id="284" r:id="rId27"/>
    <p:sldId id="285" r:id="rId28"/>
    <p:sldId id="318" r:id="rId29"/>
    <p:sldId id="286" r:id="rId30"/>
    <p:sldId id="327"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109" autoAdjust="0"/>
  </p:normalViewPr>
  <p:slideViewPr>
    <p:cSldViewPr>
      <p:cViewPr varScale="1">
        <p:scale>
          <a:sx n="72" d="100"/>
          <a:sy n="72" d="100"/>
        </p:scale>
        <p:origin x="-1120"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notesMaster" Target="notesMasters/notesMaster1.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printerSettings" Target="printerSettings/printerSettings1.bin"/><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66E1B9-9FC7-4804-852E-82739A813E48}" type="datetimeFigureOut">
              <a:rPr lang="en-US" smtClean="0"/>
              <a:t>4/5/16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65C25F-1D19-4158-B19B-55C142D3DFF2}" type="slidenum">
              <a:rPr lang="en-US" smtClean="0"/>
              <a:t>‹#›</a:t>
            </a:fld>
            <a:endParaRPr lang="en-US" dirty="0"/>
          </a:p>
        </p:txBody>
      </p:sp>
    </p:spTree>
    <p:extLst>
      <p:ext uri="{BB962C8B-B14F-4D97-AF65-F5344CB8AC3E}">
        <p14:creationId xmlns:p14="http://schemas.microsoft.com/office/powerpoint/2010/main" val="331670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dirty="0" smtClean="0"/>
              <a:t>For a better classroom presentation flow, the</a:t>
            </a:r>
            <a:r>
              <a:rPr lang="en-US" sz="1600" b="0" baseline="0" dirty="0" smtClean="0"/>
              <a:t> </a:t>
            </a:r>
            <a:r>
              <a:rPr lang="en-US" sz="1600" b="0" dirty="0" smtClean="0"/>
              <a:t>order of some topics in this lecture outline differs slightly from the order</a:t>
            </a:r>
            <a:r>
              <a:rPr lang="en-US" sz="1600" b="0" baseline="0" dirty="0" smtClean="0"/>
              <a:t> </a:t>
            </a:r>
            <a:r>
              <a:rPr lang="en-US" sz="1600" b="0" dirty="0" smtClean="0"/>
              <a:t>of topics in the text and, where this occurs, some figures and tables are</a:t>
            </a:r>
            <a:r>
              <a:rPr lang="en-US" sz="1600" b="0" baseline="0" dirty="0" smtClean="0"/>
              <a:t> </a:t>
            </a:r>
            <a:r>
              <a:rPr lang="en-US" sz="1600" b="0" dirty="0" smtClean="0"/>
              <a:t>out of numerical order.</a:t>
            </a:r>
            <a:endParaRPr lang="en-US" sz="1600" b="0" dirty="0"/>
          </a:p>
        </p:txBody>
      </p:sp>
      <p:sp>
        <p:nvSpPr>
          <p:cNvPr id="4" name="Slide Number Placeholder 3"/>
          <p:cNvSpPr>
            <a:spLocks noGrp="1"/>
          </p:cNvSpPr>
          <p:nvPr>
            <p:ph type="sldNum" sz="quarter" idx="10"/>
          </p:nvPr>
        </p:nvSpPr>
        <p:spPr/>
        <p:txBody>
          <a:bodyPr/>
          <a:lstStyle/>
          <a:p>
            <a:fld id="{C665C25F-1D19-4158-B19B-55C142D3DFF2}" type="slidenum">
              <a:rPr lang="en-US" smtClean="0"/>
              <a:t>1</a:t>
            </a:fld>
            <a:endParaRPr lang="en-US" dirty="0"/>
          </a:p>
        </p:txBody>
      </p:sp>
    </p:spTree>
    <p:extLst>
      <p:ext uri="{BB962C8B-B14F-4D97-AF65-F5344CB8AC3E}">
        <p14:creationId xmlns:p14="http://schemas.microsoft.com/office/powerpoint/2010/main" val="540533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Sumba, one of Indonesia’s many islands, is 75 miles long. The </a:t>
            </a:r>
            <a:r>
              <a:rPr lang="en-US" sz="1200" b="0" i="0" u="none" strike="noStrike" kern="1200" baseline="0" dirty="0" err="1" smtClean="0">
                <a:solidFill>
                  <a:schemeClr val="tx1"/>
                </a:solidFill>
                <a:latin typeface="+mn-lt"/>
                <a:ea typeface="+mn-ea"/>
                <a:cs typeface="+mn-cs"/>
              </a:rPr>
              <a:t>Weyéwa</a:t>
            </a:r>
            <a:r>
              <a:rPr lang="en-US" sz="1200" b="0" i="0" u="none" strike="noStrike" kern="1200" baseline="0" dirty="0" smtClean="0">
                <a:solidFill>
                  <a:schemeClr val="tx1"/>
                </a:solidFill>
                <a:latin typeface="+mn-lt"/>
                <a:ea typeface="+mn-ea"/>
                <a:cs typeface="+mn-cs"/>
              </a:rPr>
              <a:t> people number about 85,000 and live in small settlements on grassy plateaus in the western part of the island. They grow rice, maize, and millet, and they raise water buffaloes and pigs.</a:t>
            </a:r>
            <a:endParaRPr lang="en-US" dirty="0"/>
          </a:p>
        </p:txBody>
      </p:sp>
      <p:sp>
        <p:nvSpPr>
          <p:cNvPr id="4" name="Slide Number Placeholder 3"/>
          <p:cNvSpPr>
            <a:spLocks noGrp="1"/>
          </p:cNvSpPr>
          <p:nvPr>
            <p:ph type="sldNum" sz="quarter" idx="10"/>
          </p:nvPr>
        </p:nvSpPr>
        <p:spPr/>
        <p:txBody>
          <a:bodyPr/>
          <a:lstStyle/>
          <a:p>
            <a:fld id="{C665C25F-1D19-4158-B19B-55C142D3DFF2}" type="slidenum">
              <a:rPr lang="en-US" smtClean="0"/>
              <a:t>18</a:t>
            </a:fld>
            <a:endParaRPr lang="en-US" dirty="0"/>
          </a:p>
        </p:txBody>
      </p:sp>
    </p:spTree>
    <p:extLst>
      <p:ext uri="{BB962C8B-B14F-4D97-AF65-F5344CB8AC3E}">
        <p14:creationId xmlns:p14="http://schemas.microsoft.com/office/powerpoint/2010/main" val="2985444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In India, a white sari (women’s garment) symbolizes widowhood.</a:t>
            </a:r>
            <a:endParaRPr lang="en-US" dirty="0"/>
          </a:p>
        </p:txBody>
      </p:sp>
      <p:sp>
        <p:nvSpPr>
          <p:cNvPr id="4" name="Slide Number Placeholder 3"/>
          <p:cNvSpPr>
            <a:spLocks noGrp="1"/>
          </p:cNvSpPr>
          <p:nvPr>
            <p:ph type="sldNum" sz="quarter" idx="10"/>
          </p:nvPr>
        </p:nvSpPr>
        <p:spPr/>
        <p:txBody>
          <a:bodyPr/>
          <a:lstStyle/>
          <a:p>
            <a:fld id="{C665C25F-1D19-4158-B19B-55C142D3DFF2}" type="slidenum">
              <a:rPr lang="en-US" smtClean="0"/>
              <a:t>19</a:t>
            </a:fld>
            <a:endParaRPr lang="en-US" dirty="0"/>
          </a:p>
        </p:txBody>
      </p:sp>
    </p:spTree>
    <p:extLst>
      <p:ext uri="{BB962C8B-B14F-4D97-AF65-F5344CB8AC3E}">
        <p14:creationId xmlns:p14="http://schemas.microsoft.com/office/powerpoint/2010/main" val="256271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Independent State of Papua New Guinea (PNG), the eastern half of the island of New Guinea, gained its autonomy from Australia in 1975. Mostly mountainous with coastal lowlands, PNG is richly endowed with gold, copper, silver, natural gas, timber, oil, and fisheries. Its population is over seven million. Port Moresby, the capital, has a high rate of HIV/AIDS infection among the working-age population.</a:t>
            </a:r>
            <a:endParaRPr lang="en-US" dirty="0"/>
          </a:p>
        </p:txBody>
      </p:sp>
      <p:sp>
        <p:nvSpPr>
          <p:cNvPr id="4" name="Slide Number Placeholder 3"/>
          <p:cNvSpPr>
            <a:spLocks noGrp="1"/>
          </p:cNvSpPr>
          <p:nvPr>
            <p:ph type="sldNum" sz="quarter" idx="10"/>
          </p:nvPr>
        </p:nvSpPr>
        <p:spPr/>
        <p:txBody>
          <a:bodyPr/>
          <a:lstStyle/>
          <a:p>
            <a:fld id="{C665C25F-1D19-4158-B19B-55C142D3DFF2}" type="slidenum">
              <a:rPr lang="en-US" smtClean="0"/>
              <a:t>21</a:t>
            </a:fld>
            <a:endParaRPr lang="en-US" dirty="0"/>
          </a:p>
        </p:txBody>
      </p:sp>
    </p:spTree>
    <p:extLst>
      <p:ext uri="{BB962C8B-B14F-4D97-AF65-F5344CB8AC3E}">
        <p14:creationId xmlns:p14="http://schemas.microsoft.com/office/powerpoint/2010/main" val="2931058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1</a:t>
            </a:r>
            <a:endParaRPr lang="en-US" dirty="0"/>
          </a:p>
        </p:txBody>
      </p:sp>
      <p:sp>
        <p:nvSpPr>
          <p:cNvPr id="3" name="Text Placeholder 2"/>
          <p:cNvSpPr>
            <a:spLocks noGrp="1"/>
          </p:cNvSpPr>
          <p:nvPr>
            <p:ph type="body" sz="quarter" idx="15"/>
          </p:nvPr>
        </p:nvSpPr>
        <p:spPr/>
        <p:txBody>
          <a:bodyPr/>
          <a:lstStyle/>
          <a:p>
            <a:r>
              <a:rPr lang="en-US" dirty="0" smtClean="0"/>
              <a:t>Anthropology and The Study of Culture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sz="2800" dirty="0"/>
          </a:p>
        </p:txBody>
      </p:sp>
      <p:sp>
        <p:nvSpPr>
          <p:cNvPr id="5" name="Content Placeholder 4"/>
          <p:cNvSpPr>
            <a:spLocks noGrp="1"/>
          </p:cNvSpPr>
          <p:nvPr>
            <p:ph idx="1"/>
          </p:nvPr>
        </p:nvSpPr>
        <p:spPr/>
        <p:txBody>
          <a:bodyPr>
            <a:normAutofit/>
          </a:bodyPr>
          <a:lstStyle/>
          <a:p>
            <a:pPr marL="0" lvl="1" indent="0">
              <a:buNone/>
            </a:pPr>
            <a:r>
              <a:rPr lang="en-US" sz="3200" dirty="0" smtClean="0">
                <a:solidFill>
                  <a:schemeClr val="accent1">
                    <a:lumMod val="75000"/>
                  </a:schemeClr>
                </a:solidFill>
              </a:rPr>
              <a:t>1.1</a:t>
            </a:r>
            <a:r>
              <a:rPr lang="en-US" sz="3200" dirty="0" smtClean="0"/>
              <a:t> Define what is anthropology.</a:t>
            </a:r>
          </a:p>
          <a:p>
            <a:pPr marL="0" lvl="1" indent="0"/>
            <a:endParaRPr lang="en-US" sz="3200" dirty="0"/>
          </a:p>
          <a:p>
            <a:pPr marL="0" lvl="1" indent="0">
              <a:buNone/>
            </a:pPr>
            <a:r>
              <a:rPr lang="en-US" sz="3200" dirty="0" smtClean="0">
                <a:solidFill>
                  <a:srgbClr val="376092"/>
                </a:solidFill>
              </a:rPr>
              <a:t>1.2</a:t>
            </a:r>
            <a:r>
              <a:rPr lang="en-US" sz="3200" dirty="0" smtClean="0"/>
              <a:t> Recognize what is cultural anthropology.</a:t>
            </a:r>
          </a:p>
          <a:p>
            <a:pPr marL="0" lvl="1" indent="0"/>
            <a:endParaRPr lang="en-US" sz="3200" dirty="0"/>
          </a:p>
          <a:p>
            <a:pPr marL="0" lvl="1" indent="0">
              <a:buNone/>
            </a:pPr>
            <a:r>
              <a:rPr lang="en-US" sz="3200" dirty="0" smtClean="0">
                <a:solidFill>
                  <a:srgbClr val="376092"/>
                </a:solidFill>
              </a:rPr>
              <a:t>1.3</a:t>
            </a:r>
            <a:r>
              <a:rPr lang="en-US" sz="3200" dirty="0" smtClean="0"/>
              <a:t> Summarize the distinctive features of cultural anthropology.</a:t>
            </a:r>
            <a:endParaRPr lang="en-US" sz="3200"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Anthropology and the Study of Culture</a:t>
            </a:r>
            <a:endParaRPr lang="en-US" sz="3600" dirty="0"/>
          </a:p>
        </p:txBody>
      </p:sp>
      <p:sp>
        <p:nvSpPr>
          <p:cNvPr id="3" name="Content Placeholder 2"/>
          <p:cNvSpPr>
            <a:spLocks noGrp="1"/>
          </p:cNvSpPr>
          <p:nvPr>
            <p:ph idx="1"/>
          </p:nvPr>
        </p:nvSpPr>
        <p:spPr/>
        <p:txBody>
          <a:bodyPr/>
          <a:lstStyle/>
          <a:p>
            <a:r>
              <a:rPr lang="en-US" dirty="0" smtClean="0"/>
              <a:t>What is anthropology?</a:t>
            </a:r>
            <a:endParaRPr lang="en-US" dirty="0"/>
          </a:p>
          <a:p>
            <a:pPr lvl="1"/>
            <a:r>
              <a:rPr lang="en-US" dirty="0"/>
              <a:t>T</a:t>
            </a:r>
            <a:r>
              <a:rPr lang="en-US" dirty="0" smtClean="0"/>
              <a:t>he </a:t>
            </a:r>
            <a:r>
              <a:rPr lang="en-US" dirty="0"/>
              <a:t>study of humanity, including its </a:t>
            </a:r>
            <a:r>
              <a:rPr lang="en-US" dirty="0" smtClean="0"/>
              <a:t>prehistoric origins </a:t>
            </a:r>
            <a:r>
              <a:rPr lang="en-US" dirty="0"/>
              <a:t>and contemporary human </a:t>
            </a:r>
            <a:r>
              <a:rPr lang="en-US" dirty="0" smtClean="0"/>
              <a:t>diversity</a:t>
            </a:r>
            <a:endParaRPr lang="en-US" dirty="0"/>
          </a:p>
        </p:txBody>
      </p:sp>
    </p:spTree>
    <p:extLst>
      <p:ext uri="{BB962C8B-B14F-4D97-AF65-F5344CB8AC3E}">
        <p14:creationId xmlns:p14="http://schemas.microsoft.com/office/powerpoint/2010/main" val="277844819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600" dirty="0" smtClean="0"/>
              <a:t>Introducing Anthropology’s Four Fields</a:t>
            </a:r>
            <a:r>
              <a:rPr lang="en-US" sz="3100" dirty="0" smtClean="0"/>
              <a:t/>
            </a:r>
            <a:br>
              <a:rPr lang="en-US" sz="3100" dirty="0" smtClean="0"/>
            </a:br>
            <a:r>
              <a:rPr lang="en-US" sz="2800" dirty="0" smtClean="0"/>
              <a:t>1.1 </a:t>
            </a:r>
            <a:r>
              <a:rPr lang="en-US" sz="2800" dirty="0"/>
              <a:t>Define what is anthropology.</a:t>
            </a:r>
          </a:p>
        </p:txBody>
      </p:sp>
      <p:sp>
        <p:nvSpPr>
          <p:cNvPr id="3" name="Content Placeholder 2"/>
          <p:cNvSpPr>
            <a:spLocks noGrp="1"/>
          </p:cNvSpPr>
          <p:nvPr>
            <p:ph idx="1"/>
          </p:nvPr>
        </p:nvSpPr>
        <p:spPr/>
        <p:txBody>
          <a:bodyPr/>
          <a:lstStyle/>
          <a:p>
            <a:r>
              <a:rPr lang="en-US" dirty="0"/>
              <a:t>Vast </a:t>
            </a:r>
            <a:r>
              <a:rPr lang="en-US" dirty="0" smtClean="0"/>
              <a:t>scope</a:t>
            </a:r>
            <a:r>
              <a:rPr lang="en-US" dirty="0"/>
              <a:t>, </a:t>
            </a:r>
            <a:r>
              <a:rPr lang="en-US" dirty="0" smtClean="0"/>
              <a:t>so “four </a:t>
            </a:r>
            <a:r>
              <a:rPr lang="en-US" dirty="0"/>
              <a:t>f</a:t>
            </a:r>
            <a:r>
              <a:rPr lang="en-US" dirty="0" smtClean="0"/>
              <a:t>ields</a:t>
            </a:r>
            <a:r>
              <a:rPr lang="en-US" dirty="0"/>
              <a:t>” are </a:t>
            </a:r>
            <a:r>
              <a:rPr lang="en-US" dirty="0" smtClean="0"/>
              <a:t>needed </a:t>
            </a:r>
            <a:r>
              <a:rPr lang="en-US" dirty="0"/>
              <a:t>to </a:t>
            </a:r>
            <a:r>
              <a:rPr lang="en-US" dirty="0" smtClean="0"/>
              <a:t>cover </a:t>
            </a:r>
            <a:r>
              <a:rPr lang="en-US" dirty="0"/>
              <a:t>i</a:t>
            </a:r>
            <a:r>
              <a:rPr lang="en-US" dirty="0" smtClean="0"/>
              <a:t>t </a:t>
            </a:r>
            <a:r>
              <a:rPr lang="en-US" dirty="0"/>
              <a:t>a</a:t>
            </a:r>
            <a:r>
              <a:rPr lang="en-US" dirty="0" smtClean="0"/>
              <a:t>ll</a:t>
            </a:r>
          </a:p>
          <a:p>
            <a:pPr lvl="1"/>
            <a:r>
              <a:rPr lang="en-US" dirty="0" smtClean="0"/>
              <a:t>Biological or physical </a:t>
            </a:r>
            <a:r>
              <a:rPr lang="en-US" dirty="0"/>
              <a:t>a</a:t>
            </a:r>
            <a:r>
              <a:rPr lang="en-US" dirty="0" smtClean="0"/>
              <a:t>nthropology</a:t>
            </a:r>
          </a:p>
          <a:p>
            <a:pPr lvl="1"/>
            <a:r>
              <a:rPr lang="en-US" dirty="0" smtClean="0"/>
              <a:t>Archaeology or prehistory</a:t>
            </a:r>
          </a:p>
          <a:p>
            <a:pPr lvl="1"/>
            <a:r>
              <a:rPr lang="en-US" dirty="0" smtClean="0"/>
              <a:t>Linguistic anthropology</a:t>
            </a:r>
          </a:p>
          <a:p>
            <a:pPr lvl="1"/>
            <a:r>
              <a:rPr lang="en-US" dirty="0" smtClean="0"/>
              <a:t>Cultural anthropology</a:t>
            </a:r>
          </a:p>
          <a:p>
            <a:pPr lvl="1"/>
            <a:r>
              <a:rPr lang="en-US" dirty="0" smtClean="0"/>
              <a:t>Applied anthropology, a possible fifth field?</a:t>
            </a:r>
            <a:endParaRPr lang="en-US" dirty="0"/>
          </a:p>
        </p:txBody>
      </p:sp>
    </p:spTree>
    <p:extLst>
      <p:ext uri="{BB962C8B-B14F-4D97-AF65-F5344CB8AC3E}">
        <p14:creationId xmlns:p14="http://schemas.microsoft.com/office/powerpoint/2010/main" val="174307574"/>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81000" y="208961"/>
            <a:ext cx="8534400" cy="934039"/>
          </a:xfrm>
        </p:spPr>
        <p:txBody>
          <a:bodyPr>
            <a:noAutofit/>
          </a:bodyPr>
          <a:lstStyle/>
          <a:p>
            <a:r>
              <a:rPr lang="en-US" sz="3600" b="0" dirty="0"/>
              <a:t>Figure 1.1 The Four Fields </a:t>
            </a:r>
            <a:r>
              <a:rPr lang="en-US" sz="3600" b="0" dirty="0" smtClean="0"/>
              <a:t>of Anthropology</a:t>
            </a:r>
            <a:endParaRPr lang="en-US" sz="3600" b="0" dirty="0"/>
          </a:p>
        </p:txBody>
      </p:sp>
      <p:pic>
        <p:nvPicPr>
          <p:cNvPr id="4" name="Content Placeholder 3" descr="A circular illustration shows the four fields of anthropology are biological anthropology, cultural anthropology, archaeology, and linguistic anthropology. The fields are interconnected and all have aspects identified as “Applied” and “Theory.”"/>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09800" y="1600200"/>
            <a:ext cx="4522124" cy="4522124"/>
          </a:xfrm>
        </p:spPr>
      </p:pic>
    </p:spTree>
    <p:extLst>
      <p:ext uri="{BB962C8B-B14F-4D97-AF65-F5344CB8AC3E}">
        <p14:creationId xmlns:p14="http://schemas.microsoft.com/office/powerpoint/2010/main" val="777704420"/>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Biological or Physical Anthropology</a:t>
            </a:r>
            <a:endParaRPr lang="en-US" dirty="0"/>
          </a:p>
        </p:txBody>
      </p:sp>
      <p:sp>
        <p:nvSpPr>
          <p:cNvPr id="3" name="Content Placeholder 2"/>
          <p:cNvSpPr>
            <a:spLocks noGrp="1"/>
          </p:cNvSpPr>
          <p:nvPr>
            <p:ph idx="1"/>
          </p:nvPr>
        </p:nvSpPr>
        <p:spPr/>
        <p:txBody>
          <a:bodyPr>
            <a:normAutofit/>
          </a:bodyPr>
          <a:lstStyle/>
          <a:p>
            <a:r>
              <a:rPr lang="en-US" dirty="0" smtClean="0"/>
              <a:t>The </a:t>
            </a:r>
            <a:r>
              <a:rPr lang="en-US" dirty="0"/>
              <a:t>study of humans as biological organisms, including their evolution and contemporary variation</a:t>
            </a:r>
          </a:p>
          <a:p>
            <a:pPr lvl="1"/>
            <a:r>
              <a:rPr lang="en-US" dirty="0" smtClean="0"/>
              <a:t>Human </a:t>
            </a:r>
            <a:r>
              <a:rPr lang="en-US" dirty="0"/>
              <a:t>evolution (paleoanthropology)</a:t>
            </a:r>
          </a:p>
          <a:p>
            <a:pPr lvl="1"/>
            <a:r>
              <a:rPr lang="en-US" dirty="0" smtClean="0"/>
              <a:t>Nonhuman </a:t>
            </a:r>
            <a:r>
              <a:rPr lang="en-US" dirty="0"/>
              <a:t>primates (primatology)</a:t>
            </a:r>
          </a:p>
          <a:p>
            <a:pPr lvl="1"/>
            <a:r>
              <a:rPr lang="en-US" dirty="0" smtClean="0"/>
              <a:t>Contemporary </a:t>
            </a:r>
            <a:r>
              <a:rPr lang="en-US" dirty="0"/>
              <a:t>human variation</a:t>
            </a:r>
          </a:p>
          <a:p>
            <a:endParaRPr lang="en-US" dirty="0"/>
          </a:p>
        </p:txBody>
      </p:sp>
    </p:spTree>
    <p:extLst>
      <p:ext uri="{BB962C8B-B14F-4D97-AF65-F5344CB8AC3E}">
        <p14:creationId xmlns:p14="http://schemas.microsoft.com/office/powerpoint/2010/main" val="3968442283"/>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Archaeology</a:t>
            </a:r>
            <a:endParaRPr lang="en-US" dirty="0"/>
          </a:p>
        </p:txBody>
      </p:sp>
      <p:sp>
        <p:nvSpPr>
          <p:cNvPr id="3" name="Content Placeholder 2"/>
          <p:cNvSpPr>
            <a:spLocks noGrp="1"/>
          </p:cNvSpPr>
          <p:nvPr>
            <p:ph idx="1"/>
          </p:nvPr>
        </p:nvSpPr>
        <p:spPr/>
        <p:txBody>
          <a:bodyPr>
            <a:normAutofit lnSpcReduction="10000"/>
          </a:bodyPr>
          <a:lstStyle/>
          <a:p>
            <a:r>
              <a:rPr lang="en-US" dirty="0" smtClean="0"/>
              <a:t>The </a:t>
            </a:r>
            <a:r>
              <a:rPr lang="en-US" dirty="0"/>
              <a:t>study of past human cultures through their material remains</a:t>
            </a:r>
          </a:p>
          <a:p>
            <a:pPr lvl="1"/>
            <a:r>
              <a:rPr lang="en-US" dirty="0"/>
              <a:t>Two major areas</a:t>
            </a:r>
          </a:p>
          <a:p>
            <a:pPr lvl="2"/>
            <a:r>
              <a:rPr lang="en-US" dirty="0"/>
              <a:t>Prehistoric</a:t>
            </a:r>
          </a:p>
          <a:p>
            <a:pPr lvl="2"/>
            <a:r>
              <a:rPr lang="en-US" dirty="0"/>
              <a:t>Historical</a:t>
            </a:r>
          </a:p>
          <a:p>
            <a:pPr lvl="1"/>
            <a:r>
              <a:rPr lang="en-US" dirty="0"/>
              <a:t>Specialties based on context</a:t>
            </a:r>
          </a:p>
          <a:p>
            <a:pPr lvl="2"/>
            <a:r>
              <a:rPr lang="en-US" dirty="0"/>
              <a:t>Underwater </a:t>
            </a:r>
            <a:r>
              <a:rPr lang="en-US" dirty="0" smtClean="0"/>
              <a:t>archaeology</a:t>
            </a:r>
            <a:endParaRPr lang="en-US" dirty="0"/>
          </a:p>
          <a:p>
            <a:pPr lvl="2"/>
            <a:r>
              <a:rPr lang="en-US" dirty="0"/>
              <a:t>Industrial </a:t>
            </a:r>
            <a:r>
              <a:rPr lang="en-US" dirty="0" smtClean="0"/>
              <a:t>archaeology</a:t>
            </a:r>
            <a:endParaRPr lang="en-US" dirty="0"/>
          </a:p>
          <a:p>
            <a:r>
              <a:rPr lang="en-US" dirty="0"/>
              <a:t>Archaeology of contemporary life</a:t>
            </a:r>
          </a:p>
          <a:p>
            <a:pPr lvl="2"/>
            <a:r>
              <a:rPr lang="en-US" dirty="0"/>
              <a:t>The “Garbage Project”</a:t>
            </a:r>
          </a:p>
          <a:p>
            <a:endParaRPr lang="en-US" dirty="0"/>
          </a:p>
        </p:txBody>
      </p:sp>
    </p:spTree>
    <p:extLst>
      <p:ext uri="{BB962C8B-B14F-4D97-AF65-F5344CB8AC3E}">
        <p14:creationId xmlns:p14="http://schemas.microsoft.com/office/powerpoint/2010/main" val="2286108900"/>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Linguistic Anthropology</a:t>
            </a:r>
            <a:endParaRPr lang="en-US" dirty="0"/>
          </a:p>
        </p:txBody>
      </p:sp>
      <p:sp>
        <p:nvSpPr>
          <p:cNvPr id="3" name="Content Placeholder 2"/>
          <p:cNvSpPr>
            <a:spLocks noGrp="1"/>
          </p:cNvSpPr>
          <p:nvPr>
            <p:ph idx="1"/>
          </p:nvPr>
        </p:nvSpPr>
        <p:spPr/>
        <p:txBody>
          <a:bodyPr>
            <a:normAutofit lnSpcReduction="10000"/>
          </a:bodyPr>
          <a:lstStyle/>
          <a:p>
            <a:r>
              <a:rPr lang="en-US" dirty="0" smtClean="0"/>
              <a:t>Study </a:t>
            </a:r>
            <a:r>
              <a:rPr lang="en-US" dirty="0"/>
              <a:t>of communication, mainly (but not exclusively) among humans</a:t>
            </a:r>
          </a:p>
          <a:p>
            <a:pPr lvl="1"/>
            <a:r>
              <a:rPr lang="en-US" dirty="0"/>
              <a:t>Three major areas</a:t>
            </a:r>
          </a:p>
          <a:p>
            <a:pPr lvl="2"/>
            <a:r>
              <a:rPr lang="en-US" dirty="0"/>
              <a:t>Historical linguistics</a:t>
            </a:r>
          </a:p>
          <a:p>
            <a:pPr lvl="2"/>
            <a:r>
              <a:rPr lang="en-US" dirty="0"/>
              <a:t>Descriptive (or structural) linguistics</a:t>
            </a:r>
          </a:p>
          <a:p>
            <a:pPr lvl="2"/>
            <a:r>
              <a:rPr lang="en-US" dirty="0"/>
              <a:t>Sociolinguistics</a:t>
            </a:r>
          </a:p>
          <a:p>
            <a:pPr lvl="1"/>
            <a:r>
              <a:rPr lang="en-US" dirty="0"/>
              <a:t>Trends</a:t>
            </a:r>
          </a:p>
          <a:p>
            <a:pPr lvl="2"/>
            <a:r>
              <a:rPr lang="en-US" dirty="0"/>
              <a:t>Discourse</a:t>
            </a:r>
          </a:p>
          <a:p>
            <a:pPr lvl="2"/>
            <a:r>
              <a:rPr lang="en-US" dirty="0"/>
              <a:t>Role of information technology</a:t>
            </a:r>
          </a:p>
          <a:p>
            <a:pPr lvl="2"/>
            <a:r>
              <a:rPr lang="en-US" dirty="0"/>
              <a:t>Rapid loss of indigenous languages</a:t>
            </a:r>
          </a:p>
          <a:p>
            <a:pPr lvl="1"/>
            <a:endParaRPr lang="en-US" dirty="0"/>
          </a:p>
        </p:txBody>
      </p:sp>
    </p:spTree>
    <p:extLst>
      <p:ext uri="{BB962C8B-B14F-4D97-AF65-F5344CB8AC3E}">
        <p14:creationId xmlns:p14="http://schemas.microsoft.com/office/powerpoint/2010/main" val="3816969149"/>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Cultural Anthropology</a:t>
            </a:r>
            <a:endParaRPr lang="en-US" dirty="0"/>
          </a:p>
        </p:txBody>
      </p:sp>
      <p:sp>
        <p:nvSpPr>
          <p:cNvPr id="3" name="Content Placeholder 2"/>
          <p:cNvSpPr>
            <a:spLocks noGrp="1"/>
          </p:cNvSpPr>
          <p:nvPr>
            <p:ph idx="1"/>
          </p:nvPr>
        </p:nvSpPr>
        <p:spPr/>
        <p:txBody>
          <a:bodyPr>
            <a:normAutofit fontScale="92500"/>
          </a:bodyPr>
          <a:lstStyle/>
          <a:p>
            <a:r>
              <a:rPr lang="en-US" dirty="0" smtClean="0"/>
              <a:t>Study </a:t>
            </a:r>
            <a:r>
              <a:rPr lang="en-US" dirty="0"/>
              <a:t>of the lifeways of the world’s living people, for </a:t>
            </a:r>
            <a:r>
              <a:rPr lang="en-US" dirty="0" smtClean="0"/>
              <a:t>example:</a:t>
            </a:r>
            <a:endParaRPr lang="en-US" dirty="0"/>
          </a:p>
          <a:p>
            <a:pPr lvl="1"/>
            <a:r>
              <a:rPr lang="en-US" dirty="0" smtClean="0"/>
              <a:t>Making </a:t>
            </a:r>
            <a:r>
              <a:rPr lang="en-US" dirty="0"/>
              <a:t>a </a:t>
            </a:r>
            <a:r>
              <a:rPr lang="en-US" dirty="0" smtClean="0"/>
              <a:t>living</a:t>
            </a:r>
          </a:p>
          <a:p>
            <a:pPr lvl="1"/>
            <a:r>
              <a:rPr lang="en-US" dirty="0" smtClean="0"/>
              <a:t>Reproduction </a:t>
            </a:r>
            <a:r>
              <a:rPr lang="en-US" dirty="0"/>
              <a:t>and life </a:t>
            </a:r>
            <a:r>
              <a:rPr lang="en-US" dirty="0" smtClean="0"/>
              <a:t>cycle</a:t>
            </a:r>
          </a:p>
          <a:p>
            <a:pPr lvl="1"/>
            <a:r>
              <a:rPr lang="en-US" dirty="0" smtClean="0"/>
              <a:t>Health</a:t>
            </a:r>
            <a:endParaRPr lang="en-US" dirty="0"/>
          </a:p>
          <a:p>
            <a:pPr lvl="1"/>
            <a:r>
              <a:rPr lang="en-US" dirty="0" smtClean="0"/>
              <a:t>Marriage </a:t>
            </a:r>
            <a:r>
              <a:rPr lang="en-US" dirty="0"/>
              <a:t>and </a:t>
            </a:r>
            <a:r>
              <a:rPr lang="en-US" dirty="0" smtClean="0"/>
              <a:t>family</a:t>
            </a:r>
          </a:p>
          <a:p>
            <a:pPr lvl="1"/>
            <a:r>
              <a:rPr lang="en-US" dirty="0" smtClean="0"/>
              <a:t>Social </a:t>
            </a:r>
            <a:r>
              <a:rPr lang="en-US" dirty="0"/>
              <a:t>groups, </a:t>
            </a:r>
            <a:r>
              <a:rPr lang="en-US" dirty="0" smtClean="0"/>
              <a:t>politics</a:t>
            </a:r>
          </a:p>
          <a:p>
            <a:pPr lvl="1"/>
            <a:r>
              <a:rPr lang="en-US" dirty="0" smtClean="0"/>
              <a:t>Language</a:t>
            </a:r>
            <a:r>
              <a:rPr lang="en-US" dirty="0"/>
              <a:t>, art, </a:t>
            </a:r>
            <a:r>
              <a:rPr lang="en-US" dirty="0" smtClean="0"/>
              <a:t>religion . . . and </a:t>
            </a:r>
            <a:r>
              <a:rPr lang="en-US" dirty="0"/>
              <a:t>MORE [the chapters in the </a:t>
            </a:r>
            <a:r>
              <a:rPr lang="en-US" dirty="0" smtClean="0"/>
              <a:t>text </a:t>
            </a:r>
            <a:r>
              <a:rPr lang="en-US" dirty="0"/>
              <a:t>and class lectures cover all these “subfields</a:t>
            </a:r>
            <a:r>
              <a:rPr lang="en-US" dirty="0" smtClean="0"/>
              <a:t>”]</a:t>
            </a:r>
            <a:endParaRPr lang="en-US" dirty="0"/>
          </a:p>
          <a:p>
            <a:pPr lvl="1"/>
            <a:endParaRPr lang="en-US" dirty="0"/>
          </a:p>
        </p:txBody>
      </p:sp>
    </p:spTree>
    <p:extLst>
      <p:ext uri="{BB962C8B-B14F-4D97-AF65-F5344CB8AC3E}">
        <p14:creationId xmlns:p14="http://schemas.microsoft.com/office/powerpoint/2010/main" val="2019966341"/>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524000"/>
          </a:xfrm>
        </p:spPr>
        <p:txBody>
          <a:bodyPr>
            <a:normAutofit/>
          </a:bodyPr>
          <a:lstStyle/>
          <a:p>
            <a:r>
              <a:rPr lang="en-US" sz="4000" dirty="0" smtClean="0"/>
              <a:t>Applied Anthropology: Separate Field or Cross-Cutting Focus?</a:t>
            </a:r>
            <a:endParaRPr lang="en-US" sz="4000" dirty="0"/>
          </a:p>
        </p:txBody>
      </p:sp>
      <p:sp>
        <p:nvSpPr>
          <p:cNvPr id="3" name="Content Placeholder 2"/>
          <p:cNvSpPr>
            <a:spLocks noGrp="1"/>
          </p:cNvSpPr>
          <p:nvPr>
            <p:ph idx="1"/>
          </p:nvPr>
        </p:nvSpPr>
        <p:spPr/>
        <p:txBody>
          <a:bodyPr/>
          <a:lstStyle/>
          <a:p>
            <a:r>
              <a:rPr lang="en-US" sz="3600" dirty="0" smtClean="0"/>
              <a:t>Applied Anthropology</a:t>
            </a:r>
          </a:p>
          <a:p>
            <a:pPr lvl="1"/>
            <a:r>
              <a:rPr lang="en-US" dirty="0" smtClean="0"/>
              <a:t>Involves </a:t>
            </a:r>
            <a:r>
              <a:rPr lang="en-US" dirty="0"/>
              <a:t>the use or application of anthropological knowledge to help solve social </a:t>
            </a:r>
            <a:r>
              <a:rPr lang="en-US" dirty="0" smtClean="0"/>
              <a:t>problems</a:t>
            </a:r>
            <a:endParaRPr lang="en-US" dirty="0"/>
          </a:p>
          <a:p>
            <a:pPr lvl="1"/>
            <a:endParaRPr lang="en-US" dirty="0" smtClean="0"/>
          </a:p>
          <a:p>
            <a:pPr lvl="1"/>
            <a:r>
              <a:rPr lang="en-US" dirty="0" smtClean="0"/>
              <a:t>A </a:t>
            </a:r>
            <a:r>
              <a:rPr lang="en-US" dirty="0"/>
              <a:t>separate field? </a:t>
            </a:r>
            <a:r>
              <a:rPr lang="en-US" dirty="0" smtClean="0"/>
              <a:t>No . </a:t>
            </a:r>
            <a:r>
              <a:rPr lang="en-US" dirty="0"/>
              <a:t>. .</a:t>
            </a:r>
          </a:p>
          <a:p>
            <a:pPr lvl="2"/>
            <a:r>
              <a:rPr lang="en-US" dirty="0"/>
              <a:t>Just like theory, application should be a valued part of every field of anthropology</a:t>
            </a:r>
          </a:p>
          <a:p>
            <a:endParaRPr lang="en-US" dirty="0"/>
          </a:p>
        </p:txBody>
      </p:sp>
    </p:spTree>
    <p:extLst>
      <p:ext uri="{BB962C8B-B14F-4D97-AF65-F5344CB8AC3E}">
        <p14:creationId xmlns:p14="http://schemas.microsoft.com/office/powerpoint/2010/main" val="1954138050"/>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371600"/>
          </a:xfrm>
        </p:spPr>
        <p:txBody>
          <a:bodyPr>
            <a:noAutofit/>
          </a:bodyPr>
          <a:lstStyle/>
          <a:p>
            <a:r>
              <a:rPr lang="en-US" sz="3600" dirty="0" smtClean="0"/>
              <a:t>Anthropology </a:t>
            </a:r>
            <a:r>
              <a:rPr lang="en-US" sz="3600" dirty="0"/>
              <a:t>Works: </a:t>
            </a:r>
            <a:r>
              <a:rPr lang="en-US" sz="3600" dirty="0" smtClean="0"/>
              <a:t/>
            </a:r>
            <a:br>
              <a:rPr lang="en-US" sz="3600" dirty="0" smtClean="0"/>
            </a:br>
            <a:r>
              <a:rPr lang="en-US" sz="3600" dirty="0" smtClean="0"/>
              <a:t>Delivering </a:t>
            </a:r>
            <a:r>
              <a:rPr lang="en-US" sz="3600" dirty="0"/>
              <a:t>Health Care in Rural Haiti</a:t>
            </a:r>
            <a:br>
              <a:rPr lang="en-US" sz="3600" dirty="0"/>
            </a:br>
            <a:endParaRPr lang="en-US" sz="3600" dirty="0"/>
          </a:p>
        </p:txBody>
      </p:sp>
      <p:sp>
        <p:nvSpPr>
          <p:cNvPr id="3" name="Content Placeholder 2"/>
          <p:cNvSpPr>
            <a:spLocks noGrp="1"/>
          </p:cNvSpPr>
          <p:nvPr>
            <p:ph idx="1"/>
          </p:nvPr>
        </p:nvSpPr>
        <p:spPr/>
        <p:txBody>
          <a:bodyPr/>
          <a:lstStyle/>
          <a:p>
            <a:pPr lvl="1">
              <a:buFont typeface="Arial"/>
              <a:buChar char="•"/>
            </a:pPr>
            <a:r>
              <a:rPr lang="en-US" dirty="0" smtClean="0"/>
              <a:t>The work of Paul Farmer includes:</a:t>
            </a:r>
          </a:p>
          <a:p>
            <a:pPr lvl="2"/>
            <a:r>
              <a:rPr lang="en-US" dirty="0" smtClean="0"/>
              <a:t>Publications</a:t>
            </a:r>
          </a:p>
          <a:p>
            <a:pPr lvl="2"/>
            <a:r>
              <a:rPr lang="en-US" dirty="0" smtClean="0"/>
              <a:t>Health-care delivery</a:t>
            </a:r>
          </a:p>
          <a:p>
            <a:pPr lvl="2"/>
            <a:r>
              <a:rPr lang="en-US" dirty="0" smtClean="0"/>
              <a:t>Advocacy as part of an NGO</a:t>
            </a:r>
          </a:p>
          <a:p>
            <a:pPr lvl="1">
              <a:buFont typeface="Arial"/>
              <a:buChar char="•"/>
            </a:pPr>
            <a:r>
              <a:rPr lang="en-US" dirty="0" smtClean="0"/>
              <a:t>He argues that health problems can be understood as the products of poverty and social injustice</a:t>
            </a:r>
            <a:endParaRPr lang="en-US" dirty="0"/>
          </a:p>
        </p:txBody>
      </p:sp>
    </p:spTree>
    <p:extLst>
      <p:ext uri="{BB962C8B-B14F-4D97-AF65-F5344CB8AC3E}">
        <p14:creationId xmlns:p14="http://schemas.microsoft.com/office/powerpoint/2010/main" val="2698290466"/>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Introducing Cultural Anthropology </a:t>
            </a:r>
            <a:r>
              <a:rPr lang="en-US" sz="2800" dirty="0" smtClean="0"/>
              <a:t>(1 of 2)</a:t>
            </a:r>
            <a:r>
              <a:rPr lang="en-US" sz="3600" dirty="0" smtClean="0"/>
              <a:t/>
            </a:r>
            <a:br>
              <a:rPr lang="en-US" sz="3600" dirty="0" smtClean="0"/>
            </a:br>
            <a:r>
              <a:rPr lang="en-US" sz="2800" dirty="0" smtClean="0"/>
              <a:t>1.2 Recognize what is cultural anthropology.</a:t>
            </a:r>
            <a:endParaRPr lang="en-US" sz="2800" dirty="0"/>
          </a:p>
        </p:txBody>
      </p:sp>
      <p:sp>
        <p:nvSpPr>
          <p:cNvPr id="3" name="Content Placeholder 2"/>
          <p:cNvSpPr>
            <a:spLocks noGrp="1"/>
          </p:cNvSpPr>
          <p:nvPr>
            <p:ph idx="1"/>
          </p:nvPr>
        </p:nvSpPr>
        <p:spPr/>
        <p:txBody>
          <a:bodyPr>
            <a:normAutofit fontScale="92500"/>
          </a:bodyPr>
          <a:lstStyle/>
          <a:p>
            <a:endParaRPr lang="en-US" dirty="0"/>
          </a:p>
          <a:p>
            <a:r>
              <a:rPr lang="en-US" dirty="0" smtClean="0"/>
              <a:t>Highlights in the </a:t>
            </a:r>
            <a:r>
              <a:rPr lang="en-US" dirty="0"/>
              <a:t>H</a:t>
            </a:r>
            <a:r>
              <a:rPr lang="en-US" dirty="0" smtClean="0"/>
              <a:t>istory of Cultural Anthropology</a:t>
            </a:r>
          </a:p>
          <a:p>
            <a:endParaRPr lang="en-US" dirty="0"/>
          </a:p>
          <a:p>
            <a:r>
              <a:rPr lang="en-US" dirty="0" smtClean="0"/>
              <a:t>The </a:t>
            </a:r>
            <a:r>
              <a:rPr lang="en-US" dirty="0"/>
              <a:t>C</a:t>
            </a:r>
            <a:r>
              <a:rPr lang="en-US" dirty="0" smtClean="0"/>
              <a:t>oncept </a:t>
            </a:r>
            <a:r>
              <a:rPr lang="en-US" dirty="0"/>
              <a:t>of </a:t>
            </a:r>
            <a:r>
              <a:rPr lang="en-US" dirty="0" smtClean="0"/>
              <a:t>Culture</a:t>
            </a:r>
          </a:p>
          <a:p>
            <a:endParaRPr lang="en-US" dirty="0"/>
          </a:p>
          <a:p>
            <a:r>
              <a:rPr lang="en-US" dirty="0" smtClean="0"/>
              <a:t>Multiple </a:t>
            </a:r>
            <a:r>
              <a:rPr lang="en-US" dirty="0"/>
              <a:t>C</a:t>
            </a:r>
            <a:r>
              <a:rPr lang="en-US" dirty="0" smtClean="0"/>
              <a:t>ultural Worlds</a:t>
            </a:r>
          </a:p>
          <a:p>
            <a:endParaRPr lang="en-US" dirty="0"/>
          </a:p>
          <a:p>
            <a:r>
              <a:rPr lang="en-US" dirty="0" smtClean="0"/>
              <a:t>Three </a:t>
            </a:r>
            <a:r>
              <a:rPr lang="en-US" dirty="0"/>
              <a:t>T</a:t>
            </a:r>
            <a:r>
              <a:rPr lang="en-US" dirty="0" smtClean="0"/>
              <a:t>heoretical </a:t>
            </a:r>
            <a:r>
              <a:rPr lang="en-US" dirty="0"/>
              <a:t>D</a:t>
            </a:r>
            <a:r>
              <a:rPr lang="en-US" dirty="0" smtClean="0"/>
              <a:t>ebates</a:t>
            </a:r>
            <a:endParaRPr lang="en-US" dirty="0"/>
          </a:p>
          <a:p>
            <a:endParaRPr lang="en-US" dirty="0"/>
          </a:p>
        </p:txBody>
      </p:sp>
    </p:spTree>
    <p:extLst>
      <p:ext uri="{BB962C8B-B14F-4D97-AF65-F5344CB8AC3E}">
        <p14:creationId xmlns:p14="http://schemas.microsoft.com/office/powerpoint/2010/main" val="1024983610"/>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Introducing Cultural </a:t>
            </a:r>
            <a:r>
              <a:rPr lang="en-US" sz="3600" dirty="0" smtClean="0"/>
              <a:t>Anthropology </a:t>
            </a:r>
            <a:r>
              <a:rPr lang="en-US" sz="2800" dirty="0" smtClean="0"/>
              <a:t>(2 of 2)</a:t>
            </a:r>
            <a:endParaRPr lang="en-US" sz="2800" dirty="0"/>
          </a:p>
        </p:txBody>
      </p:sp>
      <p:sp>
        <p:nvSpPr>
          <p:cNvPr id="3" name="Content Placeholder 2"/>
          <p:cNvSpPr>
            <a:spLocks noGrp="1"/>
          </p:cNvSpPr>
          <p:nvPr>
            <p:ph idx="1"/>
          </p:nvPr>
        </p:nvSpPr>
        <p:spPr/>
        <p:txBody>
          <a:bodyPr>
            <a:normAutofit/>
          </a:bodyPr>
          <a:lstStyle/>
          <a:p>
            <a:r>
              <a:rPr lang="en-US" dirty="0" smtClean="0"/>
              <a:t>Behavior and Belief</a:t>
            </a:r>
          </a:p>
          <a:p>
            <a:pPr lvl="1"/>
            <a:r>
              <a:rPr lang="en-US" sz="2400" dirty="0" smtClean="0"/>
              <a:t>Two </a:t>
            </a:r>
            <a:r>
              <a:rPr lang="en-US" sz="2400" dirty="0"/>
              <a:t>different emphases in anthropology concerning which is more important as constituting culture</a:t>
            </a:r>
            <a:r>
              <a:rPr lang="en-US" sz="2400" dirty="0" smtClean="0"/>
              <a:t>:</a:t>
            </a:r>
            <a:endParaRPr lang="en-US" sz="2400" dirty="0"/>
          </a:p>
          <a:p>
            <a:pPr lvl="2"/>
            <a:r>
              <a:rPr lang="en-US" sz="2800" dirty="0"/>
              <a:t>Behavior: </a:t>
            </a:r>
          </a:p>
          <a:p>
            <a:pPr lvl="3"/>
            <a:r>
              <a:rPr lang="en-US" sz="2400" dirty="0"/>
              <a:t>Cultural </a:t>
            </a:r>
            <a:r>
              <a:rPr lang="en-US" sz="2400" dirty="0" smtClean="0"/>
              <a:t>materialism </a:t>
            </a:r>
            <a:endParaRPr lang="en-US" sz="2400" dirty="0"/>
          </a:p>
          <a:p>
            <a:pPr lvl="2"/>
            <a:r>
              <a:rPr lang="en-US" sz="2800" dirty="0" smtClean="0"/>
              <a:t>Belief/thought</a:t>
            </a:r>
            <a:r>
              <a:rPr lang="en-US" sz="2800" dirty="0"/>
              <a:t>: </a:t>
            </a:r>
          </a:p>
          <a:p>
            <a:pPr lvl="3"/>
            <a:r>
              <a:rPr lang="en-US" sz="2400" dirty="0"/>
              <a:t>Cultural i</a:t>
            </a:r>
            <a:r>
              <a:rPr lang="en-US" sz="2400" dirty="0" smtClean="0"/>
              <a:t>nterpretivism </a:t>
            </a:r>
            <a:endParaRPr lang="en-US" sz="2400" dirty="0"/>
          </a:p>
          <a:p>
            <a:endParaRPr lang="en-US" dirty="0"/>
          </a:p>
        </p:txBody>
      </p:sp>
    </p:spTree>
    <p:extLst>
      <p:ext uri="{BB962C8B-B14F-4D97-AF65-F5344CB8AC3E}">
        <p14:creationId xmlns:p14="http://schemas.microsoft.com/office/powerpoint/2010/main" val="1175347784"/>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US" sz="3600" dirty="0"/>
              <a:t>Highlights in the History of </a:t>
            </a:r>
            <a:r>
              <a:rPr lang="en-US" sz="3600" dirty="0" smtClean="0"/>
              <a:t/>
            </a:r>
            <a:br>
              <a:rPr lang="en-US" sz="3600" dirty="0" smtClean="0"/>
            </a:br>
            <a:r>
              <a:rPr lang="en-US" sz="3600" dirty="0" smtClean="0"/>
              <a:t>Cultural Anthropology</a:t>
            </a:r>
            <a:endParaRPr lang="en-US" sz="2800" dirty="0"/>
          </a:p>
        </p:txBody>
      </p:sp>
      <p:sp>
        <p:nvSpPr>
          <p:cNvPr id="3" name="Content Placeholder 2"/>
          <p:cNvSpPr>
            <a:spLocks noGrp="1"/>
          </p:cNvSpPr>
          <p:nvPr>
            <p:ph idx="1"/>
          </p:nvPr>
        </p:nvSpPr>
        <p:spPr/>
        <p:txBody>
          <a:bodyPr/>
          <a:lstStyle/>
          <a:p>
            <a:r>
              <a:rPr lang="en-US" dirty="0" smtClean="0"/>
              <a:t>The concept of evolution and functionalism</a:t>
            </a:r>
            <a:endParaRPr lang="en-US" dirty="0"/>
          </a:p>
          <a:p>
            <a:r>
              <a:rPr lang="en-US" dirty="0" smtClean="0"/>
              <a:t>Franz Boas and cultural relativism</a:t>
            </a:r>
          </a:p>
          <a:p>
            <a:r>
              <a:rPr lang="en-US" dirty="0" smtClean="0"/>
              <a:t>Margaret Mead and public anthropology</a:t>
            </a:r>
          </a:p>
          <a:p>
            <a:r>
              <a:rPr lang="en-US" dirty="0"/>
              <a:t>Claude </a:t>
            </a:r>
            <a:r>
              <a:rPr lang="en-US" dirty="0" smtClean="0"/>
              <a:t>Lévi-Strauss and French structuralism</a:t>
            </a:r>
          </a:p>
          <a:p>
            <a:r>
              <a:rPr lang="en-US" dirty="0" smtClean="0"/>
              <a:t>Marxism and cultural materialism</a:t>
            </a:r>
          </a:p>
          <a:p>
            <a:r>
              <a:rPr lang="en-US" dirty="0" smtClean="0"/>
              <a:t>The 1960s and interpretive anthropology</a:t>
            </a:r>
          </a:p>
          <a:p>
            <a:r>
              <a:rPr lang="en-US" dirty="0" smtClean="0"/>
              <a:t>Postmodernism and structurism/agency</a:t>
            </a:r>
          </a:p>
        </p:txBody>
      </p:sp>
    </p:spTree>
    <p:extLst>
      <p:ext uri="{BB962C8B-B14F-4D97-AF65-F5344CB8AC3E}">
        <p14:creationId xmlns:p14="http://schemas.microsoft.com/office/powerpoint/2010/main" val="330195645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of Culture </a:t>
            </a:r>
            <a:r>
              <a:rPr lang="en-US" sz="2800" dirty="0"/>
              <a:t>(1 of </a:t>
            </a:r>
            <a:r>
              <a:rPr lang="en-US" sz="2800" dirty="0" smtClean="0"/>
              <a:t>6)</a:t>
            </a:r>
            <a:endParaRPr lang="en-US" sz="2800" dirty="0"/>
          </a:p>
        </p:txBody>
      </p:sp>
      <p:sp>
        <p:nvSpPr>
          <p:cNvPr id="3" name="Content Placeholder 2"/>
          <p:cNvSpPr>
            <a:spLocks noGrp="1"/>
          </p:cNvSpPr>
          <p:nvPr>
            <p:ph idx="1"/>
          </p:nvPr>
        </p:nvSpPr>
        <p:spPr/>
        <p:txBody>
          <a:bodyPr/>
          <a:lstStyle/>
          <a:p>
            <a:r>
              <a:rPr lang="en-US" dirty="0" smtClean="0"/>
              <a:t>A simple definition of culture:</a:t>
            </a:r>
          </a:p>
          <a:p>
            <a:pPr lvl="1"/>
            <a:r>
              <a:rPr lang="en-US" dirty="0" smtClean="0"/>
              <a:t>Learned </a:t>
            </a:r>
            <a:r>
              <a:rPr lang="en-US" dirty="0"/>
              <a:t>and shared ways of behaving and </a:t>
            </a:r>
            <a:r>
              <a:rPr lang="en-US" dirty="0" smtClean="0"/>
              <a:t>thinking</a:t>
            </a:r>
            <a:endParaRPr lang="en-US" dirty="0"/>
          </a:p>
          <a:p>
            <a:endParaRPr lang="en-US" dirty="0"/>
          </a:p>
        </p:txBody>
      </p:sp>
    </p:spTree>
    <p:extLst>
      <p:ext uri="{BB962C8B-B14F-4D97-AF65-F5344CB8AC3E}">
        <p14:creationId xmlns:p14="http://schemas.microsoft.com/office/powerpoint/2010/main" val="3376040725"/>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of Culture </a:t>
            </a:r>
            <a:r>
              <a:rPr lang="en-US" sz="2800" dirty="0" smtClean="0"/>
              <a:t>(2 </a:t>
            </a:r>
            <a:r>
              <a:rPr lang="en-US" sz="2800" dirty="0"/>
              <a:t>of 6</a:t>
            </a:r>
            <a:r>
              <a:rPr lang="en-US" sz="2800" dirty="0" smtClean="0"/>
              <a:t>)</a:t>
            </a:r>
            <a:endParaRPr lang="en-US" sz="2800" dirty="0"/>
          </a:p>
        </p:txBody>
      </p:sp>
      <p:sp>
        <p:nvSpPr>
          <p:cNvPr id="3" name="Content Placeholder 2"/>
          <p:cNvSpPr>
            <a:spLocks noGrp="1"/>
          </p:cNvSpPr>
          <p:nvPr>
            <p:ph idx="1"/>
          </p:nvPr>
        </p:nvSpPr>
        <p:spPr/>
        <p:txBody>
          <a:bodyPr>
            <a:normAutofit/>
          </a:bodyPr>
          <a:lstStyle/>
          <a:p>
            <a:r>
              <a:rPr lang="en-US" dirty="0"/>
              <a:t>Two different emphases in anthropology concerning which is more important as constituting culture</a:t>
            </a:r>
            <a:r>
              <a:rPr lang="en-US" dirty="0" smtClean="0"/>
              <a:t>:</a:t>
            </a:r>
          </a:p>
          <a:p>
            <a:pPr lvl="1"/>
            <a:r>
              <a:rPr lang="en-US" dirty="0" smtClean="0"/>
              <a:t>Behavior</a:t>
            </a:r>
            <a:r>
              <a:rPr lang="en-US" dirty="0"/>
              <a:t>: </a:t>
            </a:r>
            <a:r>
              <a:rPr lang="en-US" dirty="0" smtClean="0"/>
              <a:t>Cultural materialism</a:t>
            </a:r>
            <a:endParaRPr lang="en-US" dirty="0"/>
          </a:p>
          <a:p>
            <a:pPr lvl="1"/>
            <a:r>
              <a:rPr lang="en-US" dirty="0" smtClean="0"/>
              <a:t>Belief/thought</a:t>
            </a:r>
            <a:r>
              <a:rPr lang="en-US" dirty="0"/>
              <a:t>: </a:t>
            </a:r>
            <a:r>
              <a:rPr lang="en-US" dirty="0" smtClean="0"/>
              <a:t>Cultural </a:t>
            </a:r>
            <a:r>
              <a:rPr lang="en-US" dirty="0"/>
              <a:t>i</a:t>
            </a:r>
            <a:r>
              <a:rPr lang="en-US" dirty="0" smtClean="0"/>
              <a:t>nterpretivism</a:t>
            </a:r>
            <a:endParaRPr lang="en-US" dirty="0"/>
          </a:p>
          <a:p>
            <a:endParaRPr lang="en-US" dirty="0" smtClean="0"/>
          </a:p>
          <a:p>
            <a:endParaRPr lang="en-US" dirty="0"/>
          </a:p>
        </p:txBody>
      </p:sp>
    </p:spTree>
    <p:extLst>
      <p:ext uri="{BB962C8B-B14F-4D97-AF65-F5344CB8AC3E}">
        <p14:creationId xmlns:p14="http://schemas.microsoft.com/office/powerpoint/2010/main" val="3401354637"/>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of Culture </a:t>
            </a:r>
            <a:r>
              <a:rPr lang="en-US" sz="2800" dirty="0" smtClean="0"/>
              <a:t>(3 </a:t>
            </a:r>
            <a:r>
              <a:rPr lang="en-US" sz="2800" dirty="0"/>
              <a:t>of </a:t>
            </a:r>
            <a:r>
              <a:rPr lang="en-US" sz="2800" dirty="0" smtClean="0"/>
              <a:t>6)</a:t>
            </a:r>
            <a:endParaRPr lang="en-US" sz="2800" dirty="0"/>
          </a:p>
        </p:txBody>
      </p:sp>
      <p:sp>
        <p:nvSpPr>
          <p:cNvPr id="3" name="Content Placeholder 2"/>
          <p:cNvSpPr>
            <a:spLocks noGrp="1"/>
          </p:cNvSpPr>
          <p:nvPr>
            <p:ph idx="1"/>
          </p:nvPr>
        </p:nvSpPr>
        <p:spPr/>
        <p:txBody>
          <a:bodyPr>
            <a:normAutofit fontScale="92500" lnSpcReduction="10000"/>
          </a:bodyPr>
          <a:lstStyle/>
          <a:p>
            <a:r>
              <a:rPr lang="en-US" dirty="0"/>
              <a:t>Characteristics of Culture</a:t>
            </a:r>
            <a:endParaRPr lang="en-US" dirty="0" smtClean="0"/>
          </a:p>
          <a:p>
            <a:pPr lvl="1"/>
            <a:r>
              <a:rPr lang="en-US" dirty="0" smtClean="0"/>
              <a:t>Culture </a:t>
            </a:r>
            <a:r>
              <a:rPr lang="en-US" dirty="0"/>
              <a:t>is not the same as nature</a:t>
            </a:r>
          </a:p>
          <a:p>
            <a:pPr lvl="2"/>
            <a:r>
              <a:rPr lang="en-US" dirty="0"/>
              <a:t>Eating</a:t>
            </a:r>
          </a:p>
          <a:p>
            <a:pPr lvl="2"/>
            <a:r>
              <a:rPr lang="en-US" dirty="0"/>
              <a:t>Drinking</a:t>
            </a:r>
          </a:p>
          <a:p>
            <a:pPr lvl="2"/>
            <a:r>
              <a:rPr lang="en-US" dirty="0"/>
              <a:t>Sleeping</a:t>
            </a:r>
          </a:p>
          <a:p>
            <a:pPr lvl="2"/>
            <a:r>
              <a:rPr lang="en-US" dirty="0" smtClean="0"/>
              <a:t>Eliminating</a:t>
            </a:r>
            <a:endParaRPr lang="en-US" dirty="0"/>
          </a:p>
          <a:p>
            <a:pPr lvl="1"/>
            <a:r>
              <a:rPr lang="en-US" dirty="0"/>
              <a:t>Culture is based on symbols</a:t>
            </a:r>
          </a:p>
          <a:p>
            <a:pPr lvl="1"/>
            <a:r>
              <a:rPr lang="en-US" dirty="0"/>
              <a:t>Culture is learned</a:t>
            </a:r>
          </a:p>
          <a:p>
            <a:pPr lvl="1"/>
            <a:r>
              <a:rPr lang="en-US" dirty="0"/>
              <a:t>Cultures are integrated</a:t>
            </a:r>
          </a:p>
          <a:p>
            <a:pPr lvl="1"/>
            <a:r>
              <a:rPr lang="en-US" dirty="0"/>
              <a:t>Cultures interact and change</a:t>
            </a:r>
          </a:p>
          <a:p>
            <a:endParaRPr lang="en-US" dirty="0"/>
          </a:p>
        </p:txBody>
      </p:sp>
    </p:spTree>
    <p:extLst>
      <p:ext uri="{BB962C8B-B14F-4D97-AF65-F5344CB8AC3E}">
        <p14:creationId xmlns:p14="http://schemas.microsoft.com/office/powerpoint/2010/main" val="1535719210"/>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map locates Sumba to the east of Java in Indonesia, and shows the location of the Weyewa region in western Sumba. An inset globe shows the area is north of Austral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76600" y="1447800"/>
            <a:ext cx="5344747" cy="4873361"/>
          </a:xfrm>
        </p:spPr>
      </p:pic>
      <p:sp>
        <p:nvSpPr>
          <p:cNvPr id="6" name="Text Placeholder 5"/>
          <p:cNvSpPr txBox="1">
            <a:spLocks/>
          </p:cNvSpPr>
          <p:nvPr/>
        </p:nvSpPr>
        <p:spPr>
          <a:xfrm>
            <a:off x="304800" y="1447800"/>
            <a:ext cx="2667000" cy="47371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n-US" sz="2800" dirty="0" smtClean="0"/>
          </a:p>
          <a:p>
            <a:r>
              <a:rPr lang="en-US" sz="2800" dirty="0" smtClean="0"/>
              <a:t>Culture is not the same as nature	</a:t>
            </a:r>
          </a:p>
          <a:p>
            <a:pPr lvl="1"/>
            <a:r>
              <a:rPr lang="en-US" sz="2400" dirty="0" smtClean="0"/>
              <a:t>Among the Weyéwa, categories of taste differ from those of the West</a:t>
            </a:r>
            <a:endParaRPr lang="en-US" sz="2400" dirty="0"/>
          </a:p>
        </p:txBody>
      </p:sp>
      <p:sp>
        <p:nvSpPr>
          <p:cNvPr id="2" name="Title 1"/>
          <p:cNvSpPr>
            <a:spLocks noGrp="1"/>
          </p:cNvSpPr>
          <p:nvPr>
            <p:ph type="title"/>
          </p:nvPr>
        </p:nvSpPr>
        <p:spPr/>
        <p:txBody>
          <a:bodyPr>
            <a:normAutofit fontScale="90000"/>
          </a:bodyPr>
          <a:lstStyle/>
          <a:p>
            <a:pPr marL="0" indent="0"/>
            <a:r>
              <a:rPr lang="en-US" dirty="0"/>
              <a:t>Map 1.1 </a:t>
            </a:r>
            <a:r>
              <a:rPr lang="en-US" dirty="0" err="1"/>
              <a:t>Weyéwa</a:t>
            </a:r>
            <a:r>
              <a:rPr lang="en-US" dirty="0"/>
              <a:t> Region in Indonesia</a:t>
            </a:r>
          </a:p>
        </p:txBody>
      </p:sp>
    </p:spTree>
    <p:extLst>
      <p:ext uri="{BB962C8B-B14F-4D97-AF65-F5344CB8AC3E}">
        <p14:creationId xmlns:p14="http://schemas.microsoft.com/office/powerpoint/2010/main" val="2852799386"/>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photo shows five women dressed in white sari, with their heads covered, seated under a straw umbrella. "/>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267198" y="1523999"/>
            <a:ext cx="4648201" cy="4648201"/>
          </a:xfrm>
        </p:spPr>
      </p:pic>
      <p:sp>
        <p:nvSpPr>
          <p:cNvPr id="6" name="Text Placeholder 5"/>
          <p:cNvSpPr>
            <a:spLocks noGrp="1"/>
          </p:cNvSpPr>
          <p:nvPr>
            <p:ph type="body" sz="half" idx="2"/>
          </p:nvPr>
        </p:nvSpPr>
        <p:spPr>
          <a:xfrm>
            <a:off x="457200" y="1435100"/>
            <a:ext cx="3733800" cy="4737100"/>
          </a:xfrm>
        </p:spPr>
        <p:txBody>
          <a:bodyPr>
            <a:normAutofit/>
          </a:bodyPr>
          <a:lstStyle/>
          <a:p>
            <a:pPr marL="347472" indent="-347472">
              <a:spcBef>
                <a:spcPts val="24"/>
              </a:spcBef>
              <a:buFont typeface="Arial"/>
              <a:buChar char="•"/>
            </a:pPr>
            <a:endParaRPr lang="en-US" sz="2800" dirty="0" smtClean="0"/>
          </a:p>
          <a:p>
            <a:pPr marL="347472" indent="-347472">
              <a:spcBef>
                <a:spcPts val="24"/>
              </a:spcBef>
              <a:buFont typeface="Arial"/>
              <a:buChar char="•"/>
            </a:pPr>
            <a:r>
              <a:rPr lang="en-US" sz="2800" dirty="0" smtClean="0"/>
              <a:t>Culture is based on symbols	</a:t>
            </a:r>
          </a:p>
          <a:p>
            <a:pPr marL="740664" indent="-283464">
              <a:buFont typeface="Lucida Grande"/>
              <a:buChar char="-"/>
            </a:pPr>
            <a:r>
              <a:rPr lang="en-US" sz="2800" dirty="0" smtClean="0"/>
              <a:t>In India, widows wear white clothing to mark their status</a:t>
            </a:r>
            <a:endParaRPr lang="en-US" sz="2800" dirty="0"/>
          </a:p>
        </p:txBody>
      </p:sp>
      <p:sp>
        <p:nvSpPr>
          <p:cNvPr id="5" name="Title 4"/>
          <p:cNvSpPr>
            <a:spLocks noGrp="1"/>
          </p:cNvSpPr>
          <p:nvPr>
            <p:ph type="title"/>
          </p:nvPr>
        </p:nvSpPr>
        <p:spPr>
          <a:xfrm>
            <a:off x="457200" y="274638"/>
            <a:ext cx="8229600" cy="1143000"/>
          </a:xfrm>
        </p:spPr>
        <p:txBody>
          <a:bodyPr anchor="ctr">
            <a:normAutofit/>
          </a:bodyPr>
          <a:lstStyle/>
          <a:p>
            <a:pPr algn="ctr"/>
            <a:r>
              <a:rPr lang="en-US" sz="4400" b="0" dirty="0"/>
              <a:t>The Concept of Culture </a:t>
            </a:r>
            <a:r>
              <a:rPr lang="en-US" sz="2800" b="0" dirty="0" smtClean="0"/>
              <a:t>(4 </a:t>
            </a:r>
            <a:r>
              <a:rPr lang="en-US" sz="2800" b="0" dirty="0"/>
              <a:t>of </a:t>
            </a:r>
            <a:r>
              <a:rPr lang="en-US" sz="2800" b="0" dirty="0" smtClean="0"/>
              <a:t>6)</a:t>
            </a:r>
            <a:endParaRPr lang="en-US" sz="2800" b="0" dirty="0"/>
          </a:p>
        </p:txBody>
      </p:sp>
    </p:spTree>
    <p:extLst>
      <p:ext uri="{BB962C8B-B14F-4D97-AF65-F5344CB8AC3E}">
        <p14:creationId xmlns:p14="http://schemas.microsoft.com/office/powerpoint/2010/main" val="3809580392"/>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Concept of Culture </a:t>
            </a:r>
            <a:r>
              <a:rPr lang="en-US" sz="2800" dirty="0" smtClean="0"/>
              <a:t>(5 </a:t>
            </a:r>
            <a:r>
              <a:rPr lang="en-US" sz="2800" dirty="0"/>
              <a:t>of 6</a:t>
            </a:r>
            <a:r>
              <a:rPr lang="en-US" sz="2800" dirty="0" smtClean="0"/>
              <a:t>)</a:t>
            </a:r>
            <a:endParaRPr lang="en-US" sz="2800" dirty="0"/>
          </a:p>
        </p:txBody>
      </p:sp>
      <p:sp>
        <p:nvSpPr>
          <p:cNvPr id="6" name="Content Placeholder 5"/>
          <p:cNvSpPr>
            <a:spLocks noGrp="1"/>
          </p:cNvSpPr>
          <p:nvPr>
            <p:ph idx="1"/>
          </p:nvPr>
        </p:nvSpPr>
        <p:spPr/>
        <p:txBody>
          <a:bodyPr>
            <a:normAutofit/>
          </a:bodyPr>
          <a:lstStyle/>
          <a:p>
            <a:r>
              <a:rPr lang="en-US" dirty="0" smtClean="0"/>
              <a:t>Culture is learned</a:t>
            </a:r>
          </a:p>
          <a:p>
            <a:pPr lvl="1"/>
            <a:r>
              <a:rPr lang="en-US" dirty="0" smtClean="0"/>
              <a:t>Much cultural learning is absorbed unconsciously, through observation and practice</a:t>
            </a:r>
          </a:p>
          <a:p>
            <a:pPr lvl="1"/>
            <a:r>
              <a:rPr lang="en-US" dirty="0" smtClean="0"/>
              <a:t>Some is learned formally in schools </a:t>
            </a:r>
          </a:p>
          <a:p>
            <a:pPr lvl="1"/>
            <a:endParaRPr lang="en-US" dirty="0" smtClean="0"/>
          </a:p>
          <a:p>
            <a:r>
              <a:rPr lang="en-US" dirty="0" smtClean="0"/>
              <a:t>Cultures are integrated</a:t>
            </a:r>
            <a:endParaRPr lang="en-US" dirty="0"/>
          </a:p>
          <a:p>
            <a:pPr lvl="1"/>
            <a:r>
              <a:rPr lang="en-US" dirty="0" smtClean="0"/>
              <a:t>Example: highland Papua New Guinea</a:t>
            </a:r>
            <a:endParaRPr lang="en-US" dirty="0"/>
          </a:p>
          <a:p>
            <a:pPr marL="457200" lvl="1" indent="0">
              <a:buNone/>
            </a:pPr>
            <a:endParaRPr lang="en-US" dirty="0"/>
          </a:p>
        </p:txBody>
      </p:sp>
    </p:spTree>
    <p:extLst>
      <p:ext uri="{BB962C8B-B14F-4D97-AF65-F5344CB8AC3E}">
        <p14:creationId xmlns:p14="http://schemas.microsoft.com/office/powerpoint/2010/main" val="2678385410"/>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map shows Papua New Guinea, with Indonesia forming the western half of the island of New Guinea, and the Solomon Islands in the Coral Sea to its east. An inset globe shows the area is north of Austral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85800" y="1676400"/>
            <a:ext cx="7714566" cy="4375018"/>
          </a:xfrm>
        </p:spPr>
      </p:pic>
      <p:sp>
        <p:nvSpPr>
          <p:cNvPr id="2" name="Title 1"/>
          <p:cNvSpPr>
            <a:spLocks noGrp="1"/>
          </p:cNvSpPr>
          <p:nvPr>
            <p:ph type="title"/>
          </p:nvPr>
        </p:nvSpPr>
        <p:spPr/>
        <p:txBody>
          <a:bodyPr/>
          <a:lstStyle/>
          <a:p>
            <a:r>
              <a:rPr lang="en-US" dirty="0" smtClean="0"/>
              <a:t>Map 1.2 Papua New Guinea</a:t>
            </a:r>
            <a:endParaRPr lang="en-US" sz="2800" dirty="0"/>
          </a:p>
        </p:txBody>
      </p:sp>
    </p:spTree>
    <p:extLst>
      <p:ext uri="{BB962C8B-B14F-4D97-AF65-F5344CB8AC3E}">
        <p14:creationId xmlns:p14="http://schemas.microsoft.com/office/powerpoint/2010/main" val="22404964"/>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of Culture </a:t>
            </a:r>
            <a:r>
              <a:rPr lang="en-US" sz="2800" dirty="0" smtClean="0"/>
              <a:t>(6 </a:t>
            </a:r>
            <a:r>
              <a:rPr lang="en-US" sz="2800" dirty="0"/>
              <a:t>of </a:t>
            </a:r>
            <a:r>
              <a:rPr lang="en-US" sz="2800" dirty="0" smtClean="0"/>
              <a:t>6)</a:t>
            </a:r>
            <a:endParaRPr lang="en-US" sz="2800" dirty="0"/>
          </a:p>
        </p:txBody>
      </p:sp>
      <p:sp>
        <p:nvSpPr>
          <p:cNvPr id="3" name="Content Placeholder 2"/>
          <p:cNvSpPr>
            <a:spLocks noGrp="1"/>
          </p:cNvSpPr>
          <p:nvPr>
            <p:ph idx="1"/>
          </p:nvPr>
        </p:nvSpPr>
        <p:spPr/>
        <p:txBody>
          <a:bodyPr/>
          <a:lstStyle/>
          <a:p>
            <a:r>
              <a:rPr lang="en-US" dirty="0" smtClean="0"/>
              <a:t>Cultures interact and change</a:t>
            </a:r>
          </a:p>
          <a:p>
            <a:pPr lvl="1"/>
            <a:r>
              <a:rPr lang="en-US" dirty="0" smtClean="0"/>
              <a:t>Figure 1.3 Four Models of Cultural </a:t>
            </a:r>
            <a:r>
              <a:rPr lang="en-US" dirty="0"/>
              <a:t>I</a:t>
            </a:r>
            <a:r>
              <a:rPr lang="en-US" dirty="0" smtClean="0"/>
              <a:t>nteraction</a:t>
            </a:r>
          </a:p>
          <a:p>
            <a:pPr lvl="2"/>
            <a:r>
              <a:rPr lang="en-US" dirty="0" smtClean="0"/>
              <a:t>Clash of civilizations, a conflict model</a:t>
            </a:r>
          </a:p>
          <a:p>
            <a:pPr lvl="2"/>
            <a:r>
              <a:rPr lang="en-US" dirty="0" smtClean="0"/>
              <a:t>Westernization, based on model from Western culture of takeover and homogenization</a:t>
            </a:r>
          </a:p>
          <a:p>
            <a:pPr lvl="2"/>
            <a:r>
              <a:rPr lang="en-US" dirty="0" smtClean="0"/>
              <a:t>Hybridization, a blending model</a:t>
            </a:r>
          </a:p>
          <a:p>
            <a:pPr lvl="2"/>
            <a:r>
              <a:rPr lang="en-US" dirty="0" smtClean="0"/>
              <a:t>Localization, a model in which a local remakes and transforms global culture</a:t>
            </a:r>
            <a:endParaRPr lang="en-US" dirty="0"/>
          </a:p>
          <a:p>
            <a:endParaRPr lang="en-US" dirty="0"/>
          </a:p>
        </p:txBody>
      </p:sp>
    </p:spTree>
    <p:extLst>
      <p:ext uri="{BB962C8B-B14F-4D97-AF65-F5344CB8AC3E}">
        <p14:creationId xmlns:p14="http://schemas.microsoft.com/office/powerpoint/2010/main" val="816945567"/>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Cultural Worlds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Within large cultures, many </a:t>
            </a:r>
            <a:r>
              <a:rPr lang="en-US" dirty="0" err="1" smtClean="0"/>
              <a:t>microcultures</a:t>
            </a:r>
            <a:r>
              <a:rPr lang="en-US" dirty="0" smtClean="0"/>
              <a:t> exist</a:t>
            </a:r>
          </a:p>
          <a:p>
            <a:pPr lvl="1"/>
            <a:r>
              <a:rPr lang="en-US" dirty="0" smtClean="0"/>
              <a:t>A person may be a member of several microcultures</a:t>
            </a:r>
          </a:p>
          <a:p>
            <a:endParaRPr lang="en-US" dirty="0" smtClean="0"/>
          </a:p>
          <a:p>
            <a:r>
              <a:rPr lang="en-US" dirty="0" smtClean="0"/>
              <a:t>Figure </a:t>
            </a:r>
            <a:r>
              <a:rPr lang="en-US" dirty="0"/>
              <a:t>1.4 Some Bases of Microcultures:</a:t>
            </a:r>
          </a:p>
          <a:p>
            <a:pPr lvl="1"/>
            <a:r>
              <a:rPr lang="en-US" dirty="0"/>
              <a:t>Class</a:t>
            </a:r>
          </a:p>
          <a:p>
            <a:pPr lvl="1"/>
            <a:r>
              <a:rPr lang="en-US" dirty="0"/>
              <a:t>“Race”</a:t>
            </a:r>
          </a:p>
          <a:p>
            <a:pPr lvl="1"/>
            <a:r>
              <a:rPr lang="en-US" dirty="0"/>
              <a:t>Ethnicity, indigeneity</a:t>
            </a:r>
          </a:p>
          <a:p>
            <a:pPr lvl="1"/>
            <a:r>
              <a:rPr lang="en-US" dirty="0"/>
              <a:t>Gender, sexuality</a:t>
            </a:r>
          </a:p>
          <a:p>
            <a:pPr lvl="1"/>
            <a:r>
              <a:rPr lang="en-US" dirty="0"/>
              <a:t>Age </a:t>
            </a:r>
          </a:p>
          <a:p>
            <a:pPr lvl="1"/>
            <a:r>
              <a:rPr lang="en-US" dirty="0"/>
              <a:t>Institution</a:t>
            </a:r>
          </a:p>
          <a:p>
            <a:pPr lvl="1"/>
            <a:endParaRPr lang="en-US" dirty="0"/>
          </a:p>
          <a:p>
            <a:pPr lvl="1"/>
            <a:endParaRPr lang="en-US" dirty="0" smtClean="0"/>
          </a:p>
          <a:p>
            <a:pPr lvl="2"/>
            <a:endParaRPr lang="en-US" dirty="0" smtClean="0"/>
          </a:p>
        </p:txBody>
      </p:sp>
    </p:spTree>
    <p:extLst>
      <p:ext uri="{BB962C8B-B14F-4D97-AF65-F5344CB8AC3E}">
        <p14:creationId xmlns:p14="http://schemas.microsoft.com/office/powerpoint/2010/main" val="3266059472"/>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Three Debates </a:t>
            </a:r>
            <a:br>
              <a:rPr lang="en-US" dirty="0" smtClean="0"/>
            </a:br>
            <a:r>
              <a:rPr lang="en-US" dirty="0" smtClean="0"/>
              <a:t>in Cultural Anthropology</a:t>
            </a:r>
            <a:endParaRPr lang="en-US" sz="3100" dirty="0"/>
          </a:p>
        </p:txBody>
      </p:sp>
      <p:sp>
        <p:nvSpPr>
          <p:cNvPr id="3" name="Content Placeholder 2"/>
          <p:cNvSpPr>
            <a:spLocks noGrp="1"/>
          </p:cNvSpPr>
          <p:nvPr>
            <p:ph idx="1"/>
          </p:nvPr>
        </p:nvSpPr>
        <p:spPr/>
        <p:txBody>
          <a:bodyPr/>
          <a:lstStyle/>
          <a:p>
            <a:pPr marL="228600" indent="-228600">
              <a:lnSpc>
                <a:spcPct val="90000"/>
              </a:lnSpc>
              <a:buClr>
                <a:srgbClr val="292929"/>
              </a:buClr>
            </a:pPr>
            <a:r>
              <a:rPr lang="en-US" dirty="0" smtClean="0">
                <a:latin typeface="Calibri" pitchFamily="34" charset="0"/>
              </a:rPr>
              <a:t>Biological </a:t>
            </a:r>
            <a:r>
              <a:rPr lang="en-US" dirty="0">
                <a:latin typeface="Calibri" pitchFamily="34" charset="0"/>
              </a:rPr>
              <a:t>Determinism versus Cultural Constructionism </a:t>
            </a:r>
          </a:p>
          <a:p>
            <a:pPr marL="228600" indent="-228600">
              <a:lnSpc>
                <a:spcPct val="90000"/>
              </a:lnSpc>
              <a:buClr>
                <a:srgbClr val="292929"/>
              </a:buClr>
            </a:pPr>
            <a:r>
              <a:rPr lang="en-US" dirty="0" smtClean="0">
                <a:latin typeface="Calibri" pitchFamily="34" charset="0"/>
              </a:rPr>
              <a:t>Interpretive </a:t>
            </a:r>
            <a:r>
              <a:rPr lang="en-US" dirty="0">
                <a:latin typeface="Calibri" pitchFamily="34" charset="0"/>
              </a:rPr>
              <a:t>Anthropology versus Cultural </a:t>
            </a:r>
            <a:r>
              <a:rPr lang="en-US" dirty="0" smtClean="0">
                <a:latin typeface="Calibri" pitchFamily="34" charset="0"/>
              </a:rPr>
              <a:t>Materialism</a:t>
            </a:r>
          </a:p>
          <a:p>
            <a:pPr marL="228600" indent="-228600">
              <a:lnSpc>
                <a:spcPct val="90000"/>
              </a:lnSpc>
              <a:buClr>
                <a:srgbClr val="292929"/>
              </a:buClr>
            </a:pPr>
            <a:r>
              <a:rPr lang="en-US" dirty="0" smtClean="0">
                <a:latin typeface="Calibri" pitchFamily="34" charset="0"/>
              </a:rPr>
              <a:t>Individual </a:t>
            </a:r>
            <a:r>
              <a:rPr lang="en-US" dirty="0">
                <a:latin typeface="Calibri" pitchFamily="34" charset="0"/>
              </a:rPr>
              <a:t>Agency versus Structurism</a:t>
            </a:r>
          </a:p>
          <a:p>
            <a:endParaRPr lang="en-US" dirty="0"/>
          </a:p>
        </p:txBody>
      </p:sp>
    </p:spTree>
    <p:extLst>
      <p:ext uri="{BB962C8B-B14F-4D97-AF65-F5344CB8AC3E}">
        <p14:creationId xmlns:p14="http://schemas.microsoft.com/office/powerpoint/2010/main" val="2421667459"/>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1524000"/>
          </a:xfrm>
        </p:spPr>
        <p:txBody>
          <a:bodyPr>
            <a:normAutofit fontScale="90000"/>
          </a:bodyPr>
          <a:lstStyle/>
          <a:p>
            <a:r>
              <a:rPr lang="en-US" sz="3800" dirty="0" smtClean="0"/>
              <a:t>Distinctive Features of Cultural Anthropology</a:t>
            </a:r>
            <a:br>
              <a:rPr lang="en-US" sz="3800" dirty="0" smtClean="0"/>
            </a:br>
            <a:r>
              <a:rPr lang="en-US" sz="2700" dirty="0" smtClean="0"/>
              <a:t>1.3 Summarize the distinctive features of cultural anthropology.</a:t>
            </a:r>
            <a:br>
              <a:rPr lang="en-US" sz="2700" dirty="0" smtClean="0"/>
            </a:br>
            <a:endParaRPr lang="en-US" sz="2700" dirty="0"/>
          </a:p>
        </p:txBody>
      </p:sp>
      <p:sp>
        <p:nvSpPr>
          <p:cNvPr id="3" name="Content Placeholder 2"/>
          <p:cNvSpPr>
            <a:spLocks noGrp="1"/>
          </p:cNvSpPr>
          <p:nvPr>
            <p:ph idx="1"/>
          </p:nvPr>
        </p:nvSpPr>
        <p:spPr/>
        <p:txBody>
          <a:bodyPr/>
          <a:lstStyle/>
          <a:p>
            <a:endParaRPr lang="en-US" dirty="0" smtClean="0"/>
          </a:p>
          <a:p>
            <a:r>
              <a:rPr lang="en-US" dirty="0" smtClean="0"/>
              <a:t>Ethnocentrism and Cultural Relativism</a:t>
            </a:r>
          </a:p>
          <a:p>
            <a:endParaRPr lang="en-US" dirty="0" smtClean="0"/>
          </a:p>
          <a:p>
            <a:r>
              <a:rPr lang="en-US" dirty="0" smtClean="0"/>
              <a:t>Valuing and Sustaining Diversity</a:t>
            </a:r>
          </a:p>
          <a:p>
            <a:endParaRPr lang="en-US" dirty="0" smtClean="0"/>
          </a:p>
          <a:p>
            <a:r>
              <a:rPr lang="en-US" dirty="0" smtClean="0"/>
              <a:t>Cultural Anthropology Is Relevant to Careers</a:t>
            </a:r>
            <a:endParaRPr lang="en-US" dirty="0"/>
          </a:p>
        </p:txBody>
      </p:sp>
    </p:spTree>
    <p:extLst>
      <p:ext uri="{BB962C8B-B14F-4D97-AF65-F5344CB8AC3E}">
        <p14:creationId xmlns:p14="http://schemas.microsoft.com/office/powerpoint/2010/main" val="2520002527"/>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US" sz="3200" dirty="0" smtClean="0"/>
              <a:t>Ethnocentrism and Cultural Relativism </a:t>
            </a:r>
            <a:r>
              <a:rPr lang="en-US" sz="2800" dirty="0" smtClean="0"/>
              <a:t>(1 of 2)</a:t>
            </a:r>
            <a:endParaRPr lang="en-US" sz="2800" dirty="0"/>
          </a:p>
        </p:txBody>
      </p:sp>
      <p:sp>
        <p:nvSpPr>
          <p:cNvPr id="3" name="Content Placeholder 2"/>
          <p:cNvSpPr>
            <a:spLocks noGrp="1"/>
          </p:cNvSpPr>
          <p:nvPr>
            <p:ph idx="1"/>
          </p:nvPr>
        </p:nvSpPr>
        <p:spPr/>
        <p:txBody>
          <a:bodyPr>
            <a:normAutofit lnSpcReduction="10000"/>
          </a:bodyPr>
          <a:lstStyle/>
          <a:p>
            <a:r>
              <a:rPr lang="en-US" dirty="0" smtClean="0"/>
              <a:t>Cultural anthropology has contributed two concepts:</a:t>
            </a:r>
          </a:p>
          <a:p>
            <a:pPr lvl="1"/>
            <a:r>
              <a:rPr lang="en-US" dirty="0" smtClean="0"/>
              <a:t>Ethnocentrism: </a:t>
            </a:r>
            <a:r>
              <a:rPr lang="en-US" dirty="0"/>
              <a:t>J</a:t>
            </a:r>
            <a:r>
              <a:rPr lang="en-US" dirty="0" smtClean="0"/>
              <a:t>udging </a:t>
            </a:r>
            <a:r>
              <a:rPr lang="en-US" dirty="0"/>
              <a:t>another culture by the standards </a:t>
            </a:r>
            <a:r>
              <a:rPr lang="en-US" dirty="0" smtClean="0"/>
              <a:t>of one’s </a:t>
            </a:r>
            <a:r>
              <a:rPr lang="en-US" dirty="0"/>
              <a:t>own culture rather than by the standards of that </a:t>
            </a:r>
            <a:r>
              <a:rPr lang="en-US" dirty="0" smtClean="0"/>
              <a:t>particular culture</a:t>
            </a:r>
            <a:endParaRPr lang="en-US" dirty="0"/>
          </a:p>
          <a:p>
            <a:pPr lvl="1"/>
            <a:endParaRPr lang="en-US" dirty="0" smtClean="0"/>
          </a:p>
          <a:p>
            <a:pPr lvl="1"/>
            <a:r>
              <a:rPr lang="en-US" dirty="0"/>
              <a:t>Cultural relativism: T</a:t>
            </a:r>
            <a:r>
              <a:rPr lang="en-US" dirty="0" smtClean="0"/>
              <a:t>he </a:t>
            </a:r>
            <a:r>
              <a:rPr lang="en-US" dirty="0"/>
              <a:t>perspective that each culture must </a:t>
            </a:r>
            <a:r>
              <a:rPr lang="en-US" dirty="0" smtClean="0"/>
              <a:t>be understood </a:t>
            </a:r>
            <a:r>
              <a:rPr lang="en-US" dirty="0"/>
              <a:t>in terms of the values and ideas of that culture </a:t>
            </a:r>
            <a:r>
              <a:rPr lang="en-US" dirty="0" smtClean="0"/>
              <a:t>and not </a:t>
            </a:r>
            <a:r>
              <a:rPr lang="en-US" dirty="0"/>
              <a:t>judged by the standards of another </a:t>
            </a:r>
            <a:r>
              <a:rPr lang="en-US" dirty="0" smtClean="0"/>
              <a:t>culture</a:t>
            </a:r>
            <a:endParaRPr lang="en-US" dirty="0"/>
          </a:p>
        </p:txBody>
      </p:sp>
    </p:spTree>
    <p:extLst>
      <p:ext uri="{BB962C8B-B14F-4D97-AF65-F5344CB8AC3E}">
        <p14:creationId xmlns:p14="http://schemas.microsoft.com/office/powerpoint/2010/main" val="2296816401"/>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US" sz="3200" dirty="0"/>
              <a:t>Ethnocentrism and Cultural Relativism </a:t>
            </a:r>
            <a:r>
              <a:rPr lang="en-US" sz="2800" dirty="0" smtClean="0"/>
              <a:t>(2 </a:t>
            </a:r>
            <a:r>
              <a:rPr lang="en-US" sz="2800" dirty="0"/>
              <a:t>of </a:t>
            </a:r>
            <a:r>
              <a:rPr lang="en-US" sz="2800" dirty="0" smtClean="0"/>
              <a:t>2)</a:t>
            </a:r>
            <a:endParaRPr lang="en-US" sz="2800" dirty="0"/>
          </a:p>
        </p:txBody>
      </p:sp>
      <p:sp>
        <p:nvSpPr>
          <p:cNvPr id="3" name="Content Placeholder 2"/>
          <p:cNvSpPr>
            <a:spLocks noGrp="1"/>
          </p:cNvSpPr>
          <p:nvPr>
            <p:ph idx="1"/>
          </p:nvPr>
        </p:nvSpPr>
        <p:spPr/>
        <p:txBody>
          <a:bodyPr>
            <a:normAutofit fontScale="92500" lnSpcReduction="10000"/>
          </a:bodyPr>
          <a:lstStyle/>
          <a:p>
            <a:r>
              <a:rPr lang="en-US" dirty="0" smtClean="0"/>
              <a:t>Figure 1.5 Cultural Relativism: Two Views</a:t>
            </a:r>
          </a:p>
          <a:p>
            <a:pPr lvl="1"/>
            <a:r>
              <a:rPr lang="en-US" dirty="0" smtClean="0"/>
              <a:t>Absolute cultural relativism: Whatever goes on within a particular culture cannot be questioned or changed by outsiders, as that would be ethnocentric</a:t>
            </a:r>
          </a:p>
          <a:p>
            <a:pPr lvl="1"/>
            <a:r>
              <a:rPr lang="en-US" dirty="0" smtClean="0"/>
              <a:t>Critical cultural relativism: Anyone can </a:t>
            </a:r>
            <a:r>
              <a:rPr lang="en-US" dirty="0"/>
              <a:t>pose </a:t>
            </a:r>
            <a:r>
              <a:rPr lang="en-US" dirty="0" smtClean="0"/>
              <a:t>questions about </a:t>
            </a:r>
            <a:r>
              <a:rPr lang="en-US" dirty="0"/>
              <a:t>what goes on in various cultures, including </a:t>
            </a:r>
            <a:r>
              <a:rPr lang="en-US" dirty="0" smtClean="0"/>
              <a:t>their own culture, in </a:t>
            </a:r>
            <a:r>
              <a:rPr lang="en-US" dirty="0"/>
              <a:t>terms of how particular practices or beliefs may harm certain members; follows </a:t>
            </a:r>
            <a:r>
              <a:rPr lang="en-US" dirty="0" smtClean="0"/>
              <a:t>Lévi-Strauss’s comment </a:t>
            </a:r>
            <a:r>
              <a:rPr lang="en-US" dirty="0"/>
              <a:t>that no society is perfect </a:t>
            </a:r>
            <a:r>
              <a:rPr lang="en-US" dirty="0" smtClean="0"/>
              <a:t>and therefore </a:t>
            </a:r>
            <a:r>
              <a:rPr lang="en-US" dirty="0"/>
              <a:t>all societies may be able to learn </a:t>
            </a:r>
            <a:r>
              <a:rPr lang="en-US" dirty="0" smtClean="0"/>
              <a:t>from others and improve</a:t>
            </a:r>
            <a:endParaRPr lang="en-US" dirty="0"/>
          </a:p>
        </p:txBody>
      </p:sp>
    </p:spTree>
    <p:extLst>
      <p:ext uri="{BB962C8B-B14F-4D97-AF65-F5344CB8AC3E}">
        <p14:creationId xmlns:p14="http://schemas.microsoft.com/office/powerpoint/2010/main" val="3421800227"/>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Valuing and Sustaining Diversity</a:t>
            </a:r>
            <a:endParaRPr lang="en-US" sz="3600" dirty="0"/>
          </a:p>
        </p:txBody>
      </p:sp>
      <p:sp>
        <p:nvSpPr>
          <p:cNvPr id="3" name="Content Placeholder 2"/>
          <p:cNvSpPr>
            <a:spLocks noGrp="1"/>
          </p:cNvSpPr>
          <p:nvPr>
            <p:ph idx="1"/>
          </p:nvPr>
        </p:nvSpPr>
        <p:spPr/>
        <p:txBody>
          <a:bodyPr/>
          <a:lstStyle/>
          <a:p>
            <a:pPr marL="228600" indent="-228600">
              <a:lnSpc>
                <a:spcPct val="90000"/>
              </a:lnSpc>
              <a:buClr>
                <a:srgbClr val="292929"/>
              </a:buClr>
            </a:pPr>
            <a:r>
              <a:rPr lang="en-US" dirty="0" smtClean="0">
                <a:latin typeface="Calibri" pitchFamily="34" charset="0"/>
              </a:rPr>
              <a:t>Cultural </a:t>
            </a:r>
            <a:r>
              <a:rPr lang="en-US" dirty="0">
                <a:latin typeface="Calibri" pitchFamily="34" charset="0"/>
              </a:rPr>
              <a:t>anthropologists support the survival of indigenous peoples</a:t>
            </a:r>
          </a:p>
          <a:p>
            <a:pPr marL="228600" indent="-228600">
              <a:lnSpc>
                <a:spcPct val="90000"/>
              </a:lnSpc>
              <a:buClr>
                <a:srgbClr val="292929"/>
              </a:buClr>
            </a:pPr>
            <a:endParaRPr lang="en-US" dirty="0">
              <a:latin typeface="Calibri" pitchFamily="34" charset="0"/>
            </a:endParaRPr>
          </a:p>
          <a:p>
            <a:pPr marL="228600" indent="-228600">
              <a:lnSpc>
                <a:spcPct val="90000"/>
              </a:lnSpc>
              <a:buClr>
                <a:srgbClr val="292929"/>
              </a:buClr>
            </a:pPr>
            <a:r>
              <a:rPr lang="en-US" dirty="0">
                <a:latin typeface="Calibri" pitchFamily="34" charset="0"/>
              </a:rPr>
              <a:t>The </a:t>
            </a:r>
            <a:r>
              <a:rPr lang="en-US" dirty="0" smtClean="0">
                <a:latin typeface="Calibri" pitchFamily="34" charset="0"/>
              </a:rPr>
              <a:t>organization </a:t>
            </a:r>
            <a:r>
              <a:rPr lang="en-US" dirty="0">
                <a:latin typeface="Calibri" pitchFamily="34" charset="0"/>
              </a:rPr>
              <a:t>Cultural </a:t>
            </a:r>
            <a:r>
              <a:rPr lang="en-US" dirty="0" smtClean="0">
                <a:latin typeface="Calibri" pitchFamily="34" charset="0"/>
              </a:rPr>
              <a:t>Survival helps </a:t>
            </a:r>
            <a:r>
              <a:rPr lang="en-US" dirty="0">
                <a:latin typeface="Calibri" pitchFamily="34" charset="0"/>
              </a:rPr>
              <a:t>indigenous peoples and ethnic minorities deal as equals in interactions with outsiders</a:t>
            </a:r>
          </a:p>
        </p:txBody>
      </p:sp>
    </p:spTree>
    <p:extLst>
      <p:ext uri="{BB962C8B-B14F-4D97-AF65-F5344CB8AC3E}">
        <p14:creationId xmlns:p14="http://schemas.microsoft.com/office/powerpoint/2010/main" val="852676533"/>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Cultural Anthropology Is Relevant </a:t>
            </a:r>
            <a:br>
              <a:rPr lang="en-US" sz="3600" dirty="0" smtClean="0"/>
            </a:br>
            <a:r>
              <a:rPr lang="en-US" sz="3600" dirty="0" smtClean="0"/>
              <a:t>to Careers</a:t>
            </a:r>
            <a:endParaRPr lang="en-US" sz="3600" dirty="0"/>
          </a:p>
        </p:txBody>
      </p:sp>
      <p:sp>
        <p:nvSpPr>
          <p:cNvPr id="3" name="Content Placeholder 2"/>
          <p:cNvSpPr>
            <a:spLocks noGrp="1"/>
          </p:cNvSpPr>
          <p:nvPr>
            <p:ph idx="1"/>
          </p:nvPr>
        </p:nvSpPr>
        <p:spPr/>
        <p:txBody>
          <a:bodyPr/>
          <a:lstStyle/>
          <a:p>
            <a:pPr marL="228600" indent="-228600">
              <a:lnSpc>
                <a:spcPct val="90000"/>
              </a:lnSpc>
              <a:buClr>
                <a:srgbClr val="292929"/>
              </a:buClr>
            </a:pPr>
            <a:endParaRPr lang="en-US" dirty="0" smtClean="0">
              <a:latin typeface="Calibri" pitchFamily="34" charset="0"/>
            </a:endParaRPr>
          </a:p>
          <a:p>
            <a:pPr marL="228600" indent="-228600">
              <a:lnSpc>
                <a:spcPct val="90000"/>
              </a:lnSpc>
              <a:buClr>
                <a:srgbClr val="292929"/>
              </a:buClr>
            </a:pPr>
            <a:r>
              <a:rPr lang="en-US" dirty="0" smtClean="0">
                <a:latin typeface="Calibri" pitchFamily="34" charset="0"/>
              </a:rPr>
              <a:t>Majoring </a:t>
            </a:r>
            <a:r>
              <a:rPr lang="en-US" dirty="0">
                <a:latin typeface="Calibri" pitchFamily="34" charset="0"/>
              </a:rPr>
              <a:t>in </a:t>
            </a:r>
            <a:r>
              <a:rPr lang="en-US" dirty="0" smtClean="0">
                <a:latin typeface="Calibri" pitchFamily="34" charset="0"/>
              </a:rPr>
              <a:t>Anthropology</a:t>
            </a:r>
            <a:endParaRPr lang="en-US" dirty="0">
              <a:latin typeface="Calibri" pitchFamily="34" charset="0"/>
            </a:endParaRPr>
          </a:p>
          <a:p>
            <a:pPr marL="228600" indent="-228600">
              <a:lnSpc>
                <a:spcPct val="90000"/>
              </a:lnSpc>
              <a:buClr>
                <a:srgbClr val="292929"/>
              </a:buClr>
            </a:pPr>
            <a:endParaRPr lang="en-US" dirty="0">
              <a:latin typeface="Calibri" pitchFamily="34" charset="0"/>
            </a:endParaRPr>
          </a:p>
          <a:p>
            <a:pPr marL="228600" indent="-228600">
              <a:lnSpc>
                <a:spcPct val="90000"/>
              </a:lnSpc>
              <a:buClr>
                <a:srgbClr val="292929"/>
              </a:buClr>
            </a:pPr>
            <a:r>
              <a:rPr lang="en-US" dirty="0">
                <a:latin typeface="Calibri" pitchFamily="34" charset="0"/>
              </a:rPr>
              <a:t>Graduate </a:t>
            </a:r>
            <a:r>
              <a:rPr lang="en-US" dirty="0" smtClean="0">
                <a:latin typeface="Calibri" pitchFamily="34" charset="0"/>
              </a:rPr>
              <a:t>Study </a:t>
            </a:r>
            <a:r>
              <a:rPr lang="en-US" dirty="0">
                <a:latin typeface="Calibri" pitchFamily="34" charset="0"/>
              </a:rPr>
              <a:t>in </a:t>
            </a:r>
            <a:r>
              <a:rPr lang="en-US" dirty="0" smtClean="0">
                <a:latin typeface="Calibri" pitchFamily="34" charset="0"/>
              </a:rPr>
              <a:t>Anthropology</a:t>
            </a:r>
            <a:endParaRPr lang="en-US" dirty="0">
              <a:latin typeface="Calibri" pitchFamily="34" charset="0"/>
            </a:endParaRPr>
          </a:p>
          <a:p>
            <a:pPr marL="228600" indent="-228600">
              <a:lnSpc>
                <a:spcPct val="90000"/>
              </a:lnSpc>
              <a:buClr>
                <a:srgbClr val="292929"/>
              </a:buClr>
            </a:pPr>
            <a:endParaRPr lang="en-US" dirty="0">
              <a:latin typeface="Calibri" pitchFamily="34" charset="0"/>
            </a:endParaRPr>
          </a:p>
          <a:p>
            <a:pPr marL="228600" indent="-228600">
              <a:lnSpc>
                <a:spcPct val="90000"/>
              </a:lnSpc>
              <a:buClr>
                <a:srgbClr val="292929"/>
              </a:buClr>
            </a:pPr>
            <a:r>
              <a:rPr lang="en-US" dirty="0">
                <a:latin typeface="Calibri" pitchFamily="34" charset="0"/>
              </a:rPr>
              <a:t>Living an </a:t>
            </a:r>
            <a:r>
              <a:rPr lang="en-US" dirty="0" smtClean="0">
                <a:latin typeface="Calibri" pitchFamily="34" charset="0"/>
              </a:rPr>
              <a:t>Anthropological </a:t>
            </a:r>
            <a:r>
              <a:rPr lang="en-US" dirty="0">
                <a:latin typeface="Calibri" pitchFamily="34" charset="0"/>
              </a:rPr>
              <a:t>L</a:t>
            </a:r>
            <a:r>
              <a:rPr lang="en-US" dirty="0" smtClean="0">
                <a:latin typeface="Calibri" pitchFamily="34" charset="0"/>
              </a:rPr>
              <a:t>ife</a:t>
            </a:r>
            <a:endParaRPr lang="en-US" dirty="0">
              <a:latin typeface="Calibri" pitchFamily="34" charset="0"/>
            </a:endParaRPr>
          </a:p>
          <a:p>
            <a:endParaRPr lang="en-US" dirty="0"/>
          </a:p>
        </p:txBody>
      </p:sp>
    </p:spTree>
    <p:extLst>
      <p:ext uri="{BB962C8B-B14F-4D97-AF65-F5344CB8AC3E}">
        <p14:creationId xmlns:p14="http://schemas.microsoft.com/office/powerpoint/2010/main" val="2782189349"/>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503</TotalTime>
  <Words>1142</Words>
  <Application>Microsoft Macintosh PowerPoint</Application>
  <PresentationFormat>On-screen Show (4:3)</PresentationFormat>
  <Paragraphs>180</Paragraphs>
  <Slides>29</Slides>
  <Notes>4</Notes>
  <HiddenSlides>0</HiddenSlides>
  <MMClips>0</MMClips>
  <ScaleCrop>false</ScaleCrop>
  <HeadingPairs>
    <vt:vector size="4" baseType="variant">
      <vt:variant>
        <vt:lpstr>Theme</vt:lpstr>
      </vt:variant>
      <vt:variant>
        <vt:i4>2</vt:i4>
      </vt:variant>
      <vt:variant>
        <vt:lpstr>Slide Titles</vt:lpstr>
      </vt:variant>
      <vt:variant>
        <vt:i4>29</vt:i4>
      </vt:variant>
    </vt:vector>
  </HeadingPairs>
  <TitlesOfParts>
    <vt:vector size="31" baseType="lpstr">
      <vt:lpstr>Beebe8e_PPT_master</vt:lpstr>
      <vt:lpstr>Office Theme</vt:lpstr>
      <vt:lpstr>PowerPoint Presentation</vt:lpstr>
      <vt:lpstr>Learning Objectives</vt:lpstr>
      <vt:lpstr>Anthropology and the Study of Culture</vt:lpstr>
      <vt:lpstr>Introducing Anthropology’s Four Fields 1.1 Define what is anthropology.</vt:lpstr>
      <vt:lpstr>Figure 1.1 The Four Fields of Anthropology</vt:lpstr>
      <vt:lpstr>Biological or Physical Anthropology</vt:lpstr>
      <vt:lpstr>Archaeology</vt:lpstr>
      <vt:lpstr>Linguistic Anthropology</vt:lpstr>
      <vt:lpstr>Cultural Anthropology</vt:lpstr>
      <vt:lpstr>Applied Anthropology: Separate Field or Cross-Cutting Focus?</vt:lpstr>
      <vt:lpstr>Anthropology Works:  Delivering Health Care in Rural Haiti </vt:lpstr>
      <vt:lpstr>Introducing Cultural Anthropology (1 of 2) 1.2 Recognize what is cultural anthropology.</vt:lpstr>
      <vt:lpstr>Introducing Cultural Anthropology (2 of 2)</vt:lpstr>
      <vt:lpstr>Highlights in the History of  Cultural Anthropology</vt:lpstr>
      <vt:lpstr>The Concept of Culture (1 of 6)</vt:lpstr>
      <vt:lpstr>The Concept of Culture (2 of 6)</vt:lpstr>
      <vt:lpstr>The Concept of Culture (3 of 6)</vt:lpstr>
      <vt:lpstr>Map 1.1 Weyéwa Region in Indonesia</vt:lpstr>
      <vt:lpstr>The Concept of Culture (4 of 6)</vt:lpstr>
      <vt:lpstr>The Concept of Culture (5 of 6)</vt:lpstr>
      <vt:lpstr>Map 1.2 Papua New Guinea</vt:lpstr>
      <vt:lpstr>The Concept of Culture (6 of 6)</vt:lpstr>
      <vt:lpstr>Multiple Cultural Worlds</vt:lpstr>
      <vt:lpstr>Three Debates  in Cultural Anthropology</vt:lpstr>
      <vt:lpstr>Distinctive Features of Cultural Anthropology 1.3 Summarize the distinctive features of cultural anthropology. </vt:lpstr>
      <vt:lpstr>Ethnocentrism and Cultural Relativism (1 of 2)</vt:lpstr>
      <vt:lpstr>Ethnocentrism and Cultural Relativism (2 of 2)</vt:lpstr>
      <vt:lpstr>Valuing and Sustaining Diversity</vt:lpstr>
      <vt:lpstr>Cultural Anthropology Is Relevant  to Careers</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62</cp:revision>
  <dcterms:created xsi:type="dcterms:W3CDTF">2015-09-18T14:54:36Z</dcterms:created>
  <dcterms:modified xsi:type="dcterms:W3CDTF">2016-04-05T22:02:36Z</dcterms:modified>
</cp:coreProperties>
</file>