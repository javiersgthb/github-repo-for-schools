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58"/>
  </p:notesMasterIdLst>
  <p:sldIdLst>
    <p:sldId id="257" r:id="rId3"/>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2"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047" autoAdjust="0"/>
  </p:normalViewPr>
  <p:slideViewPr>
    <p:cSldViewPr>
      <p:cViewPr>
        <p:scale>
          <a:sx n="99" d="100"/>
          <a:sy n="99" d="100"/>
        </p:scale>
        <p:origin x="-344" y="101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63" Type="http://schemas.openxmlformats.org/officeDocument/2006/relationships/tableStyles" Target="tableStyles.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notesMaster" Target="notesMasters/notesMaster1.xml"/><Relationship Id="rId59" Type="http://schemas.openxmlformats.org/officeDocument/2006/relationships/printerSettings" Target="printerSettings/printerSettings1.bin"/><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A12671-6501-489C-9F61-C66A2F708A10}" type="datetimeFigureOut">
              <a:rPr lang="en-US" smtClean="0"/>
              <a:t>4/5/16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5E823EF-59BA-4C97-B6DE-E33710C9C52E}" type="slidenum">
              <a:rPr lang="en-US" smtClean="0"/>
              <a:t>‹#›</a:t>
            </a:fld>
            <a:endParaRPr lang="en-US" dirty="0"/>
          </a:p>
        </p:txBody>
      </p:sp>
    </p:spTree>
    <p:extLst>
      <p:ext uri="{BB962C8B-B14F-4D97-AF65-F5344CB8AC3E}">
        <p14:creationId xmlns:p14="http://schemas.microsoft.com/office/powerpoint/2010/main" val="2604375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For a better classroom presentation flow, the</a:t>
            </a:r>
            <a:r>
              <a:rPr lang="en-US" sz="1600" baseline="0" dirty="0" smtClean="0"/>
              <a:t> </a:t>
            </a:r>
            <a:r>
              <a:rPr lang="en-US" sz="1600" dirty="0" smtClean="0"/>
              <a:t>order of some topics in this lecture outline differs slightly from the order</a:t>
            </a:r>
            <a:r>
              <a:rPr lang="en-US" sz="1600" baseline="0" dirty="0" smtClean="0"/>
              <a:t> </a:t>
            </a:r>
            <a:r>
              <a:rPr lang="en-US" sz="1600" dirty="0" smtClean="0"/>
              <a:t>of topics in the text and, where this occurs, some figures and tables are</a:t>
            </a:r>
            <a:r>
              <a:rPr lang="en-US" sz="1600" baseline="0" dirty="0" smtClean="0"/>
              <a:t> </a:t>
            </a:r>
            <a:r>
              <a:rPr lang="en-US" sz="1600" dirty="0" smtClean="0"/>
              <a:t>out of numerical order.</a:t>
            </a:r>
          </a:p>
          <a:p>
            <a:endParaRPr lang="en-US" dirty="0"/>
          </a:p>
        </p:txBody>
      </p:sp>
      <p:sp>
        <p:nvSpPr>
          <p:cNvPr id="4" name="Slide Number Placeholder 3"/>
          <p:cNvSpPr>
            <a:spLocks noGrp="1"/>
          </p:cNvSpPr>
          <p:nvPr>
            <p:ph type="sldNum" sz="quarter" idx="10"/>
          </p:nvPr>
        </p:nvSpPr>
        <p:spPr/>
        <p:txBody>
          <a:bodyPr/>
          <a:lstStyle/>
          <a:p>
            <a:fld id="{15E823EF-59BA-4C97-B6DE-E33710C9C52E}" type="slidenum">
              <a:rPr lang="en-US" smtClean="0"/>
              <a:t>1</a:t>
            </a:fld>
            <a:endParaRPr lang="en-US" dirty="0"/>
          </a:p>
        </p:txBody>
      </p:sp>
    </p:spTree>
    <p:extLst>
      <p:ext uri="{BB962C8B-B14F-4D97-AF65-F5344CB8AC3E}">
        <p14:creationId xmlns:p14="http://schemas.microsoft.com/office/powerpoint/2010/main" val="2300163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E823EF-59BA-4C97-B6DE-E33710C9C52E}" type="slidenum">
              <a:rPr lang="en-US" smtClean="0"/>
              <a:t>3</a:t>
            </a:fld>
            <a:endParaRPr lang="en-US" dirty="0"/>
          </a:p>
        </p:txBody>
      </p:sp>
    </p:spTree>
    <p:extLst>
      <p:ext uri="{BB962C8B-B14F-4D97-AF65-F5344CB8AC3E}">
        <p14:creationId xmlns:p14="http://schemas.microsoft.com/office/powerpoint/2010/main" val="69359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country of Georgia has the distinction of being the site of 1.7 million-year-old hominin fossils found at Dmanisi. Many thousands of years later, during the Neolithic era, modern humans first domesticated grapes and produced wine in this region.</a:t>
            </a:r>
            <a:endParaRPr lang="en-US" dirty="0"/>
          </a:p>
        </p:txBody>
      </p:sp>
      <p:sp>
        <p:nvSpPr>
          <p:cNvPr id="4" name="Slide Number Placeholder 3"/>
          <p:cNvSpPr>
            <a:spLocks noGrp="1"/>
          </p:cNvSpPr>
          <p:nvPr>
            <p:ph type="sldNum" sz="quarter" idx="10"/>
          </p:nvPr>
        </p:nvSpPr>
        <p:spPr/>
        <p:txBody>
          <a:bodyPr/>
          <a:lstStyle/>
          <a:p>
            <a:fld id="{15E823EF-59BA-4C97-B6DE-E33710C9C52E}" type="slidenum">
              <a:rPr lang="en-US" smtClean="0"/>
              <a:t>29</a:t>
            </a:fld>
            <a:endParaRPr lang="en-US" dirty="0"/>
          </a:p>
        </p:txBody>
      </p:sp>
    </p:spTree>
    <p:extLst>
      <p:ext uri="{BB962C8B-B14F-4D97-AF65-F5344CB8AC3E}">
        <p14:creationId xmlns:p14="http://schemas.microsoft.com/office/powerpoint/2010/main" val="77944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Dated to 35,000 years ago, this object was made by Neanderthals and is one of the earliest examples of sculpture.</a:t>
            </a:r>
            <a:endParaRPr lang="en-US" dirty="0"/>
          </a:p>
        </p:txBody>
      </p:sp>
      <p:sp>
        <p:nvSpPr>
          <p:cNvPr id="4" name="Slide Number Placeholder 3"/>
          <p:cNvSpPr>
            <a:spLocks noGrp="1"/>
          </p:cNvSpPr>
          <p:nvPr>
            <p:ph type="sldNum" sz="quarter" idx="10"/>
          </p:nvPr>
        </p:nvSpPr>
        <p:spPr/>
        <p:txBody>
          <a:bodyPr/>
          <a:lstStyle/>
          <a:p>
            <a:fld id="{15E823EF-59BA-4C97-B6DE-E33710C9C52E}" type="slidenum">
              <a:rPr lang="en-US" smtClean="0"/>
              <a:t>33</a:t>
            </a:fld>
            <a:endParaRPr lang="en-US" dirty="0"/>
          </a:p>
        </p:txBody>
      </p:sp>
    </p:spTree>
    <p:extLst>
      <p:ext uri="{BB962C8B-B14F-4D97-AF65-F5344CB8AC3E}">
        <p14:creationId xmlns:p14="http://schemas.microsoft.com/office/powerpoint/2010/main" val="1897857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This map shows only a small number of the many sites in Europe from the Upper Paleolithic era. Les Eyzies (lay-zay-zee) is the first site where evidence of Cro-Magnons was discovered. Lascaux (lah-SKOH) and Chauvet (shoh-VAY) are two of the most important cave art sites in Europe. La Magdeleine (la-mahd-LEN) is the site for the fourth and last cultural stage of the Upper Paleolithic. At French Magdalenian sites, the main food source of modern humans was reindeer. At Magdalenian sites in Germany and Russia, evidence exists that people had domesticated dogs, perhaps for hunting.</a:t>
            </a:r>
            <a:endParaRPr lang="en-US" dirty="0"/>
          </a:p>
        </p:txBody>
      </p:sp>
      <p:sp>
        <p:nvSpPr>
          <p:cNvPr id="4" name="Slide Number Placeholder 3"/>
          <p:cNvSpPr>
            <a:spLocks noGrp="1"/>
          </p:cNvSpPr>
          <p:nvPr>
            <p:ph type="sldNum" sz="quarter" idx="10"/>
          </p:nvPr>
        </p:nvSpPr>
        <p:spPr/>
        <p:txBody>
          <a:bodyPr/>
          <a:lstStyle/>
          <a:p>
            <a:fld id="{15E823EF-59BA-4C97-B6DE-E33710C9C52E}" type="slidenum">
              <a:rPr lang="en-US" smtClean="0"/>
              <a:t>40</a:t>
            </a:fld>
            <a:endParaRPr lang="en-US" dirty="0"/>
          </a:p>
        </p:txBody>
      </p:sp>
    </p:spTree>
    <p:extLst>
      <p:ext uri="{BB962C8B-B14F-4D97-AF65-F5344CB8AC3E}">
        <p14:creationId xmlns:p14="http://schemas.microsoft.com/office/powerpoint/2010/main" val="1983780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Archaeologists have excavated many important Neolithic sites in the Middle East, including those mentioned in this chapter and shown here. In much of the Middle East and North Africa, Neolithic sites have been damaged as the result of recent and ongoing political violence.</a:t>
            </a:r>
            <a:endParaRPr lang="en-US" dirty="0"/>
          </a:p>
        </p:txBody>
      </p:sp>
      <p:sp>
        <p:nvSpPr>
          <p:cNvPr id="4" name="Slide Number Placeholder 3"/>
          <p:cNvSpPr>
            <a:spLocks noGrp="1"/>
          </p:cNvSpPr>
          <p:nvPr>
            <p:ph type="sldNum" sz="quarter" idx="10"/>
          </p:nvPr>
        </p:nvSpPr>
        <p:spPr/>
        <p:txBody>
          <a:bodyPr/>
          <a:lstStyle/>
          <a:p>
            <a:fld id="{15E823EF-59BA-4C97-B6DE-E33710C9C52E}" type="slidenum">
              <a:rPr lang="en-US" smtClean="0"/>
              <a:t>47</a:t>
            </a:fld>
            <a:endParaRPr lang="en-US" dirty="0"/>
          </a:p>
        </p:txBody>
      </p:sp>
    </p:spTree>
    <p:extLst>
      <p:ext uri="{BB962C8B-B14F-4D97-AF65-F5344CB8AC3E}">
        <p14:creationId xmlns:p14="http://schemas.microsoft.com/office/powerpoint/2010/main" val="341368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2</a:t>
            </a:r>
            <a:endParaRPr lang="en-US" dirty="0"/>
          </a:p>
        </p:txBody>
      </p:sp>
      <p:sp>
        <p:nvSpPr>
          <p:cNvPr id="3" name="Text Placeholder 2"/>
          <p:cNvSpPr>
            <a:spLocks noGrp="1"/>
          </p:cNvSpPr>
          <p:nvPr>
            <p:ph type="body" sz="quarter" idx="15"/>
          </p:nvPr>
        </p:nvSpPr>
        <p:spPr/>
        <p:txBody>
          <a:bodyPr/>
          <a:lstStyle/>
          <a:p>
            <a:r>
              <a:rPr lang="en-US" dirty="0" smtClean="0"/>
              <a:t>The Evolution of Humanity and Culture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normAutofit/>
          </a:bodyPr>
          <a:lstStyle/>
          <a:p>
            <a:pPr marL="0" lvl="1" indent="0">
              <a:buNone/>
            </a:pPr>
            <a:r>
              <a:rPr lang="en-US" sz="3200" dirty="0" smtClean="0">
                <a:solidFill>
                  <a:schemeClr val="accent1">
                    <a:lumMod val="75000"/>
                  </a:schemeClr>
                </a:solidFill>
              </a:rPr>
              <a:t>2.1</a:t>
            </a:r>
            <a:r>
              <a:rPr lang="en-US" sz="3200" dirty="0" smtClean="0"/>
              <a:t> Identify what living nonhuman primates tell us about human culture.</a:t>
            </a:r>
          </a:p>
          <a:p>
            <a:pPr marL="0" indent="0"/>
            <a:endParaRPr lang="en-US" dirty="0"/>
          </a:p>
          <a:p>
            <a:pPr marL="0" lvl="1" indent="0">
              <a:buNone/>
            </a:pPr>
            <a:r>
              <a:rPr lang="en-US" sz="3200" dirty="0" smtClean="0">
                <a:solidFill>
                  <a:srgbClr val="376092"/>
                </a:solidFill>
              </a:rPr>
              <a:t>2.2</a:t>
            </a:r>
            <a:r>
              <a:rPr lang="en-US" sz="3200" dirty="0" smtClean="0"/>
              <a:t> Illustrate the role of culture during hominin evolution.</a:t>
            </a:r>
          </a:p>
          <a:p>
            <a:pPr marL="0" indent="0"/>
            <a:endParaRPr lang="en-US" dirty="0"/>
          </a:p>
          <a:p>
            <a:pPr marL="0" lvl="1" indent="0">
              <a:buNone/>
            </a:pPr>
            <a:r>
              <a:rPr lang="en-US" sz="3200" dirty="0" smtClean="0">
                <a:solidFill>
                  <a:srgbClr val="376092"/>
                </a:solidFill>
              </a:rPr>
              <a:t>2.3</a:t>
            </a:r>
            <a:r>
              <a:rPr lang="en-US" sz="3200" dirty="0" smtClean="0"/>
              <a:t> Summarize how modern human culture has changed in the past 12,000 years.</a:t>
            </a:r>
            <a:endParaRPr lang="en-US" sz="3200"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pPr>
              <a:spcBef>
                <a:spcPts val="1200"/>
              </a:spcBef>
            </a:pPr>
            <a:r>
              <a:rPr lang="en-US" sz="2900" dirty="0" smtClean="0"/>
              <a:t>Nonhuman Primates and the Roots of Human Culture </a:t>
            </a:r>
            <a:r>
              <a:rPr lang="en-US" sz="2000" dirty="0" smtClean="0"/>
              <a:t>2.1 Identify what living nonhuman primates tell us about human culture.</a:t>
            </a:r>
            <a:endParaRPr lang="en-US" sz="2000" dirty="0"/>
          </a:p>
        </p:txBody>
      </p:sp>
      <p:sp>
        <p:nvSpPr>
          <p:cNvPr id="3" name="Content Placeholder 2"/>
          <p:cNvSpPr>
            <a:spLocks noGrp="1"/>
          </p:cNvSpPr>
          <p:nvPr>
            <p:ph idx="1"/>
          </p:nvPr>
        </p:nvSpPr>
        <p:spPr/>
        <p:txBody>
          <a:bodyPr/>
          <a:lstStyle/>
          <a:p>
            <a:endParaRPr lang="en-US" dirty="0" smtClean="0"/>
          </a:p>
          <a:p>
            <a:r>
              <a:rPr lang="en-US" dirty="0" smtClean="0"/>
              <a:t>Primate </a:t>
            </a:r>
            <a:r>
              <a:rPr lang="en-US" dirty="0"/>
              <a:t>Characteristics</a:t>
            </a:r>
          </a:p>
          <a:p>
            <a:endParaRPr lang="en-US" dirty="0"/>
          </a:p>
          <a:p>
            <a:r>
              <a:rPr lang="en-US" dirty="0"/>
              <a:t>The Great Apes</a:t>
            </a:r>
          </a:p>
          <a:p>
            <a:endParaRPr lang="en-US" dirty="0"/>
          </a:p>
          <a:p>
            <a:r>
              <a:rPr lang="en-US" dirty="0"/>
              <a:t>Nonhuman Primate Culture</a:t>
            </a:r>
          </a:p>
          <a:p>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Primate Characteristics </a:t>
            </a:r>
            <a:r>
              <a:rPr lang="en-US" sz="2800" dirty="0" smtClean="0"/>
              <a:t>(1 of 5)</a:t>
            </a:r>
            <a:endParaRPr lang="en-US" sz="2800" dirty="0"/>
          </a:p>
        </p:txBody>
      </p:sp>
      <p:sp>
        <p:nvSpPr>
          <p:cNvPr id="3" name="Content Placeholder 2"/>
          <p:cNvSpPr>
            <a:spLocks noGrp="1"/>
          </p:cNvSpPr>
          <p:nvPr>
            <p:ph idx="1"/>
          </p:nvPr>
        </p:nvSpPr>
        <p:spPr/>
        <p:txBody>
          <a:bodyPr>
            <a:normAutofit/>
          </a:bodyPr>
          <a:lstStyle/>
          <a:p>
            <a:r>
              <a:rPr lang="en-US" dirty="0" smtClean="0"/>
              <a:t>Primates </a:t>
            </a:r>
            <a:r>
              <a:rPr lang="en-US" dirty="0"/>
              <a:t>are an order of mammals that includes modern </a:t>
            </a:r>
            <a:r>
              <a:rPr lang="en-US" dirty="0" smtClean="0"/>
              <a:t>humans</a:t>
            </a:r>
          </a:p>
          <a:p>
            <a:endParaRPr lang="en-US" dirty="0"/>
          </a:p>
          <a:p>
            <a:r>
              <a:rPr lang="en-US" dirty="0" smtClean="0"/>
              <a:t>Vary </a:t>
            </a:r>
            <a:r>
              <a:rPr lang="en-US" dirty="0"/>
              <a:t>in size from several ounces to over </a:t>
            </a:r>
            <a:r>
              <a:rPr lang="en-US" dirty="0" smtClean="0"/>
              <a:t>     400 pounds</a:t>
            </a:r>
          </a:p>
          <a:p>
            <a:endParaRPr lang="en-US" dirty="0"/>
          </a:p>
          <a:p>
            <a:r>
              <a:rPr lang="en-US" dirty="0" smtClean="0"/>
              <a:t>Some </a:t>
            </a:r>
            <a:r>
              <a:rPr lang="en-US" dirty="0"/>
              <a:t>inhabit limited areas; others range more widely</a:t>
            </a:r>
          </a:p>
          <a:p>
            <a:endParaRPr lang="en-US" dirty="0"/>
          </a:p>
        </p:txBody>
      </p:sp>
    </p:spTree>
    <p:extLst>
      <p:ext uri="{BB962C8B-B14F-4D97-AF65-F5344CB8AC3E}">
        <p14:creationId xmlns:p14="http://schemas.microsoft.com/office/powerpoint/2010/main" val="423568217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lobal map locates the habitats of nonhuman primates in parts of Central America, northern and central South America, the southern half of Africa (including Madagascar), southern India, Southeast Asia (including Indonesia and Borneo), and southern Japa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600" y="1600200"/>
            <a:ext cx="7086600" cy="4501794"/>
          </a:xfrm>
          <a:prstGeom prst="rect">
            <a:avLst/>
          </a:prstGeom>
        </p:spPr>
      </p:pic>
      <p:sp>
        <p:nvSpPr>
          <p:cNvPr id="2" name="Title 1"/>
          <p:cNvSpPr>
            <a:spLocks noGrp="1"/>
          </p:cNvSpPr>
          <p:nvPr>
            <p:ph type="title"/>
          </p:nvPr>
        </p:nvSpPr>
        <p:spPr/>
        <p:txBody>
          <a:bodyPr>
            <a:noAutofit/>
          </a:bodyPr>
          <a:lstStyle/>
          <a:p>
            <a:pPr marL="0" indent="0"/>
            <a:r>
              <a:rPr lang="en-US" sz="3200" dirty="0"/>
              <a:t>Map 2.1 Where Nonhuman Primates Live Today</a:t>
            </a:r>
          </a:p>
        </p:txBody>
      </p:sp>
    </p:spTree>
    <p:extLst>
      <p:ext uri="{BB962C8B-B14F-4D97-AF65-F5344CB8AC3E}">
        <p14:creationId xmlns:p14="http://schemas.microsoft.com/office/powerpoint/2010/main" val="321757743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Primate Characteristics </a:t>
            </a:r>
            <a:r>
              <a:rPr lang="en-US" sz="2800" dirty="0" smtClean="0"/>
              <a:t>(2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normAutofit lnSpcReduction="10000"/>
          </a:bodyPr>
          <a:lstStyle/>
          <a:p>
            <a:r>
              <a:rPr lang="en-US" dirty="0"/>
              <a:t>Faces tend to be flat with reduced snouts</a:t>
            </a:r>
          </a:p>
          <a:p>
            <a:endParaRPr lang="en-US" dirty="0"/>
          </a:p>
          <a:p>
            <a:r>
              <a:rPr lang="en-US" dirty="0"/>
              <a:t>Highly reliant on vision</a:t>
            </a:r>
          </a:p>
          <a:p>
            <a:endParaRPr lang="en-US" dirty="0"/>
          </a:p>
          <a:p>
            <a:r>
              <a:rPr lang="en-US" dirty="0"/>
              <a:t>Have five digits on hands and feet and can grasp with both</a:t>
            </a:r>
          </a:p>
          <a:p>
            <a:endParaRPr lang="en-US" dirty="0"/>
          </a:p>
          <a:p>
            <a:r>
              <a:rPr lang="en-US" dirty="0"/>
              <a:t>Large brains in relation to body size</a:t>
            </a:r>
          </a:p>
          <a:p>
            <a:endParaRPr lang="en-US" dirty="0"/>
          </a:p>
        </p:txBody>
      </p:sp>
    </p:spTree>
    <p:extLst>
      <p:ext uri="{BB962C8B-B14F-4D97-AF65-F5344CB8AC3E}">
        <p14:creationId xmlns:p14="http://schemas.microsoft.com/office/powerpoint/2010/main" val="256502721"/>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Primate Characteristics </a:t>
            </a:r>
            <a:r>
              <a:rPr lang="en-US" sz="2800" dirty="0" smtClean="0"/>
              <a:t>(3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normAutofit lnSpcReduction="10000"/>
          </a:bodyPr>
          <a:lstStyle/>
          <a:p>
            <a:r>
              <a:rPr lang="en-US" dirty="0"/>
              <a:t>Most primate species are arboreal (tree-dwelling)</a:t>
            </a:r>
          </a:p>
          <a:p>
            <a:endParaRPr lang="en-US" dirty="0"/>
          </a:p>
          <a:p>
            <a:r>
              <a:rPr lang="en-US" dirty="0" smtClean="0"/>
              <a:t>Quadrupedal </a:t>
            </a:r>
            <a:r>
              <a:rPr lang="en-US" dirty="0"/>
              <a:t>(moving on all fours)</a:t>
            </a:r>
          </a:p>
          <a:p>
            <a:endParaRPr lang="en-US" dirty="0"/>
          </a:p>
          <a:p>
            <a:r>
              <a:rPr lang="en-US" dirty="0"/>
              <a:t>Diurnal (active during the day)</a:t>
            </a:r>
          </a:p>
          <a:p>
            <a:endParaRPr lang="en-US" dirty="0"/>
          </a:p>
          <a:p>
            <a:r>
              <a:rPr lang="en-US" dirty="0"/>
              <a:t>Highly social</a:t>
            </a:r>
          </a:p>
          <a:p>
            <a:endParaRPr lang="en-US" dirty="0"/>
          </a:p>
        </p:txBody>
      </p:sp>
    </p:spTree>
    <p:extLst>
      <p:ext uri="{BB962C8B-B14F-4D97-AF65-F5344CB8AC3E}">
        <p14:creationId xmlns:p14="http://schemas.microsoft.com/office/powerpoint/2010/main" val="2844398639"/>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Primate Characteristics </a:t>
            </a:r>
            <a:r>
              <a:rPr lang="en-US" sz="2800" dirty="0" smtClean="0"/>
              <a:t>(4 of 5)</a:t>
            </a:r>
            <a:endParaRPr lang="en-US" sz="2800" dirty="0"/>
          </a:p>
        </p:txBody>
      </p:sp>
      <p:sp>
        <p:nvSpPr>
          <p:cNvPr id="3" name="Content Placeholder 2"/>
          <p:cNvSpPr>
            <a:spLocks noGrp="1"/>
          </p:cNvSpPr>
          <p:nvPr>
            <p:ph idx="1"/>
          </p:nvPr>
        </p:nvSpPr>
        <p:spPr/>
        <p:txBody>
          <a:bodyPr>
            <a:normAutofit fontScale="92500" lnSpcReduction="20000"/>
          </a:bodyPr>
          <a:lstStyle/>
          <a:p>
            <a:r>
              <a:rPr lang="en-US" dirty="0"/>
              <a:t>Frugivores eat mainly fruit</a:t>
            </a:r>
          </a:p>
          <a:p>
            <a:endParaRPr lang="en-US" dirty="0"/>
          </a:p>
          <a:p>
            <a:r>
              <a:rPr lang="en-US" dirty="0"/>
              <a:t>Folivores eat primarily leaves</a:t>
            </a:r>
          </a:p>
          <a:p>
            <a:endParaRPr lang="en-US" dirty="0"/>
          </a:p>
          <a:p>
            <a:r>
              <a:rPr lang="en-US" dirty="0"/>
              <a:t>Insectivores eat mainly insects</a:t>
            </a:r>
          </a:p>
          <a:p>
            <a:endParaRPr lang="en-US" dirty="0"/>
          </a:p>
          <a:p>
            <a:r>
              <a:rPr lang="en-US" dirty="0"/>
              <a:t>Gummivores rely on gums and saps of trees</a:t>
            </a:r>
          </a:p>
          <a:p>
            <a:endParaRPr lang="en-US" dirty="0"/>
          </a:p>
          <a:p>
            <a:r>
              <a:rPr lang="en-US" dirty="0" smtClean="0"/>
              <a:t>Omnivores </a:t>
            </a:r>
            <a:r>
              <a:rPr lang="en-US" dirty="0"/>
              <a:t>are generalists; many kinds of foods make up their diet</a:t>
            </a:r>
          </a:p>
          <a:p>
            <a:endParaRPr lang="en-US" dirty="0"/>
          </a:p>
        </p:txBody>
      </p:sp>
    </p:spTree>
    <p:extLst>
      <p:ext uri="{BB962C8B-B14F-4D97-AF65-F5344CB8AC3E}">
        <p14:creationId xmlns:p14="http://schemas.microsoft.com/office/powerpoint/2010/main" val="359539443"/>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Primate Characteristics </a:t>
            </a:r>
            <a:r>
              <a:rPr lang="en-US" sz="2800" dirty="0" smtClean="0"/>
              <a:t>(5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normAutofit lnSpcReduction="10000"/>
          </a:bodyPr>
          <a:lstStyle/>
          <a:p>
            <a:r>
              <a:rPr lang="en-US" dirty="0" smtClean="0"/>
              <a:t>Most common social group: </a:t>
            </a:r>
            <a:r>
              <a:rPr lang="en-US" dirty="0"/>
              <a:t>multi-male/multi-female (MM/MF) </a:t>
            </a:r>
          </a:p>
          <a:p>
            <a:endParaRPr lang="en-US" dirty="0" smtClean="0"/>
          </a:p>
          <a:p>
            <a:r>
              <a:rPr lang="en-US" dirty="0" smtClean="0"/>
              <a:t>Rare </a:t>
            </a:r>
            <a:r>
              <a:rPr lang="en-US" dirty="0"/>
              <a:t>pattern: fission-fusion group </a:t>
            </a:r>
          </a:p>
          <a:p>
            <a:pPr lvl="1"/>
            <a:r>
              <a:rPr lang="en-US" dirty="0"/>
              <a:t>Large group that breaks up into smaller subgroups for </a:t>
            </a:r>
            <a:r>
              <a:rPr lang="en-US" dirty="0" smtClean="0"/>
              <a:t>foraging</a:t>
            </a:r>
            <a:endParaRPr lang="en-US" dirty="0"/>
          </a:p>
          <a:p>
            <a:pPr lvl="1"/>
            <a:r>
              <a:rPr lang="en-US" dirty="0"/>
              <a:t>Found in chimpanzees and </a:t>
            </a:r>
            <a:r>
              <a:rPr lang="en-US" dirty="0" smtClean="0"/>
              <a:t>bonobos</a:t>
            </a:r>
            <a:endParaRPr lang="en-US" dirty="0"/>
          </a:p>
          <a:p>
            <a:pPr lvl="1"/>
            <a:r>
              <a:rPr lang="en-US" dirty="0"/>
              <a:t>Early human ancestors may have had this type of social organization</a:t>
            </a:r>
          </a:p>
          <a:p>
            <a:endParaRPr lang="en-US" dirty="0"/>
          </a:p>
        </p:txBody>
      </p:sp>
    </p:spTree>
    <p:extLst>
      <p:ext uri="{BB962C8B-B14F-4D97-AF65-F5344CB8AC3E}">
        <p14:creationId xmlns:p14="http://schemas.microsoft.com/office/powerpoint/2010/main" val="40789065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Great Apes </a:t>
            </a:r>
            <a:r>
              <a:rPr lang="en-US" sz="2800" dirty="0" smtClean="0"/>
              <a:t>(1 of 5)</a:t>
            </a:r>
            <a:endParaRPr lang="en-US" sz="2800" dirty="0"/>
          </a:p>
        </p:txBody>
      </p:sp>
      <p:sp>
        <p:nvSpPr>
          <p:cNvPr id="3" name="Content Placeholder 2"/>
          <p:cNvSpPr>
            <a:spLocks noGrp="1"/>
          </p:cNvSpPr>
          <p:nvPr>
            <p:ph idx="1"/>
          </p:nvPr>
        </p:nvSpPr>
        <p:spPr/>
        <p:txBody>
          <a:bodyPr>
            <a:normAutofit fontScale="92500"/>
          </a:bodyPr>
          <a:lstStyle/>
          <a:p>
            <a:r>
              <a:rPr lang="en-US" dirty="0"/>
              <a:t>Category of large, tailless primates</a:t>
            </a:r>
          </a:p>
          <a:p>
            <a:endParaRPr lang="en-US" dirty="0" smtClean="0"/>
          </a:p>
          <a:p>
            <a:r>
              <a:rPr lang="en-US" dirty="0" smtClean="0"/>
              <a:t>Locomotion </a:t>
            </a:r>
            <a:r>
              <a:rPr lang="en-US" dirty="0"/>
              <a:t>by brachiation</a:t>
            </a:r>
          </a:p>
          <a:p>
            <a:endParaRPr lang="en-US" dirty="0" smtClean="0"/>
          </a:p>
          <a:p>
            <a:r>
              <a:rPr lang="en-US" dirty="0" smtClean="0"/>
              <a:t>Modern </a:t>
            </a:r>
            <a:r>
              <a:rPr lang="en-US" dirty="0"/>
              <a:t>humans and great apes share a common ancestor </a:t>
            </a:r>
          </a:p>
          <a:p>
            <a:endParaRPr lang="en-US" dirty="0" smtClean="0"/>
          </a:p>
          <a:p>
            <a:r>
              <a:rPr lang="en-US" dirty="0" smtClean="0"/>
              <a:t>All </a:t>
            </a:r>
            <a:r>
              <a:rPr lang="en-US" dirty="0"/>
              <a:t>great ape species in the wild are endangered </a:t>
            </a:r>
          </a:p>
          <a:p>
            <a:endParaRPr lang="en-US" dirty="0"/>
          </a:p>
        </p:txBody>
      </p:sp>
    </p:spTree>
    <p:extLst>
      <p:ext uri="{BB962C8B-B14F-4D97-AF65-F5344CB8AC3E}">
        <p14:creationId xmlns:p14="http://schemas.microsoft.com/office/powerpoint/2010/main" val="680969247"/>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n illustration shows an ape using its forelimbs in a swinging motion to travel along a horizontal ro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590800"/>
            <a:ext cx="8229600" cy="1806854"/>
          </a:xfrm>
          <a:prstGeom prst="rect">
            <a:avLst/>
          </a:prstGeom>
        </p:spPr>
      </p:pic>
      <p:sp>
        <p:nvSpPr>
          <p:cNvPr id="2" name="Title 1"/>
          <p:cNvSpPr>
            <a:spLocks noGrp="1"/>
          </p:cNvSpPr>
          <p:nvPr>
            <p:ph type="title"/>
          </p:nvPr>
        </p:nvSpPr>
        <p:spPr/>
        <p:txBody>
          <a:bodyPr/>
          <a:lstStyle/>
          <a:p>
            <a:pPr marL="0" indent="0"/>
            <a:r>
              <a:rPr lang="en-US" dirty="0"/>
              <a:t>Figure 2.2 </a:t>
            </a:r>
            <a:r>
              <a:rPr lang="en-US" dirty="0" err="1"/>
              <a:t>Brachiation</a:t>
            </a:r>
            <a:r>
              <a:rPr lang="en-US" dirty="0"/>
              <a:t> in Action</a:t>
            </a:r>
          </a:p>
        </p:txBody>
      </p:sp>
    </p:spTree>
    <p:extLst>
      <p:ext uri="{BB962C8B-B14F-4D97-AF65-F5344CB8AC3E}">
        <p14:creationId xmlns:p14="http://schemas.microsoft.com/office/powerpoint/2010/main" val="1501690135"/>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Great Apes </a:t>
            </a:r>
            <a:r>
              <a:rPr lang="en-US" sz="2800" dirty="0" smtClean="0"/>
              <a:t>(2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lstStyle/>
          <a:p>
            <a:r>
              <a:rPr lang="en-US" dirty="0" smtClean="0"/>
              <a:t>How the human line diverged:</a:t>
            </a:r>
          </a:p>
          <a:p>
            <a:pPr lvl="1"/>
            <a:r>
              <a:rPr lang="en-US" dirty="0" smtClean="0"/>
              <a:t>Human </a:t>
            </a:r>
            <a:r>
              <a:rPr lang="en-US" dirty="0"/>
              <a:t>anatomy evolved with emphasis on habitual locomotion on two legs and larger brains</a:t>
            </a:r>
          </a:p>
          <a:p>
            <a:pPr lvl="1"/>
            <a:r>
              <a:rPr lang="en-US" dirty="0" smtClean="0"/>
              <a:t>Humans </a:t>
            </a:r>
            <a:r>
              <a:rPr lang="en-US" dirty="0"/>
              <a:t>developed culture, including verbal language, to a more complex degree</a:t>
            </a:r>
          </a:p>
          <a:p>
            <a:endParaRPr lang="en-US" dirty="0"/>
          </a:p>
        </p:txBody>
      </p:sp>
    </p:spTree>
    <p:extLst>
      <p:ext uri="{BB962C8B-B14F-4D97-AF65-F5344CB8AC3E}">
        <p14:creationId xmlns:p14="http://schemas.microsoft.com/office/powerpoint/2010/main" val="1868316421"/>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Great Apes </a:t>
            </a:r>
            <a:r>
              <a:rPr lang="en-US" sz="2800" dirty="0" smtClean="0"/>
              <a:t>(3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normAutofit/>
          </a:bodyPr>
          <a:lstStyle/>
          <a:p>
            <a:r>
              <a:rPr lang="en-US" dirty="0" smtClean="0"/>
              <a:t>Orangutans</a:t>
            </a:r>
          </a:p>
          <a:p>
            <a:pPr lvl="1"/>
            <a:r>
              <a:rPr lang="en-US" dirty="0" smtClean="0"/>
              <a:t>The </a:t>
            </a:r>
            <a:r>
              <a:rPr lang="en-US" dirty="0"/>
              <a:t>only Asian great ape</a:t>
            </a:r>
          </a:p>
          <a:p>
            <a:pPr lvl="1"/>
            <a:r>
              <a:rPr lang="en-US" dirty="0"/>
              <a:t>Live on the islands of Borneo and Sumatra</a:t>
            </a:r>
          </a:p>
          <a:p>
            <a:pPr lvl="1"/>
            <a:r>
              <a:rPr lang="en-US" dirty="0"/>
              <a:t>Marked sexual dimorphism</a:t>
            </a:r>
          </a:p>
          <a:p>
            <a:pPr lvl="1"/>
            <a:r>
              <a:rPr lang="en-US" dirty="0"/>
              <a:t>Mainly arboreal</a:t>
            </a:r>
          </a:p>
          <a:p>
            <a:pPr lvl="1"/>
            <a:r>
              <a:rPr lang="en-US" dirty="0"/>
              <a:t>Frugivores</a:t>
            </a:r>
          </a:p>
          <a:p>
            <a:pPr lvl="1"/>
            <a:r>
              <a:rPr lang="en-US" dirty="0"/>
              <a:t>Most solitary of great apes</a:t>
            </a:r>
          </a:p>
          <a:p>
            <a:pPr lvl="1"/>
            <a:r>
              <a:rPr lang="en-US" dirty="0"/>
              <a:t>Make simple tools from branches</a:t>
            </a:r>
          </a:p>
          <a:p>
            <a:endParaRPr lang="en-US" dirty="0"/>
          </a:p>
        </p:txBody>
      </p:sp>
    </p:spTree>
    <p:extLst>
      <p:ext uri="{BB962C8B-B14F-4D97-AF65-F5344CB8AC3E}">
        <p14:creationId xmlns:p14="http://schemas.microsoft.com/office/powerpoint/2010/main" val="574803980"/>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Great Apes </a:t>
            </a:r>
            <a:r>
              <a:rPr lang="en-US" sz="2800" dirty="0" smtClean="0"/>
              <a:t>(4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normAutofit fontScale="92500" lnSpcReduction="10000"/>
          </a:bodyPr>
          <a:lstStyle/>
          <a:p>
            <a:r>
              <a:rPr lang="en-US" dirty="0" smtClean="0"/>
              <a:t>Gorillas</a:t>
            </a:r>
          </a:p>
          <a:p>
            <a:pPr lvl="1"/>
            <a:r>
              <a:rPr lang="en-US" dirty="0" smtClean="0"/>
              <a:t>Live </a:t>
            </a:r>
            <a:r>
              <a:rPr lang="en-US" dirty="0"/>
              <a:t>in sub-Saharan Africa</a:t>
            </a:r>
          </a:p>
          <a:p>
            <a:pPr lvl="1"/>
            <a:r>
              <a:rPr lang="en-US" dirty="0"/>
              <a:t>Largest of the living primates</a:t>
            </a:r>
          </a:p>
          <a:p>
            <a:pPr lvl="1"/>
            <a:r>
              <a:rPr lang="en-US" dirty="0"/>
              <a:t>Marked sexual dimorphism</a:t>
            </a:r>
          </a:p>
          <a:p>
            <a:pPr lvl="1"/>
            <a:r>
              <a:rPr lang="en-US" dirty="0"/>
              <a:t>Eat a wide variety of plants and supplement with termites and ants</a:t>
            </a:r>
          </a:p>
          <a:p>
            <a:pPr lvl="1"/>
            <a:r>
              <a:rPr lang="en-US" dirty="0"/>
              <a:t>Social groups composed of a single male and multiple females with the females’ dependent offspring</a:t>
            </a:r>
          </a:p>
          <a:p>
            <a:pPr lvl="1"/>
            <a:r>
              <a:rPr lang="en-US" dirty="0"/>
              <a:t>Live in dense forest and are largely terrestrial</a:t>
            </a:r>
          </a:p>
          <a:p>
            <a:pPr lvl="1"/>
            <a:r>
              <a:rPr lang="en-US" dirty="0" smtClean="0"/>
              <a:t>Quadrupedal </a:t>
            </a:r>
            <a:r>
              <a:rPr lang="en-US" dirty="0"/>
              <a:t>and knuckle-walkers</a:t>
            </a:r>
          </a:p>
          <a:p>
            <a:endParaRPr lang="en-US" dirty="0"/>
          </a:p>
        </p:txBody>
      </p:sp>
    </p:spTree>
    <p:extLst>
      <p:ext uri="{BB962C8B-B14F-4D97-AF65-F5344CB8AC3E}">
        <p14:creationId xmlns:p14="http://schemas.microsoft.com/office/powerpoint/2010/main" val="2748908437"/>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Great Apes </a:t>
            </a:r>
            <a:r>
              <a:rPr lang="en-US" sz="2800" dirty="0" smtClean="0"/>
              <a:t>(5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normAutofit fontScale="92500" lnSpcReduction="20000"/>
          </a:bodyPr>
          <a:lstStyle/>
          <a:p>
            <a:r>
              <a:rPr lang="en-US" dirty="0" smtClean="0"/>
              <a:t>Chimpanzees and Bonobos</a:t>
            </a:r>
          </a:p>
          <a:p>
            <a:pPr lvl="1"/>
            <a:r>
              <a:rPr lang="en-US" dirty="0" smtClean="0"/>
              <a:t>Live </a:t>
            </a:r>
            <a:r>
              <a:rPr lang="en-US" dirty="0"/>
              <a:t>in sub-Saharan Africa</a:t>
            </a:r>
          </a:p>
          <a:p>
            <a:pPr lvl="1"/>
            <a:r>
              <a:rPr lang="en-US" dirty="0"/>
              <a:t>Most closely related to humans</a:t>
            </a:r>
          </a:p>
          <a:p>
            <a:pPr lvl="1"/>
            <a:r>
              <a:rPr lang="en-US" dirty="0"/>
              <a:t>Smaller and less sexual dimorphism than orangutans and gorillas</a:t>
            </a:r>
          </a:p>
          <a:p>
            <a:pPr lvl="1"/>
            <a:r>
              <a:rPr lang="en-US" dirty="0"/>
              <a:t>More arboreal than </a:t>
            </a:r>
            <a:r>
              <a:rPr lang="en-US" dirty="0" smtClean="0"/>
              <a:t>gorillas, </a:t>
            </a:r>
            <a:r>
              <a:rPr lang="en-US" dirty="0"/>
              <a:t>but knuckle-walkers when on the ground</a:t>
            </a:r>
          </a:p>
          <a:p>
            <a:pPr lvl="1"/>
            <a:r>
              <a:rPr lang="en-US" dirty="0" smtClean="0"/>
              <a:t>Frugivores, </a:t>
            </a:r>
            <a:r>
              <a:rPr lang="en-US" dirty="0"/>
              <a:t>but occasionally eat insects, vegetation, and small animals</a:t>
            </a:r>
          </a:p>
          <a:p>
            <a:pPr lvl="1"/>
            <a:r>
              <a:rPr lang="en-US" dirty="0"/>
              <a:t>Spend 25 percent of time in social </a:t>
            </a:r>
            <a:r>
              <a:rPr lang="en-US" dirty="0" smtClean="0"/>
              <a:t>interactions, </a:t>
            </a:r>
            <a:r>
              <a:rPr lang="en-US" dirty="0"/>
              <a:t>compared </a:t>
            </a:r>
            <a:r>
              <a:rPr lang="en-US" dirty="0" smtClean="0"/>
              <a:t>with </a:t>
            </a:r>
            <a:r>
              <a:rPr lang="en-US" dirty="0"/>
              <a:t>10 percent for other great </a:t>
            </a:r>
            <a:r>
              <a:rPr lang="en-US" dirty="0" smtClean="0"/>
              <a:t>apes, </a:t>
            </a:r>
            <a:r>
              <a:rPr lang="en-US" dirty="0"/>
              <a:t>except for humans</a:t>
            </a:r>
          </a:p>
          <a:p>
            <a:endParaRPr lang="en-US" dirty="0"/>
          </a:p>
        </p:txBody>
      </p:sp>
    </p:spTree>
    <p:extLst>
      <p:ext uri="{BB962C8B-B14F-4D97-AF65-F5344CB8AC3E}">
        <p14:creationId xmlns:p14="http://schemas.microsoft.com/office/powerpoint/2010/main" val="2474248326"/>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Nonhuman Primate Culture </a:t>
            </a:r>
            <a:r>
              <a:rPr lang="en-US" sz="2800" dirty="0" smtClean="0"/>
              <a:t>(1 </a:t>
            </a:r>
            <a:r>
              <a:rPr lang="en-US" sz="2800" dirty="0"/>
              <a:t>of 2)</a:t>
            </a:r>
          </a:p>
        </p:txBody>
      </p:sp>
      <p:sp>
        <p:nvSpPr>
          <p:cNvPr id="3" name="Content Placeholder 2"/>
          <p:cNvSpPr>
            <a:spLocks noGrp="1"/>
          </p:cNvSpPr>
          <p:nvPr>
            <p:ph idx="1"/>
          </p:nvPr>
        </p:nvSpPr>
        <p:spPr/>
        <p:txBody>
          <a:bodyPr/>
          <a:lstStyle/>
          <a:p>
            <a:r>
              <a:rPr lang="en-US" dirty="0"/>
              <a:t>Increasing evidence indicates that animals other than humans have aspects of culture</a:t>
            </a:r>
          </a:p>
          <a:p>
            <a:r>
              <a:rPr lang="en-US" dirty="0" smtClean="0"/>
              <a:t>In </a:t>
            </a:r>
            <a:r>
              <a:rPr lang="en-US" dirty="0"/>
              <a:t>primatology, culture is defined as behavior that is learned and shared</a:t>
            </a:r>
          </a:p>
          <a:p>
            <a:r>
              <a:rPr lang="en-US" dirty="0" smtClean="0"/>
              <a:t>Example</a:t>
            </a:r>
            <a:r>
              <a:rPr lang="en-US" dirty="0"/>
              <a:t>: Imo, the Japanese macaque</a:t>
            </a:r>
          </a:p>
          <a:p>
            <a:endParaRPr lang="en-US" dirty="0"/>
          </a:p>
        </p:txBody>
      </p:sp>
    </p:spTree>
    <p:extLst>
      <p:ext uri="{BB962C8B-B14F-4D97-AF65-F5344CB8AC3E}">
        <p14:creationId xmlns:p14="http://schemas.microsoft.com/office/powerpoint/2010/main" val="174578327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Nonhuman Primate Culture </a:t>
            </a:r>
            <a:r>
              <a:rPr lang="en-US" sz="2800" dirty="0" smtClean="0"/>
              <a:t>(2 of 2)</a:t>
            </a:r>
            <a:endParaRPr lang="en-US" sz="2800" dirty="0"/>
          </a:p>
        </p:txBody>
      </p:sp>
      <p:sp>
        <p:nvSpPr>
          <p:cNvPr id="3" name="Content Placeholder 2"/>
          <p:cNvSpPr>
            <a:spLocks noGrp="1"/>
          </p:cNvSpPr>
          <p:nvPr>
            <p:ph idx="1"/>
          </p:nvPr>
        </p:nvSpPr>
        <p:spPr/>
        <p:txBody>
          <a:bodyPr/>
          <a:lstStyle/>
          <a:p>
            <a:r>
              <a:rPr lang="en-US" dirty="0"/>
              <a:t>Young primates learn various cultural behaviors by watching adults, but invention also occurs</a:t>
            </a:r>
          </a:p>
          <a:p>
            <a:r>
              <a:rPr lang="en-US" dirty="0"/>
              <a:t>Example: JJ, a young male chimpanzee, transferred his skills at using a stick to retrieve ants on the ground to obtaining them in </a:t>
            </a:r>
            <a:r>
              <a:rPr lang="en-US" dirty="0" smtClean="0"/>
              <a:t>trees</a:t>
            </a:r>
            <a:endParaRPr lang="en-US" dirty="0"/>
          </a:p>
          <a:p>
            <a:pPr lvl="1"/>
            <a:r>
              <a:rPr lang="en-US" dirty="0"/>
              <a:t>Not yet known if JJ’s invention will spread to the group</a:t>
            </a:r>
          </a:p>
          <a:p>
            <a:endParaRPr lang="en-US" dirty="0"/>
          </a:p>
        </p:txBody>
      </p:sp>
    </p:spTree>
    <p:extLst>
      <p:ext uri="{BB962C8B-B14F-4D97-AF65-F5344CB8AC3E}">
        <p14:creationId xmlns:p14="http://schemas.microsoft.com/office/powerpoint/2010/main" val="4101878815"/>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Anthropology Works: </a:t>
            </a:r>
            <a:r>
              <a:rPr lang="en-US" dirty="0" smtClean="0"/>
              <a:t/>
            </a:r>
            <a:br>
              <a:rPr lang="en-US" dirty="0" smtClean="0"/>
            </a:br>
            <a:r>
              <a:rPr lang="en-US" dirty="0" smtClean="0"/>
              <a:t>Saving Orangutans</a:t>
            </a:r>
            <a:endParaRPr lang="en-US" dirty="0"/>
          </a:p>
        </p:txBody>
      </p:sp>
      <p:sp>
        <p:nvSpPr>
          <p:cNvPr id="3" name="Content Placeholder 2"/>
          <p:cNvSpPr>
            <a:spLocks noGrp="1"/>
          </p:cNvSpPr>
          <p:nvPr>
            <p:ph idx="1"/>
          </p:nvPr>
        </p:nvSpPr>
        <p:spPr/>
        <p:txBody>
          <a:bodyPr/>
          <a:lstStyle/>
          <a:p>
            <a:r>
              <a:rPr lang="en-US" dirty="0"/>
              <a:t>Lifelong commitment of Biruté Galdikas, primatologist and specialist in orangutans</a:t>
            </a:r>
          </a:p>
          <a:p>
            <a:r>
              <a:rPr lang="en-US" dirty="0"/>
              <a:t>Importance of educating the public about danger to orangutan survival</a:t>
            </a:r>
          </a:p>
          <a:p>
            <a:r>
              <a:rPr lang="en-US" dirty="0"/>
              <a:t>Combines deep knowledge with activism on behalf of orangutans</a:t>
            </a:r>
          </a:p>
          <a:p>
            <a:r>
              <a:rPr lang="en-US" dirty="0"/>
              <a:t>Question: </a:t>
            </a:r>
            <a:r>
              <a:rPr lang="en-US" dirty="0" smtClean="0"/>
              <a:t>Do </a:t>
            </a:r>
            <a:r>
              <a:rPr lang="en-US" dirty="0"/>
              <a:t>researchers have a responsibility </a:t>
            </a:r>
            <a:r>
              <a:rPr lang="en-US" dirty="0" smtClean="0"/>
              <a:t>to use their </a:t>
            </a:r>
            <a:r>
              <a:rPr lang="en-US" dirty="0"/>
              <a:t>knowledge for a cause?</a:t>
            </a:r>
          </a:p>
          <a:p>
            <a:endParaRPr lang="en-US" dirty="0"/>
          </a:p>
        </p:txBody>
      </p:sp>
    </p:spTree>
    <p:extLst>
      <p:ext uri="{BB962C8B-B14F-4D97-AF65-F5344CB8AC3E}">
        <p14:creationId xmlns:p14="http://schemas.microsoft.com/office/powerpoint/2010/main" val="1374938648"/>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600" dirty="0" smtClean="0"/>
              <a:t>Hominin Evolution to Modern Humans</a:t>
            </a:r>
            <a:r>
              <a:rPr lang="en-US" sz="3100" dirty="0" smtClean="0"/>
              <a:t/>
            </a:r>
            <a:br>
              <a:rPr lang="en-US" sz="3100" dirty="0" smtClean="0"/>
            </a:br>
            <a:r>
              <a:rPr lang="en-US" sz="2400" dirty="0" smtClean="0"/>
              <a:t>2.2 Illustrate the role of culture during hominin evolution.</a:t>
            </a:r>
            <a:endParaRPr lang="en-US" sz="2400" dirty="0"/>
          </a:p>
        </p:txBody>
      </p:sp>
      <p:sp>
        <p:nvSpPr>
          <p:cNvPr id="3" name="Content Placeholder 2"/>
          <p:cNvSpPr>
            <a:spLocks noGrp="1"/>
          </p:cNvSpPr>
          <p:nvPr>
            <p:ph idx="1"/>
          </p:nvPr>
        </p:nvSpPr>
        <p:spPr/>
        <p:txBody>
          <a:bodyPr/>
          <a:lstStyle/>
          <a:p>
            <a:endParaRPr lang="en-US" dirty="0" smtClean="0"/>
          </a:p>
          <a:p>
            <a:r>
              <a:rPr lang="en-US" dirty="0" smtClean="0"/>
              <a:t>The </a:t>
            </a:r>
            <a:r>
              <a:rPr lang="en-US" dirty="0"/>
              <a:t>Early Hominins</a:t>
            </a:r>
          </a:p>
          <a:p>
            <a:endParaRPr lang="en-US" dirty="0"/>
          </a:p>
          <a:p>
            <a:r>
              <a:rPr lang="en-US" dirty="0"/>
              <a:t>Archaic Homo</a:t>
            </a:r>
          </a:p>
          <a:p>
            <a:endParaRPr lang="en-US" dirty="0"/>
          </a:p>
          <a:p>
            <a:r>
              <a:rPr lang="en-US" dirty="0"/>
              <a:t>Modern Humans</a:t>
            </a:r>
          </a:p>
        </p:txBody>
      </p:sp>
    </p:spTree>
    <p:extLst>
      <p:ext uri="{BB962C8B-B14F-4D97-AF65-F5344CB8AC3E}">
        <p14:creationId xmlns:p14="http://schemas.microsoft.com/office/powerpoint/2010/main" val="1704710776"/>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Early Hominins </a:t>
            </a:r>
            <a:r>
              <a:rPr lang="en-US" sz="2800" dirty="0" smtClean="0"/>
              <a:t>(1 of 13)</a:t>
            </a:r>
            <a:endParaRPr lang="en-US" sz="2800" dirty="0"/>
          </a:p>
        </p:txBody>
      </p:sp>
      <p:sp>
        <p:nvSpPr>
          <p:cNvPr id="3" name="Content Placeholder 2"/>
          <p:cNvSpPr>
            <a:spLocks noGrp="1"/>
          </p:cNvSpPr>
          <p:nvPr>
            <p:ph idx="1"/>
          </p:nvPr>
        </p:nvSpPr>
        <p:spPr/>
        <p:txBody>
          <a:bodyPr/>
          <a:lstStyle/>
          <a:p>
            <a:r>
              <a:rPr lang="en-US" dirty="0"/>
              <a:t>Separated from other great apes from </a:t>
            </a:r>
            <a:r>
              <a:rPr lang="en-US" dirty="0" smtClean="0"/>
              <a:t>             </a:t>
            </a:r>
            <a:r>
              <a:rPr lang="en-US" sz="3200" dirty="0" smtClean="0"/>
              <a:t>8 </a:t>
            </a:r>
            <a:r>
              <a:rPr lang="en-US" sz="3200" dirty="0"/>
              <a:t>million until 3 million years ago</a:t>
            </a:r>
          </a:p>
          <a:p>
            <a:r>
              <a:rPr lang="en-US" dirty="0"/>
              <a:t>Lived in Africa</a:t>
            </a:r>
          </a:p>
          <a:p>
            <a:r>
              <a:rPr lang="en-US" dirty="0"/>
              <a:t>Distinct from other apes</a:t>
            </a:r>
          </a:p>
          <a:p>
            <a:pPr lvl="1"/>
            <a:r>
              <a:rPr lang="en-US" dirty="0"/>
              <a:t>Changes to pelvis and lower limbs to allow for habitual bipedalism</a:t>
            </a:r>
          </a:p>
          <a:p>
            <a:pPr lvl="1"/>
            <a:r>
              <a:rPr lang="en-US" dirty="0"/>
              <a:t>Larger brains</a:t>
            </a:r>
          </a:p>
          <a:p>
            <a:pPr lvl="1"/>
            <a:r>
              <a:rPr lang="en-US" dirty="0"/>
              <a:t>Smaller teeth</a:t>
            </a:r>
          </a:p>
          <a:p>
            <a:endParaRPr lang="en-US" dirty="0"/>
          </a:p>
        </p:txBody>
      </p:sp>
    </p:spTree>
    <p:extLst>
      <p:ext uri="{BB962C8B-B14F-4D97-AF65-F5344CB8AC3E}">
        <p14:creationId xmlns:p14="http://schemas.microsoft.com/office/powerpoint/2010/main" val="1129366752"/>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Hominins </a:t>
            </a:r>
            <a:r>
              <a:rPr lang="en-US" sz="2800" dirty="0" smtClean="0"/>
              <a:t>(2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lstStyle/>
          <a:p>
            <a:r>
              <a:rPr lang="en-US" dirty="0" smtClean="0"/>
              <a:t>Two earliest hominin species:</a:t>
            </a:r>
          </a:p>
          <a:p>
            <a:pPr lvl="1"/>
            <a:r>
              <a:rPr lang="en-US" i="1" dirty="0" smtClean="0"/>
              <a:t>Sahelanthropus </a:t>
            </a:r>
            <a:r>
              <a:rPr lang="en-US" i="1" dirty="0"/>
              <a:t>tchadensis</a:t>
            </a:r>
          </a:p>
          <a:p>
            <a:pPr lvl="2"/>
            <a:r>
              <a:rPr lang="en-US" dirty="0"/>
              <a:t>Dated to between </a:t>
            </a:r>
            <a:r>
              <a:rPr lang="en-US" dirty="0" smtClean="0"/>
              <a:t>6 million and 7 </a:t>
            </a:r>
            <a:r>
              <a:rPr lang="en-US" dirty="0"/>
              <a:t>million years ago</a:t>
            </a:r>
          </a:p>
          <a:p>
            <a:pPr lvl="2"/>
            <a:r>
              <a:rPr lang="en-US" dirty="0"/>
              <a:t>Discovery indicates that early hominins </a:t>
            </a:r>
            <a:r>
              <a:rPr lang="en-US" dirty="0" smtClean="0"/>
              <a:t>occupied </a:t>
            </a:r>
            <a:r>
              <a:rPr lang="en-US" dirty="0"/>
              <a:t>a wider area of Africa than previously thought</a:t>
            </a:r>
          </a:p>
          <a:p>
            <a:pPr lvl="1"/>
            <a:r>
              <a:rPr lang="en-US" i="1" dirty="0"/>
              <a:t>Orrorin tugenensis</a:t>
            </a:r>
          </a:p>
          <a:p>
            <a:pPr lvl="2"/>
            <a:r>
              <a:rPr lang="en-US" dirty="0"/>
              <a:t>Dated to 6 million years ago</a:t>
            </a:r>
          </a:p>
          <a:p>
            <a:pPr lvl="2"/>
            <a:r>
              <a:rPr lang="en-US" dirty="0"/>
              <a:t>Analysis of femur indicates bipedalism</a:t>
            </a:r>
          </a:p>
          <a:p>
            <a:endParaRPr lang="en-US" dirty="0"/>
          </a:p>
        </p:txBody>
      </p:sp>
    </p:spTree>
    <p:extLst>
      <p:ext uri="{BB962C8B-B14F-4D97-AF65-F5344CB8AC3E}">
        <p14:creationId xmlns:p14="http://schemas.microsoft.com/office/powerpoint/2010/main" val="944348727"/>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Africa shows the areas where hominin fossils and species were discovered. &#10;&#10;Locations and species in central Africa&#10;• Toros-Menalla: S.tchadensis&#10;In eastern Africa&#10;• Gona: [no species named] earliest stone tools&#10;• Hadar: Au. afarensis&#10;• Middle Awash Region: Au. afarensis; Archaic Homo&#10;Around Lake Victoria&#10;• Tugen Hills: O. tugenensis&#10;• Olduvai Gorge: H. habilis&#10;• Laetoli: Au. Afarensis&#10;In southern Africa&#10;• Sterkfontein: Au. africanus; Archaic Homo&#10;• Malapa: Au. sediba&#10;• Taung: Au. africanus&#10;• Swartkrans: Archaic Homo"/>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0" y="1447800"/>
            <a:ext cx="4419600" cy="4842191"/>
          </a:xfrm>
          <a:prstGeom prst="rect">
            <a:avLst/>
          </a:prstGeom>
        </p:spPr>
      </p:pic>
      <p:sp>
        <p:nvSpPr>
          <p:cNvPr id="2" name="Title 1"/>
          <p:cNvSpPr>
            <a:spLocks noGrp="1"/>
          </p:cNvSpPr>
          <p:nvPr>
            <p:ph type="title"/>
          </p:nvPr>
        </p:nvSpPr>
        <p:spPr/>
        <p:txBody>
          <a:bodyPr>
            <a:noAutofit/>
          </a:bodyPr>
          <a:lstStyle/>
          <a:p>
            <a:pPr marL="0" indent="0"/>
            <a:r>
              <a:rPr lang="en-US" sz="3600" dirty="0"/>
              <a:t>Map 2.3 </a:t>
            </a:r>
            <a:r>
              <a:rPr lang="en-US" sz="3600" dirty="0" smtClean="0"/>
              <a:t>Sites </a:t>
            </a:r>
            <a:r>
              <a:rPr lang="en-US" sz="3600" dirty="0"/>
              <a:t>of Early </a:t>
            </a:r>
            <a:r>
              <a:rPr lang="en-US" sz="3600" dirty="0" err="1"/>
              <a:t>Hominins</a:t>
            </a:r>
            <a:r>
              <a:rPr lang="en-US" sz="3600" dirty="0"/>
              <a:t> </a:t>
            </a:r>
            <a:r>
              <a:rPr lang="en-US" sz="3600" dirty="0" smtClean="0"/>
              <a:t/>
            </a:r>
            <a:br>
              <a:rPr lang="en-US" sz="3600" dirty="0" smtClean="0"/>
            </a:br>
            <a:r>
              <a:rPr lang="en-US" sz="3600" dirty="0" smtClean="0"/>
              <a:t>and </a:t>
            </a:r>
            <a:r>
              <a:rPr lang="en-US" sz="3600" dirty="0"/>
              <a:t>Archaic </a:t>
            </a:r>
            <a:r>
              <a:rPr lang="en-US" sz="3600" i="1" dirty="0"/>
              <a:t>Homo</a:t>
            </a:r>
            <a:r>
              <a:rPr lang="en-US" sz="3600" dirty="0"/>
              <a:t> in Africa</a:t>
            </a:r>
          </a:p>
        </p:txBody>
      </p:sp>
    </p:spTree>
    <p:extLst>
      <p:ext uri="{BB962C8B-B14F-4D97-AF65-F5344CB8AC3E}">
        <p14:creationId xmlns:p14="http://schemas.microsoft.com/office/powerpoint/2010/main" val="1095744487"/>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a:t>
            </a:r>
            <a:r>
              <a:rPr lang="en-US" dirty="0" err="1"/>
              <a:t>Hominins</a:t>
            </a:r>
            <a:r>
              <a:rPr lang="en-US" dirty="0"/>
              <a:t> </a:t>
            </a:r>
            <a:r>
              <a:rPr lang="en-US" sz="2800" dirty="0" smtClean="0"/>
              <a:t>(3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normAutofit/>
          </a:bodyPr>
          <a:lstStyle/>
          <a:p>
            <a:r>
              <a:rPr lang="en-US" dirty="0" smtClean="0"/>
              <a:t>Australopithecines</a:t>
            </a:r>
          </a:p>
          <a:p>
            <a:pPr lvl="1"/>
            <a:r>
              <a:rPr lang="en-US" dirty="0"/>
              <a:t>Category of several extinct species found </a:t>
            </a:r>
            <a:r>
              <a:rPr lang="en-US" dirty="0" smtClean="0"/>
              <a:t>in </a:t>
            </a:r>
            <a:r>
              <a:rPr lang="en-US" dirty="0"/>
              <a:t>East and Central Africa</a:t>
            </a:r>
          </a:p>
          <a:p>
            <a:pPr lvl="1"/>
            <a:r>
              <a:rPr lang="en-US" dirty="0"/>
              <a:t>Lived between </a:t>
            </a:r>
            <a:r>
              <a:rPr lang="en-US" dirty="0" smtClean="0"/>
              <a:t>2 </a:t>
            </a:r>
            <a:r>
              <a:rPr lang="en-US" dirty="0"/>
              <a:t>million and </a:t>
            </a:r>
            <a:r>
              <a:rPr lang="en-US" dirty="0" smtClean="0"/>
              <a:t>4 </a:t>
            </a:r>
            <a:r>
              <a:rPr lang="en-US" dirty="0"/>
              <a:t>million years ago</a:t>
            </a:r>
          </a:p>
          <a:p>
            <a:pPr lvl="1"/>
            <a:r>
              <a:rPr lang="en-US" dirty="0" smtClean="0"/>
              <a:t>“Lucy</a:t>
            </a:r>
            <a:r>
              <a:rPr lang="en-US" dirty="0"/>
              <a:t>” famous because so much of her skeleton was preserved</a:t>
            </a:r>
          </a:p>
          <a:p>
            <a:pPr lvl="1"/>
            <a:r>
              <a:rPr lang="en-US" dirty="0"/>
              <a:t>Era provides the first artifacts, in the form of stone tools, which indicate culture</a:t>
            </a:r>
          </a:p>
          <a:p>
            <a:endParaRPr lang="en-US" dirty="0"/>
          </a:p>
        </p:txBody>
      </p:sp>
    </p:spTree>
    <p:extLst>
      <p:ext uri="{BB962C8B-B14F-4D97-AF65-F5344CB8AC3E}">
        <p14:creationId xmlns:p14="http://schemas.microsoft.com/office/powerpoint/2010/main" val="1669826554"/>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a:t>
            </a:r>
            <a:r>
              <a:rPr lang="en-US" dirty="0" err="1"/>
              <a:t>Hominins</a:t>
            </a:r>
            <a:r>
              <a:rPr lang="en-US" dirty="0"/>
              <a:t> </a:t>
            </a:r>
            <a:r>
              <a:rPr lang="en-US" sz="2800" dirty="0" smtClean="0"/>
              <a:t>(</a:t>
            </a:r>
            <a:r>
              <a:rPr lang="en-US" sz="2800" dirty="0"/>
              <a:t>4</a:t>
            </a:r>
            <a:r>
              <a:rPr lang="en-US" sz="2800" dirty="0" smtClean="0"/>
              <a:t>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normAutofit/>
          </a:bodyPr>
          <a:lstStyle/>
          <a:p>
            <a:r>
              <a:rPr lang="en-US" dirty="0"/>
              <a:t>Archaic </a:t>
            </a:r>
            <a:r>
              <a:rPr lang="en-US" i="1" dirty="0" smtClean="0"/>
              <a:t>Homo</a:t>
            </a:r>
          </a:p>
          <a:p>
            <a:pPr lvl="1"/>
            <a:r>
              <a:rPr lang="en-US" dirty="0"/>
              <a:t>Category of hominin species that lived from </a:t>
            </a:r>
            <a:r>
              <a:rPr lang="en-US" dirty="0" smtClean="0"/>
              <a:t>      2.4 </a:t>
            </a:r>
            <a:r>
              <a:rPr lang="en-US" dirty="0"/>
              <a:t>million to </a:t>
            </a:r>
            <a:r>
              <a:rPr lang="en-US" dirty="0" smtClean="0"/>
              <a:t>17,000 </a:t>
            </a:r>
            <a:r>
              <a:rPr lang="en-US" dirty="0"/>
              <a:t>years ago</a:t>
            </a:r>
          </a:p>
          <a:p>
            <a:pPr lvl="1"/>
            <a:r>
              <a:rPr lang="en-US" dirty="0"/>
              <a:t>More modern human-like body shape, larger brains, smaller jaws and teeth</a:t>
            </a:r>
          </a:p>
          <a:p>
            <a:pPr lvl="1"/>
            <a:r>
              <a:rPr lang="en-US" dirty="0"/>
              <a:t>Stone tools are prominent</a:t>
            </a:r>
          </a:p>
          <a:p>
            <a:pPr lvl="1"/>
            <a:r>
              <a:rPr lang="en-US" dirty="0"/>
              <a:t>Migrated into much of the Old World</a:t>
            </a:r>
          </a:p>
          <a:p>
            <a:pPr lvl="1"/>
            <a:r>
              <a:rPr lang="en-US" dirty="0"/>
              <a:t>No clear evidence about whether they died out or interbred with later species</a:t>
            </a:r>
          </a:p>
          <a:p>
            <a:endParaRPr lang="en-US" dirty="0"/>
          </a:p>
        </p:txBody>
      </p:sp>
    </p:spTree>
    <p:extLst>
      <p:ext uri="{BB962C8B-B14F-4D97-AF65-F5344CB8AC3E}">
        <p14:creationId xmlns:p14="http://schemas.microsoft.com/office/powerpoint/2010/main" val="2854581020"/>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a:t>
            </a:r>
            <a:r>
              <a:rPr lang="en-US" dirty="0" err="1"/>
              <a:t>Hominins</a:t>
            </a:r>
            <a:r>
              <a:rPr lang="en-US" dirty="0"/>
              <a:t> </a:t>
            </a:r>
            <a:r>
              <a:rPr lang="en-US" sz="2800" dirty="0" smtClean="0"/>
              <a:t>(5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normAutofit lnSpcReduction="10000"/>
          </a:bodyPr>
          <a:lstStyle/>
          <a:p>
            <a:r>
              <a:rPr lang="en-US" i="1" dirty="0" smtClean="0"/>
              <a:t>Homo habilis</a:t>
            </a:r>
          </a:p>
          <a:p>
            <a:pPr lvl="1"/>
            <a:r>
              <a:rPr lang="en-US" dirty="0" smtClean="0"/>
              <a:t>Fossils </a:t>
            </a:r>
            <a:r>
              <a:rPr lang="en-US" dirty="0"/>
              <a:t>found in Olduvai Gorge, </a:t>
            </a:r>
            <a:r>
              <a:rPr lang="en-US" dirty="0" smtClean="0"/>
              <a:t>Tanzania, </a:t>
            </a:r>
            <a:r>
              <a:rPr lang="en-US" dirty="0"/>
              <a:t>by Louis and Mary Leakey</a:t>
            </a:r>
          </a:p>
          <a:p>
            <a:pPr lvl="1"/>
            <a:r>
              <a:rPr lang="en-US" dirty="0"/>
              <a:t>Exhibited manual dexterity, upright posture, and fully bipedal locomotion</a:t>
            </a:r>
          </a:p>
          <a:p>
            <a:pPr lvl="1"/>
            <a:r>
              <a:rPr lang="en-US" dirty="0"/>
              <a:t>Used distinctive stone tools, named </a:t>
            </a:r>
            <a:r>
              <a:rPr lang="en-US" dirty="0" smtClean="0"/>
              <a:t>Oldowan</a:t>
            </a:r>
            <a:endParaRPr lang="en-US" dirty="0"/>
          </a:p>
          <a:p>
            <a:pPr lvl="2"/>
            <a:r>
              <a:rPr lang="en-US" dirty="0"/>
              <a:t>Core tools—made from rounded stones that have flakes chipped off them</a:t>
            </a:r>
          </a:p>
          <a:p>
            <a:pPr lvl="2"/>
            <a:r>
              <a:rPr lang="en-US" dirty="0"/>
              <a:t>Flake tools—sharp pieces of stone that break </a:t>
            </a:r>
            <a:r>
              <a:rPr lang="en-US" dirty="0" smtClean="0"/>
              <a:t>off </a:t>
            </a:r>
            <a:r>
              <a:rPr lang="en-US" dirty="0"/>
              <a:t>a core when it is struck</a:t>
            </a:r>
          </a:p>
          <a:p>
            <a:endParaRPr lang="en-US" dirty="0"/>
          </a:p>
        </p:txBody>
      </p:sp>
    </p:spTree>
    <p:extLst>
      <p:ext uri="{BB962C8B-B14F-4D97-AF65-F5344CB8AC3E}">
        <p14:creationId xmlns:p14="http://schemas.microsoft.com/office/powerpoint/2010/main" val="116946673"/>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a:t>
            </a:r>
            <a:r>
              <a:rPr lang="en-US" dirty="0" err="1"/>
              <a:t>Hominins</a:t>
            </a:r>
            <a:r>
              <a:rPr lang="en-US" dirty="0"/>
              <a:t> </a:t>
            </a:r>
            <a:r>
              <a:rPr lang="en-US" sz="2800" dirty="0" smtClean="0"/>
              <a:t>(6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normAutofit fontScale="92500" lnSpcReduction="10000"/>
          </a:bodyPr>
          <a:lstStyle/>
          <a:p>
            <a:r>
              <a:rPr lang="en-US" i="1" dirty="0" smtClean="0"/>
              <a:t>Homo erectus</a:t>
            </a:r>
          </a:p>
          <a:p>
            <a:pPr lvl="1"/>
            <a:r>
              <a:rPr lang="en-US" dirty="0" smtClean="0"/>
              <a:t>First </a:t>
            </a:r>
            <a:r>
              <a:rPr lang="en-US" dirty="0"/>
              <a:t>hominin species that was widely distributed across the Old World</a:t>
            </a:r>
          </a:p>
          <a:p>
            <a:pPr lvl="1"/>
            <a:r>
              <a:rPr lang="en-US" dirty="0"/>
              <a:t>Highly successful in terms of duration (around </a:t>
            </a:r>
            <a:r>
              <a:rPr lang="en-US" dirty="0" smtClean="0"/>
              <a:t>             2 </a:t>
            </a:r>
            <a:r>
              <a:rPr lang="en-US" dirty="0"/>
              <a:t>million years)</a:t>
            </a:r>
          </a:p>
          <a:p>
            <a:pPr lvl="1"/>
            <a:r>
              <a:rPr lang="en-US" dirty="0"/>
              <a:t>Brain about 2/3 the size of the average modern human brain</a:t>
            </a:r>
          </a:p>
          <a:p>
            <a:pPr lvl="1"/>
            <a:r>
              <a:rPr lang="en-US" dirty="0"/>
              <a:t>Acheulian tradition for stone tools:</a:t>
            </a:r>
          </a:p>
          <a:p>
            <a:pPr lvl="2"/>
            <a:r>
              <a:rPr lang="en-US" dirty="0"/>
              <a:t>Handaxe</a:t>
            </a:r>
          </a:p>
          <a:p>
            <a:pPr lvl="2"/>
            <a:r>
              <a:rPr lang="en-US" dirty="0"/>
              <a:t>Worked on both sides</a:t>
            </a:r>
          </a:p>
          <a:p>
            <a:pPr lvl="2"/>
            <a:r>
              <a:rPr lang="en-US" dirty="0"/>
              <a:t>More finely crafted and consistently shaped</a:t>
            </a:r>
          </a:p>
          <a:p>
            <a:endParaRPr lang="en-US" dirty="0"/>
          </a:p>
        </p:txBody>
      </p:sp>
    </p:spTree>
    <p:extLst>
      <p:ext uri="{BB962C8B-B14F-4D97-AF65-F5344CB8AC3E}">
        <p14:creationId xmlns:p14="http://schemas.microsoft.com/office/powerpoint/2010/main" val="3104371218"/>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a:t>
            </a:r>
            <a:r>
              <a:rPr lang="en-US" dirty="0" err="1"/>
              <a:t>Hominins</a:t>
            </a:r>
            <a:r>
              <a:rPr lang="en-US" dirty="0"/>
              <a:t> </a:t>
            </a:r>
            <a:r>
              <a:rPr lang="en-US" sz="2800" dirty="0" smtClean="0"/>
              <a:t>(7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normAutofit lnSpcReduction="10000"/>
          </a:bodyPr>
          <a:lstStyle/>
          <a:p>
            <a:r>
              <a:rPr lang="en-US" i="1" dirty="0"/>
              <a:t>Homo f</a:t>
            </a:r>
            <a:r>
              <a:rPr lang="en-US" i="1" dirty="0" smtClean="0"/>
              <a:t>loresiensis </a:t>
            </a:r>
          </a:p>
          <a:p>
            <a:pPr lvl="1"/>
            <a:r>
              <a:rPr lang="en-US" dirty="0" smtClean="0"/>
              <a:t>Recent </a:t>
            </a:r>
            <a:r>
              <a:rPr lang="en-US" dirty="0"/>
              <a:t>discovery of dwarf-sized species in Indonesia</a:t>
            </a:r>
          </a:p>
          <a:p>
            <a:pPr lvl="1"/>
            <a:r>
              <a:rPr lang="en-US" dirty="0"/>
              <a:t>Fossil evidence dates to </a:t>
            </a:r>
            <a:r>
              <a:rPr lang="en-US" dirty="0" smtClean="0"/>
              <a:t>17,000 </a:t>
            </a:r>
            <a:r>
              <a:rPr lang="en-US" dirty="0"/>
              <a:t>years ago</a:t>
            </a:r>
          </a:p>
          <a:p>
            <a:pPr lvl="1"/>
            <a:r>
              <a:rPr lang="en-US" dirty="0"/>
              <a:t>Just over 3 feet tall, stood upright, was probably bipedal</a:t>
            </a:r>
          </a:p>
          <a:p>
            <a:pPr lvl="1"/>
            <a:r>
              <a:rPr lang="en-US" dirty="0"/>
              <a:t>Small </a:t>
            </a:r>
            <a:r>
              <a:rPr lang="en-US" dirty="0" smtClean="0"/>
              <a:t>brain, </a:t>
            </a:r>
            <a:r>
              <a:rPr lang="en-US" dirty="0"/>
              <a:t>but stone tools are like those of modern humans with larger brains</a:t>
            </a:r>
          </a:p>
          <a:p>
            <a:pPr lvl="1"/>
            <a:r>
              <a:rPr lang="en-US" dirty="0"/>
              <a:t>Debate: </a:t>
            </a:r>
            <a:r>
              <a:rPr lang="en-US" dirty="0" smtClean="0"/>
              <a:t>Separate </a:t>
            </a:r>
            <a:r>
              <a:rPr lang="en-US" dirty="0"/>
              <a:t>species or pathologically dwarfed modern </a:t>
            </a:r>
            <a:r>
              <a:rPr lang="en-US" dirty="0" smtClean="0"/>
              <a:t>human?</a:t>
            </a:r>
            <a:endParaRPr lang="en-US" dirty="0"/>
          </a:p>
          <a:p>
            <a:endParaRPr lang="en-US" dirty="0"/>
          </a:p>
        </p:txBody>
      </p:sp>
    </p:spTree>
    <p:extLst>
      <p:ext uri="{BB962C8B-B14F-4D97-AF65-F5344CB8AC3E}">
        <p14:creationId xmlns:p14="http://schemas.microsoft.com/office/powerpoint/2010/main" val="1027631968"/>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a:t>
            </a:r>
            <a:r>
              <a:rPr lang="en-US" dirty="0" err="1"/>
              <a:t>Hominins</a:t>
            </a:r>
            <a:r>
              <a:rPr lang="en-US" dirty="0"/>
              <a:t> </a:t>
            </a:r>
            <a:r>
              <a:rPr lang="en-US" sz="2800" dirty="0" smtClean="0"/>
              <a:t>(8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normAutofit/>
          </a:bodyPr>
          <a:lstStyle/>
          <a:p>
            <a:r>
              <a:rPr lang="en-US" dirty="0"/>
              <a:t>Archaic </a:t>
            </a:r>
            <a:r>
              <a:rPr lang="en-US" i="1" dirty="0"/>
              <a:t>Homo</a:t>
            </a:r>
            <a:r>
              <a:rPr lang="en-US" dirty="0"/>
              <a:t> </a:t>
            </a:r>
            <a:r>
              <a:rPr lang="en-US" dirty="0" smtClean="0"/>
              <a:t>Migration</a:t>
            </a:r>
          </a:p>
          <a:p>
            <a:pPr lvl="1"/>
            <a:r>
              <a:rPr lang="en-US" dirty="0"/>
              <a:t>Three major hypotheses exist for why archaic </a:t>
            </a:r>
            <a:r>
              <a:rPr lang="en-US" i="1" dirty="0"/>
              <a:t>Homo</a:t>
            </a:r>
            <a:r>
              <a:rPr lang="en-US" dirty="0"/>
              <a:t> left Africa</a:t>
            </a:r>
          </a:p>
          <a:p>
            <a:pPr lvl="2"/>
            <a:r>
              <a:rPr lang="en-US" dirty="0"/>
              <a:t>Had become meat-eaters and this preference led them to follow herds of animals out of Africa</a:t>
            </a:r>
          </a:p>
          <a:p>
            <a:pPr lvl="2"/>
            <a:r>
              <a:rPr lang="en-US" dirty="0"/>
              <a:t>Were attracted by the cool and arid northern climate</a:t>
            </a:r>
          </a:p>
          <a:p>
            <a:pPr lvl="2"/>
            <a:r>
              <a:rPr lang="en-US" dirty="0"/>
              <a:t>Were “natural” migrants</a:t>
            </a:r>
          </a:p>
          <a:p>
            <a:endParaRPr lang="en-US" dirty="0"/>
          </a:p>
        </p:txBody>
      </p:sp>
    </p:spTree>
    <p:extLst>
      <p:ext uri="{BB962C8B-B14F-4D97-AF65-F5344CB8AC3E}">
        <p14:creationId xmlns:p14="http://schemas.microsoft.com/office/powerpoint/2010/main" val="1728698040"/>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the country of Georgia shows Dmanasi near the border with Turkey and Armenia. Two inset maps locate Georgia between western Asia and eastern Europ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800" y="1600200"/>
            <a:ext cx="4496608" cy="4480316"/>
          </a:xfrm>
          <a:prstGeom prst="rect">
            <a:avLst/>
          </a:prstGeom>
        </p:spPr>
      </p:pic>
      <p:sp>
        <p:nvSpPr>
          <p:cNvPr id="3" name="Content Placeholder 2"/>
          <p:cNvSpPr>
            <a:spLocks noGrp="1"/>
          </p:cNvSpPr>
          <p:nvPr>
            <p:ph idx="1"/>
          </p:nvPr>
        </p:nvSpPr>
        <p:spPr>
          <a:xfrm>
            <a:off x="381000" y="1600200"/>
            <a:ext cx="3048000" cy="4525963"/>
          </a:xfrm>
        </p:spPr>
        <p:txBody>
          <a:bodyPr>
            <a:normAutofit fontScale="92500" lnSpcReduction="20000"/>
          </a:bodyPr>
          <a:lstStyle/>
          <a:p>
            <a:endParaRPr lang="en-US" dirty="0" smtClean="0"/>
          </a:p>
          <a:p>
            <a:r>
              <a:rPr lang="en-US" sz="3100" dirty="0" smtClean="0"/>
              <a:t>Earliest </a:t>
            </a:r>
            <a:r>
              <a:rPr lang="en-US" sz="3100" dirty="0"/>
              <a:t>fossil evidence of hominins outside  Africa comes from Dmanisi in the Caucasus region of Georgia </a:t>
            </a:r>
          </a:p>
          <a:p>
            <a:r>
              <a:rPr lang="en-US" sz="3100" dirty="0" smtClean="0"/>
              <a:t>1.7 </a:t>
            </a:r>
            <a:r>
              <a:rPr lang="en-US" sz="3100" dirty="0"/>
              <a:t>million years ago</a:t>
            </a:r>
          </a:p>
          <a:p>
            <a:endParaRPr lang="en-US" dirty="0"/>
          </a:p>
        </p:txBody>
      </p:sp>
      <p:sp>
        <p:nvSpPr>
          <p:cNvPr id="2" name="Title 1"/>
          <p:cNvSpPr>
            <a:spLocks noGrp="1"/>
          </p:cNvSpPr>
          <p:nvPr>
            <p:ph type="title"/>
          </p:nvPr>
        </p:nvSpPr>
        <p:spPr/>
        <p:txBody>
          <a:bodyPr/>
          <a:lstStyle/>
          <a:p>
            <a:pPr marL="0" indent="0"/>
            <a:r>
              <a:rPr lang="en-US" dirty="0"/>
              <a:t>Map 2. 4 </a:t>
            </a:r>
            <a:r>
              <a:rPr lang="en-US" dirty="0" err="1"/>
              <a:t>Dmanisi</a:t>
            </a:r>
            <a:r>
              <a:rPr lang="en-US" dirty="0"/>
              <a:t>, Georgia</a:t>
            </a:r>
          </a:p>
        </p:txBody>
      </p:sp>
    </p:spTree>
    <p:extLst>
      <p:ext uri="{BB962C8B-B14F-4D97-AF65-F5344CB8AC3E}">
        <p14:creationId xmlns:p14="http://schemas.microsoft.com/office/powerpoint/2010/main" val="646106550"/>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a:t>
            </a:r>
            <a:r>
              <a:rPr lang="en-US" dirty="0" err="1"/>
              <a:t>Hominins</a:t>
            </a:r>
            <a:r>
              <a:rPr lang="en-US" dirty="0"/>
              <a:t> </a:t>
            </a:r>
            <a:r>
              <a:rPr lang="en-US" sz="2800" dirty="0" smtClean="0"/>
              <a:t>(</a:t>
            </a:r>
            <a:r>
              <a:rPr lang="en-US" sz="2800" dirty="0"/>
              <a:t>9</a:t>
            </a:r>
            <a:r>
              <a:rPr lang="en-US" sz="2800" dirty="0" smtClean="0"/>
              <a:t>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normAutofit/>
          </a:bodyPr>
          <a:lstStyle/>
          <a:p>
            <a:r>
              <a:rPr lang="en-US" dirty="0" smtClean="0"/>
              <a:t>The Neanderthals</a:t>
            </a:r>
          </a:p>
          <a:p>
            <a:pPr lvl="1"/>
            <a:r>
              <a:rPr lang="en-US" i="1" dirty="0" smtClean="0"/>
              <a:t>Homo </a:t>
            </a:r>
            <a:r>
              <a:rPr lang="en-US" i="1" dirty="0"/>
              <a:t>neanderthalensis </a:t>
            </a:r>
            <a:r>
              <a:rPr lang="en-US" dirty="0"/>
              <a:t>was discovered in Germany</a:t>
            </a:r>
          </a:p>
          <a:p>
            <a:pPr lvl="1"/>
            <a:r>
              <a:rPr lang="en-US" dirty="0"/>
              <a:t>Known from over 100 sites spread across Europe, </a:t>
            </a:r>
            <a:r>
              <a:rPr lang="en-US" dirty="0" smtClean="0"/>
              <a:t>into </a:t>
            </a:r>
            <a:r>
              <a:rPr lang="en-US" dirty="0"/>
              <a:t>Israel and Iraq, and all the way to Siberia</a:t>
            </a:r>
          </a:p>
          <a:p>
            <a:pPr lvl="1"/>
            <a:r>
              <a:rPr lang="en-US" dirty="0"/>
              <a:t>Survived from 400,000 to 30,000 years ago</a:t>
            </a:r>
          </a:p>
          <a:p>
            <a:pPr lvl="1"/>
            <a:r>
              <a:rPr lang="en-US" dirty="0"/>
              <a:t>Compared </a:t>
            </a:r>
            <a:r>
              <a:rPr lang="en-US" dirty="0" smtClean="0"/>
              <a:t>with </a:t>
            </a:r>
            <a:r>
              <a:rPr lang="en-US" dirty="0"/>
              <a:t>modern humans, had heavier limb bones, larger brains, and distinctive facial skeletons</a:t>
            </a:r>
          </a:p>
          <a:p>
            <a:endParaRPr lang="en-US" dirty="0"/>
          </a:p>
        </p:txBody>
      </p:sp>
    </p:spTree>
    <p:extLst>
      <p:ext uri="{BB962C8B-B14F-4D97-AF65-F5344CB8AC3E}">
        <p14:creationId xmlns:p14="http://schemas.microsoft.com/office/powerpoint/2010/main" val="2199523120"/>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Hominins </a:t>
            </a:r>
            <a:r>
              <a:rPr lang="en-US" sz="2800" dirty="0"/>
              <a:t>(</a:t>
            </a:r>
            <a:r>
              <a:rPr lang="en-US" sz="2800" dirty="0" smtClean="0"/>
              <a:t>10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normAutofit fontScale="92500"/>
          </a:bodyPr>
          <a:lstStyle/>
          <a:p>
            <a:pPr lvl="1"/>
            <a:r>
              <a:rPr lang="en-US" dirty="0" smtClean="0"/>
              <a:t>Able </a:t>
            </a:r>
            <a:r>
              <a:rPr lang="en-US" dirty="0"/>
              <a:t>to tolerate the cold temperatures that affected Europe and Northern Asia</a:t>
            </a:r>
          </a:p>
          <a:p>
            <a:pPr lvl="1"/>
            <a:r>
              <a:rPr lang="en-US" dirty="0"/>
              <a:t>In addition to biological adaptations, also developed cultural adaptations to the cold, including clothing</a:t>
            </a:r>
          </a:p>
          <a:p>
            <a:pPr lvl="1"/>
            <a:r>
              <a:rPr lang="en-US" dirty="0"/>
              <a:t>Buried their dead and may have believed in an afterlife</a:t>
            </a:r>
          </a:p>
          <a:p>
            <a:pPr lvl="1"/>
            <a:r>
              <a:rPr lang="en-US" dirty="0"/>
              <a:t>Stone tool kit referred to as the Mousterian tradition: smaller, lighter, and more specialized flake tools</a:t>
            </a:r>
          </a:p>
          <a:p>
            <a:pPr lvl="1"/>
            <a:r>
              <a:rPr lang="en-US" dirty="0"/>
              <a:t>Had elements of expressive culture</a:t>
            </a:r>
          </a:p>
          <a:p>
            <a:endParaRPr lang="en-US" dirty="0"/>
          </a:p>
        </p:txBody>
      </p:sp>
    </p:spTree>
    <p:extLst>
      <p:ext uri="{BB962C8B-B14F-4D97-AF65-F5344CB8AC3E}">
        <p14:creationId xmlns:p14="http://schemas.microsoft.com/office/powerpoint/2010/main" val="3633874077"/>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Hominins </a:t>
            </a:r>
            <a:r>
              <a:rPr lang="en-US" sz="2800" dirty="0"/>
              <a:t>(</a:t>
            </a:r>
            <a:r>
              <a:rPr lang="en-US" sz="2800" dirty="0" smtClean="0"/>
              <a:t>11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lstStyle/>
          <a:p>
            <a:r>
              <a:rPr lang="en-US" dirty="0" smtClean="0"/>
              <a:t>The Neanderthals, debates</a:t>
            </a:r>
            <a:r>
              <a:rPr lang="en-US" dirty="0"/>
              <a:t>:</a:t>
            </a:r>
          </a:p>
          <a:p>
            <a:pPr lvl="1"/>
            <a:r>
              <a:rPr lang="en-US" dirty="0"/>
              <a:t>Did they have the capacity for verbal language?</a:t>
            </a:r>
          </a:p>
          <a:p>
            <a:pPr lvl="1"/>
            <a:r>
              <a:rPr lang="en-US" dirty="0"/>
              <a:t>Did they go extinct or did they interbreed with modern humans? </a:t>
            </a:r>
          </a:p>
          <a:p>
            <a:pPr lvl="2"/>
            <a:r>
              <a:rPr lang="en-US" dirty="0"/>
              <a:t>Findings in 2010 indicate they did interbreed and that a small percentage of Europeans and Asians carry Neanderthal genetic material </a:t>
            </a:r>
          </a:p>
          <a:p>
            <a:endParaRPr lang="en-US" dirty="0"/>
          </a:p>
        </p:txBody>
      </p:sp>
    </p:spTree>
    <p:extLst>
      <p:ext uri="{BB962C8B-B14F-4D97-AF65-F5344CB8AC3E}">
        <p14:creationId xmlns:p14="http://schemas.microsoft.com/office/powerpoint/2010/main" val="599032871"/>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roughly head-shaped stone sculpture shows ridges and indents resembling a face with eyes, nose, and cheeks. A callout pointing to an eye socket states, “Animal bone wedged in hole by flint flakes.” A callout pointing to features at the top of the sculpture states, “Flint worked to improve its likeness to a face.” The stone is 10.5 centimeters wid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800" y="1600200"/>
            <a:ext cx="4695250" cy="4495800"/>
          </a:xfrm>
          <a:prstGeom prst="rect">
            <a:avLst/>
          </a:prstGeom>
        </p:spPr>
      </p:pic>
      <p:sp>
        <p:nvSpPr>
          <p:cNvPr id="3" name="Content Placeholder 2"/>
          <p:cNvSpPr>
            <a:spLocks noGrp="1"/>
          </p:cNvSpPr>
          <p:nvPr>
            <p:ph idx="1"/>
          </p:nvPr>
        </p:nvSpPr>
        <p:spPr>
          <a:xfrm>
            <a:off x="457200" y="1600200"/>
            <a:ext cx="2667000" cy="4572000"/>
          </a:xfrm>
        </p:spPr>
        <p:txBody>
          <a:bodyPr/>
          <a:lstStyle/>
          <a:p>
            <a:pPr marL="0" indent="0">
              <a:buNone/>
            </a:pPr>
            <a:endParaRPr lang="en-US" sz="2400" dirty="0" smtClean="0"/>
          </a:p>
          <a:p>
            <a:r>
              <a:rPr lang="en-US" sz="2400" dirty="0" smtClean="0"/>
              <a:t>Neanderthal expressive culture: “face”</a:t>
            </a:r>
            <a:r>
              <a:rPr lang="en-US" sz="2400" dirty="0"/>
              <a:t> </a:t>
            </a:r>
            <a:r>
              <a:rPr lang="en-US" sz="2400" dirty="0" smtClean="0"/>
              <a:t>in worked flint</a:t>
            </a:r>
          </a:p>
        </p:txBody>
      </p:sp>
      <p:sp>
        <p:nvSpPr>
          <p:cNvPr id="2" name="Title 1"/>
          <p:cNvSpPr>
            <a:spLocks noGrp="1"/>
          </p:cNvSpPr>
          <p:nvPr>
            <p:ph type="title"/>
          </p:nvPr>
        </p:nvSpPr>
        <p:spPr/>
        <p:txBody>
          <a:bodyPr>
            <a:noAutofit/>
          </a:bodyPr>
          <a:lstStyle/>
          <a:p>
            <a:pPr marL="0" indent="0"/>
            <a:r>
              <a:rPr lang="en-US" sz="3600" dirty="0"/>
              <a:t>Figure 2.4 Worked Flint Found by </a:t>
            </a:r>
            <a:r>
              <a:rPr lang="en-US" sz="3600" dirty="0" smtClean="0"/>
              <a:t/>
            </a:r>
            <a:br>
              <a:rPr lang="en-US" sz="3600" dirty="0" smtClean="0"/>
            </a:br>
            <a:r>
              <a:rPr lang="en-US" sz="3600" dirty="0" smtClean="0"/>
              <a:t>the </a:t>
            </a:r>
            <a:r>
              <a:rPr lang="en-US" sz="3600" dirty="0"/>
              <a:t>Loire River in Northern France</a:t>
            </a:r>
          </a:p>
        </p:txBody>
      </p:sp>
    </p:spTree>
    <p:extLst>
      <p:ext uri="{BB962C8B-B14F-4D97-AF65-F5344CB8AC3E}">
        <p14:creationId xmlns:p14="http://schemas.microsoft.com/office/powerpoint/2010/main" val="502246815"/>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Hominins </a:t>
            </a:r>
            <a:r>
              <a:rPr lang="en-US" sz="2800" dirty="0"/>
              <a:t>(</a:t>
            </a:r>
            <a:r>
              <a:rPr lang="en-US" sz="2800" dirty="0" smtClean="0"/>
              <a:t>12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lstStyle/>
          <a:p>
            <a:r>
              <a:rPr lang="en-US" dirty="0"/>
              <a:t>Neanderthals survived in a cold climate for many thousands of years through biological and cultural adaptations</a:t>
            </a:r>
          </a:p>
          <a:p>
            <a:r>
              <a:rPr lang="en-US" dirty="0"/>
              <a:t>With their Mousterian toolkit were able to make “simple” clothing  </a:t>
            </a:r>
          </a:p>
          <a:p>
            <a:r>
              <a:rPr lang="en-US" dirty="0"/>
              <a:t>One theory about their extinction: </a:t>
            </a:r>
            <a:r>
              <a:rPr lang="en-US" dirty="0" smtClean="0"/>
              <a:t>Their </a:t>
            </a:r>
            <a:r>
              <a:rPr lang="en-US" dirty="0"/>
              <a:t>simple clothing could not protect them against spikes of extreme cold weather</a:t>
            </a:r>
          </a:p>
          <a:p>
            <a:endParaRPr lang="en-US" dirty="0"/>
          </a:p>
        </p:txBody>
      </p:sp>
    </p:spTree>
    <p:extLst>
      <p:ext uri="{BB962C8B-B14F-4D97-AF65-F5344CB8AC3E}">
        <p14:creationId xmlns:p14="http://schemas.microsoft.com/office/powerpoint/2010/main" val="1267072657"/>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Early Hominins </a:t>
            </a:r>
            <a:r>
              <a:rPr lang="en-US" sz="2800" dirty="0"/>
              <a:t>(</a:t>
            </a:r>
            <a:r>
              <a:rPr lang="en-US" sz="2800" dirty="0" smtClean="0"/>
              <a:t>13 </a:t>
            </a:r>
            <a:r>
              <a:rPr lang="en-US" sz="2800" dirty="0"/>
              <a:t>of </a:t>
            </a:r>
            <a:r>
              <a:rPr lang="en-US" sz="2800" dirty="0" smtClean="0"/>
              <a:t>13)</a:t>
            </a:r>
            <a:endParaRPr lang="en-US" sz="2800" dirty="0"/>
          </a:p>
        </p:txBody>
      </p:sp>
      <p:sp>
        <p:nvSpPr>
          <p:cNvPr id="3" name="Content Placeholder 2"/>
          <p:cNvSpPr>
            <a:spLocks noGrp="1"/>
          </p:cNvSpPr>
          <p:nvPr>
            <p:ph idx="1"/>
          </p:nvPr>
        </p:nvSpPr>
        <p:spPr/>
        <p:txBody>
          <a:bodyPr>
            <a:normAutofit/>
          </a:bodyPr>
          <a:lstStyle/>
          <a:p>
            <a:r>
              <a:rPr lang="en-US" dirty="0"/>
              <a:t>Modern humans lacked Neanderthals’ biological adaptations to cold, but they developed technology to produce “complex” clothing </a:t>
            </a:r>
          </a:p>
          <a:p>
            <a:r>
              <a:rPr lang="en-US" dirty="0"/>
              <a:t>Food for Thought:</a:t>
            </a:r>
          </a:p>
          <a:p>
            <a:pPr lvl="1"/>
            <a:r>
              <a:rPr lang="en-US" dirty="0"/>
              <a:t>What is your experience, in extremely cold weather, with the effectiveness of close-fitting and layered clothing versus loose-fitting and nonlayered clothing?</a:t>
            </a:r>
          </a:p>
        </p:txBody>
      </p:sp>
    </p:spTree>
    <p:extLst>
      <p:ext uri="{BB962C8B-B14F-4D97-AF65-F5344CB8AC3E}">
        <p14:creationId xmlns:p14="http://schemas.microsoft.com/office/powerpoint/2010/main" val="129529411"/>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Modern Humans </a:t>
            </a:r>
            <a:r>
              <a:rPr lang="en-US" sz="2800" dirty="0" smtClean="0"/>
              <a:t>(1 of 7)</a:t>
            </a:r>
            <a:endParaRPr lang="en-US" sz="2800" dirty="0"/>
          </a:p>
        </p:txBody>
      </p:sp>
      <p:sp>
        <p:nvSpPr>
          <p:cNvPr id="3" name="Content Placeholder 2"/>
          <p:cNvSpPr>
            <a:spLocks noGrp="1"/>
          </p:cNvSpPr>
          <p:nvPr>
            <p:ph idx="1"/>
          </p:nvPr>
        </p:nvSpPr>
        <p:spPr/>
        <p:txBody>
          <a:bodyPr>
            <a:normAutofit lnSpcReduction="10000"/>
          </a:bodyPr>
          <a:lstStyle/>
          <a:p>
            <a:r>
              <a:rPr lang="en-US" dirty="0"/>
              <a:t>Anatomically modern humans (AMH) </a:t>
            </a:r>
          </a:p>
          <a:p>
            <a:pPr lvl="1"/>
            <a:r>
              <a:rPr lang="en-US" i="1" dirty="0"/>
              <a:t>Homo sapiens</a:t>
            </a:r>
            <a:r>
              <a:rPr lang="en-US" dirty="0"/>
              <a:t>, the species to which modern humans belong</a:t>
            </a:r>
          </a:p>
          <a:p>
            <a:r>
              <a:rPr lang="en-US" dirty="0"/>
              <a:t>Significant morphological changes</a:t>
            </a:r>
          </a:p>
          <a:p>
            <a:pPr lvl="1"/>
            <a:r>
              <a:rPr lang="en-US" dirty="0"/>
              <a:t>Steeper foreheads with smaller brow ridges</a:t>
            </a:r>
          </a:p>
          <a:p>
            <a:pPr lvl="1"/>
            <a:r>
              <a:rPr lang="en-US" dirty="0"/>
              <a:t>Smaller faces</a:t>
            </a:r>
          </a:p>
          <a:p>
            <a:pPr lvl="1"/>
            <a:r>
              <a:rPr lang="en-US" dirty="0"/>
              <a:t>Smaller incisor teeth</a:t>
            </a:r>
          </a:p>
          <a:p>
            <a:pPr lvl="1"/>
            <a:r>
              <a:rPr lang="en-US" dirty="0"/>
              <a:t>Thinner limb bones</a:t>
            </a:r>
          </a:p>
          <a:p>
            <a:r>
              <a:rPr lang="en-US" dirty="0"/>
              <a:t>More elaborate and complex culture </a:t>
            </a:r>
          </a:p>
          <a:p>
            <a:endParaRPr lang="en-US" dirty="0"/>
          </a:p>
        </p:txBody>
      </p:sp>
    </p:spTree>
    <p:extLst>
      <p:ext uri="{BB962C8B-B14F-4D97-AF65-F5344CB8AC3E}">
        <p14:creationId xmlns:p14="http://schemas.microsoft.com/office/powerpoint/2010/main" val="3074119933"/>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Humans </a:t>
            </a:r>
            <a:r>
              <a:rPr lang="en-US" sz="2800" dirty="0" smtClean="0"/>
              <a:t>(2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lstStyle/>
          <a:p>
            <a:r>
              <a:rPr lang="en-US" dirty="0"/>
              <a:t>Earliest fossil evidence from a site in Ethiopia from 160,000 years ago</a:t>
            </a:r>
          </a:p>
          <a:p>
            <a:r>
              <a:rPr lang="en-US" dirty="0"/>
              <a:t>Modern tools found in African sites dated to 300,000 years ago</a:t>
            </a:r>
          </a:p>
          <a:p>
            <a:r>
              <a:rPr lang="en-US" dirty="0"/>
              <a:t>Genetic analysis: </a:t>
            </a:r>
            <a:r>
              <a:rPr lang="en-US" dirty="0" smtClean="0"/>
              <a:t>All </a:t>
            </a:r>
            <a:r>
              <a:rPr lang="en-US" dirty="0"/>
              <a:t>modern humans are descended from a common ancestral population that lived in Africa at least 200,000 years ago</a:t>
            </a:r>
          </a:p>
          <a:p>
            <a:endParaRPr lang="en-US" dirty="0"/>
          </a:p>
        </p:txBody>
      </p:sp>
    </p:spTree>
    <p:extLst>
      <p:ext uri="{BB962C8B-B14F-4D97-AF65-F5344CB8AC3E}">
        <p14:creationId xmlns:p14="http://schemas.microsoft.com/office/powerpoint/2010/main" val="554025387"/>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Humans </a:t>
            </a:r>
            <a:r>
              <a:rPr lang="en-US" sz="2800" dirty="0" smtClean="0"/>
              <a:t>(3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normAutofit/>
          </a:bodyPr>
          <a:lstStyle/>
          <a:p>
            <a:r>
              <a:rPr lang="en-US" dirty="0" smtClean="0"/>
              <a:t>The Upper Paleolithic</a:t>
            </a:r>
          </a:p>
          <a:p>
            <a:pPr lvl="1"/>
            <a:r>
              <a:rPr lang="en-US" dirty="0" smtClean="0"/>
              <a:t>The </a:t>
            </a:r>
            <a:r>
              <a:rPr lang="en-US" dirty="0"/>
              <a:t>period of modern human occupation in Europe and Eurasia 45,000 to 12,000 years ago</a:t>
            </a:r>
          </a:p>
          <a:p>
            <a:pPr lvl="1"/>
            <a:r>
              <a:rPr lang="en-US" dirty="0"/>
              <a:t>Technology included microliths and other small, finely made stone and bone tools, nets, and baskets</a:t>
            </a:r>
          </a:p>
          <a:p>
            <a:pPr lvl="1"/>
            <a:r>
              <a:rPr lang="en-US" dirty="0"/>
              <a:t>A period of rapidly increasing cultural complexity, referred to as a cultural revolution or “Golden </a:t>
            </a:r>
            <a:r>
              <a:rPr lang="en-US" dirty="0" smtClean="0"/>
              <a:t>Age”</a:t>
            </a:r>
            <a:endParaRPr lang="en-US" dirty="0"/>
          </a:p>
          <a:p>
            <a:endParaRPr lang="en-US" dirty="0"/>
          </a:p>
        </p:txBody>
      </p:sp>
    </p:spTree>
    <p:extLst>
      <p:ext uri="{BB962C8B-B14F-4D97-AF65-F5344CB8AC3E}">
        <p14:creationId xmlns:p14="http://schemas.microsoft.com/office/powerpoint/2010/main" val="1440788923"/>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Humans </a:t>
            </a:r>
            <a:r>
              <a:rPr lang="en-US" sz="2800" dirty="0" smtClean="0"/>
              <a:t>(4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normAutofit/>
          </a:bodyPr>
          <a:lstStyle/>
          <a:p>
            <a:r>
              <a:rPr lang="en-US" dirty="0" smtClean="0"/>
              <a:t>Cro-Magnon People</a:t>
            </a:r>
          </a:p>
          <a:p>
            <a:pPr lvl="1"/>
            <a:r>
              <a:rPr lang="en-US" dirty="0" smtClean="0"/>
              <a:t>Archaeologists </a:t>
            </a:r>
            <a:r>
              <a:rPr lang="en-US" dirty="0"/>
              <a:t>first discovered fossil evidence for modern humans at Cro-Magnon, a rock shelter site in Les Eyzies, France</a:t>
            </a:r>
          </a:p>
          <a:p>
            <a:pPr lvl="1"/>
            <a:r>
              <a:rPr lang="en-US" dirty="0"/>
              <a:t>The Cro-Magnon people arrived in Europe around 40,000 years ago</a:t>
            </a:r>
          </a:p>
          <a:p>
            <a:pPr lvl="1"/>
            <a:r>
              <a:rPr lang="en-US" dirty="0"/>
              <a:t>An impressive legacy of cave art and portable art</a:t>
            </a:r>
          </a:p>
          <a:p>
            <a:pPr lvl="1"/>
            <a:r>
              <a:rPr lang="en-US" dirty="0"/>
              <a:t>May have had verbal language</a:t>
            </a:r>
          </a:p>
          <a:p>
            <a:endParaRPr lang="en-US" dirty="0"/>
          </a:p>
        </p:txBody>
      </p:sp>
    </p:spTree>
    <p:extLst>
      <p:ext uri="{BB962C8B-B14F-4D97-AF65-F5344CB8AC3E}">
        <p14:creationId xmlns:p14="http://schemas.microsoft.com/office/powerpoint/2010/main" val="1512929905"/>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western Europe shows the Upper Paleolithic sites of Les Eyzies, Lascaux, Chauvet, and La Magdeleine in the region of southern France. An inset globe shows western Europe is north of Afric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7400" y="1447800"/>
            <a:ext cx="4588625" cy="4572000"/>
          </a:xfrm>
          <a:prstGeom prst="rect">
            <a:avLst/>
          </a:prstGeom>
        </p:spPr>
      </p:pic>
      <p:sp>
        <p:nvSpPr>
          <p:cNvPr id="2" name="Title 1"/>
          <p:cNvSpPr>
            <a:spLocks noGrp="1"/>
          </p:cNvSpPr>
          <p:nvPr>
            <p:ph type="title"/>
          </p:nvPr>
        </p:nvSpPr>
        <p:spPr/>
        <p:txBody>
          <a:bodyPr>
            <a:normAutofit/>
          </a:bodyPr>
          <a:lstStyle/>
          <a:p>
            <a:pPr marL="0" indent="0"/>
            <a:r>
              <a:rPr lang="en-US" sz="3600" dirty="0"/>
              <a:t>Map 2.7 Upper Paleolithic Sites in Europe</a:t>
            </a:r>
          </a:p>
        </p:txBody>
      </p:sp>
    </p:spTree>
    <p:extLst>
      <p:ext uri="{BB962C8B-B14F-4D97-AF65-F5344CB8AC3E}">
        <p14:creationId xmlns:p14="http://schemas.microsoft.com/office/powerpoint/2010/main" val="2532364978"/>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Humans </a:t>
            </a:r>
            <a:r>
              <a:rPr lang="en-US" sz="2800" dirty="0" smtClean="0"/>
              <a:t>(5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lstStyle/>
          <a:p>
            <a:r>
              <a:rPr lang="en-US" dirty="0" smtClean="0"/>
              <a:t>Modern Human Migrations into the New World</a:t>
            </a:r>
          </a:p>
          <a:p>
            <a:pPr lvl="1"/>
            <a:r>
              <a:rPr lang="en-US" dirty="0" smtClean="0"/>
              <a:t>Modern </a:t>
            </a:r>
            <a:r>
              <a:rPr lang="en-US" dirty="0"/>
              <a:t>humans began migrating from Siberia to present-day Alaska 30,000 years ago</a:t>
            </a:r>
          </a:p>
          <a:p>
            <a:pPr lvl="1"/>
            <a:r>
              <a:rPr lang="en-US" dirty="0"/>
              <a:t>Within a few thousand years had migrated throughout most of North America and into Central and South </a:t>
            </a:r>
            <a:r>
              <a:rPr lang="en-US" dirty="0" smtClean="0"/>
              <a:t>America</a:t>
            </a:r>
          </a:p>
          <a:p>
            <a:pPr lvl="1"/>
            <a:r>
              <a:rPr lang="en-US" dirty="0" smtClean="0"/>
              <a:t>An alternate theory proposes Europe as a source of migration</a:t>
            </a:r>
            <a:endParaRPr lang="en-US" dirty="0"/>
          </a:p>
          <a:p>
            <a:endParaRPr lang="en-US" dirty="0"/>
          </a:p>
        </p:txBody>
      </p:sp>
    </p:spTree>
    <p:extLst>
      <p:ext uri="{BB962C8B-B14F-4D97-AF65-F5344CB8AC3E}">
        <p14:creationId xmlns:p14="http://schemas.microsoft.com/office/powerpoint/2010/main" val="2260202679"/>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Humans </a:t>
            </a:r>
            <a:r>
              <a:rPr lang="en-US" sz="2800" dirty="0" smtClean="0"/>
              <a:t>(6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lstStyle/>
          <a:p>
            <a:r>
              <a:rPr lang="en-US" dirty="0" smtClean="0"/>
              <a:t>The Clovis People</a:t>
            </a:r>
          </a:p>
          <a:p>
            <a:pPr lvl="1"/>
            <a:r>
              <a:rPr lang="en-US" dirty="0" smtClean="0"/>
              <a:t>Based </a:t>
            </a:r>
            <a:r>
              <a:rPr lang="en-US" dirty="0"/>
              <a:t>on archaeological </a:t>
            </a:r>
            <a:r>
              <a:rPr lang="en-US" dirty="0" smtClean="0"/>
              <a:t>evidence, </a:t>
            </a:r>
            <a:r>
              <a:rPr lang="en-US" dirty="0"/>
              <a:t>the first modern humans in the New World</a:t>
            </a:r>
          </a:p>
          <a:p>
            <a:pPr lvl="1"/>
            <a:r>
              <a:rPr lang="en-US" dirty="0"/>
              <a:t>Characterized by the Clovis point, which is bifacial and fluted</a:t>
            </a:r>
          </a:p>
          <a:p>
            <a:pPr lvl="1"/>
            <a:r>
              <a:rPr lang="en-US" dirty="0"/>
              <a:t>Oldest sites are dated to 11,000 years ago</a:t>
            </a:r>
          </a:p>
          <a:p>
            <a:pPr lvl="1"/>
            <a:r>
              <a:rPr lang="en-US" dirty="0"/>
              <a:t>Clovis culture was short-lived</a:t>
            </a:r>
          </a:p>
          <a:p>
            <a:endParaRPr lang="en-US" dirty="0"/>
          </a:p>
        </p:txBody>
      </p:sp>
    </p:spTree>
    <p:extLst>
      <p:ext uri="{BB962C8B-B14F-4D97-AF65-F5344CB8AC3E}">
        <p14:creationId xmlns:p14="http://schemas.microsoft.com/office/powerpoint/2010/main" val="3569134684"/>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Humans </a:t>
            </a:r>
            <a:r>
              <a:rPr lang="en-US" sz="2800" dirty="0" smtClean="0"/>
              <a:t>(7 </a:t>
            </a:r>
            <a:r>
              <a:rPr lang="en-US" sz="2800" dirty="0"/>
              <a:t>of </a:t>
            </a:r>
            <a:r>
              <a:rPr lang="en-US" sz="2800" dirty="0" smtClean="0"/>
              <a:t>7)</a:t>
            </a:r>
            <a:endParaRPr lang="en-US" sz="2800" dirty="0"/>
          </a:p>
        </p:txBody>
      </p:sp>
      <p:sp>
        <p:nvSpPr>
          <p:cNvPr id="3" name="Content Placeholder 2"/>
          <p:cNvSpPr>
            <a:spLocks noGrp="1"/>
          </p:cNvSpPr>
          <p:nvPr>
            <p:ph idx="1"/>
          </p:nvPr>
        </p:nvSpPr>
        <p:spPr/>
        <p:txBody>
          <a:bodyPr>
            <a:normAutofit/>
          </a:bodyPr>
          <a:lstStyle/>
          <a:p>
            <a:r>
              <a:rPr lang="en-US" dirty="0" smtClean="0"/>
              <a:t>Pre-Clovis Sites</a:t>
            </a:r>
          </a:p>
          <a:p>
            <a:pPr lvl="1"/>
            <a:r>
              <a:rPr lang="en-US" dirty="0" smtClean="0"/>
              <a:t>Recent </a:t>
            </a:r>
            <a:r>
              <a:rPr lang="en-US" dirty="0"/>
              <a:t>claims for pre-Clovis sites indicate a human presence in South America 12,500 years ago</a:t>
            </a:r>
          </a:p>
          <a:p>
            <a:pPr lvl="1"/>
            <a:r>
              <a:rPr lang="en-US" dirty="0"/>
              <a:t>Monte Verde, </a:t>
            </a:r>
            <a:r>
              <a:rPr lang="en-US" dirty="0" smtClean="0"/>
              <a:t>Chile, </a:t>
            </a:r>
            <a:r>
              <a:rPr lang="en-US" dirty="0"/>
              <a:t>is the most definite of the possible pre-Clovis sites</a:t>
            </a:r>
          </a:p>
          <a:p>
            <a:pPr lvl="1"/>
            <a:r>
              <a:rPr lang="en-US" dirty="0"/>
              <a:t>Genetic data recovered in Oregon (Paisley Caves) proves the existence of modern humans in North America </a:t>
            </a:r>
            <a:r>
              <a:rPr lang="en-US" dirty="0" smtClean="0"/>
              <a:t>around 12,300 </a:t>
            </a:r>
            <a:r>
              <a:rPr lang="en-US" dirty="0"/>
              <a:t>years ago</a:t>
            </a:r>
          </a:p>
          <a:p>
            <a:endParaRPr lang="en-US" dirty="0"/>
          </a:p>
        </p:txBody>
      </p:sp>
    </p:spTree>
    <p:extLst>
      <p:ext uri="{BB962C8B-B14F-4D97-AF65-F5344CB8AC3E}">
        <p14:creationId xmlns:p14="http://schemas.microsoft.com/office/powerpoint/2010/main" val="2919722831"/>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shows the archaeological sites of Paisley Caves, Clovis, and Cahokia in North America and Moche, Cuzco, and Monte Verde in South America. An inset globe shows the Americas between the Atlantic and Pacific Ocean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4600" y="1447800"/>
            <a:ext cx="3819864" cy="4876800"/>
          </a:xfrm>
          <a:prstGeom prst="rect">
            <a:avLst/>
          </a:prstGeom>
        </p:spPr>
      </p:pic>
      <p:sp>
        <p:nvSpPr>
          <p:cNvPr id="2" name="Title 1"/>
          <p:cNvSpPr>
            <a:spLocks noGrp="1"/>
          </p:cNvSpPr>
          <p:nvPr>
            <p:ph type="title"/>
          </p:nvPr>
        </p:nvSpPr>
        <p:spPr/>
        <p:txBody>
          <a:bodyPr/>
          <a:lstStyle/>
          <a:p>
            <a:pPr marL="0" indent="0"/>
            <a:r>
              <a:rPr lang="en-US" dirty="0"/>
              <a:t>Map 2.8 New World Sites</a:t>
            </a:r>
          </a:p>
        </p:txBody>
      </p:sp>
    </p:spTree>
    <p:extLst>
      <p:ext uri="{BB962C8B-B14F-4D97-AF65-F5344CB8AC3E}">
        <p14:creationId xmlns:p14="http://schemas.microsoft.com/office/powerpoint/2010/main" val="3603396499"/>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US" sz="3200" dirty="0" smtClean="0"/>
              <a:t>The Neolithic Revolution and the Emergence </a:t>
            </a:r>
            <a:br>
              <a:rPr lang="en-US" sz="3200" dirty="0" smtClean="0"/>
            </a:br>
            <a:r>
              <a:rPr lang="en-US" sz="3200" dirty="0" smtClean="0"/>
              <a:t>of Cities and States </a:t>
            </a:r>
            <a:br>
              <a:rPr lang="en-US" sz="3200" dirty="0" smtClean="0"/>
            </a:br>
            <a:r>
              <a:rPr lang="en-US" sz="1800" dirty="0" smtClean="0"/>
              <a:t>2.3 Summarize how modern human culture has changed in the past 12,000 years.</a:t>
            </a:r>
            <a:endParaRPr lang="en-US" sz="1800" dirty="0"/>
          </a:p>
        </p:txBody>
      </p:sp>
      <p:sp>
        <p:nvSpPr>
          <p:cNvPr id="3" name="Content Placeholder 2"/>
          <p:cNvSpPr>
            <a:spLocks noGrp="1"/>
          </p:cNvSpPr>
          <p:nvPr>
            <p:ph idx="1"/>
          </p:nvPr>
        </p:nvSpPr>
        <p:spPr/>
        <p:txBody>
          <a:bodyPr/>
          <a:lstStyle/>
          <a:p>
            <a:endParaRPr lang="en-US" dirty="0" smtClean="0"/>
          </a:p>
          <a:p>
            <a:r>
              <a:rPr lang="en-US" dirty="0" smtClean="0"/>
              <a:t>The </a:t>
            </a:r>
            <a:r>
              <a:rPr lang="en-US" dirty="0"/>
              <a:t>Neolithic Revolution</a:t>
            </a:r>
          </a:p>
          <a:p>
            <a:endParaRPr lang="en-US" dirty="0" smtClean="0"/>
          </a:p>
          <a:p>
            <a:r>
              <a:rPr lang="en-US" dirty="0" smtClean="0"/>
              <a:t>Cities </a:t>
            </a:r>
            <a:r>
              <a:rPr lang="en-US" dirty="0"/>
              <a:t>and States</a:t>
            </a:r>
          </a:p>
          <a:p>
            <a:endParaRPr lang="en-US" dirty="0"/>
          </a:p>
        </p:txBody>
      </p:sp>
    </p:spTree>
    <p:extLst>
      <p:ext uri="{BB962C8B-B14F-4D97-AF65-F5344CB8AC3E}">
        <p14:creationId xmlns:p14="http://schemas.microsoft.com/office/powerpoint/2010/main" val="3578690263"/>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Neolithic Revolution </a:t>
            </a:r>
            <a:r>
              <a:rPr lang="en-US" sz="2800" dirty="0" smtClean="0"/>
              <a:t>(1 of 5)</a:t>
            </a:r>
            <a:endParaRPr lang="en-US" sz="2800" dirty="0"/>
          </a:p>
        </p:txBody>
      </p:sp>
      <p:sp>
        <p:nvSpPr>
          <p:cNvPr id="3" name="Content Placeholder 2"/>
          <p:cNvSpPr>
            <a:spLocks noGrp="1"/>
          </p:cNvSpPr>
          <p:nvPr>
            <p:ph idx="1"/>
          </p:nvPr>
        </p:nvSpPr>
        <p:spPr/>
        <p:txBody>
          <a:bodyPr/>
          <a:lstStyle/>
          <a:p>
            <a:r>
              <a:rPr lang="en-US" dirty="0"/>
              <a:t>A time of rapid transformation in technology related to plant and animal </a:t>
            </a:r>
            <a:r>
              <a:rPr lang="en-US" dirty="0" smtClean="0"/>
              <a:t>domestication</a:t>
            </a:r>
          </a:p>
          <a:p>
            <a:r>
              <a:rPr lang="en-US" dirty="0" smtClean="0"/>
              <a:t>Developed </a:t>
            </a:r>
            <a:r>
              <a:rPr lang="en-US" dirty="0"/>
              <a:t>tools such as sickle blades and grinding </a:t>
            </a:r>
            <a:r>
              <a:rPr lang="en-US" dirty="0" smtClean="0"/>
              <a:t>stones</a:t>
            </a:r>
          </a:p>
          <a:p>
            <a:r>
              <a:rPr lang="en-US" dirty="0" smtClean="0"/>
              <a:t>Began </a:t>
            </a:r>
            <a:r>
              <a:rPr lang="en-US" dirty="0"/>
              <a:t>in the Old World in Mesopotamia, especially the Fertile Crescent</a:t>
            </a:r>
          </a:p>
          <a:p>
            <a:endParaRPr lang="en-US" dirty="0"/>
          </a:p>
        </p:txBody>
      </p:sp>
    </p:spTree>
    <p:extLst>
      <p:ext uri="{BB962C8B-B14F-4D97-AF65-F5344CB8AC3E}">
        <p14:creationId xmlns:p14="http://schemas.microsoft.com/office/powerpoint/2010/main" val="287895934"/>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Mesopotamia shows the Neolithic sites of Abu Hureyra, Uruk, Ur, and Eridu on or near the Euphrates River, and Nineveh and Baghdad on the Tigris River. An inset globe shows Mesopotamia is in the Middle East.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2600" y="1524000"/>
            <a:ext cx="5472989" cy="4424079"/>
          </a:xfrm>
          <a:prstGeom prst="rect">
            <a:avLst/>
          </a:prstGeom>
        </p:spPr>
      </p:pic>
      <p:sp>
        <p:nvSpPr>
          <p:cNvPr id="2" name="Title 1"/>
          <p:cNvSpPr>
            <a:spLocks noGrp="1"/>
          </p:cNvSpPr>
          <p:nvPr>
            <p:ph type="title"/>
          </p:nvPr>
        </p:nvSpPr>
        <p:spPr/>
        <p:txBody>
          <a:bodyPr>
            <a:normAutofit/>
          </a:bodyPr>
          <a:lstStyle/>
          <a:p>
            <a:pPr marL="0" indent="0"/>
            <a:r>
              <a:rPr lang="en-US" sz="3600" dirty="0"/>
              <a:t>Map 2.10 Neolithic Sites in the Middle East</a:t>
            </a:r>
          </a:p>
        </p:txBody>
      </p:sp>
    </p:spTree>
    <p:extLst>
      <p:ext uri="{BB962C8B-B14F-4D97-AF65-F5344CB8AC3E}">
        <p14:creationId xmlns:p14="http://schemas.microsoft.com/office/powerpoint/2010/main" val="1060818862"/>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Neolithic Revolution </a:t>
            </a:r>
            <a:r>
              <a:rPr lang="en-US" sz="2800" dirty="0" smtClean="0"/>
              <a:t>(2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lstStyle/>
          <a:p>
            <a:r>
              <a:rPr lang="en-US" dirty="0" smtClean="0"/>
              <a:t>Abu Hureyra</a:t>
            </a:r>
          </a:p>
          <a:p>
            <a:pPr lvl="1"/>
            <a:r>
              <a:rPr lang="en-US" dirty="0" smtClean="0"/>
              <a:t>Neolithic </a:t>
            </a:r>
            <a:r>
              <a:rPr lang="en-US" dirty="0"/>
              <a:t>site located near the Euphrates</a:t>
            </a:r>
          </a:p>
          <a:p>
            <a:pPr lvl="1"/>
            <a:r>
              <a:rPr lang="en-US" dirty="0"/>
              <a:t>A tell: human-made mound resulting from the accumulation of successive generations</a:t>
            </a:r>
          </a:p>
          <a:p>
            <a:pPr lvl="1"/>
            <a:r>
              <a:rPr lang="en-US" dirty="0"/>
              <a:t>Occupied from 10,500 to 6000 </a:t>
            </a:r>
            <a:r>
              <a:rPr lang="en-US" cap="small" dirty="0"/>
              <a:t>BCE</a:t>
            </a:r>
          </a:p>
          <a:p>
            <a:pPr lvl="1"/>
            <a:r>
              <a:rPr lang="en-US" dirty="0"/>
              <a:t>Stratigraphy of the tell provides the story of change during the Neolithic</a:t>
            </a:r>
          </a:p>
          <a:p>
            <a:endParaRPr lang="en-US" dirty="0"/>
          </a:p>
        </p:txBody>
      </p:sp>
    </p:spTree>
    <p:extLst>
      <p:ext uri="{BB962C8B-B14F-4D97-AF65-F5344CB8AC3E}">
        <p14:creationId xmlns:p14="http://schemas.microsoft.com/office/powerpoint/2010/main" val="1405667082"/>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Neolithic Revolution </a:t>
            </a:r>
            <a:r>
              <a:rPr lang="en-US" sz="2800" dirty="0" smtClean="0"/>
              <a:t>(3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normAutofit/>
          </a:bodyPr>
          <a:lstStyle/>
          <a:p>
            <a:r>
              <a:rPr lang="en-US" dirty="0" smtClean="0"/>
              <a:t>The Neolithic in Europe</a:t>
            </a:r>
          </a:p>
          <a:p>
            <a:pPr lvl="1"/>
            <a:r>
              <a:rPr lang="en-US" dirty="0" smtClean="0"/>
              <a:t>In </a:t>
            </a:r>
            <a:r>
              <a:rPr lang="en-US" dirty="0"/>
              <a:t>Africa’s Sahel, the </a:t>
            </a:r>
            <a:r>
              <a:rPr lang="en-US" dirty="0" smtClean="0"/>
              <a:t>grassland </a:t>
            </a:r>
            <a:r>
              <a:rPr lang="en-US" dirty="0"/>
              <a:t>regions south of the Sahara desert, a different pattern of domesticates emerged</a:t>
            </a:r>
          </a:p>
          <a:p>
            <a:pPr lvl="1"/>
            <a:r>
              <a:rPr lang="en-US" dirty="0"/>
              <a:t>Foragers for thousands of years, combining fishing, hunting herd animals, and harvesting wild </a:t>
            </a:r>
            <a:r>
              <a:rPr lang="en-US" dirty="0" smtClean="0"/>
              <a:t>grasses</a:t>
            </a:r>
            <a:endParaRPr lang="en-US" dirty="0"/>
          </a:p>
          <a:p>
            <a:pPr lvl="1"/>
            <a:r>
              <a:rPr lang="en-US" dirty="0"/>
              <a:t>Domestication of cattle was the first step in the transition to the Neolithic in Africa</a:t>
            </a:r>
          </a:p>
          <a:p>
            <a:endParaRPr lang="en-US" dirty="0"/>
          </a:p>
        </p:txBody>
      </p:sp>
    </p:spTree>
    <p:extLst>
      <p:ext uri="{BB962C8B-B14F-4D97-AF65-F5344CB8AC3E}">
        <p14:creationId xmlns:p14="http://schemas.microsoft.com/office/powerpoint/2010/main" val="3158518188"/>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Neolithic Revolution </a:t>
            </a:r>
            <a:r>
              <a:rPr lang="en-US" sz="2800" dirty="0" smtClean="0"/>
              <a:t>(4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lstStyle/>
          <a:p>
            <a:r>
              <a:rPr lang="en-US" dirty="0" smtClean="0"/>
              <a:t>The Neolithic in Europe</a:t>
            </a:r>
          </a:p>
          <a:p>
            <a:pPr lvl="1"/>
            <a:r>
              <a:rPr lang="en-US" dirty="0" smtClean="0"/>
              <a:t>Relied </a:t>
            </a:r>
            <a:r>
              <a:rPr lang="en-US" dirty="0"/>
              <a:t>on the introduction of plant and animal domesticates from the Middle East</a:t>
            </a:r>
          </a:p>
          <a:p>
            <a:pPr lvl="1"/>
            <a:r>
              <a:rPr lang="en-US" dirty="0"/>
              <a:t>The first domesticates appeared in southeastern Europe around 6000 BCE</a:t>
            </a:r>
          </a:p>
          <a:p>
            <a:pPr lvl="1"/>
            <a:r>
              <a:rPr lang="en-US" dirty="0"/>
              <a:t>Archaeological evidence for the later Neolithic shows social status differences, group ceremonies and feasts, and religious sites</a:t>
            </a:r>
          </a:p>
          <a:p>
            <a:endParaRPr lang="en-US" dirty="0"/>
          </a:p>
        </p:txBody>
      </p:sp>
    </p:spTree>
    <p:extLst>
      <p:ext uri="{BB962C8B-B14F-4D97-AF65-F5344CB8AC3E}">
        <p14:creationId xmlns:p14="http://schemas.microsoft.com/office/powerpoint/2010/main" val="3985017506"/>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Neolithic Revolution </a:t>
            </a:r>
            <a:r>
              <a:rPr lang="en-US" sz="2800" dirty="0" smtClean="0"/>
              <a:t>(5 </a:t>
            </a:r>
            <a:r>
              <a:rPr lang="en-US" sz="2800" dirty="0"/>
              <a:t>of </a:t>
            </a:r>
            <a:r>
              <a:rPr lang="en-US" sz="2800" dirty="0" smtClean="0"/>
              <a:t>5)</a:t>
            </a:r>
            <a:endParaRPr lang="en-US" sz="2800" dirty="0"/>
          </a:p>
        </p:txBody>
      </p:sp>
      <p:sp>
        <p:nvSpPr>
          <p:cNvPr id="3" name="Content Placeholder 2"/>
          <p:cNvSpPr>
            <a:spLocks noGrp="1"/>
          </p:cNvSpPr>
          <p:nvPr>
            <p:ph idx="1"/>
          </p:nvPr>
        </p:nvSpPr>
        <p:spPr/>
        <p:txBody>
          <a:bodyPr>
            <a:normAutofit fontScale="92500" lnSpcReduction="20000"/>
          </a:bodyPr>
          <a:lstStyle/>
          <a:p>
            <a:r>
              <a:rPr lang="en-US" dirty="0" smtClean="0"/>
              <a:t>Domestication in the New World</a:t>
            </a:r>
          </a:p>
          <a:p>
            <a:r>
              <a:rPr lang="en-US" dirty="0" smtClean="0"/>
              <a:t>Began </a:t>
            </a:r>
            <a:r>
              <a:rPr lang="en-US" dirty="0"/>
              <a:t>in Middle </a:t>
            </a:r>
            <a:r>
              <a:rPr lang="en-US" dirty="0" smtClean="0"/>
              <a:t>America (or Mesoamerica)</a:t>
            </a:r>
            <a:endParaRPr lang="en-US" dirty="0"/>
          </a:p>
          <a:p>
            <a:r>
              <a:rPr lang="en-US" dirty="0"/>
              <a:t>Three distinguishing features:</a:t>
            </a:r>
          </a:p>
          <a:p>
            <a:pPr lvl="1"/>
            <a:r>
              <a:rPr lang="en-US" dirty="0"/>
              <a:t>The first experiments with domesticated plants took place before sedentism</a:t>
            </a:r>
          </a:p>
          <a:p>
            <a:pPr lvl="1"/>
            <a:r>
              <a:rPr lang="en-US" dirty="0"/>
              <a:t>The first domesticated plants were gourds, squash, beans, and maize, and the first animal domesticates were dogs, </a:t>
            </a:r>
            <a:r>
              <a:rPr lang="en-US" dirty="0" smtClean="0"/>
              <a:t>turkeys, </a:t>
            </a:r>
            <a:r>
              <a:rPr lang="en-US" dirty="0"/>
              <a:t>and honey bees</a:t>
            </a:r>
          </a:p>
          <a:p>
            <a:pPr lvl="1"/>
            <a:r>
              <a:rPr lang="en-US" dirty="0"/>
              <a:t>The transition to an entirely agricultural way of life was slower than in the Middle East, extending from 8000 </a:t>
            </a:r>
            <a:r>
              <a:rPr lang="en-US" dirty="0" smtClean="0"/>
              <a:t>to </a:t>
            </a:r>
            <a:r>
              <a:rPr lang="en-US" dirty="0"/>
              <a:t>2000 BCE</a:t>
            </a:r>
          </a:p>
          <a:p>
            <a:endParaRPr lang="en-US" dirty="0"/>
          </a:p>
        </p:txBody>
      </p:sp>
    </p:spTree>
    <p:extLst>
      <p:ext uri="{BB962C8B-B14F-4D97-AF65-F5344CB8AC3E}">
        <p14:creationId xmlns:p14="http://schemas.microsoft.com/office/powerpoint/2010/main" val="576162516"/>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Cities and States </a:t>
            </a:r>
            <a:r>
              <a:rPr lang="en-US" sz="2800" dirty="0" smtClean="0"/>
              <a:t>(1 of 4)</a:t>
            </a:r>
            <a:endParaRPr lang="en-US" sz="2800" dirty="0"/>
          </a:p>
        </p:txBody>
      </p:sp>
      <p:sp>
        <p:nvSpPr>
          <p:cNvPr id="3" name="Content Placeholder 2"/>
          <p:cNvSpPr>
            <a:spLocks noGrp="1"/>
          </p:cNvSpPr>
          <p:nvPr>
            <p:ph idx="1"/>
          </p:nvPr>
        </p:nvSpPr>
        <p:spPr/>
        <p:txBody>
          <a:bodyPr>
            <a:normAutofit lnSpcReduction="10000"/>
          </a:bodyPr>
          <a:lstStyle/>
          <a:p>
            <a:r>
              <a:rPr lang="en-US" dirty="0"/>
              <a:t>A city is distinguished by having</a:t>
            </a:r>
          </a:p>
          <a:p>
            <a:pPr lvl="1"/>
            <a:r>
              <a:rPr lang="en-US" dirty="0"/>
              <a:t>A larger population </a:t>
            </a:r>
            <a:r>
              <a:rPr lang="en-US" dirty="0" smtClean="0"/>
              <a:t>(more than 10,000 people)</a:t>
            </a:r>
            <a:endParaRPr lang="en-US" dirty="0"/>
          </a:p>
          <a:p>
            <a:pPr lvl="1"/>
            <a:r>
              <a:rPr lang="en-US" dirty="0"/>
              <a:t>More occupational specialization</a:t>
            </a:r>
          </a:p>
          <a:p>
            <a:pPr lvl="1"/>
            <a:r>
              <a:rPr lang="en-US" dirty="0"/>
              <a:t>More elaborate architecture</a:t>
            </a:r>
          </a:p>
          <a:p>
            <a:pPr lvl="1"/>
            <a:r>
              <a:rPr lang="en-US" dirty="0"/>
              <a:t>Central services</a:t>
            </a:r>
          </a:p>
          <a:p>
            <a:r>
              <a:rPr lang="en-US" dirty="0"/>
              <a:t>A state is a centralized political organization encompassing many communities</a:t>
            </a:r>
          </a:p>
          <a:p>
            <a:r>
              <a:rPr lang="en-US" dirty="0"/>
              <a:t>States have the power to levy taxes, keep the peace through the use of force, and wage war</a:t>
            </a:r>
          </a:p>
          <a:p>
            <a:endParaRPr lang="en-US" dirty="0"/>
          </a:p>
        </p:txBody>
      </p:sp>
    </p:spTree>
    <p:extLst>
      <p:ext uri="{BB962C8B-B14F-4D97-AF65-F5344CB8AC3E}">
        <p14:creationId xmlns:p14="http://schemas.microsoft.com/office/powerpoint/2010/main" val="1536580292"/>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Cities and States </a:t>
            </a:r>
            <a:r>
              <a:rPr lang="en-US" sz="2800" dirty="0" smtClean="0"/>
              <a:t>(2 of 4)</a:t>
            </a:r>
            <a:endParaRPr lang="en-US" sz="2800" dirty="0"/>
          </a:p>
        </p:txBody>
      </p:sp>
      <p:sp>
        <p:nvSpPr>
          <p:cNvPr id="3" name="Content Placeholder 2"/>
          <p:cNvSpPr>
            <a:spLocks noGrp="1"/>
          </p:cNvSpPr>
          <p:nvPr>
            <p:ph idx="1"/>
          </p:nvPr>
        </p:nvSpPr>
        <p:spPr/>
        <p:txBody>
          <a:bodyPr>
            <a:normAutofit/>
          </a:bodyPr>
          <a:lstStyle/>
          <a:p>
            <a:r>
              <a:rPr lang="en-US" dirty="0" smtClean="0"/>
              <a:t>Cities and States in the New World</a:t>
            </a:r>
          </a:p>
          <a:p>
            <a:pPr lvl="1"/>
            <a:r>
              <a:rPr lang="en-US" dirty="0" smtClean="0"/>
              <a:t>Formed </a:t>
            </a:r>
            <a:r>
              <a:rPr lang="en-US" dirty="0"/>
              <a:t>later than in the Old World</a:t>
            </a:r>
          </a:p>
          <a:p>
            <a:pPr lvl="1"/>
            <a:r>
              <a:rPr lang="en-US" dirty="0"/>
              <a:t>Though powerful and extensive, did not have writing</a:t>
            </a:r>
          </a:p>
          <a:p>
            <a:pPr lvl="1"/>
            <a:r>
              <a:rPr lang="en-US" dirty="0"/>
              <a:t>Had elaborately constructed capital cities, lavish political feasting, competitive sports, and wealth</a:t>
            </a:r>
          </a:p>
          <a:p>
            <a:pPr lvl="1"/>
            <a:r>
              <a:rPr lang="en-US" dirty="0"/>
              <a:t>Example: Moche civilization, emerged around </a:t>
            </a:r>
            <a:r>
              <a:rPr lang="en-US" dirty="0" smtClean="0"/>
              <a:t>  200 </a:t>
            </a:r>
            <a:r>
              <a:rPr lang="en-US" dirty="0"/>
              <a:t>BCE in Peru</a:t>
            </a:r>
          </a:p>
          <a:p>
            <a:endParaRPr lang="en-US" dirty="0"/>
          </a:p>
        </p:txBody>
      </p:sp>
    </p:spTree>
    <p:extLst>
      <p:ext uri="{BB962C8B-B14F-4D97-AF65-F5344CB8AC3E}">
        <p14:creationId xmlns:p14="http://schemas.microsoft.com/office/powerpoint/2010/main" val="2930377100"/>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Cities and States </a:t>
            </a:r>
            <a:r>
              <a:rPr lang="en-US" sz="2800" dirty="0" smtClean="0"/>
              <a:t>(3 of 4)</a:t>
            </a:r>
            <a:endParaRPr lang="en-US" sz="2800" dirty="0"/>
          </a:p>
        </p:txBody>
      </p:sp>
      <p:sp>
        <p:nvSpPr>
          <p:cNvPr id="3" name="Content Placeholder 2"/>
          <p:cNvSpPr>
            <a:spLocks noGrp="1"/>
          </p:cNvSpPr>
          <p:nvPr>
            <p:ph idx="1"/>
          </p:nvPr>
        </p:nvSpPr>
        <p:spPr/>
        <p:txBody>
          <a:bodyPr/>
          <a:lstStyle/>
          <a:p>
            <a:r>
              <a:rPr lang="en-US" dirty="0" smtClean="0"/>
              <a:t>Cities and States in North America</a:t>
            </a:r>
          </a:p>
          <a:p>
            <a:pPr lvl="1"/>
            <a:r>
              <a:rPr lang="en-US" dirty="0" smtClean="0"/>
              <a:t>Although </a:t>
            </a:r>
            <a:r>
              <a:rPr lang="en-US" dirty="0"/>
              <a:t>complex societies emerged, they did not develop state-level institutions but remained as complex chiefdoms</a:t>
            </a:r>
          </a:p>
          <a:p>
            <a:pPr lvl="1"/>
            <a:r>
              <a:rPr lang="en-US" dirty="0"/>
              <a:t>Mississippian cultures, dated to the </a:t>
            </a:r>
            <a:r>
              <a:rPr lang="en-US" dirty="0" smtClean="0"/>
              <a:t>first </a:t>
            </a:r>
            <a:r>
              <a:rPr lang="en-US" dirty="0"/>
              <a:t>century CE, developed important trade centers</a:t>
            </a:r>
          </a:p>
          <a:p>
            <a:pPr lvl="1"/>
            <a:r>
              <a:rPr lang="en-US" dirty="0"/>
              <a:t>Example: Cahokia</a:t>
            </a:r>
          </a:p>
          <a:p>
            <a:endParaRPr lang="en-US" dirty="0"/>
          </a:p>
        </p:txBody>
      </p:sp>
    </p:spTree>
    <p:extLst>
      <p:ext uri="{BB962C8B-B14F-4D97-AF65-F5344CB8AC3E}">
        <p14:creationId xmlns:p14="http://schemas.microsoft.com/office/powerpoint/2010/main" val="823506929"/>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Cities and States </a:t>
            </a:r>
            <a:r>
              <a:rPr lang="en-US" sz="2800" dirty="0" smtClean="0"/>
              <a:t>(4 of 4)</a:t>
            </a:r>
            <a:endParaRPr lang="en-US" sz="2800" dirty="0"/>
          </a:p>
        </p:txBody>
      </p:sp>
      <p:sp>
        <p:nvSpPr>
          <p:cNvPr id="3" name="Content Placeholder 2"/>
          <p:cNvSpPr>
            <a:spLocks noGrp="1"/>
          </p:cNvSpPr>
          <p:nvPr>
            <p:ph idx="1"/>
          </p:nvPr>
        </p:nvSpPr>
        <p:spPr/>
        <p:txBody>
          <a:bodyPr>
            <a:normAutofit lnSpcReduction="10000"/>
          </a:bodyPr>
          <a:lstStyle/>
          <a:p>
            <a:r>
              <a:rPr lang="en-US" dirty="0" smtClean="0"/>
              <a:t>Civilizations are not forever</a:t>
            </a:r>
          </a:p>
          <a:p>
            <a:pPr lvl="1"/>
            <a:r>
              <a:rPr lang="en-US" dirty="0" smtClean="0"/>
              <a:t>All </a:t>
            </a:r>
            <a:r>
              <a:rPr lang="en-US" dirty="0"/>
              <a:t>past states have gone through cycles of expansion and decline followed by the rise of new states</a:t>
            </a:r>
          </a:p>
          <a:p>
            <a:pPr lvl="1"/>
            <a:r>
              <a:rPr lang="en-US" dirty="0"/>
              <a:t>Why do states collapse?</a:t>
            </a:r>
          </a:p>
          <a:p>
            <a:pPr lvl="2"/>
            <a:r>
              <a:rPr lang="en-US" dirty="0"/>
              <a:t>Difficulty of maintaining territory and extreme social inequality of long periods</a:t>
            </a:r>
          </a:p>
          <a:p>
            <a:pPr lvl="2"/>
            <a:r>
              <a:rPr lang="en-US" dirty="0"/>
              <a:t>Environmental decline that accompanies state building and accumulation</a:t>
            </a:r>
          </a:p>
          <a:p>
            <a:pPr lvl="2"/>
            <a:r>
              <a:rPr lang="en-US" dirty="0"/>
              <a:t>Anthropogenic effects on the environment contributed to the collapse of many great and powerful civilizations</a:t>
            </a:r>
          </a:p>
          <a:p>
            <a:endParaRPr lang="en-US" dirty="0"/>
          </a:p>
        </p:txBody>
      </p:sp>
    </p:spTree>
    <p:extLst>
      <p:ext uri="{BB962C8B-B14F-4D97-AF65-F5344CB8AC3E}">
        <p14:creationId xmlns:p14="http://schemas.microsoft.com/office/powerpoint/2010/main" val="914660824"/>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301</TotalTime>
  <Words>2752</Words>
  <Application>Microsoft Macintosh PowerPoint</Application>
  <PresentationFormat>On-screen Show (4:3)</PresentationFormat>
  <Paragraphs>316</Paragraphs>
  <Slides>55</Slides>
  <Notes>6</Notes>
  <HiddenSlides>0</HiddenSlides>
  <MMClips>0</MMClips>
  <ScaleCrop>false</ScaleCrop>
  <HeadingPairs>
    <vt:vector size="4" baseType="variant">
      <vt:variant>
        <vt:lpstr>Theme</vt:lpstr>
      </vt:variant>
      <vt:variant>
        <vt:i4>2</vt:i4>
      </vt:variant>
      <vt:variant>
        <vt:lpstr>Slide Titles</vt:lpstr>
      </vt:variant>
      <vt:variant>
        <vt:i4>55</vt:i4>
      </vt:variant>
    </vt:vector>
  </HeadingPairs>
  <TitlesOfParts>
    <vt:vector size="57" baseType="lpstr">
      <vt:lpstr>Beebe8e_PPT_master</vt:lpstr>
      <vt:lpstr>Office Theme</vt:lpstr>
      <vt:lpstr>PowerPoint Presentation</vt:lpstr>
      <vt:lpstr>Learning Objectives</vt:lpstr>
      <vt:lpstr>Nonhuman Primates and the Roots of Human Culture 2.1 Identify what living nonhuman primates tell us about human culture.</vt:lpstr>
      <vt:lpstr>Primate Characteristics (1 of 5)</vt:lpstr>
      <vt:lpstr>Map 2.1 Where Nonhuman Primates Live Today</vt:lpstr>
      <vt:lpstr>Primate Characteristics (2 of 5)</vt:lpstr>
      <vt:lpstr>Primate Characteristics (3 of 5)</vt:lpstr>
      <vt:lpstr>Primate Characteristics (4 of 5)</vt:lpstr>
      <vt:lpstr>Primate Characteristics (5 of 5)</vt:lpstr>
      <vt:lpstr>The Great Apes (1 of 5)</vt:lpstr>
      <vt:lpstr>Figure 2.2 Brachiation in Action</vt:lpstr>
      <vt:lpstr>The Great Apes (2 of 5)</vt:lpstr>
      <vt:lpstr>The Great Apes (3 of 5)</vt:lpstr>
      <vt:lpstr>The Great Apes (4 of 5)</vt:lpstr>
      <vt:lpstr>The Great Apes (5 of 5)</vt:lpstr>
      <vt:lpstr>Nonhuman Primate Culture (1 of 2)</vt:lpstr>
      <vt:lpstr>Nonhuman Primate Culture (2 of 2)</vt:lpstr>
      <vt:lpstr>Anthropology Works:  Saving Orangutans</vt:lpstr>
      <vt:lpstr>Hominin Evolution to Modern Humans 2.2 Illustrate the role of culture during hominin evolution.</vt:lpstr>
      <vt:lpstr>The Early Hominins (1 of 13)</vt:lpstr>
      <vt:lpstr>The Early Hominins (2 of 13)</vt:lpstr>
      <vt:lpstr>Map 2.3 Sites of Early Hominins  and Archaic Homo in Africa</vt:lpstr>
      <vt:lpstr>The Early Hominins (3 of 13)</vt:lpstr>
      <vt:lpstr>The Early Hominins (4 of 13)</vt:lpstr>
      <vt:lpstr>The Early Hominins (5 of 13)</vt:lpstr>
      <vt:lpstr>The Early Hominins (6 of 13)</vt:lpstr>
      <vt:lpstr>The Early Hominins (7 of 13)</vt:lpstr>
      <vt:lpstr>The Early Hominins (8 of 13)</vt:lpstr>
      <vt:lpstr>Map 2. 4 Dmanisi, Georgia</vt:lpstr>
      <vt:lpstr>The Early Hominins (9 of 13)</vt:lpstr>
      <vt:lpstr>The Early Hominins (10 of 13)</vt:lpstr>
      <vt:lpstr>The Early Hominins (11 of 13)</vt:lpstr>
      <vt:lpstr>Figure 2.4 Worked Flint Found by  the Loire River in Northern France</vt:lpstr>
      <vt:lpstr>The Early Hominins (12 of 13)</vt:lpstr>
      <vt:lpstr>The Early Hominins (13 of 13)</vt:lpstr>
      <vt:lpstr>Modern Humans (1 of 7)</vt:lpstr>
      <vt:lpstr>Modern Humans (2 of 7)</vt:lpstr>
      <vt:lpstr>Modern Humans (3 of 7)</vt:lpstr>
      <vt:lpstr>Modern Humans (4 of 7)</vt:lpstr>
      <vt:lpstr>Map 2.7 Upper Paleolithic Sites in Europe</vt:lpstr>
      <vt:lpstr>Modern Humans (5 of 7)</vt:lpstr>
      <vt:lpstr>Modern Humans (6 of 7)</vt:lpstr>
      <vt:lpstr>Modern Humans (7 of 7)</vt:lpstr>
      <vt:lpstr>Map 2.8 New World Sites</vt:lpstr>
      <vt:lpstr>The Neolithic Revolution and the Emergence  of Cities and States  2.3 Summarize how modern human culture has changed in the past 12,000 years.</vt:lpstr>
      <vt:lpstr>The Neolithic Revolution (1 of 5)</vt:lpstr>
      <vt:lpstr>Map 2.10 Neolithic Sites in the Middle East</vt:lpstr>
      <vt:lpstr>The Neolithic Revolution (2 of 5)</vt:lpstr>
      <vt:lpstr>The Neolithic Revolution (3 of 5)</vt:lpstr>
      <vt:lpstr>The Neolithic Revolution (4 of 5)</vt:lpstr>
      <vt:lpstr>The Neolithic Revolution (5 of 5)</vt:lpstr>
      <vt:lpstr>Cities and States (1 of 4)</vt:lpstr>
      <vt:lpstr>Cities and States (2 of 4)</vt:lpstr>
      <vt:lpstr>Cities and States (3 of 4)</vt:lpstr>
      <vt:lpstr>Cities and States (4 of 4)</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39</cp:revision>
  <dcterms:created xsi:type="dcterms:W3CDTF">2015-09-18T14:54:36Z</dcterms:created>
  <dcterms:modified xsi:type="dcterms:W3CDTF">2016-04-05T22:03:14Z</dcterms:modified>
</cp:coreProperties>
</file>