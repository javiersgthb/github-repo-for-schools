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9144000"/>
  <p:notesSz cx="69850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0" name="Shape 11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7" name="Shape 11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Shape 13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hape 152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Shape 159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5" name="Shape 16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Shape 166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2" name="Shape 17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Shape 173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9" name="Shape 17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Shape 18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6" name="Shape 18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2" name="Shape 19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8" name="Shape 19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4" name="Shape 20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0" name="Shape 21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Relationship Id="rId3" Type="http://schemas.openxmlformats.org/officeDocument/2006/relationships/image" Target="../media/image0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hapter Open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x="93969" y="6622536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29" name="Shape 29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Shape 30"/>
          <p:cNvGrpSpPr/>
          <p:nvPr/>
        </p:nvGrpSpPr>
        <p:grpSpPr>
          <a:xfrm>
            <a:off x="33338" y="6400799"/>
            <a:ext cx="9156700" cy="465137"/>
            <a:chOff x="33338" y="6408737"/>
            <a:chExt cx="9156700" cy="465137"/>
          </a:xfrm>
        </p:grpSpPr>
        <p:pic>
          <p:nvPicPr>
            <p:cNvPr descr="Pearson: Always Learning Logo" id="31" name="Shape 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3338" y="6443662"/>
              <a:ext cx="1660525" cy="430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Shape 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Copyright 2015, 2012, 2009" id="33" name="Shape 33"/>
            <p:cNvSpPr txBox="1"/>
            <p:nvPr/>
          </p:nvSpPr>
          <p:spPr>
            <a:xfrm>
              <a:off x="14136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Learning Objectiv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80771" lvl="0" marL="118871" marR="0" rtl="0" algn="l">
              <a:spcBef>
                <a:spcPts val="1500"/>
              </a:spcBef>
              <a:buClr>
                <a:schemeClr val="lt1"/>
              </a:buClr>
              <a:buSzPct val="25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63512" lvl="1" marL="569913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/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53" name="Shape 53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+ Learning Objectives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Figure +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457200" y="5368160"/>
            <a:ext cx="8229600" cy="9168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67" name="Shape 67"/>
          <p:cNvSpPr/>
          <p:nvPr/>
        </p:nvSpPr>
        <p:spPr>
          <a:xfrm>
            <a:off x="-7937" y="6400800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Shape 68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69" name="Shape 69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70" name="Shape 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16002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2" type="body"/>
          </p:nvPr>
        </p:nvSpPr>
        <p:spPr>
          <a:xfrm>
            <a:off x="457200" y="39624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Shape 91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92" name="Shape 92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93" name="Shape 9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Shape 9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1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16" name="Shape 16"/>
          <p:cNvSpPr/>
          <p:nvPr/>
        </p:nvSpPr>
        <p:spPr>
          <a:xfrm>
            <a:off x="-7937" y="6407662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Shape 17"/>
          <p:cNvGrpSpPr/>
          <p:nvPr/>
        </p:nvGrpSpPr>
        <p:grpSpPr>
          <a:xfrm>
            <a:off x="93969" y="6380675"/>
            <a:ext cx="9096069" cy="463550"/>
            <a:chOff x="93969" y="6408737"/>
            <a:chExt cx="9096069" cy="463550"/>
          </a:xfrm>
        </p:grpSpPr>
        <p:sp>
          <p:nvSpPr>
            <p:cNvPr descr="Pearson: Copyright 2015, 2012, 2009" id="18" name="Shape 18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id="19" name="Shape 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Security:  Operations &amp; Management</a:t>
            </a: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477000" y="816429"/>
            <a:ext cx="2209799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baseline="3000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</a:p>
        </p:txBody>
      </p:sp>
      <p:sp>
        <p:nvSpPr>
          <p:cNvPr id="104" name="Shape 10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11</a:t>
            </a:r>
          </a:p>
        </p:txBody>
      </p:sp>
      <p:sp>
        <p:nvSpPr>
          <p:cNvPr id="105" name="Shape 10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Managing People &amp; Organizations</a:t>
            </a:r>
          </a:p>
        </p:txBody>
      </p:sp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283" y="1793173"/>
            <a:ext cx="3111707" cy="396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x="420329" y="228600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completing this chapter, the reader should be able to: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Explain the purpose of recruitment and selection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	Describe some of techniques used in the recruitment 	and selection process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	Define and explain negligent hiring &amp; retention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Understand the purpose and methods used in 	employee development and training programs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	Explain the purpose of employee performance 	appraisals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	Explain the difference between a policy and 	procedure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	Identify some of the key elements and issues related 	to scheduling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	Explain and describe plans, goals and objectives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	Distinguish between and explain the different types of 	plans used in organizations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	Discuss and explain budgeting and different types of 	budgets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important to understand what managers do…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core responsibilities of managers are reviewed in this chapter:</a:t>
            </a: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Personnel Recruitment &amp; Selection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4)</a:t>
            </a:r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Turnover: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Churn: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Personnel Recruitment &amp; Selection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4)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Recruitment: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Personnel selection: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Recruitment techniques: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Personnel Recruitment &amp; Selection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4)</a:t>
            </a:r>
          </a:p>
        </p:txBody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selection process: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Hiring off-duty police officers:</a:t>
            </a: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Personnel Recruitment &amp; Selection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of 4)</a:t>
            </a:r>
          </a:p>
        </p:txBody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Negligent hiring &amp; retention: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Negligent hiring: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Negligent retention: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Development &amp; Training</a:t>
            </a:r>
          </a:p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ways to improve employee performance: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Appraisal</a:t>
            </a:r>
          </a:p>
        </p:txBody>
      </p:sp>
      <p:sp>
        <p:nvSpPr>
          <p:cNvPr id="169" name="Shape 16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Promotions &amp; discipline: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Policies &amp; Procedures</a:t>
            </a:r>
          </a:p>
        </p:txBody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</a:p>
          <a:p>
            <a:pPr indent="-228600" lvl="8" marL="3886200" marR="0" rtl="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</a:t>
            </a:r>
          </a:p>
        </p:txBody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Introductions/Definitions: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Scheduling terms: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points: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3)</a:t>
            </a:r>
          </a:p>
        </p:txBody>
      </p:sp>
      <p:sp>
        <p:nvSpPr>
          <p:cNvPr id="189" name="Shape 18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3)</a:t>
            </a:r>
          </a:p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Plans: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Strategic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Tactical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Operational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Use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3)</a:t>
            </a:r>
          </a:p>
        </p:txBody>
      </p:sp>
      <p:sp>
        <p:nvSpPr>
          <p:cNvPr id="201" name="Shape 20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Measures: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performance measures?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standards: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 for measuring performance: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assurance:</a:t>
            </a: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 indent="-256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Budgeting</a:t>
            </a:r>
          </a:p>
        </p:txBody>
      </p:sp>
      <p:sp>
        <p:nvSpPr>
          <p:cNvPr id="207" name="Shape 20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budgets: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Performance-based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Zero-based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Cost/benefit analysis:</a:t>
            </a: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 Opportunities </a:t>
            </a:r>
          </a:p>
        </p:txBody>
      </p:sp>
      <p:sp>
        <p:nvSpPr>
          <p:cNvPr id="213" name="Shape 2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Security Managers: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Chief Security Officers:</a:t>
            </a: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08 Lecture">
  <a:themeElements>
    <a:clrScheme name="Custom 4">
      <a:dk1>
        <a:srgbClr val="003057"/>
      </a:dk1>
      <a:lt1>
        <a:srgbClr val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