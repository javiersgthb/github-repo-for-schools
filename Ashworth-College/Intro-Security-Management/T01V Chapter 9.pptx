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7" name="Shape 11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4" name="Shape 14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0" name="Shape 15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Shape 15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Shape 16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Shape 17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7" name="Shape 17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Shape 17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4" name="Shape 18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Shape 185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1" name="Shape 19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Shape 192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Shape 199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Shape 206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2" name="Shape 21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Shape 213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" name="Shape 21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Shape 22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6" name="Shape 22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Shape 22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3" name="Shape 23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Shape 23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0" name="Shape 24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Shape 24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Relationship Id="rId3" Type="http://schemas.openxmlformats.org/officeDocument/2006/relationships/image" Target="../media/image0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hapter Open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93969" y="6622536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29" name="Shape 29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Shape 30"/>
          <p:cNvGrpSpPr/>
          <p:nvPr/>
        </p:nvGrpSpPr>
        <p:grpSpPr>
          <a:xfrm>
            <a:off x="33338" y="6400799"/>
            <a:ext cx="9156700" cy="465137"/>
            <a:chOff x="33338" y="6408737"/>
            <a:chExt cx="9156700" cy="465137"/>
          </a:xfrm>
        </p:grpSpPr>
        <p:pic>
          <p:nvPicPr>
            <p:cNvPr descr="Pearson: Always Learning Logo" id="31" name="Shape 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3338" y="6443662"/>
              <a:ext cx="1660525" cy="430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Shape 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Copyright 2015, 2012, 2009" id="33" name="Shape 33"/>
            <p:cNvSpPr txBox="1"/>
            <p:nvPr/>
          </p:nvSpPr>
          <p:spPr>
            <a:xfrm>
              <a:off x="14136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Learning Objectiv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80771" lvl="0" marL="118871" marR="0" rtl="0" algn="l">
              <a:spcBef>
                <a:spcPts val="1500"/>
              </a:spcBef>
              <a:buClr>
                <a:schemeClr val="lt1"/>
              </a:buClr>
              <a:buSzPct val="25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63512" lvl="1" marL="569913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3" name="Shape 53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+ Learning Objectives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Figure +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7" name="Shape 67"/>
          <p:cNvSpPr/>
          <p:nvPr/>
        </p:nvSpPr>
        <p:spPr>
          <a:xfrm>
            <a:off x="-7937" y="6400800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Shape 68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69" name="Shape 69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70" name="Shape 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57200" y="39624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Shape 91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92" name="Shape 92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93" name="Shape 9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Shape 9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16" name="Shape 16"/>
          <p:cNvSpPr/>
          <p:nvPr/>
        </p:nvSpPr>
        <p:spPr>
          <a:xfrm>
            <a:off x="-7937" y="6407662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Shape 17"/>
          <p:cNvGrpSpPr/>
          <p:nvPr/>
        </p:nvGrpSpPr>
        <p:grpSpPr>
          <a:xfrm>
            <a:off x="93969" y="6380675"/>
            <a:ext cx="9096069" cy="463550"/>
            <a:chOff x="93969" y="6408737"/>
            <a:chExt cx="9096069" cy="463550"/>
          </a:xfrm>
        </p:grpSpPr>
        <p:sp>
          <p:nvSpPr>
            <p:cNvPr descr="Pearson: Copyright 2015, 2012, 2009" id="18" name="Shape 18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id="19" name="Shape 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Security:  Operations &amp; Management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477000" y="816429"/>
            <a:ext cx="2209799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</a:p>
        </p:txBody>
      </p:sp>
      <p:sp>
        <p:nvSpPr>
          <p:cNvPr id="104" name="Shape 10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9</a:t>
            </a:r>
          </a:p>
        </p:txBody>
      </p:sp>
      <p:sp>
        <p:nvSpPr>
          <p:cNvPr id="105" name="Shape 10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Homeland Security</a:t>
            </a:r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283" y="1793173"/>
            <a:ext cx="3111707" cy="396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20329" y="228600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completing this chapter, the reader should be able to: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Explain the concept and philosophy of homeland 	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	Identify security threats unique to homeland 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Understand the role and findings of the 9-11 	Commission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Explain the main components of the USA PATRIOT 	Act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Describe the structure, mission, and agendas of the 	Department of Homeland Security (DHS)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	Explain the functions of homeland 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	Describe government and private sector 	responsibilities, especially as they relate to the DHS 	and the philosophy of homeland 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	Explain the role of the private sector in homeland 	security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	Explain the NIPP and NIMS programs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	Articulate some of the key elements of securing 	airlines, airports, and ground transportation 	systems (critical infrastructure)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Homeland Security:  A Historical Perspective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3)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US Constitution &amp; Homeland Security: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evolution of Homeland Security: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9-11 &amp;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National Commission on Terrorist Attacks Upon the United States (2002):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Tasks/Responsibilities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9-11 &amp;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Intelligence Reform &amp; Terrorism Prevention Act of 2004: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Implementing Recommendations of the 9-11 Commission Act of 2007: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 PATRIOT Act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47" name="Shape 1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Uniting and Strengthening American by Providing Appropriate Tools Required to Intercept and Obstruct Terrorism (2001):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Elements: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 PATRIOT Act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PATRIOT Improvement and Reauthorization Act of 2005: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Uniting and Strengthening American by Fulfilling Rights and Ensuring effective Discipline Over Monitoring Act of 2015: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Department of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3) </a:t>
            </a:r>
          </a:p>
        </p:txBody>
      </p:sp>
      <p:sp>
        <p:nvSpPr>
          <p:cNvPr id="160" name="Shape 1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Six point agenda: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Department of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3) </a:t>
            </a:r>
          </a:p>
        </p:txBody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DHS main components: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Agencies housed under the DHS include: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Department of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3) </a:t>
            </a:r>
          </a:p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Advisory panels &amp; committees: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 &amp; mission: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Role of the Private Sector in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 </a:t>
            </a:r>
          </a:p>
        </p:txBody>
      </p:sp>
      <p:sp>
        <p:nvSpPr>
          <p:cNvPr id="181" name="Shape 18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National Infrastructure Protection Plan (NIPP):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Goal/Purpose: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elements of NIPP: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Role of the Private Sector in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 </a:t>
            </a:r>
          </a:p>
        </p:txBody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National Incident Management System (NIMS):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Goal/Purpose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Five main components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Terrorism &amp;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 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Terrorism Defined: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International Terrorism: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Domestic Terrorism: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Terrorism &amp; Homeland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 </a:t>
            </a:r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Nationwide Suspicious Activity Reporting System 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Bioterrorism Act of 2002:</a:t>
            </a: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Homeland Security:  Natural, Technological &amp; Accidental Hazards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209" name="Shape 20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Post-Katrina Emergency Reform Act of 2006: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Goals in Disaster Management include:</a:t>
            </a: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Homeland Security:  Natural, Technological &amp; Accidental Hazards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Public health issues: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Food safety related issues: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4)</a:t>
            </a:r>
          </a:p>
        </p:txBody>
      </p:sp>
      <p:sp>
        <p:nvSpPr>
          <p:cNvPr id="223" name="Shape 2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Aviation security: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History &amp; evolution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4)</a:t>
            </a:r>
          </a:p>
        </p:txBody>
      </p:sp>
      <p:sp>
        <p:nvSpPr>
          <p:cNvPr id="230" name="Shape 2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Transportation Security Administration: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Strategies for Passenger Screening &amp; Explosives Detection: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4)</a:t>
            </a:r>
          </a:p>
        </p:txBody>
      </p:sp>
      <p:sp>
        <p:nvSpPr>
          <p:cNvPr id="237" name="Shape 2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Trucking industry security: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Railroad security: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Security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of 4)</a:t>
            </a:r>
          </a:p>
        </p:txBody>
      </p:sp>
      <p:sp>
        <p:nvSpPr>
          <p:cNvPr id="244" name="Shape 2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Maritime security: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08 Lecture">
  <a:themeElements>
    <a:clrScheme name="Custom 4">
      <a:dk1>
        <a:srgbClr val="003057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